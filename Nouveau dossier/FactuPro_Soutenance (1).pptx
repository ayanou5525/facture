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273" r:id="rId13"/>
    <p:sldId id="274" r:id="rId14"/>
    <p:sldId id="275" r:id="rId15"/>
    <p:sldId id="27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8" autoAdjust="0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42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164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2C83D-CEE2-ABAE-D5F6-29CDAE5FF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1A5C1-873E-7D6D-3AC6-08C947D1C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99A68-BC50-5509-DE77-9589F6E2D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F62D8-EBC5-3166-DAFB-B836A88DF3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01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1069451" y="1182359"/>
            <a:ext cx="10046472" cy="24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C7D2F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SOUTENANCE DE FIN DE FORMATION  •  BTS DÉVELOPPEUR D'APPLICATIONS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196596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Text 8"/>
          <p:cNvSpPr/>
          <p:nvPr/>
        </p:nvSpPr>
        <p:spPr>
          <a:xfrm>
            <a:off x="822960" y="19476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F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965960" y="18745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FactuPro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22959" y="3063240"/>
            <a:ext cx="10436087" cy="80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gestion de boutiques et d'intégration B2B :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opérations commerciales des PME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02271" y="3764942"/>
            <a:ext cx="5669280" cy="0"/>
          </a:xfrm>
          <a:prstGeom prst="line">
            <a:avLst/>
          </a:prstGeom>
          <a:noFill/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989691" y="400507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AYANOU Tété Yao Alexandre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23360" y="4405023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Maître de stage : </a:t>
            </a: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AKOUNDA Komi Crépin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03691" y="4405023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 de mémoire : </a:t>
            </a: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Assiongbon Arthur de Rodrigue FIOKLOU-TOULAN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Polytechnique DEFITECH (IPD)  —  Filière Informatique de Gestion  —  Promotion 2023-2025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709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de formation et de stage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075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Polytechnique DEFITECH &amp; TAD IT Consulting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59736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258775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606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préalable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29718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Problématique, existant, critique et solution proposée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348386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35021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détaillée &amp; réalisation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38679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MERISE, architecture et technologies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" y="43799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43982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de l'application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08760" y="4764024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utilisateur à travers les interfaces de FactuPro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148072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48640" y="5276088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48640" y="527608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08760" y="529437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08760" y="566013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rencontrées, évolutions envisagées, conclusion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Cadre de formation et de stage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 Polytechnique DEFITECH (IPD)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fondé en 2002 à Lomé
</a:t>
            </a: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: BTS, Licence Pro, Web@cademy
</a:t>
            </a: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Filières : informatique, télécoms, gestion, RH
</a:t>
            </a: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Devise : allier théorie et pratique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80760" y="173736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TAD IT Consulting — TAD Dev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60604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numériques sur mesure
</a:t>
            </a: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logiciel, DevOps, sécurité, IA
</a:t>
            </a: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: dev web, gestion de projets
</a:t>
            </a: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: conception de FactuPro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 — ÉTUDE PRÉALABLE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boutiques et de l'approvisionnement des PME : vente au comptoir et échanges B2B.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68680" y="267919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2660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1600200" y="2606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 : </a:t>
            </a:r>
            <a:r>
              <a:rPr lang="en-US" sz="15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réseautage B2B basé sur les réseaux sociaux et le bouche-à-oreille.
</a:t>
            </a:r>
            <a:r>
              <a:rPr lang="en-US" sz="15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urgence : surfacturation… ou perte de temps et de clients.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objectif triple 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484632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coûts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539496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 partenaires, surfacturation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06824" y="452628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35424" y="484632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Éliminer les délais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35424" y="539496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à la disponibilité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65008" y="452628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293608" y="484632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les stocks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93608" y="539496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centralisé et fiable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 — ÉTUDE PRÉALABLE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 l'existant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Vente au comptoir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du besoin
</a:t>
            </a: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prix, à la main
</a:t>
            </a: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et reçu papier
</a:t>
            </a: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papier pour l'inventaire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73736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80760" y="173736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3730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55080" y="17373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Réseautage B2B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51460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Repérage d'une annonce
</a:t>
            </a: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via WhatsApp
</a:t>
            </a: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passée et confirmée
</a:t>
            </a: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de l'acheteuse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build="allAtOnce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 — ÉTUDE PRÉALABLE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 de l'existant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13232" y="2029968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du stock difficile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336792" y="2029968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36792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11" name="Text 9"/>
          <p:cNvSpPr/>
          <p:nvPr/>
        </p:nvSpPr>
        <p:spPr>
          <a:xfrm>
            <a:off x="6812280" y="173736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Inventaires papier fastidieux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07208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13232" y="3099816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13232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15" name="Text 13"/>
          <p:cNvSpPr/>
          <p:nvPr/>
        </p:nvSpPr>
        <p:spPr>
          <a:xfrm>
            <a:off x="1188720" y="2807208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Fidélisation des clients difficile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2807208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336792" y="3099816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336792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19" name="Text 17"/>
          <p:cNvSpPr/>
          <p:nvPr/>
        </p:nvSpPr>
        <p:spPr>
          <a:xfrm>
            <a:off x="6812280" y="2807208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d'offres coûteuse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877056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13232" y="4169664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13232" y="4151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23" name="Text 21"/>
          <p:cNvSpPr/>
          <p:nvPr/>
        </p:nvSpPr>
        <p:spPr>
          <a:xfrm>
            <a:off x="1188720" y="3877056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 partenaires longue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72200" y="3877056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336792" y="4169664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336792" y="4151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27" name="Text 25"/>
          <p:cNvSpPr/>
          <p:nvPr/>
        </p:nvSpPr>
        <p:spPr>
          <a:xfrm>
            <a:off x="6812280" y="3877056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visibilité du marché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946904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13232" y="5239512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13232" y="5221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31" name="Text 29"/>
          <p:cNvSpPr/>
          <p:nvPr/>
        </p:nvSpPr>
        <p:spPr>
          <a:xfrm>
            <a:off x="1188720" y="4946904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à l'interlocuteur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172200" y="4946904"/>
            <a:ext cx="5440680" cy="932688"/>
          </a:xfrm>
          <a:prstGeom prst="roundRect">
            <a:avLst>
              <a:gd name="adj" fmla="val 686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336792" y="5239512"/>
            <a:ext cx="347472" cy="347472"/>
          </a:xfrm>
          <a:prstGeom prst="ellipse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336792" y="5221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88" dirty="0"/>
          </a:p>
        </p:txBody>
      </p:sp>
      <p:sp>
        <p:nvSpPr>
          <p:cNvPr id="35" name="Text 33"/>
          <p:cNvSpPr/>
          <p:nvPr/>
        </p:nvSpPr>
        <p:spPr>
          <a:xfrm>
            <a:off x="6812280" y="4946904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Surfacturation en urgence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PROPOSÉE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FactuPro : gestion des boutiques et échanges interentreprises (B2B), dans une seule application.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produits en stock… jusqu'à la facturation.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312E81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97280" y="466344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Centraliser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512064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informations commerciales des entreprises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81144" y="443484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312E81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55464" y="466344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55464" y="512064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calculs, la facturation et le suivi des stocks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39328" y="443484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312E81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613648" y="466344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13648" y="512064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PME entre elles via un réseau B2B structuré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 —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clés de la plateforme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04672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centralisées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06324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privé et sécurisé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78308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62856" y="2039112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62856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4562856" y="269748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&amp; stocks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62856" y="306324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et suivi en temps réel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178308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321040" y="2039112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321040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8321040" y="269748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306324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et historique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68496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804672" y="422452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04672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804672" y="488289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relation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5248656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 partenaires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06824" y="3968496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562856" y="422452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62856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4562856" y="488289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B2B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62856" y="5248656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et consultation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65008" y="3968496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8321040" y="422452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3210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560" dirty="0"/>
          </a:p>
        </p:txBody>
      </p:sp>
      <p:sp>
        <p:nvSpPr>
          <p:cNvPr id="32" name="Text 30"/>
          <p:cNvSpPr/>
          <p:nvPr/>
        </p:nvSpPr>
        <p:spPr>
          <a:xfrm>
            <a:off x="8321040" y="488289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B2B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5248656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et suivi du statut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 — Mémoire BTS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III — ÉTUDE DÉTAILLÉE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Démarche méthodologique : la méthode MERISE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7784" y="211328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Conceptuel de Données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3680968"/>
            <a:ext cx="22402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et associations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33375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55848" y="210312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3730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538728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38728" y="2971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Logique de Données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38728" y="3675888"/>
            <a:ext cx="22402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538728" y="3794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relationnelles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61888" y="33375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63056" y="210312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345936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45936" y="2971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Conceptuel des Traitements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45936" y="3675888"/>
            <a:ext cx="22402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345936" y="3794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et règles métier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69096" y="33375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70264" y="210312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3730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153144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153144" y="2971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Organisationnel des Traitements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53144" y="3675888"/>
            <a:ext cx="22402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9153144" y="3794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Acteurs, postes, automatisation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l'analyse à la solution FactuPro.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IV — RÉALISATION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 technique &amp;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83664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984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MVC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44805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60120" y="282549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60120" y="2825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08760" y="295351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et logique métier (MySQL / PDO)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630168"/>
            <a:ext cx="44805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960120" y="394106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6012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7398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08760" y="4069080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et présentation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745736"/>
            <a:ext cx="44805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960120" y="505663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60120" y="5056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8554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508760" y="5184648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et coordination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06440" y="1783080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035040" y="18562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&amp; SGBD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35040" y="21488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  ·  MySQL 8.0  ·  PDO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06440" y="2679192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035040" y="275234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035040" y="304495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·  CSS  ·  JavaScript natif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06440" y="3575304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035040" y="364845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35040" y="394106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phpdotenv  ·  PHPMailer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06440" y="4471416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035040" y="45445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035040" y="483717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: Apache, MySQL, phpMyAdmin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06440" y="5367528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035040" y="54406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035040" y="57332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F49FE6-D8A0-CBA6-DC4B-B3DD4B917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>
            <a:extLst>
              <a:ext uri="{FF2B5EF4-FFF2-40B4-BE49-F238E27FC236}">
                <a16:creationId xmlns:a16="http://schemas.microsoft.com/office/drawing/2014/main" id="{3A0D9024-2DCF-D4FF-94DA-B0222D8BF92C}"/>
              </a:ext>
            </a:extLst>
          </p:cNvPr>
          <p:cNvSpPr/>
          <p:nvPr/>
        </p:nvSpPr>
        <p:spPr>
          <a:xfrm>
            <a:off x="5184648" y="182880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F3BF9E9-F3A4-5A67-993A-269EBD3B311D}"/>
              </a:ext>
            </a:extLst>
          </p:cNvPr>
          <p:cNvSpPr/>
          <p:nvPr/>
        </p:nvSpPr>
        <p:spPr>
          <a:xfrm>
            <a:off x="5184648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4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F02144B-6D73-3D67-496C-55F7CF8AC463}"/>
              </a:ext>
            </a:extLst>
          </p:cNvPr>
          <p:cNvSpPr/>
          <p:nvPr/>
        </p:nvSpPr>
        <p:spPr>
          <a:xfrm>
            <a:off x="822960" y="2971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Presentation de FactuPro</a:t>
            </a:r>
            <a:endParaRPr lang="en-US" sz="38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936DFAF-FBD8-EA6C-C028-FBCDE50900EA}"/>
              </a:ext>
            </a:extLst>
          </p:cNvPr>
          <p:cNvSpPr/>
          <p:nvPr/>
        </p:nvSpPr>
        <p:spPr>
          <a:xfrm>
            <a:off x="4504811" y="3667540"/>
            <a:ext cx="2743200" cy="0"/>
          </a:xfrm>
          <a:prstGeom prst="line">
            <a:avLst/>
          </a:prstGeom>
          <a:noFill/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5977E398-7723-6360-B83E-AC50FC675CF3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646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38728" cy="3566160"/>
          </a:xfrm>
          <a:prstGeom prst="roundRect">
            <a:avLst>
              <a:gd name="adj" fmla="val 232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complexe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Cardinalités et règles de gestion strictes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06824" y="1828800"/>
            <a:ext cx="3538728" cy="3566160"/>
          </a:xfrm>
          <a:prstGeom prst="roundRect">
            <a:avLst>
              <a:gd name="adj" fmla="val 232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81144" y="21031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81144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4581144" y="283464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temps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81144" y="356616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mené en parallèle du stage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65008" y="1828800"/>
            <a:ext cx="3538728" cy="3566160"/>
          </a:xfrm>
          <a:prstGeom prst="roundRect">
            <a:avLst>
              <a:gd name="adj" fmla="val 232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339328" y="21031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339328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8339328" y="283464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temps réel B2B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9328" y="356616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technique supplémentaire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1769" y="79213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d'évolution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600200"/>
          </a:xfrm>
          <a:prstGeom prst="roundRect">
            <a:avLst>
              <a:gd name="adj" fmla="val 5143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" y="2290572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22722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664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local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5603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Flooz et T-Money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1600200"/>
          </a:xfrm>
          <a:prstGeom prst="roundRect">
            <a:avLst>
              <a:gd name="adj" fmla="val 5143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400800" y="2290572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0" y="22722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664" dirty="0"/>
          </a:p>
        </p:txBody>
      </p:sp>
      <p:sp>
        <p:nvSpPr>
          <p:cNvPr id="12" name="Text 10"/>
          <p:cNvSpPr/>
          <p:nvPr/>
        </p:nvSpPr>
        <p:spPr>
          <a:xfrm>
            <a:off x="717804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25603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tout lieu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440680" cy="1600200"/>
          </a:xfrm>
          <a:prstGeom prst="roundRect">
            <a:avLst>
              <a:gd name="adj" fmla="val 5143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777240" y="4073652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77240" y="40553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64" dirty="0"/>
          </a:p>
        </p:txBody>
      </p:sp>
      <p:sp>
        <p:nvSpPr>
          <p:cNvPr id="17" name="Text 15"/>
          <p:cNvSpPr/>
          <p:nvPr/>
        </p:nvSpPr>
        <p:spPr>
          <a:xfrm>
            <a:off x="155448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avancées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343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et prévisions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440680" cy="1600200"/>
          </a:xfrm>
          <a:prstGeom prst="roundRect">
            <a:avLst>
              <a:gd name="adj" fmla="val 5143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400800" y="4073652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00800" y="40553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664" dirty="0"/>
          </a:p>
        </p:txBody>
      </p:sp>
      <p:sp>
        <p:nvSpPr>
          <p:cNvPr id="22" name="Text 20"/>
          <p:cNvSpPr/>
          <p:nvPr/>
        </p:nvSpPr>
        <p:spPr>
          <a:xfrm>
            <a:off x="717804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&amp; avis mutuels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4343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dans le réseau B2B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l'analyse du besoin à la réalisation technique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 couvre tout le cycle commercial des PME, de l'analyse à la réalisation.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971800"/>
            <a:ext cx="5074920" cy="1280160"/>
          </a:xfrm>
          <a:prstGeom prst="roundRect">
            <a:avLst>
              <a:gd name="adj" fmla="val 5714"/>
            </a:avLst>
          </a:prstGeom>
          <a:solidFill>
            <a:srgbClr val="312E81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97280" y="317296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techniques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59359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MERISE, développement web, bases de données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2971800"/>
            <a:ext cx="5074920" cy="1280160"/>
          </a:xfrm>
          <a:prstGeom prst="roundRect">
            <a:avLst>
              <a:gd name="adj" fmla="val 5714"/>
            </a:avLst>
          </a:prstGeom>
          <a:solidFill>
            <a:srgbClr val="312E81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355080" y="317296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professionnelles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359359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d'équipe, rigueur, communication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mené de bout en bout, avec une méthodologie rigoureuse.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539496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738360" y="539496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149840" y="539496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326880" y="580644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738360" y="580644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0149840" y="580644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9326880" y="621792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9738360" y="621792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0149840" y="6217920"/>
            <a:ext cx="64008" cy="640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5184648" y="182880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184648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27448" y="4526280"/>
            <a:ext cx="2743200" cy="0"/>
          </a:xfrm>
          <a:prstGeom prst="line">
            <a:avLst/>
          </a:prstGeom>
          <a:noFill/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AYANOU Tété Yao Alexandre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51023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Polytechnique DEFITECH  —  BTS Développeur d'Applications  —  Promotion 2023-2025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</TotalTime>
  <Words>824</Words>
  <Application>Microsoft Office PowerPoint</Application>
  <PresentationFormat>Grand écran</PresentationFormat>
  <Paragraphs>216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Reine KOTOKOU</cp:lastModifiedBy>
  <cp:revision>16</cp:revision>
  <dcterms:created xsi:type="dcterms:W3CDTF">2026-09-17T08:42:54Z</dcterms:created>
  <dcterms:modified xsi:type="dcterms:W3CDTF">2026-10-02T07:53:59Z</dcterms:modified>
</cp:coreProperties>
</file>