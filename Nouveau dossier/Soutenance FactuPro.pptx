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94585099-CB16-AF22-B611-3AD810204210}">
          <p14:sldIdLst>
            <p14:sldId id="256"/>
            <p14:sldId id="258"/>
            <p14:sldId id="257"/>
          </p14:sldIdLst>
        </p14:section>
        <p14:section name="Contexte et besoin" id="{59609094-9205-83A0-CAE6-498A0EB44015}">
          <p14:sldIdLst>
            <p14:sldId id="259"/>
            <p14:sldId id="260"/>
            <p14:sldId id="261"/>
          </p14:sldIdLst>
        </p14:section>
        <p14:section name="Étude préalable" id="{6DB23E87-76F7-2045-415C-2255C8197754}">
          <p14:sldIdLst>
            <p14:sldId id="262"/>
            <p14:sldId id="263"/>
          </p14:sldIdLst>
        </p14:section>
        <p14:section name="Solution" id="{D7355617-2F91-FA86-1426-526975F677D1}">
          <p14:sldIdLst>
            <p14:sldId id="264"/>
            <p14:sldId id="265"/>
          </p14:sldIdLst>
        </p14:section>
        <p14:section name="Conception" id="{2789CF4D-EB76-7AC6-6272-AA11828A4322}">
          <p14:sldIdLst>
            <p14:sldId id="266"/>
            <p14:sldId id="267"/>
            <p14:sldId id="268"/>
          </p14:sldIdLst>
        </p14:section>
        <p14:section name="Réalisation" id="{79A396DC-E30C-B108-81F4-3E85A025EF4C}">
          <p14:sldIdLst>
            <p14:sldId id="269"/>
            <p14:sldId id="270"/>
            <p14:sldId id="271"/>
          </p14:sldIdLst>
        </p14:section>
        <p14:section name="Bilan" id="{6482F079-7C7E-1C6E-B82C-596971CEEF92}">
          <p14:sldIdLst>
            <p14:sldId id="272"/>
            <p14:sldId id="273"/>
            <p14:sldId id="274"/>
            <p14:sldId id="275"/>
          </p14:sldIdLst>
        </p14:section>
        <p14:section name="Réserve" id="{E71B2103-B772-BEE8-B464-48EC8FDE34CD}">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8" d="100"/>
          <a:sy n="128" d="100"/>
        </p:scale>
        <p:origin x="22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484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aux membres du jury. Je vais vous présenter mon travail de fin de formation : un système de gestion de boutiques et d'intégration B2B, réalisé sous la forme d'une application web, FactuPro, pendant mon stage chez TAD IT Consulting, au sein de sa branche TAD Dev.</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présenterai d'abord le contexte et le besoin, puis l'étude de l'existant, la solution FactuPro, sa conception avec MERISE, sa réalisation avec une démonstration, et enfin le bilan.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si je vous disais que le principal problème d'une boutique n'est pas de vendre ? Vendre, c'est une partie du travail. Il faut aussi suivre le stock, savoir quoi réapprovisionner, retrouver l'information… et surtout, quand il faut s'approvisionner en urgence, trouver rapidement une autre entreprise.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travail conclut ma formation de BTS à l'Institut Polytechnique DEFITECH. Mon stage s'est déroulé chez TAD IT Consulting, dans sa branche TAD Dev. J'ai d'abord participé aux interfaces de deux applications, puis la dernière phase du stage a été entièrement consacrée à FactuPro, un projet de TAD Dev pour les PME.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boutique vend, mais elle doit aussi déduire chaque vente de son stock, prévenir les ruptures, et retrouver ses informations dans des registres ou des cahiers. Et quand il faut se réapprovisionner, trouver vite un fournisseur passe encore par les contacts, les appels et WhatsApp. C'est ce point, les échanges entre entreprises, qui est au cœur de mon projet.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part d'une rupture de stock. La PME doit commander en urgence : elle cherche dans son carnet d'adresses, envoie des mails, appelle, se déplace. Souvent, le produit n'est pas celui recherché, ou il est surfacturé. Résultat : la marge diminue, et parfois des clients sont perdus. D'où ma question : comment centraliser la gestion commerciale des PME et fluidifier leurs échanges B2B, notamment en situation d'urgence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observé deux pratiques. Au comptoir, le client exprime son besoin, le vendeur annonce le prix, calcule le total, encaisse et remet un reçu, puis la vente est notée dans un registre. En B2B, tout part d'un besoin de commande : l'entreprise repère des annonces, prend contact, surtout par WhatsApp, négocie, passe commande et attend la confirmation avant de payer. Si aucun partenaire ne correspond, la démarche s'arrête.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pratiques ont des limites. Côté boutique : le stock est difficile à suivre, l'inventaire oblige à parcourir le registre feuille par feuille, et la fidélisation est difficile. Côté B2B : il faut dénicher les offres dans les annonces, la recherche de partenaire coûte cher, les offres sont difficiles à comparer, la négociation est bloquée si l'interlocuteur ne répond pas, et l'urgence entraîne la surfacturation. Les annexes A et B en montrent deux exemples réels : un catalogue diffusé sur WhatsApp et un cahier de réapprovisionnement.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solution proposée est FactuPro, une application web qui réunit la gestion de la boutique, l'approvisionnement et les échanges entre entreprises. L'idée de départ est simple : si les entreprises exposent leurs produits sur une même plateforme, une entreprise en manque y cherche d'abord. Si elle trouve le produit, elle l'achète directement, sans déplacements, sans appels répétés et sans surfacturation.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FactuPro comporte deux espaces. La gestion interne : produits et stocks, vente au comptoir et facturation, clients, équipe. Et le réseau B2B : l'annuaire des entreprises avec la distance, les annonces, les commandes entre entreprises, les messages et les notifications. Le lien entre les deux est la case « déstockage B2B » : un produit géré en stock peut être proposé directement aux autres entreprises.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suivi la méthode MERISE comme une vraie démarche de conception. Le MCD répond à la question : quelles données ? Il s'appuie sur 13 règles de gestion. Le MCT décrit les traitements, organisés en deux modules : la vente au comptoir et le réseautage B2B. Le MLD traduit les données en 17 relations. Enfin, le MOT précise qui exécute chaque traitement, où et quand.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extrait du MCD, centré sur la commande B2B. Une entreprise acheteuse passe une commande, qui est validée par une entreprise vendeuse : c'est la même entité Entreprise, avec deux rôles. La commande se compose de lignes, chacune concernant un seul produit. Autour de la commande se rattachent les notifications et la facture.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MCT du module B2B suit la vie d'une commande. Un besoin de commande déclenche le lancement : recherche du partenaire et du produit. Quand la commande est passée, le vendeur la reçoit et vérifie son stock : rupture, la commande est refusée ; stock disponible, elle est validée. Vient ensuite la facturation, puis le paiement, qui aboutit à une commande réglée ou à une relance.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choisi PHP 8.3 natif, sans framework, pour garder la maîtrise complète du code. MySQL garantit l'intégrité des données grâce aux clés primaires et étrangères. PDO permet des requêtes préparées contre les injections SQL. L'architecture MVC sépare les responsabilités. Docker Compose rend l'environnement reproductible, et Leaflet avec OpenStreetMap sert à localiser les entreprises pour calculer les distances.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navigateur envoie une requête HTTP au contrôleur. Le contrôleur fait appel au modèle, qui porte la logique métier et accède à MySQL par PDO, puis il transmet les données à la vue, qui renvoie la page HTML. L'ensemble tourne dans Docker Compose. Autour : la messagerie et les notifications B2B sont rafraîchies par interrogation périodique en JavaScript, Leaflet affiche la carte, PHPMailer envoie les e-mails et les factures PDF passent par l'impression du navigateur.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avoir présenté la conception et les principaux choix techniques, je vais maintenant passer à la partie la plus concrète de mon travail : la démonstration de FactuPro.
L'application couvre plusieurs fonctionnalités, notamment la gestion des produits et des stocks, la vente, la facturation et les échanges B2B.
Pour cette démonstration, je vais me concentrer sur la partie qui fait davantage la particularité de FactuPro : le réseautage B2B.
Imaginons une boutique qui cherche à s'approvisionner. Plutôt que de rechercher un fournisseur dans ses contacts ou par messagerie, elle peut directement consulter des offres d'autres entreprises, leurs informations, puis passer une commande depuis la plateforme.
Je vais donc vous montrer ce parcours, de l'entreprise qui recherche une offre jusqu'à celle qui reçoit et traite la commande.
L'objectif est de vous montrer concrètement comment le problème identifié au départ est traduit dans l'application.
Je vais commencer du côté de l'entreprise acheteuse.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difficultés principales. La modélisation, avec des associations complexes : je l'ai surmontée par un travail itératif avec mon directeur de mémoire. Le temps, puisque le projet était mené en parallèle du stage : j'ai découpé le travail en étapes validées une à une. Et les échanges B2B avec les notifications, qui ont demandé un apprentissage supplémentaire : recherche documentaire, appui de l'équipe technique de TAD Dev, et le choix d'une interrogation périodique du serveur.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Plusieurs évolutions sont envisagées : le paiement par Flooz et T-Money, une application mobile, des statistiques avancées, et un système de notation entre entreprises pour renforcer la confiance dans le réseau.</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je reviens au problème de départ : trouver rapidement un fournisseur reste difficile pour une PME en situation d'urgence. FactuPro y répond en réunissant la gestion commerciale et le réseau B2B dans la même application. Son apport : la centralisation des données, la traçabilité des transactions et des échanges facilités entre entreprises. Ce projet m'a permis de mener un travail de bout en bout, de l'analyse jusqu'à la réalisation.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pour votre attention. Je suis à votre disposition pour vos questions.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de réserve, à montrer seulement si le jury pose la question du coût : 850 000 FCFA à l'acquisition, 517 000 FCFA par an de services, soit 1 367 000 FCFA la première année, ou environ 43 000 FCFA par mois d'exploitation.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419088"/>
            <a:ext cx="6400800" cy="256032"/>
          </a:xfrm>
          <a:prstGeom prst="rect">
            <a:avLst/>
          </a:prstGeom>
          <a:noFill/>
          <a:ln/>
        </p:spPr>
        <p:txBody>
          <a:bodyPr wrap="square" lIns="0" tIns="0" rIns="0" bIns="0" rtlCol="0" anchor="ctr"/>
          <a:lstStyle/>
          <a:p>
            <a:pPr marL="0" indent="0">
              <a:buNone/>
            </a:pPr>
            <a:r>
              <a:rPr lang="en-US" sz="900" dirty="0">
                <a:solidFill>
                  <a:srgbClr val="8A94A6"/>
                </a:solidFill>
              </a:rPr>
              <a:t>FactuPro · Soutenance de BTS · Promotion 2023-2025</a:t>
            </a:r>
            <a:endParaRPr lang="en-US" sz="900" dirty="0"/>
          </a:p>
        </p:txBody>
      </p:sp>
      <p:sp>
        <p:nvSpPr>
          <p:cNvPr id="3" name="Text 1"/>
          <p:cNvSpPr>
            <a:spLocks noGrp="1"/>
          </p:cNvSpPr>
          <p:nvPr>
            <p:ph type="body" idx="101" hasCustomPrompt="1"/>
          </p:nvPr>
        </p:nvSpPr>
        <p:spPr>
          <a:xfrm>
            <a:off x="640080" y="411480"/>
            <a:ext cx="10908792" cy="274320"/>
          </a:xfrm>
          <a:prstGeom prst="rect">
            <a:avLst/>
          </a:prstGeom>
          <a:noFill/>
          <a:ln/>
        </p:spPr>
        <p:txBody>
          <a:bodyPr wrap="square" rtlCol="0"/>
          <a:lstStyle>
            <a:lvl1pPr marL="0" indent="0" algn="l">
              <a:buNone/>
              <a:defRPr lang="en-US" sz="1200" b="1" dirty="0">
                <a:solidFill>
                  <a:srgbClr val="3A57E0"/>
                </a:solidFill>
              </a:defRPr>
            </a:lvl1pPr>
          </a:lstStyle>
          <a:p>
            <a:pPr marL="0" indent="0" algn="l">
              <a:buNone/>
            </a:pPr>
            <a:endParaRPr lang="en-US" sz="1200" dirty="0"/>
          </a:p>
        </p:txBody>
      </p:sp>
      <p:sp>
        <p:nvSpPr>
          <p:cNvPr id="4" name="Text 1"/>
          <p:cNvSpPr>
            <a:spLocks noGrp="1"/>
          </p:cNvSpPr>
          <p:nvPr>
            <p:ph type="title" idx="102" hasCustomPrompt="1"/>
          </p:nvPr>
        </p:nvSpPr>
        <p:spPr>
          <a:xfrm>
            <a:off x="640080" y="713232"/>
            <a:ext cx="10908792" cy="640080"/>
          </a:xfrm>
          <a:prstGeom prst="rect">
            <a:avLst/>
          </a:prstGeom>
          <a:noFill/>
          <a:ln/>
        </p:spPr>
        <p:txBody>
          <a:bodyPr wrap="square" rtlCol="0"/>
          <a:lstStyle>
            <a:lvl1pPr marL="0" indent="0" algn="l">
              <a:buNone/>
              <a:defRPr lang="en-US" sz="3000" b="1" dirty="0">
                <a:solidFill>
                  <a:srgbClr val="1A2540"/>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00023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defRPr>
            </a:lvl1pPr>
          </a:lstStyle>
          <a:p>
            <a:pPr algn="r"/>
            <a:fld id="{F7021451-1387-4CA6-816F-3879F97B5CBC}" type="slidenum">
              <a:rPr lang="en-US" b="0"/>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A2540"/>
        </a:solidFill>
        <a:effectLst/>
      </p:bgPr>
    </p:bg>
    <p:spTree>
      <p:nvGrpSpPr>
        <p:cNvPr id="1" name=""/>
        <p:cNvGrpSpPr/>
        <p:nvPr/>
      </p:nvGrpSpPr>
      <p:grpSpPr>
        <a:xfrm>
          <a:off x="0" y="0"/>
          <a:ext cx="0" cy="0"/>
          <a:chOff x="0" y="0"/>
          <a:chExt cx="0" cy="0"/>
        </a:xfrm>
      </p:grpSpPr>
      <p:sp>
        <p:nvSpPr>
          <p:cNvPr id="2" name="Text 0"/>
          <p:cNvSpPr/>
          <p:nvPr/>
        </p:nvSpPr>
        <p:spPr>
          <a:xfrm>
            <a:off x="640080" y="6419088"/>
            <a:ext cx="6400800" cy="256032"/>
          </a:xfrm>
          <a:prstGeom prst="rect">
            <a:avLst/>
          </a:prstGeom>
          <a:noFill/>
          <a:ln/>
        </p:spPr>
        <p:txBody>
          <a:bodyPr wrap="square" lIns="0" tIns="0" rIns="0" bIns="0" rtlCol="0" anchor="ctr"/>
          <a:lstStyle/>
          <a:p>
            <a:pPr marL="0" indent="0">
              <a:buNone/>
            </a:pPr>
            <a:r>
              <a:rPr lang="en-US" sz="900" dirty="0">
                <a:solidFill>
                  <a:srgbClr val="7C88A3"/>
                </a:solidFill>
              </a:rPr>
              <a:t>FactuPro · Soutenance de BTS · Promotion 2023-2025</a:t>
            </a:r>
            <a:endParaRPr lang="en-US" sz="900" dirty="0"/>
          </a:p>
        </p:txBody>
      </p:sp>
      <p:sp>
        <p:nvSpPr>
          <p:cNvPr id="3" name="Text 1"/>
          <p:cNvSpPr>
            <a:spLocks noGrp="1"/>
          </p:cNvSpPr>
          <p:nvPr>
            <p:ph type="body" idx="101" hasCustomPrompt="1"/>
          </p:nvPr>
        </p:nvSpPr>
        <p:spPr>
          <a:xfrm>
            <a:off x="640080" y="411480"/>
            <a:ext cx="10908792" cy="274320"/>
          </a:xfrm>
          <a:prstGeom prst="rect">
            <a:avLst/>
          </a:prstGeom>
          <a:noFill/>
          <a:ln/>
        </p:spPr>
        <p:txBody>
          <a:bodyPr wrap="square" rtlCol="0"/>
          <a:lstStyle>
            <a:lvl1pPr marL="0" indent="0" algn="l">
              <a:buNone/>
              <a:defRPr lang="en-US" sz="1200" b="1" dirty="0">
                <a:solidFill>
                  <a:srgbClr val="93A8F7"/>
                </a:solidFill>
              </a:defRPr>
            </a:lvl1pPr>
          </a:lstStyle>
          <a:p>
            <a:pPr marL="0" indent="0" algn="l">
              <a:buNone/>
            </a:pPr>
            <a:endParaRPr lang="en-US" sz="1200" dirty="0"/>
          </a:p>
        </p:txBody>
      </p:sp>
      <p:sp>
        <p:nvSpPr>
          <p:cNvPr id="4" name="Text 1"/>
          <p:cNvSpPr>
            <a:spLocks noGrp="1"/>
          </p:cNvSpPr>
          <p:nvPr>
            <p:ph type="title" idx="102" hasCustomPrompt="1"/>
          </p:nvPr>
        </p:nvSpPr>
        <p:spPr>
          <a:xfrm>
            <a:off x="640080" y="713232"/>
            <a:ext cx="10908792" cy="640080"/>
          </a:xfrm>
          <a:prstGeom prst="rect">
            <a:avLst/>
          </a:prstGeom>
          <a:noFill/>
          <a:ln/>
        </p:spPr>
        <p:txBody>
          <a:bodyPr wrap="square" rtlCol="0"/>
          <a:lstStyle>
            <a:lvl1pPr marL="0" indent="0" algn="l">
              <a:buNone/>
              <a:defRPr lang="en-US" sz="3000" b="1" dirty="0">
                <a:solidFill>
                  <a:srgbClr val="FFFFFF"/>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00023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7C88A3"/>
                </a:solidFill>
              </a:defRPr>
            </a:lvl1pPr>
          </a:lstStyle>
          <a:p>
            <a:pPr algn="r"/>
            <a:fld id="{F7021451-1387-4CA6-816F-3879F97B5CBC}" type="slidenum">
              <a:rPr lang="en-US" b="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LAIN_DARK">
    <p:bg>
      <p:bgPr>
        <a:solidFill>
          <a:srgbClr val="1A254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LAIN_WHITE">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023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laragon\www\facturation\Nouveau dossier\Logo Defitech.jpg"/>
          <p:cNvPicPr>
            <a:picLocks noChangeAspect="1"/>
          </p:cNvPicPr>
          <p:nvPr/>
        </p:nvPicPr>
        <p:blipFill>
          <a:blip r:embed="rId3"/>
          <a:stretch>
            <a:fillRect/>
          </a:stretch>
        </p:blipFill>
        <p:spPr>
          <a:xfrm>
            <a:off x="640080" y="457200"/>
            <a:ext cx="868680" cy="868680"/>
          </a:xfrm>
          <a:prstGeom prst="rect">
            <a:avLst/>
          </a:prstGeom>
        </p:spPr>
      </p:pic>
      <p:pic>
        <p:nvPicPr>
          <p:cNvPr id="3" name="Image 1" descr="C:\laragon\www\facturation\Nouveau dossier\logo-tad-it-light.png"/>
          <p:cNvPicPr>
            <a:picLocks noChangeAspect="1"/>
          </p:cNvPicPr>
          <p:nvPr/>
        </p:nvPicPr>
        <p:blipFill>
          <a:blip r:embed="rId4"/>
          <a:stretch>
            <a:fillRect/>
          </a:stretch>
        </p:blipFill>
        <p:spPr>
          <a:xfrm>
            <a:off x="10421172" y="475488"/>
            <a:ext cx="1345997" cy="841248"/>
          </a:xfrm>
          <a:prstGeom prst="rect">
            <a:avLst/>
          </a:prstGeom>
        </p:spPr>
      </p:pic>
      <p:sp>
        <p:nvSpPr>
          <p:cNvPr id="4" name="Text 0"/>
          <p:cNvSpPr txBox="1"/>
          <p:nvPr/>
        </p:nvSpPr>
        <p:spPr>
          <a:xfrm>
            <a:off x="2845398" y="687892"/>
            <a:ext cx="7132320" cy="320040"/>
          </a:xfrm>
          <a:prstGeom prst="rect">
            <a:avLst/>
          </a:prstGeom>
          <a:noFill/>
          <a:ln/>
        </p:spPr>
        <p:txBody>
          <a:bodyPr wrap="square" lIns="0" tIns="0" rIns="0" bIns="0" rtlCol="0" anchor="t"/>
          <a:lstStyle/>
          <a:p>
            <a:pPr marL="0" indent="0" algn="ctr">
              <a:buNone/>
            </a:pPr>
            <a:r>
              <a:rPr lang="en-US" sz="1400" b="1" dirty="0">
                <a:solidFill>
                  <a:srgbClr val="3A57E0"/>
                </a:solidFill>
              </a:rPr>
              <a:t>Mémoire de fin de formation · Brevet de Technicien Supérieur</a:t>
            </a:r>
            <a:endParaRPr lang="en-US" sz="1400" dirty="0"/>
          </a:p>
        </p:txBody>
      </p:sp>
      <p:sp>
        <p:nvSpPr>
          <p:cNvPr id="5" name="Text 1"/>
          <p:cNvSpPr txBox="1"/>
          <p:nvPr/>
        </p:nvSpPr>
        <p:spPr>
          <a:xfrm>
            <a:off x="2845398" y="1007932"/>
            <a:ext cx="7132320" cy="320040"/>
          </a:xfrm>
          <a:prstGeom prst="rect">
            <a:avLst/>
          </a:prstGeom>
          <a:noFill/>
          <a:ln/>
        </p:spPr>
        <p:txBody>
          <a:bodyPr wrap="square" lIns="0" tIns="0" rIns="0" bIns="0" rtlCol="0" anchor="t"/>
          <a:lstStyle/>
          <a:p>
            <a:pPr marL="0" indent="0" algn="ctr">
              <a:buNone/>
            </a:pPr>
            <a:r>
              <a:rPr lang="en-US" sz="1400" dirty="0">
                <a:solidFill>
                  <a:srgbClr val="5F6B7A"/>
                </a:solidFill>
              </a:rPr>
              <a:t>Informatique de Gestion · Option Développeur d'applications</a:t>
            </a:r>
            <a:endParaRPr lang="en-US" sz="1400" dirty="0"/>
          </a:p>
        </p:txBody>
      </p:sp>
      <p:sp>
        <p:nvSpPr>
          <p:cNvPr id="6" name="Text 2"/>
          <p:cNvSpPr txBox="1"/>
          <p:nvPr/>
        </p:nvSpPr>
        <p:spPr>
          <a:xfrm>
            <a:off x="968786" y="2156400"/>
            <a:ext cx="10733144" cy="1141206"/>
          </a:xfrm>
          <a:prstGeom prst="rect">
            <a:avLst/>
          </a:prstGeom>
          <a:noFill/>
          <a:ln/>
        </p:spPr>
        <p:txBody>
          <a:bodyPr wrap="square" lIns="0" tIns="0" rIns="0" bIns="0" rtlCol="0" anchor="t"/>
          <a:lstStyle/>
          <a:p>
            <a:pPr marL="0" indent="0" algn="ctr">
              <a:buNone/>
            </a:pPr>
            <a:r>
              <a:rPr lang="en-US" sz="2900" b="1" dirty="0">
                <a:solidFill>
                  <a:srgbClr val="1A2540"/>
                </a:solidFill>
              </a:rPr>
              <a:t>Système de gestion de boutiques et d'intégration B2B : suivi des opérations commerciales des PME</a:t>
            </a:r>
            <a:endParaRPr lang="en-US" sz="2900" dirty="0"/>
          </a:p>
        </p:txBody>
      </p:sp>
      <p:sp>
        <p:nvSpPr>
          <p:cNvPr id="7" name="Shape 3"/>
          <p:cNvSpPr/>
          <p:nvPr/>
        </p:nvSpPr>
        <p:spPr>
          <a:xfrm>
            <a:off x="3030668" y="3291630"/>
            <a:ext cx="7040880" cy="0"/>
          </a:xfrm>
          <a:prstGeom prst="line">
            <a:avLst/>
          </a:prstGeom>
          <a:noFill/>
          <a:ln w="9525">
            <a:solidFill>
              <a:srgbClr val="CBD2DC"/>
            </a:solidFill>
            <a:prstDash val="solid"/>
          </a:ln>
        </p:spPr>
      </p:sp>
      <p:sp>
        <p:nvSpPr>
          <p:cNvPr id="9" name="Text 5"/>
          <p:cNvSpPr txBox="1"/>
          <p:nvPr/>
        </p:nvSpPr>
        <p:spPr>
          <a:xfrm>
            <a:off x="5319656" y="3623114"/>
            <a:ext cx="3291840" cy="502920"/>
          </a:xfrm>
          <a:prstGeom prst="rect">
            <a:avLst/>
          </a:prstGeom>
          <a:noFill/>
          <a:ln/>
        </p:spPr>
        <p:txBody>
          <a:bodyPr wrap="square" lIns="0" tIns="0" rIns="0" bIns="0" rtlCol="0" anchor="t"/>
          <a:lstStyle/>
          <a:p>
            <a:r>
              <a:rPr lang="en-US" sz="1400" u="sng" dirty="0" err="1">
                <a:solidFill>
                  <a:srgbClr val="5F6B7A"/>
                </a:solidFill>
                <a:latin typeface="Times New Roman" panose="02020603050405020304" pitchFamily="18" charset="0"/>
                <a:cs typeface="Times New Roman" panose="02020603050405020304" pitchFamily="18" charset="0"/>
              </a:rPr>
              <a:t>Présenté</a:t>
            </a:r>
            <a:r>
              <a:rPr lang="en-US" sz="1400" u="sng" dirty="0">
                <a:solidFill>
                  <a:srgbClr val="5F6B7A"/>
                </a:solidFill>
                <a:latin typeface="Times New Roman" panose="02020603050405020304" pitchFamily="18" charset="0"/>
                <a:cs typeface="Times New Roman" panose="02020603050405020304" pitchFamily="18" charset="0"/>
              </a:rPr>
              <a:t> par:</a:t>
            </a:r>
            <a:r>
              <a:rPr lang="en-US" sz="1400" dirty="0">
                <a:solidFill>
                  <a:srgbClr val="5F6B7A"/>
                </a:solidFill>
                <a:latin typeface="Times New Roman" panose="02020603050405020304" pitchFamily="18" charset="0"/>
                <a:cs typeface="Times New Roman" panose="02020603050405020304" pitchFamily="18" charset="0"/>
              </a:rPr>
              <a:t> </a:t>
            </a:r>
            <a:r>
              <a:rPr lang="en-US" sz="1450" b="1" dirty="0">
                <a:solidFill>
                  <a:srgbClr val="1A2540"/>
                </a:solidFill>
              </a:rPr>
              <a:t>AYANOU Tété Yao Alexandre </a:t>
            </a:r>
            <a:endParaRPr lang="en-US" sz="1450" dirty="0"/>
          </a:p>
        </p:txBody>
      </p:sp>
      <p:sp>
        <p:nvSpPr>
          <p:cNvPr id="10" name="Text 6"/>
          <p:cNvSpPr txBox="1"/>
          <p:nvPr/>
        </p:nvSpPr>
        <p:spPr>
          <a:xfrm>
            <a:off x="968786" y="4581144"/>
            <a:ext cx="3611880" cy="256032"/>
          </a:xfrm>
          <a:prstGeom prst="rect">
            <a:avLst/>
          </a:prstGeom>
          <a:noFill/>
          <a:ln/>
        </p:spPr>
        <p:txBody>
          <a:bodyPr wrap="square" lIns="0" tIns="0" rIns="0" bIns="0" rtlCol="0" anchor="t"/>
          <a:lstStyle/>
          <a:p>
            <a:pPr marL="0" indent="0">
              <a:buNone/>
            </a:pPr>
            <a:r>
              <a:rPr lang="en-US" sz="1400" u="sng" dirty="0">
                <a:solidFill>
                  <a:srgbClr val="5F6B7A"/>
                </a:solidFill>
                <a:latin typeface="Times New Roman" panose="02020603050405020304" pitchFamily="18" charset="0"/>
                <a:cs typeface="Times New Roman" panose="02020603050405020304" pitchFamily="18" charset="0"/>
              </a:rPr>
              <a:t>Directeur de Mémoire:</a:t>
            </a:r>
            <a:endParaRPr lang="en-US" sz="1400" u="sng" dirty="0">
              <a:latin typeface="Times New Roman" panose="02020603050405020304" pitchFamily="18" charset="0"/>
              <a:cs typeface="Times New Roman" panose="02020603050405020304" pitchFamily="18" charset="0"/>
            </a:endParaRPr>
          </a:p>
        </p:txBody>
      </p:sp>
      <p:sp>
        <p:nvSpPr>
          <p:cNvPr id="11" name="Text 7"/>
          <p:cNvSpPr txBox="1"/>
          <p:nvPr/>
        </p:nvSpPr>
        <p:spPr>
          <a:xfrm>
            <a:off x="968786" y="4837176"/>
            <a:ext cx="3611880" cy="502920"/>
          </a:xfrm>
          <a:prstGeom prst="rect">
            <a:avLst/>
          </a:prstGeom>
          <a:noFill/>
          <a:ln/>
        </p:spPr>
        <p:txBody>
          <a:bodyPr wrap="square" lIns="0" tIns="0" rIns="0" bIns="0" rtlCol="0" anchor="t"/>
          <a:lstStyle/>
          <a:p>
            <a:pPr marL="0" indent="0">
              <a:buNone/>
            </a:pPr>
            <a:r>
              <a:rPr lang="en-US" sz="1450" b="1" dirty="0">
                <a:solidFill>
                  <a:srgbClr val="1A2540"/>
                </a:solidFill>
              </a:rPr>
              <a:t>M. Assiongbon Arthur de Rodrigue</a:t>
            </a:r>
            <a:endParaRPr lang="en-US" sz="1450" dirty="0"/>
          </a:p>
          <a:p>
            <a:pPr marL="0" indent="0">
              <a:buNone/>
            </a:pPr>
            <a:r>
              <a:rPr lang="en-US" sz="1450" b="1" dirty="0">
                <a:solidFill>
                  <a:srgbClr val="1A2540"/>
                </a:solidFill>
              </a:rPr>
              <a:t>FIOKLOU-TOULAN</a:t>
            </a:r>
            <a:endParaRPr lang="en-US" sz="1450" dirty="0"/>
          </a:p>
        </p:txBody>
      </p:sp>
      <p:sp>
        <p:nvSpPr>
          <p:cNvPr id="12" name="Text 8"/>
          <p:cNvSpPr txBox="1"/>
          <p:nvPr/>
        </p:nvSpPr>
        <p:spPr>
          <a:xfrm>
            <a:off x="8833821" y="4587120"/>
            <a:ext cx="3291840" cy="256032"/>
          </a:xfrm>
          <a:prstGeom prst="rect">
            <a:avLst/>
          </a:prstGeom>
          <a:noFill/>
          <a:ln/>
        </p:spPr>
        <p:txBody>
          <a:bodyPr wrap="square" lIns="0" tIns="0" rIns="0" bIns="0" rtlCol="0" anchor="t"/>
          <a:lstStyle/>
          <a:p>
            <a:pPr marL="0" indent="0">
              <a:buNone/>
            </a:pPr>
            <a:r>
              <a:rPr lang="en-US" sz="1400" u="sng" dirty="0">
                <a:solidFill>
                  <a:srgbClr val="5F6B7A"/>
                </a:solidFill>
                <a:latin typeface="Times New Roman" panose="02020603050405020304" pitchFamily="18" charset="0"/>
                <a:cs typeface="Times New Roman" panose="02020603050405020304" pitchFamily="18" charset="0"/>
              </a:rPr>
              <a:t>Maître de stage:</a:t>
            </a:r>
            <a:endParaRPr lang="en-US" sz="1400" u="sng" dirty="0">
              <a:latin typeface="Times New Roman" panose="02020603050405020304" pitchFamily="18" charset="0"/>
              <a:cs typeface="Times New Roman" panose="02020603050405020304" pitchFamily="18" charset="0"/>
            </a:endParaRPr>
          </a:p>
        </p:txBody>
      </p:sp>
      <p:sp>
        <p:nvSpPr>
          <p:cNvPr id="13" name="Text 9"/>
          <p:cNvSpPr txBox="1"/>
          <p:nvPr/>
        </p:nvSpPr>
        <p:spPr>
          <a:xfrm>
            <a:off x="8833821" y="4843152"/>
            <a:ext cx="3291840" cy="502920"/>
          </a:xfrm>
          <a:prstGeom prst="rect">
            <a:avLst/>
          </a:prstGeom>
          <a:noFill/>
          <a:ln/>
        </p:spPr>
        <p:txBody>
          <a:bodyPr wrap="square" lIns="0" tIns="0" rIns="0" bIns="0" rtlCol="0" anchor="t"/>
          <a:lstStyle/>
          <a:p>
            <a:pPr marL="0" indent="0">
              <a:buNone/>
            </a:pPr>
            <a:r>
              <a:rPr lang="en-US" sz="1450" b="1" dirty="0">
                <a:solidFill>
                  <a:srgbClr val="1A2540"/>
                </a:solidFill>
              </a:rPr>
              <a:t>M. AKOUNDA Komi Crépin</a:t>
            </a:r>
            <a:endParaRPr lang="en-US" sz="1450" dirty="0"/>
          </a:p>
        </p:txBody>
      </p:sp>
      <p:sp>
        <p:nvSpPr>
          <p:cNvPr id="16" name="Text 12"/>
          <p:cNvSpPr txBox="1"/>
          <p:nvPr/>
        </p:nvSpPr>
        <p:spPr>
          <a:xfrm>
            <a:off x="640080" y="6291072"/>
            <a:ext cx="7040880" cy="274320"/>
          </a:xfrm>
          <a:prstGeom prst="rect">
            <a:avLst/>
          </a:prstGeom>
          <a:noFill/>
          <a:ln/>
        </p:spPr>
        <p:txBody>
          <a:bodyPr wrap="square" lIns="0" tIns="0" rIns="0" bIns="0" rtlCol="0" anchor="t"/>
          <a:lstStyle/>
          <a:p>
            <a:pPr marL="0" indent="0">
              <a:buNone/>
            </a:pPr>
            <a:r>
              <a:rPr lang="en-US" sz="1150" dirty="0">
                <a:solidFill>
                  <a:srgbClr val="5F6B7A"/>
                </a:solidFill>
              </a:rPr>
              <a:t>Institut Polytechnique DEFITECH · Promotion 2023-2025</a:t>
            </a:r>
            <a:endParaRPr lang="en-US" sz="115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411480"/>
            <a:ext cx="10908792" cy="274320"/>
          </a:xfrm>
          <a:prstGeom prst="rect">
            <a:avLst/>
          </a:prstGeom>
          <a:noFill/>
          <a:ln/>
        </p:spPr>
        <p:txBody>
          <a:bodyPr wrap="square" lIns="0" tIns="0" rIns="0" bIns="0" rtlCol="0" anchor="t"/>
          <a:lstStyle/>
          <a:p>
            <a:pPr marL="0" indent="0" algn="l">
              <a:buNone/>
            </a:pPr>
            <a:r>
              <a:rPr lang="en-US" sz="1200" b="1" dirty="0">
                <a:solidFill>
                  <a:srgbClr val="3A57E0"/>
                </a:solidFill>
              </a:rPr>
              <a:t>Plan</a:t>
            </a:r>
            <a:endParaRPr lang="en-US" sz="1200" dirty="0"/>
          </a:p>
        </p:txBody>
      </p:sp>
      <p:sp>
        <p:nvSpPr>
          <p:cNvPr id="3" name="Text 1"/>
          <p:cNvSpPr>
            <a:spLocks noGrp="1"/>
          </p:cNvSpPr>
          <p:nvPr>
            <p:ph type="title" idx="102" hasCustomPrompt="1"/>
          </p:nvPr>
        </p:nvSpPr>
        <p:spPr>
          <a:xfrm>
            <a:off x="640080" y="713232"/>
            <a:ext cx="10908792" cy="640080"/>
          </a:xfrm>
          <a:prstGeom prst="rect">
            <a:avLst/>
          </a:prstGeom>
          <a:noFill/>
          <a:ln/>
        </p:spPr>
        <p:txBody>
          <a:bodyPr wrap="square" lIns="0" tIns="0" rIns="0" bIns="0" rtlCol="0" anchor="t"/>
          <a:lstStyle/>
          <a:p>
            <a:pPr marL="0" indent="0" algn="l">
              <a:buNone/>
            </a:pPr>
            <a:r>
              <a:rPr lang="en-US" sz="3000" b="1" dirty="0">
                <a:solidFill>
                  <a:srgbClr val="1A2540"/>
                </a:solidFill>
              </a:rPr>
              <a:t>Déroulement de la présentation</a:t>
            </a:r>
            <a:endParaRPr lang="en-US" sz="3000" dirty="0"/>
          </a:p>
        </p:txBody>
      </p:sp>
      <p:sp>
        <p:nvSpPr>
          <p:cNvPr id="4" name="Text 2"/>
          <p:cNvSpPr txBox="1"/>
          <p:nvPr/>
        </p:nvSpPr>
        <p:spPr>
          <a:xfrm>
            <a:off x="640080" y="1645920"/>
            <a:ext cx="548640" cy="566928"/>
          </a:xfrm>
          <a:prstGeom prst="rect">
            <a:avLst/>
          </a:prstGeom>
          <a:noFill/>
          <a:ln/>
        </p:spPr>
        <p:txBody>
          <a:bodyPr wrap="square" lIns="0" tIns="0" rIns="0" bIns="0" rtlCol="0" anchor="ctr"/>
          <a:lstStyle/>
          <a:p>
            <a:pPr marL="0" indent="0">
              <a:buNone/>
            </a:pPr>
            <a:r>
              <a:rPr lang="en-US" sz="2600" b="1" dirty="0">
                <a:solidFill>
                  <a:srgbClr val="3A57E0"/>
                </a:solidFill>
              </a:rPr>
              <a:t>1</a:t>
            </a:r>
            <a:endParaRPr lang="en-US" sz="2600" dirty="0"/>
          </a:p>
        </p:txBody>
      </p:sp>
      <p:sp>
        <p:nvSpPr>
          <p:cNvPr id="5" name="Text 3"/>
          <p:cNvSpPr txBox="1"/>
          <p:nvPr/>
        </p:nvSpPr>
        <p:spPr>
          <a:xfrm>
            <a:off x="1325880" y="1645920"/>
            <a:ext cx="4572000" cy="566928"/>
          </a:xfrm>
          <a:prstGeom prst="rect">
            <a:avLst/>
          </a:prstGeom>
          <a:noFill/>
          <a:ln/>
        </p:spPr>
        <p:txBody>
          <a:bodyPr wrap="square" lIns="0" tIns="0" rIns="0" bIns="0" rtlCol="0" anchor="ctr"/>
          <a:lstStyle/>
          <a:p>
            <a:pPr marL="0" indent="0">
              <a:buNone/>
            </a:pPr>
            <a:r>
              <a:rPr lang="en-US" sz="2100" dirty="0">
                <a:solidFill>
                  <a:srgbClr val="1A2540"/>
                </a:solidFill>
              </a:rPr>
              <a:t>Introduction</a:t>
            </a:r>
            <a:endParaRPr lang="en-US" sz="2100" dirty="0"/>
          </a:p>
        </p:txBody>
      </p:sp>
      <p:sp>
        <p:nvSpPr>
          <p:cNvPr id="6" name="Text 4"/>
          <p:cNvSpPr txBox="1"/>
          <p:nvPr/>
        </p:nvSpPr>
        <p:spPr>
          <a:xfrm>
            <a:off x="6035040" y="1645920"/>
            <a:ext cx="5394960" cy="566928"/>
          </a:xfrm>
          <a:prstGeom prst="rect">
            <a:avLst/>
          </a:prstGeom>
          <a:noFill/>
          <a:ln/>
        </p:spPr>
        <p:txBody>
          <a:bodyPr wrap="square" lIns="0" tIns="0" rIns="0" bIns="0" rtlCol="0" anchor="ctr"/>
          <a:lstStyle/>
          <a:p>
            <a:pPr marL="0" indent="0">
              <a:buNone/>
            </a:pPr>
            <a:r>
              <a:rPr lang="en-US" sz="1500" dirty="0">
                <a:solidFill>
                  <a:srgbClr val="5F6B7A"/>
                </a:solidFill>
              </a:rPr>
              <a:t>Le cadre du projet, la problématique</a:t>
            </a:r>
            <a:endParaRPr lang="en-US" sz="1500" dirty="0"/>
          </a:p>
        </p:txBody>
      </p:sp>
      <p:sp>
        <p:nvSpPr>
          <p:cNvPr id="7" name="Shape 5"/>
          <p:cNvSpPr/>
          <p:nvPr/>
        </p:nvSpPr>
        <p:spPr>
          <a:xfrm>
            <a:off x="640080" y="2304288"/>
            <a:ext cx="10908792" cy="0"/>
          </a:xfrm>
          <a:prstGeom prst="line">
            <a:avLst/>
          </a:prstGeom>
          <a:noFill/>
          <a:ln w="9525">
            <a:solidFill>
              <a:srgbClr val="CBD2DC"/>
            </a:solidFill>
            <a:prstDash val="solid"/>
          </a:ln>
        </p:spPr>
      </p:sp>
      <p:sp>
        <p:nvSpPr>
          <p:cNvPr id="8" name="Text 6"/>
          <p:cNvSpPr txBox="1"/>
          <p:nvPr/>
        </p:nvSpPr>
        <p:spPr>
          <a:xfrm>
            <a:off x="640080" y="2377440"/>
            <a:ext cx="548640" cy="566928"/>
          </a:xfrm>
          <a:prstGeom prst="rect">
            <a:avLst/>
          </a:prstGeom>
          <a:noFill/>
          <a:ln/>
        </p:spPr>
        <p:txBody>
          <a:bodyPr wrap="square" lIns="0" tIns="0" rIns="0" bIns="0" rtlCol="0" anchor="ctr"/>
          <a:lstStyle/>
          <a:p>
            <a:pPr marL="0" indent="0">
              <a:buNone/>
            </a:pPr>
            <a:r>
              <a:rPr lang="en-US" sz="2600" b="1" dirty="0">
                <a:solidFill>
                  <a:srgbClr val="3A57E0"/>
                </a:solidFill>
              </a:rPr>
              <a:t>2</a:t>
            </a:r>
            <a:endParaRPr lang="en-US" sz="2600" dirty="0"/>
          </a:p>
        </p:txBody>
      </p:sp>
      <p:sp>
        <p:nvSpPr>
          <p:cNvPr id="9" name="Text 7"/>
          <p:cNvSpPr txBox="1"/>
          <p:nvPr/>
        </p:nvSpPr>
        <p:spPr>
          <a:xfrm>
            <a:off x="1325880" y="2377440"/>
            <a:ext cx="4572000" cy="566928"/>
          </a:xfrm>
          <a:prstGeom prst="rect">
            <a:avLst/>
          </a:prstGeom>
          <a:noFill/>
          <a:ln/>
        </p:spPr>
        <p:txBody>
          <a:bodyPr wrap="square" lIns="0" tIns="0" rIns="0" bIns="0" rtlCol="0" anchor="ctr"/>
          <a:lstStyle/>
          <a:p>
            <a:pPr marL="0" indent="0">
              <a:buNone/>
            </a:pPr>
            <a:r>
              <a:rPr lang="en-US" sz="2100" dirty="0">
                <a:solidFill>
                  <a:srgbClr val="1A2540"/>
                </a:solidFill>
              </a:rPr>
              <a:t>L'étude préalable</a:t>
            </a:r>
            <a:endParaRPr lang="en-US" sz="2100" dirty="0"/>
          </a:p>
        </p:txBody>
      </p:sp>
      <p:sp>
        <p:nvSpPr>
          <p:cNvPr id="10" name="Text 8"/>
          <p:cNvSpPr txBox="1"/>
          <p:nvPr/>
        </p:nvSpPr>
        <p:spPr>
          <a:xfrm>
            <a:off x="6035040" y="2377440"/>
            <a:ext cx="5394960" cy="566928"/>
          </a:xfrm>
          <a:prstGeom prst="rect">
            <a:avLst/>
          </a:prstGeom>
          <a:noFill/>
          <a:ln/>
        </p:spPr>
        <p:txBody>
          <a:bodyPr wrap="square" lIns="0" tIns="0" rIns="0" bIns="0" rtlCol="0" anchor="ctr"/>
          <a:lstStyle/>
          <a:p>
            <a:pPr marL="0" indent="0">
              <a:buNone/>
            </a:pPr>
            <a:r>
              <a:rPr lang="en-US" sz="1500" dirty="0" err="1">
                <a:solidFill>
                  <a:srgbClr val="5F6B7A"/>
                </a:solidFill>
              </a:rPr>
              <a:t>L'existant</a:t>
            </a:r>
            <a:r>
              <a:rPr lang="en-US" sz="1500" dirty="0">
                <a:solidFill>
                  <a:srgbClr val="5F6B7A"/>
                </a:solidFill>
              </a:rPr>
              <a:t>, critique et solution </a:t>
            </a:r>
            <a:r>
              <a:rPr lang="en-US" sz="1500" dirty="0" err="1">
                <a:solidFill>
                  <a:srgbClr val="5F6B7A"/>
                </a:solidFill>
              </a:rPr>
              <a:t>apportée</a:t>
            </a:r>
            <a:endParaRPr lang="en-US" sz="1500" dirty="0"/>
          </a:p>
        </p:txBody>
      </p:sp>
      <p:sp>
        <p:nvSpPr>
          <p:cNvPr id="11" name="Shape 9"/>
          <p:cNvSpPr/>
          <p:nvPr/>
        </p:nvSpPr>
        <p:spPr>
          <a:xfrm>
            <a:off x="640080" y="3035808"/>
            <a:ext cx="10908792" cy="0"/>
          </a:xfrm>
          <a:prstGeom prst="line">
            <a:avLst/>
          </a:prstGeom>
          <a:noFill/>
          <a:ln w="9525">
            <a:solidFill>
              <a:srgbClr val="CBD2DC"/>
            </a:solidFill>
            <a:prstDash val="solid"/>
          </a:ln>
        </p:spPr>
      </p:sp>
      <p:sp>
        <p:nvSpPr>
          <p:cNvPr id="12" name="Text 10"/>
          <p:cNvSpPr txBox="1"/>
          <p:nvPr/>
        </p:nvSpPr>
        <p:spPr>
          <a:xfrm>
            <a:off x="640080" y="3108960"/>
            <a:ext cx="548640" cy="566928"/>
          </a:xfrm>
          <a:prstGeom prst="rect">
            <a:avLst/>
          </a:prstGeom>
          <a:noFill/>
          <a:ln/>
        </p:spPr>
        <p:txBody>
          <a:bodyPr wrap="square" lIns="0" tIns="0" rIns="0" bIns="0" rtlCol="0" anchor="ctr"/>
          <a:lstStyle/>
          <a:p>
            <a:pPr marL="0" indent="0">
              <a:buNone/>
            </a:pPr>
            <a:r>
              <a:rPr lang="en-US" sz="2600" b="1" dirty="0">
                <a:solidFill>
                  <a:srgbClr val="3A57E0"/>
                </a:solidFill>
              </a:rPr>
              <a:t>3</a:t>
            </a:r>
            <a:endParaRPr lang="en-US" sz="2600" dirty="0"/>
          </a:p>
        </p:txBody>
      </p:sp>
      <p:sp>
        <p:nvSpPr>
          <p:cNvPr id="13" name="Text 11"/>
          <p:cNvSpPr txBox="1"/>
          <p:nvPr/>
        </p:nvSpPr>
        <p:spPr>
          <a:xfrm>
            <a:off x="1325880" y="3108960"/>
            <a:ext cx="4572000" cy="566928"/>
          </a:xfrm>
          <a:prstGeom prst="rect">
            <a:avLst/>
          </a:prstGeom>
          <a:noFill/>
          <a:ln/>
        </p:spPr>
        <p:txBody>
          <a:bodyPr wrap="square" lIns="0" tIns="0" rIns="0" bIns="0" rtlCol="0" anchor="ctr"/>
          <a:lstStyle/>
          <a:p>
            <a:pPr marL="0" indent="0">
              <a:buNone/>
            </a:pPr>
            <a:r>
              <a:rPr lang="en-US" sz="2100" dirty="0">
                <a:solidFill>
                  <a:srgbClr val="1A2540"/>
                </a:solidFill>
              </a:rPr>
              <a:t>Etude </a:t>
            </a:r>
            <a:r>
              <a:rPr lang="en-US" sz="2100" dirty="0" err="1">
                <a:solidFill>
                  <a:srgbClr val="1A2540"/>
                </a:solidFill>
              </a:rPr>
              <a:t>détaillée</a:t>
            </a:r>
            <a:r>
              <a:rPr lang="en-US" sz="2100" dirty="0">
                <a:solidFill>
                  <a:srgbClr val="1A2540"/>
                </a:solidFill>
              </a:rPr>
              <a:t> &amp; </a:t>
            </a:r>
            <a:r>
              <a:rPr lang="en-US" sz="2100" dirty="0" err="1">
                <a:solidFill>
                  <a:srgbClr val="1A2540"/>
                </a:solidFill>
              </a:rPr>
              <a:t>réalisation</a:t>
            </a:r>
            <a:endParaRPr lang="en-US" sz="2100" dirty="0"/>
          </a:p>
        </p:txBody>
      </p:sp>
      <p:sp>
        <p:nvSpPr>
          <p:cNvPr id="14" name="Text 12"/>
          <p:cNvSpPr txBox="1"/>
          <p:nvPr/>
        </p:nvSpPr>
        <p:spPr>
          <a:xfrm>
            <a:off x="6035040" y="3108960"/>
            <a:ext cx="5394960" cy="566928"/>
          </a:xfrm>
          <a:prstGeom prst="rect">
            <a:avLst/>
          </a:prstGeom>
          <a:noFill/>
          <a:ln/>
        </p:spPr>
        <p:txBody>
          <a:bodyPr wrap="square" lIns="0" tIns="0" rIns="0" bIns="0" rtlCol="0" anchor="ctr"/>
          <a:lstStyle/>
          <a:p>
            <a:pPr marL="0" indent="0">
              <a:buNone/>
            </a:pPr>
            <a:r>
              <a:rPr lang="en-US" sz="1500" dirty="0" err="1">
                <a:solidFill>
                  <a:srgbClr val="5F6B7A"/>
                </a:solidFill>
              </a:rPr>
              <a:t>Analyse</a:t>
            </a:r>
            <a:r>
              <a:rPr lang="en-US" sz="1500" dirty="0">
                <a:solidFill>
                  <a:srgbClr val="5F6B7A"/>
                </a:solidFill>
              </a:rPr>
              <a:t> MERISE, Architectures et </a:t>
            </a:r>
            <a:r>
              <a:rPr lang="en-US" sz="1500" dirty="0" err="1">
                <a:solidFill>
                  <a:srgbClr val="5F6B7A"/>
                </a:solidFill>
              </a:rPr>
              <a:t>technologie</a:t>
            </a:r>
            <a:endParaRPr lang="en-US" sz="1500" dirty="0"/>
          </a:p>
        </p:txBody>
      </p:sp>
      <p:sp>
        <p:nvSpPr>
          <p:cNvPr id="15" name="Shape 13"/>
          <p:cNvSpPr/>
          <p:nvPr/>
        </p:nvSpPr>
        <p:spPr>
          <a:xfrm>
            <a:off x="640080" y="3767328"/>
            <a:ext cx="10908792" cy="0"/>
          </a:xfrm>
          <a:prstGeom prst="line">
            <a:avLst/>
          </a:prstGeom>
          <a:noFill/>
          <a:ln w="9525">
            <a:solidFill>
              <a:srgbClr val="CBD2DC"/>
            </a:solidFill>
            <a:prstDash val="solid"/>
          </a:ln>
        </p:spPr>
      </p:sp>
      <p:sp>
        <p:nvSpPr>
          <p:cNvPr id="16" name="Text 14"/>
          <p:cNvSpPr txBox="1"/>
          <p:nvPr/>
        </p:nvSpPr>
        <p:spPr>
          <a:xfrm>
            <a:off x="640080" y="3840480"/>
            <a:ext cx="548640" cy="566928"/>
          </a:xfrm>
          <a:prstGeom prst="rect">
            <a:avLst/>
          </a:prstGeom>
          <a:noFill/>
          <a:ln/>
        </p:spPr>
        <p:txBody>
          <a:bodyPr wrap="square" lIns="0" tIns="0" rIns="0" bIns="0" rtlCol="0" anchor="ctr"/>
          <a:lstStyle/>
          <a:p>
            <a:pPr marL="0" indent="0">
              <a:buNone/>
            </a:pPr>
            <a:r>
              <a:rPr lang="en-US" sz="2600" b="1" dirty="0">
                <a:solidFill>
                  <a:srgbClr val="3A57E0"/>
                </a:solidFill>
              </a:rPr>
              <a:t>4</a:t>
            </a:r>
            <a:endParaRPr lang="en-US" sz="2600" dirty="0"/>
          </a:p>
        </p:txBody>
      </p:sp>
      <p:sp>
        <p:nvSpPr>
          <p:cNvPr id="17" name="Text 15"/>
          <p:cNvSpPr txBox="1"/>
          <p:nvPr/>
        </p:nvSpPr>
        <p:spPr>
          <a:xfrm>
            <a:off x="1325880" y="3840480"/>
            <a:ext cx="4572000" cy="566928"/>
          </a:xfrm>
          <a:prstGeom prst="rect">
            <a:avLst/>
          </a:prstGeom>
          <a:noFill/>
          <a:ln/>
        </p:spPr>
        <p:txBody>
          <a:bodyPr wrap="square" lIns="0" tIns="0" rIns="0" bIns="0" rtlCol="0" anchor="ctr"/>
          <a:lstStyle/>
          <a:p>
            <a:pPr marL="0" indent="0">
              <a:buNone/>
            </a:pPr>
            <a:r>
              <a:rPr lang="en-US" sz="2100" dirty="0">
                <a:solidFill>
                  <a:srgbClr val="1A2540"/>
                </a:solidFill>
              </a:rPr>
              <a:t>La conception avec MERISE</a:t>
            </a:r>
            <a:endParaRPr lang="en-US" sz="2100" dirty="0"/>
          </a:p>
        </p:txBody>
      </p:sp>
      <p:sp>
        <p:nvSpPr>
          <p:cNvPr id="18" name="Text 16"/>
          <p:cNvSpPr txBox="1"/>
          <p:nvPr/>
        </p:nvSpPr>
        <p:spPr>
          <a:xfrm>
            <a:off x="6035040" y="3840480"/>
            <a:ext cx="5394960" cy="566928"/>
          </a:xfrm>
          <a:prstGeom prst="rect">
            <a:avLst/>
          </a:prstGeom>
          <a:noFill/>
          <a:ln/>
        </p:spPr>
        <p:txBody>
          <a:bodyPr wrap="square" lIns="0" tIns="0" rIns="0" bIns="0" rtlCol="0" anchor="ctr"/>
          <a:lstStyle/>
          <a:p>
            <a:pPr marL="0" indent="0">
              <a:buNone/>
            </a:pPr>
            <a:r>
              <a:rPr lang="en-US" sz="1500" dirty="0">
                <a:solidFill>
                  <a:srgbClr val="5F6B7A"/>
                </a:solidFill>
              </a:rPr>
              <a:t>Données et traitements</a:t>
            </a:r>
            <a:endParaRPr lang="en-US" sz="1500" dirty="0"/>
          </a:p>
        </p:txBody>
      </p:sp>
      <p:sp>
        <p:nvSpPr>
          <p:cNvPr id="19" name="Shape 17"/>
          <p:cNvSpPr/>
          <p:nvPr/>
        </p:nvSpPr>
        <p:spPr>
          <a:xfrm>
            <a:off x="640080" y="4498848"/>
            <a:ext cx="10908792" cy="0"/>
          </a:xfrm>
          <a:prstGeom prst="line">
            <a:avLst/>
          </a:prstGeom>
          <a:noFill/>
          <a:ln w="9525">
            <a:solidFill>
              <a:srgbClr val="CBD2DC"/>
            </a:solidFill>
            <a:prstDash val="solid"/>
          </a:ln>
        </p:spPr>
      </p:sp>
      <p:sp>
        <p:nvSpPr>
          <p:cNvPr id="20" name="Text 18"/>
          <p:cNvSpPr txBox="1"/>
          <p:nvPr/>
        </p:nvSpPr>
        <p:spPr>
          <a:xfrm>
            <a:off x="640080" y="4572000"/>
            <a:ext cx="548640" cy="566928"/>
          </a:xfrm>
          <a:prstGeom prst="rect">
            <a:avLst/>
          </a:prstGeom>
          <a:noFill/>
          <a:ln/>
        </p:spPr>
        <p:txBody>
          <a:bodyPr wrap="square" lIns="0" tIns="0" rIns="0" bIns="0" rtlCol="0" anchor="ctr"/>
          <a:lstStyle/>
          <a:p>
            <a:pPr marL="0" indent="0">
              <a:buNone/>
            </a:pPr>
            <a:r>
              <a:rPr lang="en-US" sz="2600" b="1" dirty="0">
                <a:solidFill>
                  <a:srgbClr val="3A57E0"/>
                </a:solidFill>
              </a:rPr>
              <a:t>5</a:t>
            </a:r>
            <a:endParaRPr lang="en-US" sz="2600" dirty="0"/>
          </a:p>
        </p:txBody>
      </p:sp>
      <p:sp>
        <p:nvSpPr>
          <p:cNvPr id="21" name="Text 19"/>
          <p:cNvSpPr txBox="1"/>
          <p:nvPr/>
        </p:nvSpPr>
        <p:spPr>
          <a:xfrm>
            <a:off x="1325880" y="4572000"/>
            <a:ext cx="4572000" cy="566928"/>
          </a:xfrm>
          <a:prstGeom prst="rect">
            <a:avLst/>
          </a:prstGeom>
          <a:noFill/>
          <a:ln/>
        </p:spPr>
        <p:txBody>
          <a:bodyPr wrap="square" lIns="0" tIns="0" rIns="0" bIns="0" rtlCol="0" anchor="ctr"/>
          <a:lstStyle/>
          <a:p>
            <a:pPr marL="0" indent="0">
              <a:buNone/>
            </a:pPr>
            <a:r>
              <a:rPr lang="en-US" sz="2100" dirty="0">
                <a:solidFill>
                  <a:srgbClr val="1A2540"/>
                </a:solidFill>
              </a:rPr>
              <a:t>La réalisation</a:t>
            </a:r>
            <a:endParaRPr lang="en-US" sz="2100" dirty="0"/>
          </a:p>
        </p:txBody>
      </p:sp>
      <p:sp>
        <p:nvSpPr>
          <p:cNvPr id="22" name="Text 20"/>
          <p:cNvSpPr txBox="1"/>
          <p:nvPr/>
        </p:nvSpPr>
        <p:spPr>
          <a:xfrm>
            <a:off x="6035040" y="4572000"/>
            <a:ext cx="5394960" cy="566928"/>
          </a:xfrm>
          <a:prstGeom prst="rect">
            <a:avLst/>
          </a:prstGeom>
          <a:noFill/>
          <a:ln/>
        </p:spPr>
        <p:txBody>
          <a:bodyPr wrap="square" lIns="0" tIns="0" rIns="0" bIns="0" rtlCol="0" anchor="ctr"/>
          <a:lstStyle/>
          <a:p>
            <a:pPr marL="0" indent="0">
              <a:buNone/>
            </a:pPr>
            <a:r>
              <a:rPr lang="en-US" sz="1500" dirty="0">
                <a:solidFill>
                  <a:srgbClr val="5F6B7A"/>
                </a:solidFill>
              </a:rPr>
              <a:t>Choix techniques, architecture, démonstration</a:t>
            </a:r>
            <a:endParaRPr lang="en-US" sz="1500" dirty="0"/>
          </a:p>
        </p:txBody>
      </p:sp>
      <p:sp>
        <p:nvSpPr>
          <p:cNvPr id="23" name="Shape 21"/>
          <p:cNvSpPr/>
          <p:nvPr/>
        </p:nvSpPr>
        <p:spPr>
          <a:xfrm>
            <a:off x="640080" y="5230368"/>
            <a:ext cx="10908792" cy="0"/>
          </a:xfrm>
          <a:prstGeom prst="line">
            <a:avLst/>
          </a:prstGeom>
          <a:noFill/>
          <a:ln w="9525">
            <a:solidFill>
              <a:srgbClr val="CBD2DC"/>
            </a:solidFill>
            <a:prstDash val="solid"/>
          </a:ln>
        </p:spPr>
      </p:sp>
      <p:sp>
        <p:nvSpPr>
          <p:cNvPr id="24" name="Text 22"/>
          <p:cNvSpPr txBox="1"/>
          <p:nvPr/>
        </p:nvSpPr>
        <p:spPr>
          <a:xfrm>
            <a:off x="640080" y="5303520"/>
            <a:ext cx="548640" cy="566928"/>
          </a:xfrm>
          <a:prstGeom prst="rect">
            <a:avLst/>
          </a:prstGeom>
          <a:noFill/>
          <a:ln/>
        </p:spPr>
        <p:txBody>
          <a:bodyPr wrap="square" lIns="0" tIns="0" rIns="0" bIns="0" rtlCol="0" anchor="ctr"/>
          <a:lstStyle/>
          <a:p>
            <a:pPr marL="0" indent="0">
              <a:buNone/>
            </a:pPr>
            <a:r>
              <a:rPr lang="en-US" sz="2600" b="1" dirty="0">
                <a:solidFill>
                  <a:srgbClr val="3A57E0"/>
                </a:solidFill>
              </a:rPr>
              <a:t>6</a:t>
            </a:r>
            <a:endParaRPr lang="en-US" sz="2600" dirty="0"/>
          </a:p>
        </p:txBody>
      </p:sp>
      <p:sp>
        <p:nvSpPr>
          <p:cNvPr id="25" name="Text 23"/>
          <p:cNvSpPr txBox="1"/>
          <p:nvPr/>
        </p:nvSpPr>
        <p:spPr>
          <a:xfrm>
            <a:off x="1325880" y="5303520"/>
            <a:ext cx="4572000" cy="566928"/>
          </a:xfrm>
          <a:prstGeom prst="rect">
            <a:avLst/>
          </a:prstGeom>
          <a:noFill/>
          <a:ln/>
        </p:spPr>
        <p:txBody>
          <a:bodyPr wrap="square" lIns="0" tIns="0" rIns="0" bIns="0" rtlCol="0" anchor="ctr"/>
          <a:lstStyle/>
          <a:p>
            <a:pPr marL="0" indent="0">
              <a:buNone/>
            </a:pPr>
            <a:r>
              <a:rPr lang="en-US" sz="2100" dirty="0">
                <a:solidFill>
                  <a:srgbClr val="1A2540"/>
                </a:solidFill>
              </a:rPr>
              <a:t>Bilan et perspectives</a:t>
            </a:r>
            <a:endParaRPr lang="en-US" sz="2100" dirty="0"/>
          </a:p>
        </p:txBody>
      </p:sp>
      <p:sp>
        <p:nvSpPr>
          <p:cNvPr id="26" name="Text 24"/>
          <p:cNvSpPr txBox="1"/>
          <p:nvPr/>
        </p:nvSpPr>
        <p:spPr>
          <a:xfrm>
            <a:off x="6035040" y="5303520"/>
            <a:ext cx="5394960" cy="566928"/>
          </a:xfrm>
          <a:prstGeom prst="rect">
            <a:avLst/>
          </a:prstGeom>
          <a:noFill/>
          <a:ln/>
        </p:spPr>
        <p:txBody>
          <a:bodyPr wrap="square" lIns="0" tIns="0" rIns="0" bIns="0" rtlCol="0" anchor="ctr"/>
          <a:lstStyle/>
          <a:p>
            <a:pPr marL="0" indent="0">
              <a:buNone/>
            </a:pPr>
            <a:r>
              <a:rPr lang="en-US" sz="1500" dirty="0">
                <a:solidFill>
                  <a:srgbClr val="5F6B7A"/>
                </a:solidFill>
              </a:rPr>
              <a:t>Difficultés, évolutions, conclusion</a:t>
            </a:r>
            <a:endParaRPr lang="en-US" sz="1500" dirty="0"/>
          </a:p>
        </p:txBody>
      </p:sp>
      <p:sp>
        <p:nvSpPr>
          <p:cNvPr id="27" name="Shape 25"/>
          <p:cNvSpPr/>
          <p:nvPr/>
        </p:nvSpPr>
        <p:spPr>
          <a:xfrm>
            <a:off x="640080" y="5961888"/>
            <a:ext cx="10908792" cy="0"/>
          </a:xfrm>
          <a:prstGeom prst="line">
            <a:avLst/>
          </a:prstGeom>
          <a:noFill/>
          <a:ln w="9525">
            <a:solidFill>
              <a:srgbClr val="CBD2DC"/>
            </a:solidFill>
            <a:prstDash val="solid"/>
          </a:ln>
        </p:spPr>
      </p:sp>
      <p:sp>
        <p:nvSpPr>
          <p:cNvPr id="28" name="Slide Number Placeholder 0"/>
          <p:cNvSpPr>
            <a:spLocks noGrp="1"/>
          </p:cNvSpPr>
          <p:nvPr>
            <p:ph type="sldNum" sz="quarter" idx="4294967295"/>
          </p:nvPr>
        </p:nvSpPr>
        <p:spPr>
          <a:xfrm>
            <a:off x="1100023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defRPr>
            </a:lvl1pPr>
          </a:lstStyle>
          <a:p>
            <a:pPr algn="r"/>
            <a:fld id="{F7021451-1387-4CA6-816F-3879F97B5CBC}" type="slidenum">
              <a:rPr lang="en-US" b="0"/>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822960" y="1737360"/>
            <a:ext cx="10424160" cy="1920240"/>
          </a:xfrm>
          <a:prstGeom prst="rect">
            <a:avLst/>
          </a:prstGeom>
          <a:noFill/>
          <a:ln/>
        </p:spPr>
        <p:txBody>
          <a:bodyPr wrap="square" lIns="0" tIns="0" rIns="0" bIns="0" rtlCol="0" anchor="b"/>
          <a:lstStyle/>
          <a:p>
            <a:pPr marL="0" indent="0">
              <a:buNone/>
            </a:pPr>
            <a:r>
              <a:rPr lang="en-US" sz="4600" b="1" dirty="0">
                <a:solidFill>
                  <a:srgbClr val="FFFFFF"/>
                </a:solidFill>
              </a:rPr>
              <a:t>Et si le principal problème d'une boutique n'était pas de vendre ?</a:t>
            </a:r>
            <a:endParaRPr lang="en-US" sz="4600" dirty="0"/>
          </a:p>
        </p:txBody>
      </p:sp>
      <p:sp>
        <p:nvSpPr>
          <p:cNvPr id="3" name="Text 1"/>
          <p:cNvSpPr txBox="1"/>
          <p:nvPr/>
        </p:nvSpPr>
        <p:spPr>
          <a:xfrm>
            <a:off x="822960" y="3977640"/>
            <a:ext cx="9875520" cy="914400"/>
          </a:xfrm>
          <a:prstGeom prst="rect">
            <a:avLst/>
          </a:prstGeom>
          <a:noFill/>
          <a:ln/>
        </p:spPr>
        <p:txBody>
          <a:bodyPr wrap="square" lIns="0" tIns="0" rIns="0" bIns="0" rtlCol="0" anchor="t"/>
          <a:lstStyle/>
          <a:p>
            <a:pPr marL="0" indent="0">
              <a:buNone/>
            </a:pPr>
            <a:r>
              <a:rPr lang="en-US" sz="2200" dirty="0">
                <a:solidFill>
                  <a:srgbClr val="AEB8CC"/>
                </a:solidFill>
              </a:rPr>
              <a:t>Le vrai défi commence quand il faut retrouver l'information… et trouver rapidement un fournisseur.</a:t>
            </a:r>
            <a:endParaRPr lang="en-US" sz="22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411480"/>
            <a:ext cx="10908792" cy="274320"/>
          </a:xfrm>
          <a:prstGeom prst="rect">
            <a:avLst/>
          </a:prstGeom>
          <a:noFill/>
          <a:ln/>
        </p:spPr>
        <p:txBody>
          <a:bodyPr wrap="square" lIns="0" tIns="0" rIns="0" bIns="0" rtlCol="0" anchor="t"/>
          <a:lstStyle/>
          <a:p>
            <a:pPr marL="0" indent="0" algn="l">
              <a:buNone/>
            </a:pPr>
            <a:r>
              <a:rPr lang="en-US" sz="1200" b="1" dirty="0">
                <a:solidFill>
                  <a:srgbClr val="3A57E0"/>
                </a:solidFill>
              </a:rPr>
              <a:t>1 · Contexte</a:t>
            </a:r>
            <a:endParaRPr lang="en-US" sz="1200" dirty="0"/>
          </a:p>
        </p:txBody>
      </p:sp>
      <p:sp>
        <p:nvSpPr>
          <p:cNvPr id="3" name="Text 1"/>
          <p:cNvSpPr>
            <a:spLocks noGrp="1"/>
          </p:cNvSpPr>
          <p:nvPr>
            <p:ph type="title" idx="102" hasCustomPrompt="1"/>
          </p:nvPr>
        </p:nvSpPr>
        <p:spPr>
          <a:xfrm>
            <a:off x="640080" y="713232"/>
            <a:ext cx="10908792" cy="640080"/>
          </a:xfrm>
          <a:prstGeom prst="rect">
            <a:avLst/>
          </a:prstGeom>
          <a:noFill/>
          <a:ln/>
        </p:spPr>
        <p:txBody>
          <a:bodyPr wrap="square" lIns="0" tIns="0" rIns="0" bIns="0" rtlCol="0" anchor="t"/>
          <a:lstStyle/>
          <a:p>
            <a:pPr marL="0" indent="0" algn="l">
              <a:buNone/>
            </a:pPr>
            <a:r>
              <a:rPr lang="en-US" sz="3000" b="1" dirty="0">
                <a:solidFill>
                  <a:srgbClr val="1A2540"/>
                </a:solidFill>
              </a:rPr>
              <a:t>Un projet né pendant le stage</a:t>
            </a:r>
            <a:endParaRPr lang="en-US" sz="3000" dirty="0"/>
          </a:p>
        </p:txBody>
      </p:sp>
      <p:pic>
        <p:nvPicPr>
          <p:cNvPr id="4" name="Image 0" descr="C:\laragon\www\facturation\Nouveau dossier\Logo Defitech.jpg"/>
          <p:cNvPicPr>
            <a:picLocks noChangeAspect="1"/>
          </p:cNvPicPr>
          <p:nvPr/>
        </p:nvPicPr>
        <p:blipFill>
          <a:blip r:embed="rId3"/>
          <a:stretch>
            <a:fillRect/>
          </a:stretch>
        </p:blipFill>
        <p:spPr>
          <a:xfrm>
            <a:off x="640080" y="1600200"/>
            <a:ext cx="822960" cy="822960"/>
          </a:xfrm>
          <a:prstGeom prst="rect">
            <a:avLst/>
          </a:prstGeom>
        </p:spPr>
      </p:pic>
      <p:sp>
        <p:nvSpPr>
          <p:cNvPr id="5" name="Text 2"/>
          <p:cNvSpPr txBox="1"/>
          <p:nvPr/>
        </p:nvSpPr>
        <p:spPr>
          <a:xfrm>
            <a:off x="640080" y="2697480"/>
            <a:ext cx="3291840" cy="274320"/>
          </a:xfrm>
          <a:prstGeom prst="rect">
            <a:avLst/>
          </a:prstGeom>
          <a:noFill/>
          <a:ln/>
        </p:spPr>
        <p:txBody>
          <a:bodyPr wrap="square" lIns="0" tIns="0" rIns="0" bIns="0" rtlCol="0" anchor="t"/>
          <a:lstStyle/>
          <a:p>
            <a:pPr marL="0" indent="0">
              <a:buNone/>
            </a:pPr>
            <a:r>
              <a:rPr lang="en-US" sz="1300" b="1" dirty="0">
                <a:solidFill>
                  <a:srgbClr val="3A57E0"/>
                </a:solidFill>
              </a:rPr>
              <a:t>Formation</a:t>
            </a:r>
            <a:endParaRPr lang="en-US" sz="1300" dirty="0"/>
          </a:p>
        </p:txBody>
      </p:sp>
      <p:sp>
        <p:nvSpPr>
          <p:cNvPr id="6" name="Text 3"/>
          <p:cNvSpPr txBox="1"/>
          <p:nvPr/>
        </p:nvSpPr>
        <p:spPr>
          <a:xfrm>
            <a:off x="640080" y="3017520"/>
            <a:ext cx="3291840" cy="731520"/>
          </a:xfrm>
          <a:prstGeom prst="rect">
            <a:avLst/>
          </a:prstGeom>
          <a:noFill/>
          <a:ln/>
        </p:spPr>
        <p:txBody>
          <a:bodyPr wrap="square" lIns="0" tIns="0" rIns="0" bIns="0" rtlCol="0" anchor="t"/>
          <a:lstStyle/>
          <a:p>
            <a:pPr marL="0" indent="0">
              <a:buNone/>
            </a:pPr>
            <a:r>
              <a:rPr lang="en-US" sz="2000" b="1" dirty="0">
                <a:solidFill>
                  <a:srgbClr val="1A2540"/>
                </a:solidFill>
              </a:rPr>
              <a:t>Institut Polytechnique DEFITECH</a:t>
            </a:r>
            <a:endParaRPr lang="en-US" sz="2000" dirty="0"/>
          </a:p>
        </p:txBody>
      </p:sp>
      <p:sp>
        <p:nvSpPr>
          <p:cNvPr id="7" name="Text 4"/>
          <p:cNvSpPr txBox="1"/>
          <p:nvPr/>
        </p:nvSpPr>
        <p:spPr>
          <a:xfrm>
            <a:off x="640080" y="3794760"/>
            <a:ext cx="3200400" cy="914400"/>
          </a:xfrm>
          <a:prstGeom prst="rect">
            <a:avLst/>
          </a:prstGeom>
          <a:noFill/>
          <a:ln/>
        </p:spPr>
        <p:txBody>
          <a:bodyPr wrap="square" lIns="0" tIns="0" rIns="0" bIns="0" rtlCol="0" anchor="t"/>
          <a:lstStyle/>
          <a:p>
            <a:pPr marL="0" indent="0">
              <a:buNone/>
            </a:pPr>
            <a:r>
              <a:rPr lang="en-US" sz="1500" dirty="0">
                <a:solidFill>
                  <a:srgbClr val="5F6B7A"/>
                </a:solidFill>
              </a:rPr>
              <a:t>BTS Informatique de Gestion, option Développeur d'applications</a:t>
            </a:r>
            <a:endParaRPr lang="en-US" sz="1500" dirty="0"/>
          </a:p>
        </p:txBody>
      </p:sp>
      <p:sp>
        <p:nvSpPr>
          <p:cNvPr id="8" name="Shape 5"/>
          <p:cNvSpPr/>
          <p:nvPr/>
        </p:nvSpPr>
        <p:spPr>
          <a:xfrm>
            <a:off x="4023360" y="3200400"/>
            <a:ext cx="320040" cy="0"/>
          </a:xfrm>
          <a:prstGeom prst="line">
            <a:avLst/>
          </a:prstGeom>
          <a:noFill/>
          <a:ln w="15875">
            <a:solidFill>
              <a:srgbClr val="5F6B7A"/>
            </a:solidFill>
            <a:prstDash val="solid"/>
            <a:tailEnd type="triangle"/>
          </a:ln>
        </p:spPr>
      </p:sp>
      <p:pic>
        <p:nvPicPr>
          <p:cNvPr id="9" name="Image 1" descr="C:\laragon\www\facturation\Nouveau dossier\logo-tad-it-light.png"/>
          <p:cNvPicPr>
            <a:picLocks noChangeAspect="1"/>
          </p:cNvPicPr>
          <p:nvPr/>
        </p:nvPicPr>
        <p:blipFill>
          <a:blip r:embed="rId4"/>
          <a:stretch>
            <a:fillRect/>
          </a:stretch>
        </p:blipFill>
        <p:spPr>
          <a:xfrm>
            <a:off x="4480560" y="1600200"/>
            <a:ext cx="1316736" cy="822960"/>
          </a:xfrm>
          <a:prstGeom prst="rect">
            <a:avLst/>
          </a:prstGeom>
        </p:spPr>
      </p:pic>
      <p:sp>
        <p:nvSpPr>
          <p:cNvPr id="10" name="Text 6"/>
          <p:cNvSpPr txBox="1"/>
          <p:nvPr/>
        </p:nvSpPr>
        <p:spPr>
          <a:xfrm>
            <a:off x="4480560" y="2697480"/>
            <a:ext cx="3291840" cy="274320"/>
          </a:xfrm>
          <a:prstGeom prst="rect">
            <a:avLst/>
          </a:prstGeom>
          <a:noFill/>
          <a:ln/>
        </p:spPr>
        <p:txBody>
          <a:bodyPr wrap="square" lIns="0" tIns="0" rIns="0" bIns="0" rtlCol="0" anchor="t"/>
          <a:lstStyle/>
          <a:p>
            <a:pPr marL="0" indent="0">
              <a:buNone/>
            </a:pPr>
            <a:r>
              <a:rPr lang="en-US" sz="1300" b="1" dirty="0">
                <a:solidFill>
                  <a:srgbClr val="3A57E0"/>
                </a:solidFill>
              </a:rPr>
              <a:t>Stage</a:t>
            </a:r>
            <a:endParaRPr lang="en-US" sz="1300" dirty="0"/>
          </a:p>
        </p:txBody>
      </p:sp>
      <p:sp>
        <p:nvSpPr>
          <p:cNvPr id="11" name="Text 7"/>
          <p:cNvSpPr txBox="1"/>
          <p:nvPr/>
        </p:nvSpPr>
        <p:spPr>
          <a:xfrm>
            <a:off x="4480560" y="3017520"/>
            <a:ext cx="3291840" cy="731520"/>
          </a:xfrm>
          <a:prstGeom prst="rect">
            <a:avLst/>
          </a:prstGeom>
          <a:noFill/>
          <a:ln/>
        </p:spPr>
        <p:txBody>
          <a:bodyPr wrap="square" lIns="0" tIns="0" rIns="0" bIns="0" rtlCol="0" anchor="t"/>
          <a:lstStyle/>
          <a:p>
            <a:pPr marL="0" indent="0">
              <a:buNone/>
            </a:pPr>
            <a:r>
              <a:rPr lang="en-US" sz="2000" b="1" dirty="0">
                <a:solidFill>
                  <a:srgbClr val="1A2540"/>
                </a:solidFill>
              </a:rPr>
              <a:t>TAD IT Consulting</a:t>
            </a:r>
            <a:endParaRPr lang="en-US" sz="2000" dirty="0"/>
          </a:p>
        </p:txBody>
      </p:sp>
      <p:sp>
        <p:nvSpPr>
          <p:cNvPr id="12" name="Text 8"/>
          <p:cNvSpPr txBox="1"/>
          <p:nvPr/>
        </p:nvSpPr>
        <p:spPr>
          <a:xfrm>
            <a:off x="4480560" y="3794760"/>
            <a:ext cx="3200400" cy="914400"/>
          </a:xfrm>
          <a:prstGeom prst="rect">
            <a:avLst/>
          </a:prstGeom>
          <a:noFill/>
          <a:ln/>
        </p:spPr>
        <p:txBody>
          <a:bodyPr wrap="square" lIns="0" tIns="0" rIns="0" bIns="0" rtlCol="0" anchor="t"/>
          <a:lstStyle/>
          <a:p>
            <a:pPr marL="0" indent="0">
              <a:buNone/>
            </a:pPr>
            <a:r>
              <a:rPr lang="en-US" sz="1500" dirty="0">
                <a:solidFill>
                  <a:srgbClr val="5F6B7A"/>
                </a:solidFill>
              </a:rPr>
              <a:t>Branche TAD Dev : conception, développement et déploiement de solutions logicielles</a:t>
            </a:r>
            <a:endParaRPr lang="en-US" sz="1500" dirty="0"/>
          </a:p>
        </p:txBody>
      </p:sp>
      <p:sp>
        <p:nvSpPr>
          <p:cNvPr id="13" name="Shape 9"/>
          <p:cNvSpPr/>
          <p:nvPr/>
        </p:nvSpPr>
        <p:spPr>
          <a:xfrm>
            <a:off x="7863840" y="3200400"/>
            <a:ext cx="320040" cy="0"/>
          </a:xfrm>
          <a:prstGeom prst="line">
            <a:avLst/>
          </a:prstGeom>
          <a:noFill/>
          <a:ln w="15875">
            <a:solidFill>
              <a:srgbClr val="5F6B7A"/>
            </a:solidFill>
            <a:prstDash val="solid"/>
            <a:tailEnd type="triangle"/>
          </a:ln>
        </p:spPr>
      </p:sp>
      <p:sp>
        <p:nvSpPr>
          <p:cNvPr id="14" name="Text 10"/>
          <p:cNvSpPr txBox="1"/>
          <p:nvPr/>
        </p:nvSpPr>
        <p:spPr>
          <a:xfrm>
            <a:off x="8321040" y="1600200"/>
            <a:ext cx="3200400" cy="822960"/>
          </a:xfrm>
          <a:prstGeom prst="rect">
            <a:avLst/>
          </a:prstGeom>
          <a:noFill/>
          <a:ln/>
        </p:spPr>
        <p:txBody>
          <a:bodyPr wrap="square" lIns="0" tIns="0" rIns="0" bIns="0" rtlCol="0" anchor="ctr"/>
          <a:lstStyle/>
          <a:p>
            <a:pPr marL="0" indent="0">
              <a:buNone/>
            </a:pPr>
            <a:r>
              <a:rPr lang="en-US" sz="3400" b="1" dirty="0">
                <a:solidFill>
                  <a:srgbClr val="3A57E0"/>
                </a:solidFill>
              </a:rPr>
              <a:t>FactuPro</a:t>
            </a:r>
            <a:endParaRPr lang="en-US" sz="3400" dirty="0"/>
          </a:p>
        </p:txBody>
      </p:sp>
      <p:sp>
        <p:nvSpPr>
          <p:cNvPr id="15" name="Text 11"/>
          <p:cNvSpPr txBox="1"/>
          <p:nvPr/>
        </p:nvSpPr>
        <p:spPr>
          <a:xfrm>
            <a:off x="8321040" y="2697480"/>
            <a:ext cx="3291840" cy="274320"/>
          </a:xfrm>
          <a:prstGeom prst="rect">
            <a:avLst/>
          </a:prstGeom>
          <a:noFill/>
          <a:ln/>
        </p:spPr>
        <p:txBody>
          <a:bodyPr wrap="square" lIns="0" tIns="0" rIns="0" bIns="0" rtlCol="0" anchor="t"/>
          <a:lstStyle/>
          <a:p>
            <a:pPr marL="0" indent="0">
              <a:buNone/>
            </a:pPr>
            <a:r>
              <a:rPr lang="en-US" sz="1300" b="1" dirty="0">
                <a:solidFill>
                  <a:srgbClr val="3A57E0"/>
                </a:solidFill>
              </a:rPr>
              <a:t>Projet</a:t>
            </a:r>
            <a:endParaRPr lang="en-US" sz="1300" dirty="0"/>
          </a:p>
        </p:txBody>
      </p:sp>
      <p:sp>
        <p:nvSpPr>
          <p:cNvPr id="16" name="Text 12"/>
          <p:cNvSpPr txBox="1"/>
          <p:nvPr/>
        </p:nvSpPr>
        <p:spPr>
          <a:xfrm>
            <a:off x="8321040" y="3017520"/>
            <a:ext cx="3291840" cy="731520"/>
          </a:xfrm>
          <a:prstGeom prst="rect">
            <a:avLst/>
          </a:prstGeom>
          <a:noFill/>
          <a:ln/>
        </p:spPr>
        <p:txBody>
          <a:bodyPr wrap="square" lIns="0" tIns="0" rIns="0" bIns="0" rtlCol="0" anchor="t"/>
          <a:lstStyle/>
          <a:p>
            <a:pPr marL="0" indent="0">
              <a:buNone/>
            </a:pPr>
            <a:r>
              <a:rPr lang="en-US" sz="2000" b="1" dirty="0">
                <a:solidFill>
                  <a:srgbClr val="1A2540"/>
                </a:solidFill>
              </a:rPr>
              <a:t>FactuPro</a:t>
            </a:r>
            <a:endParaRPr lang="en-US" sz="2000" dirty="0"/>
          </a:p>
        </p:txBody>
      </p:sp>
      <p:sp>
        <p:nvSpPr>
          <p:cNvPr id="17" name="Text 13"/>
          <p:cNvSpPr txBox="1"/>
          <p:nvPr/>
        </p:nvSpPr>
        <p:spPr>
          <a:xfrm>
            <a:off x="8321040" y="3794760"/>
            <a:ext cx="3200400" cy="914400"/>
          </a:xfrm>
          <a:prstGeom prst="rect">
            <a:avLst/>
          </a:prstGeom>
          <a:noFill/>
          <a:ln/>
        </p:spPr>
        <p:txBody>
          <a:bodyPr wrap="square" lIns="0" tIns="0" rIns="0" bIns="0" rtlCol="0" anchor="t"/>
          <a:lstStyle/>
          <a:p>
            <a:pPr marL="0" indent="0">
              <a:buNone/>
            </a:pPr>
            <a:r>
              <a:rPr lang="en-US" sz="1500" dirty="0">
                <a:solidFill>
                  <a:srgbClr val="5F6B7A"/>
                </a:solidFill>
              </a:rPr>
              <a:t>Dernière phase du stage : analyse, conception et développement du projet</a:t>
            </a:r>
            <a:endParaRPr lang="en-US" sz="1500" dirty="0"/>
          </a:p>
        </p:txBody>
      </p:sp>
      <p:sp>
        <p:nvSpPr>
          <p:cNvPr id="18" name="Shape 14"/>
          <p:cNvSpPr/>
          <p:nvPr/>
        </p:nvSpPr>
        <p:spPr>
          <a:xfrm>
            <a:off x="640080" y="4892040"/>
            <a:ext cx="10908792" cy="0"/>
          </a:xfrm>
          <a:prstGeom prst="line">
            <a:avLst/>
          </a:prstGeom>
          <a:noFill/>
          <a:ln w="9525">
            <a:solidFill>
              <a:srgbClr val="CBD2DC"/>
            </a:solidFill>
            <a:prstDash val="solid"/>
          </a:ln>
        </p:spPr>
      </p:sp>
      <p:sp>
        <p:nvSpPr>
          <p:cNvPr id="19" name="Text 15"/>
          <p:cNvSpPr txBox="1"/>
          <p:nvPr/>
        </p:nvSpPr>
        <p:spPr>
          <a:xfrm>
            <a:off x="640080" y="5029200"/>
            <a:ext cx="10881360" cy="731520"/>
          </a:xfrm>
          <a:prstGeom prst="rect">
            <a:avLst/>
          </a:prstGeom>
          <a:noFill/>
          <a:ln/>
        </p:spPr>
        <p:txBody>
          <a:bodyPr wrap="square" lIns="0" tIns="0" rIns="0" bIns="0" rtlCol="0" anchor="t"/>
          <a:lstStyle/>
          <a:p>
            <a:pPr marL="0" indent="0">
              <a:buNone/>
            </a:pPr>
            <a:r>
              <a:rPr lang="en-US" sz="1500" dirty="0">
                <a:solidFill>
                  <a:srgbClr val="1F2937"/>
                </a:solidFill>
              </a:rPr>
              <a:t>Avant FactuPro : participation au développement des interfaces de deux applications, une de gestion locative et une de gestion des ressources humaines pour une pharmacie.</a:t>
            </a:r>
            <a:endParaRPr lang="en-US" sz="1500" dirty="0"/>
          </a:p>
        </p:txBody>
      </p:sp>
      <p:sp>
        <p:nvSpPr>
          <p:cNvPr id="25" name="Slide Number Placeholder 0"/>
          <p:cNvSpPr>
            <a:spLocks noGrp="1"/>
          </p:cNvSpPr>
          <p:nvPr>
            <p:ph type="sldNum" sz="quarter" idx="4294967295"/>
          </p:nvPr>
        </p:nvSpPr>
        <p:spPr>
          <a:xfrm>
            <a:off x="1100023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defRPr>
            </a:lvl1pPr>
          </a:lstStyle>
          <a:p>
            <a:pPr algn="r"/>
            <a:fld id="{F7021451-1387-4CA6-816F-3879F97B5CBC}" type="slidenum">
              <a:rPr lang="en-US" b="0"/>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411480"/>
            <a:ext cx="10908792" cy="274320"/>
          </a:xfrm>
          <a:prstGeom prst="rect">
            <a:avLst/>
          </a:prstGeom>
          <a:noFill/>
          <a:ln/>
        </p:spPr>
        <p:txBody>
          <a:bodyPr wrap="square" lIns="0" tIns="0" rIns="0" bIns="0" rtlCol="0" anchor="t"/>
          <a:lstStyle/>
          <a:p>
            <a:pPr marL="0" indent="0" algn="l">
              <a:buNone/>
            </a:pPr>
            <a:r>
              <a:rPr lang="en-US" sz="1200" b="1" dirty="0">
                <a:solidFill>
                  <a:srgbClr val="3A57E0"/>
                </a:solidFill>
              </a:rPr>
              <a:t>1 · Le besoin</a:t>
            </a:r>
            <a:endParaRPr lang="en-US" sz="1200" dirty="0"/>
          </a:p>
        </p:txBody>
      </p:sp>
      <p:sp>
        <p:nvSpPr>
          <p:cNvPr id="3" name="Text 1"/>
          <p:cNvSpPr>
            <a:spLocks noGrp="1"/>
          </p:cNvSpPr>
          <p:nvPr>
            <p:ph type="title" idx="102" hasCustomPrompt="1"/>
          </p:nvPr>
        </p:nvSpPr>
        <p:spPr>
          <a:xfrm>
            <a:off x="640080" y="713232"/>
            <a:ext cx="10908792" cy="640080"/>
          </a:xfrm>
          <a:prstGeom prst="rect">
            <a:avLst/>
          </a:prstGeom>
          <a:noFill/>
          <a:ln/>
        </p:spPr>
        <p:txBody>
          <a:bodyPr wrap="square" lIns="0" tIns="0" rIns="0" bIns="0" rtlCol="0" anchor="t"/>
          <a:lstStyle/>
          <a:p>
            <a:pPr marL="0" indent="0" algn="l">
              <a:buNone/>
            </a:pPr>
            <a:r>
              <a:rPr lang="en-US" sz="3000" b="1" dirty="0">
                <a:solidFill>
                  <a:srgbClr val="1A2540"/>
                </a:solidFill>
              </a:rPr>
              <a:t>Vendre n'est qu'une partie du travail</a:t>
            </a:r>
            <a:endParaRPr lang="en-US" sz="3000" dirty="0"/>
          </a:p>
        </p:txBody>
      </p:sp>
      <p:sp>
        <p:nvSpPr>
          <p:cNvPr id="4" name="Shape 2"/>
          <p:cNvSpPr/>
          <p:nvPr/>
        </p:nvSpPr>
        <p:spPr>
          <a:xfrm>
            <a:off x="731520" y="2377440"/>
            <a:ext cx="10744200" cy="0"/>
          </a:xfrm>
          <a:prstGeom prst="line">
            <a:avLst/>
          </a:prstGeom>
          <a:noFill/>
          <a:ln w="25400">
            <a:solidFill>
              <a:srgbClr val="CBD2DC"/>
            </a:solidFill>
            <a:prstDash val="solid"/>
          </a:ln>
        </p:spPr>
      </p:sp>
      <p:sp>
        <p:nvSpPr>
          <p:cNvPr id="5" name="Shape 3"/>
          <p:cNvSpPr/>
          <p:nvPr/>
        </p:nvSpPr>
        <p:spPr>
          <a:xfrm>
            <a:off x="685800" y="2267712"/>
            <a:ext cx="219456" cy="219456"/>
          </a:xfrm>
          <a:prstGeom prst="ellipse">
            <a:avLst/>
          </a:prstGeom>
          <a:solidFill>
            <a:srgbClr val="1A2540"/>
          </a:solidFill>
          <a:ln/>
        </p:spPr>
      </p:sp>
      <p:sp>
        <p:nvSpPr>
          <p:cNvPr id="6" name="Text 4"/>
          <p:cNvSpPr txBox="1"/>
          <p:nvPr/>
        </p:nvSpPr>
        <p:spPr>
          <a:xfrm>
            <a:off x="685800" y="2697480"/>
            <a:ext cx="2057400" cy="685800"/>
          </a:xfrm>
          <a:prstGeom prst="rect">
            <a:avLst/>
          </a:prstGeom>
          <a:noFill/>
          <a:ln/>
        </p:spPr>
        <p:txBody>
          <a:bodyPr wrap="square" lIns="0" tIns="0" rIns="0" bIns="0" rtlCol="0" anchor="t"/>
          <a:lstStyle/>
          <a:p>
            <a:pPr marL="0" indent="0">
              <a:buNone/>
            </a:pPr>
            <a:r>
              <a:rPr lang="en-US" sz="1900" b="1" dirty="0">
                <a:solidFill>
                  <a:srgbClr val="1A2540"/>
                </a:solidFill>
              </a:rPr>
              <a:t>Vendre</a:t>
            </a:r>
            <a:endParaRPr lang="en-US" sz="1900" dirty="0"/>
          </a:p>
        </p:txBody>
      </p:sp>
      <p:sp>
        <p:nvSpPr>
          <p:cNvPr id="7" name="Text 5"/>
          <p:cNvSpPr txBox="1"/>
          <p:nvPr/>
        </p:nvSpPr>
        <p:spPr>
          <a:xfrm>
            <a:off x="685800" y="3429000"/>
            <a:ext cx="2011680" cy="640080"/>
          </a:xfrm>
          <a:prstGeom prst="rect">
            <a:avLst/>
          </a:prstGeom>
          <a:noFill/>
          <a:ln/>
        </p:spPr>
        <p:txBody>
          <a:bodyPr wrap="square" lIns="0" tIns="0" rIns="0" bIns="0" rtlCol="0" anchor="t"/>
          <a:lstStyle/>
          <a:p>
            <a:pPr marL="0" indent="0">
              <a:buNone/>
            </a:pPr>
            <a:r>
              <a:rPr lang="en-US" sz="1400" dirty="0">
                <a:solidFill>
                  <a:srgbClr val="5F6B7A"/>
                </a:solidFill>
              </a:rPr>
              <a:t>Encaisser et remettre un reçu</a:t>
            </a:r>
            <a:endParaRPr lang="en-US" sz="1400" dirty="0"/>
          </a:p>
        </p:txBody>
      </p:sp>
      <p:sp>
        <p:nvSpPr>
          <p:cNvPr id="8" name="Shape 6"/>
          <p:cNvSpPr/>
          <p:nvPr/>
        </p:nvSpPr>
        <p:spPr>
          <a:xfrm>
            <a:off x="2880360" y="2267712"/>
            <a:ext cx="219456" cy="219456"/>
          </a:xfrm>
          <a:prstGeom prst="ellipse">
            <a:avLst/>
          </a:prstGeom>
          <a:solidFill>
            <a:srgbClr val="1A2540"/>
          </a:solidFill>
          <a:ln/>
        </p:spPr>
      </p:sp>
      <p:sp>
        <p:nvSpPr>
          <p:cNvPr id="9" name="Text 7"/>
          <p:cNvSpPr txBox="1"/>
          <p:nvPr/>
        </p:nvSpPr>
        <p:spPr>
          <a:xfrm>
            <a:off x="2880360" y="2697480"/>
            <a:ext cx="2057400" cy="685800"/>
          </a:xfrm>
          <a:prstGeom prst="rect">
            <a:avLst/>
          </a:prstGeom>
          <a:noFill/>
          <a:ln/>
        </p:spPr>
        <p:txBody>
          <a:bodyPr wrap="square" lIns="0" tIns="0" rIns="0" bIns="0" rtlCol="0" anchor="t"/>
          <a:lstStyle/>
          <a:p>
            <a:pPr marL="0" indent="0">
              <a:buNone/>
            </a:pPr>
            <a:r>
              <a:rPr lang="en-US" sz="1900" b="1" dirty="0">
                <a:solidFill>
                  <a:srgbClr val="1A2540"/>
                </a:solidFill>
              </a:rPr>
              <a:t>Suivre le stock</a:t>
            </a:r>
            <a:endParaRPr lang="en-US" sz="1900" dirty="0"/>
          </a:p>
        </p:txBody>
      </p:sp>
      <p:sp>
        <p:nvSpPr>
          <p:cNvPr id="10" name="Text 8"/>
          <p:cNvSpPr txBox="1"/>
          <p:nvPr/>
        </p:nvSpPr>
        <p:spPr>
          <a:xfrm>
            <a:off x="2880360" y="3429000"/>
            <a:ext cx="2011680" cy="640080"/>
          </a:xfrm>
          <a:prstGeom prst="rect">
            <a:avLst/>
          </a:prstGeom>
          <a:noFill/>
          <a:ln/>
        </p:spPr>
        <p:txBody>
          <a:bodyPr wrap="square" lIns="0" tIns="0" rIns="0" bIns="0" rtlCol="0" anchor="t"/>
          <a:lstStyle/>
          <a:p>
            <a:pPr marL="0" indent="0">
              <a:buNone/>
            </a:pPr>
            <a:r>
              <a:rPr lang="en-US" sz="1400" dirty="0">
                <a:solidFill>
                  <a:srgbClr val="5F6B7A"/>
                </a:solidFill>
              </a:rPr>
              <a:t>Déduire chaque article vendu</a:t>
            </a:r>
            <a:endParaRPr lang="en-US" sz="1400" dirty="0"/>
          </a:p>
        </p:txBody>
      </p:sp>
      <p:sp>
        <p:nvSpPr>
          <p:cNvPr id="11" name="Shape 9"/>
          <p:cNvSpPr/>
          <p:nvPr/>
        </p:nvSpPr>
        <p:spPr>
          <a:xfrm>
            <a:off x="5074920" y="2267712"/>
            <a:ext cx="219456" cy="219456"/>
          </a:xfrm>
          <a:prstGeom prst="ellipse">
            <a:avLst/>
          </a:prstGeom>
          <a:solidFill>
            <a:srgbClr val="1A2540"/>
          </a:solidFill>
          <a:ln/>
        </p:spPr>
      </p:sp>
      <p:sp>
        <p:nvSpPr>
          <p:cNvPr id="12" name="Text 10"/>
          <p:cNvSpPr txBox="1"/>
          <p:nvPr/>
        </p:nvSpPr>
        <p:spPr>
          <a:xfrm>
            <a:off x="5074920" y="2697480"/>
            <a:ext cx="2057400" cy="685800"/>
          </a:xfrm>
          <a:prstGeom prst="rect">
            <a:avLst/>
          </a:prstGeom>
          <a:noFill/>
          <a:ln/>
        </p:spPr>
        <p:txBody>
          <a:bodyPr wrap="square" lIns="0" tIns="0" rIns="0" bIns="0" rtlCol="0" anchor="t"/>
          <a:lstStyle/>
          <a:p>
            <a:pPr marL="0" indent="0">
              <a:buNone/>
            </a:pPr>
            <a:r>
              <a:rPr lang="en-US" sz="1900" b="1" dirty="0">
                <a:solidFill>
                  <a:srgbClr val="1A2540"/>
                </a:solidFill>
              </a:rPr>
              <a:t>Réapprovisionner</a:t>
            </a:r>
            <a:endParaRPr lang="en-US" sz="1900" dirty="0"/>
          </a:p>
        </p:txBody>
      </p:sp>
      <p:sp>
        <p:nvSpPr>
          <p:cNvPr id="13" name="Text 11"/>
          <p:cNvSpPr txBox="1"/>
          <p:nvPr/>
        </p:nvSpPr>
        <p:spPr>
          <a:xfrm>
            <a:off x="5074920" y="3429000"/>
            <a:ext cx="2011680" cy="640080"/>
          </a:xfrm>
          <a:prstGeom prst="rect">
            <a:avLst/>
          </a:prstGeom>
          <a:noFill/>
          <a:ln/>
        </p:spPr>
        <p:txBody>
          <a:bodyPr wrap="square" lIns="0" tIns="0" rIns="0" bIns="0" rtlCol="0" anchor="t"/>
          <a:lstStyle/>
          <a:p>
            <a:pPr marL="0" indent="0">
              <a:buNone/>
            </a:pPr>
            <a:r>
              <a:rPr lang="en-US" sz="1400" dirty="0">
                <a:solidFill>
                  <a:srgbClr val="5F6B7A"/>
                </a:solidFill>
              </a:rPr>
              <a:t>Prévenir les ruptures</a:t>
            </a:r>
            <a:endParaRPr lang="en-US" sz="1400" dirty="0"/>
          </a:p>
        </p:txBody>
      </p:sp>
      <p:sp>
        <p:nvSpPr>
          <p:cNvPr id="14" name="Shape 12"/>
          <p:cNvSpPr/>
          <p:nvPr/>
        </p:nvSpPr>
        <p:spPr>
          <a:xfrm>
            <a:off x="7269480" y="2267712"/>
            <a:ext cx="219456" cy="219456"/>
          </a:xfrm>
          <a:prstGeom prst="ellipse">
            <a:avLst/>
          </a:prstGeom>
          <a:solidFill>
            <a:srgbClr val="1A2540"/>
          </a:solidFill>
          <a:ln/>
        </p:spPr>
      </p:sp>
      <p:sp>
        <p:nvSpPr>
          <p:cNvPr id="15" name="Text 13"/>
          <p:cNvSpPr txBox="1"/>
          <p:nvPr/>
        </p:nvSpPr>
        <p:spPr>
          <a:xfrm>
            <a:off x="7269480" y="2697480"/>
            <a:ext cx="2057400" cy="685800"/>
          </a:xfrm>
          <a:prstGeom prst="rect">
            <a:avLst/>
          </a:prstGeom>
          <a:noFill/>
          <a:ln/>
        </p:spPr>
        <p:txBody>
          <a:bodyPr wrap="square" lIns="0" tIns="0" rIns="0" bIns="0" rtlCol="0" anchor="t"/>
          <a:lstStyle/>
          <a:p>
            <a:pPr marL="0" indent="0">
              <a:buNone/>
            </a:pPr>
            <a:r>
              <a:rPr lang="en-US" sz="1900" b="1" dirty="0">
                <a:solidFill>
                  <a:srgbClr val="1A2540"/>
                </a:solidFill>
              </a:rPr>
              <a:t>Retrouver l'information</a:t>
            </a:r>
            <a:endParaRPr lang="en-US" sz="1900" dirty="0"/>
          </a:p>
        </p:txBody>
      </p:sp>
      <p:sp>
        <p:nvSpPr>
          <p:cNvPr id="16" name="Text 14"/>
          <p:cNvSpPr txBox="1"/>
          <p:nvPr/>
        </p:nvSpPr>
        <p:spPr>
          <a:xfrm>
            <a:off x="7269480" y="3429000"/>
            <a:ext cx="2011680" cy="640080"/>
          </a:xfrm>
          <a:prstGeom prst="rect">
            <a:avLst/>
          </a:prstGeom>
          <a:noFill/>
          <a:ln/>
        </p:spPr>
        <p:txBody>
          <a:bodyPr wrap="square" lIns="0" tIns="0" rIns="0" bIns="0" rtlCol="0" anchor="t"/>
          <a:lstStyle/>
          <a:p>
            <a:pPr marL="0" indent="0">
              <a:buNone/>
            </a:pPr>
            <a:r>
              <a:rPr lang="en-US" sz="1400" dirty="0">
                <a:solidFill>
                  <a:srgbClr val="5F6B7A"/>
                </a:solidFill>
              </a:rPr>
              <a:t>Registres, cahiers, messages</a:t>
            </a:r>
            <a:endParaRPr lang="en-US" sz="1400" dirty="0"/>
          </a:p>
        </p:txBody>
      </p:sp>
      <p:sp>
        <p:nvSpPr>
          <p:cNvPr id="17" name="Shape 15"/>
          <p:cNvSpPr/>
          <p:nvPr/>
        </p:nvSpPr>
        <p:spPr>
          <a:xfrm>
            <a:off x="9464040" y="2221992"/>
            <a:ext cx="310896" cy="310896"/>
          </a:xfrm>
          <a:prstGeom prst="ellipse">
            <a:avLst/>
          </a:prstGeom>
          <a:solidFill>
            <a:srgbClr val="3A57E0"/>
          </a:solidFill>
          <a:ln/>
        </p:spPr>
      </p:sp>
      <p:sp>
        <p:nvSpPr>
          <p:cNvPr id="18" name="Text 16"/>
          <p:cNvSpPr txBox="1"/>
          <p:nvPr/>
        </p:nvSpPr>
        <p:spPr>
          <a:xfrm>
            <a:off x="9464040" y="2697480"/>
            <a:ext cx="2057400" cy="685800"/>
          </a:xfrm>
          <a:prstGeom prst="rect">
            <a:avLst/>
          </a:prstGeom>
          <a:noFill/>
          <a:ln/>
        </p:spPr>
        <p:txBody>
          <a:bodyPr wrap="square" lIns="0" tIns="0" rIns="0" bIns="0" rtlCol="0" anchor="t"/>
          <a:lstStyle/>
          <a:p>
            <a:pPr marL="0" indent="0">
              <a:buNone/>
            </a:pPr>
            <a:r>
              <a:rPr lang="en-US" sz="1900" b="1" dirty="0">
                <a:solidFill>
                  <a:srgbClr val="3A57E0"/>
                </a:solidFill>
              </a:rPr>
              <a:t>Trouver un fournisseur</a:t>
            </a:r>
            <a:endParaRPr lang="en-US" sz="1900" dirty="0"/>
          </a:p>
        </p:txBody>
      </p:sp>
      <p:sp>
        <p:nvSpPr>
          <p:cNvPr id="19" name="Text 17"/>
          <p:cNvSpPr txBox="1"/>
          <p:nvPr/>
        </p:nvSpPr>
        <p:spPr>
          <a:xfrm>
            <a:off x="9464040" y="3429000"/>
            <a:ext cx="2011680" cy="640080"/>
          </a:xfrm>
          <a:prstGeom prst="rect">
            <a:avLst/>
          </a:prstGeom>
          <a:noFill/>
          <a:ln/>
        </p:spPr>
        <p:txBody>
          <a:bodyPr wrap="square" lIns="0" tIns="0" rIns="0" bIns="0" rtlCol="0" anchor="t"/>
          <a:lstStyle/>
          <a:p>
            <a:pPr marL="0" indent="0">
              <a:buNone/>
            </a:pPr>
            <a:r>
              <a:rPr lang="en-US" sz="1400" dirty="0">
                <a:solidFill>
                  <a:srgbClr val="5F6B7A"/>
                </a:solidFill>
              </a:rPr>
              <a:t>Souvent dans l'urgence</a:t>
            </a:r>
            <a:endParaRPr lang="en-US" sz="1400" dirty="0"/>
          </a:p>
        </p:txBody>
      </p:sp>
      <p:sp>
        <p:nvSpPr>
          <p:cNvPr id="20" name="Text 18"/>
          <p:cNvSpPr txBox="1"/>
          <p:nvPr/>
        </p:nvSpPr>
        <p:spPr>
          <a:xfrm>
            <a:off x="640080" y="4434840"/>
            <a:ext cx="10881360" cy="457200"/>
          </a:xfrm>
          <a:prstGeom prst="rect">
            <a:avLst/>
          </a:prstGeom>
          <a:noFill/>
          <a:ln/>
        </p:spPr>
        <p:txBody>
          <a:bodyPr wrap="square" lIns="0" tIns="0" rIns="0" bIns="0" rtlCol="0" anchor="t"/>
          <a:lstStyle/>
          <a:p>
            <a:pPr marL="0" indent="0">
              <a:buNone/>
            </a:pPr>
            <a:r>
              <a:rPr lang="en-US" sz="2200" dirty="0">
                <a:solidFill>
                  <a:srgbClr val="1A2540"/>
                </a:solidFill>
              </a:rPr>
              <a:t>Ce dernier point repose encore sur les contacts, les appels et WhatsApp.</a:t>
            </a:r>
            <a:endParaRPr lang="en-US" sz="2200" dirty="0"/>
          </a:p>
        </p:txBody>
      </p:sp>
      <p:sp>
        <p:nvSpPr>
          <p:cNvPr id="21" name="Text 19"/>
          <p:cNvSpPr txBox="1"/>
          <p:nvPr/>
        </p:nvSpPr>
        <p:spPr>
          <a:xfrm>
            <a:off x="640080" y="4937760"/>
            <a:ext cx="10881360" cy="457200"/>
          </a:xfrm>
          <a:prstGeom prst="rect">
            <a:avLst/>
          </a:prstGeom>
          <a:noFill/>
          <a:ln/>
        </p:spPr>
        <p:txBody>
          <a:bodyPr wrap="square" lIns="0" tIns="0" rIns="0" bIns="0" rtlCol="0" anchor="t"/>
          <a:lstStyle/>
          <a:p>
            <a:pPr marL="0" indent="0">
              <a:buNone/>
            </a:pPr>
            <a:r>
              <a:rPr lang="en-US" sz="2200" b="1" dirty="0">
                <a:solidFill>
                  <a:srgbClr val="3A57E0"/>
                </a:solidFill>
              </a:rPr>
              <a:t>C'est là qu'intervient le B2B : les échanges entre entreprises.</a:t>
            </a:r>
            <a:endParaRPr lang="en-US" sz="2200" dirty="0"/>
          </a:p>
        </p:txBody>
      </p:sp>
      <p:sp>
        <p:nvSpPr>
          <p:cNvPr id="25" name="Slide Number Placeholder 0"/>
          <p:cNvSpPr>
            <a:spLocks noGrp="1"/>
          </p:cNvSpPr>
          <p:nvPr>
            <p:ph type="sldNum" sz="quarter" idx="4294967295"/>
          </p:nvPr>
        </p:nvSpPr>
        <p:spPr>
          <a:xfrm>
            <a:off x="1100023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defRPr>
            </a:lvl1pPr>
          </a:lstStyle>
          <a:p>
            <a:pPr algn="r"/>
            <a:fld id="{F7021451-1387-4CA6-816F-3879F97B5CBC}" type="slidenum">
              <a:rPr lang="en-US" b="0"/>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411480"/>
            <a:ext cx="10908792" cy="274320"/>
          </a:xfrm>
          <a:prstGeom prst="rect">
            <a:avLst/>
          </a:prstGeom>
          <a:noFill/>
          <a:ln/>
        </p:spPr>
        <p:txBody>
          <a:bodyPr wrap="square" lIns="0" tIns="0" rIns="0" bIns="0" rtlCol="0" anchor="t"/>
          <a:lstStyle/>
          <a:p>
            <a:pPr marL="0" indent="0" algn="l">
              <a:buNone/>
            </a:pPr>
            <a:r>
              <a:rPr lang="en-US" sz="1200" b="1" dirty="0">
                <a:solidFill>
                  <a:srgbClr val="93A8F7"/>
                </a:solidFill>
              </a:rPr>
              <a:t>1 · Problématique</a:t>
            </a:r>
            <a:endParaRPr lang="en-US" sz="1200" dirty="0"/>
          </a:p>
        </p:txBody>
      </p:sp>
      <p:sp>
        <p:nvSpPr>
          <p:cNvPr id="3" name="Text 1"/>
          <p:cNvSpPr>
            <a:spLocks noGrp="1"/>
          </p:cNvSpPr>
          <p:nvPr>
            <p:ph type="title" idx="102" hasCustomPrompt="1"/>
          </p:nvPr>
        </p:nvSpPr>
        <p:spPr>
          <a:xfrm>
            <a:off x="640080" y="713232"/>
            <a:ext cx="10908792" cy="640080"/>
          </a:xfrm>
          <a:prstGeom prst="rect">
            <a:avLst/>
          </a:prstGeom>
          <a:noFill/>
          <a:ln/>
        </p:spPr>
        <p:txBody>
          <a:bodyPr wrap="square" lIns="0" tIns="0" rIns="0" bIns="0" rtlCol="0" anchor="t"/>
          <a:lstStyle/>
          <a:p>
            <a:pPr marL="0" indent="0" algn="l">
              <a:buNone/>
            </a:pPr>
            <a:r>
              <a:rPr lang="en-US" sz="3000" b="1" dirty="0">
                <a:solidFill>
                  <a:srgbClr val="FFFFFF"/>
                </a:solidFill>
              </a:rPr>
              <a:t>Quand le réapprovisionnement devient urgent</a:t>
            </a:r>
            <a:endParaRPr lang="en-US" sz="3000" dirty="0"/>
          </a:p>
        </p:txBody>
      </p:sp>
      <p:sp>
        <p:nvSpPr>
          <p:cNvPr id="4" name="Shape 2"/>
          <p:cNvSpPr/>
          <p:nvPr/>
        </p:nvSpPr>
        <p:spPr>
          <a:xfrm>
            <a:off x="640080" y="1645920"/>
            <a:ext cx="4206240" cy="475488"/>
          </a:xfrm>
          <a:prstGeom prst="rect">
            <a:avLst/>
          </a:prstGeom>
          <a:ln w="12700">
            <a:solidFill>
              <a:srgbClr val="4A5675"/>
            </a:solidFill>
            <a:prstDash val="solid"/>
          </a:ln>
        </p:spPr>
      </p:sp>
      <p:sp>
        <p:nvSpPr>
          <p:cNvPr id="5" name="Text 3"/>
          <p:cNvSpPr txBox="1"/>
          <p:nvPr/>
        </p:nvSpPr>
        <p:spPr>
          <a:xfrm>
            <a:off x="822960" y="1645920"/>
            <a:ext cx="3840480" cy="475488"/>
          </a:xfrm>
          <a:prstGeom prst="rect">
            <a:avLst/>
          </a:prstGeom>
          <a:noFill/>
          <a:ln/>
        </p:spPr>
        <p:txBody>
          <a:bodyPr wrap="square" lIns="0" tIns="0" rIns="0" bIns="0" rtlCol="0" anchor="ctr"/>
          <a:lstStyle/>
          <a:p>
            <a:pPr marL="0" indent="0">
              <a:buNone/>
            </a:pPr>
            <a:r>
              <a:rPr lang="en-US" sz="1600" dirty="0">
                <a:solidFill>
                  <a:srgbClr val="FFFFFF"/>
                </a:solidFill>
              </a:rPr>
              <a:t>Rupture de stock</a:t>
            </a:r>
            <a:endParaRPr lang="en-US" sz="1600" dirty="0"/>
          </a:p>
        </p:txBody>
      </p:sp>
      <p:sp>
        <p:nvSpPr>
          <p:cNvPr id="6" name="Shape 4"/>
          <p:cNvSpPr/>
          <p:nvPr/>
        </p:nvSpPr>
        <p:spPr>
          <a:xfrm>
            <a:off x="2743200" y="2121408"/>
            <a:ext cx="0" cy="237744"/>
          </a:xfrm>
          <a:prstGeom prst="line">
            <a:avLst/>
          </a:prstGeom>
          <a:noFill/>
          <a:ln w="15875">
            <a:solidFill>
              <a:srgbClr val="AEB8CC"/>
            </a:solidFill>
            <a:prstDash val="solid"/>
            <a:tailEnd type="triangle"/>
          </a:ln>
        </p:spPr>
      </p:sp>
      <p:sp>
        <p:nvSpPr>
          <p:cNvPr id="7" name="Shape 5"/>
          <p:cNvSpPr/>
          <p:nvPr/>
        </p:nvSpPr>
        <p:spPr>
          <a:xfrm>
            <a:off x="640080" y="2359152"/>
            <a:ext cx="4206240" cy="475488"/>
          </a:xfrm>
          <a:prstGeom prst="rect">
            <a:avLst/>
          </a:prstGeom>
          <a:ln w="12700">
            <a:solidFill>
              <a:srgbClr val="4A5675"/>
            </a:solidFill>
            <a:prstDash val="solid"/>
          </a:ln>
        </p:spPr>
      </p:sp>
      <p:sp>
        <p:nvSpPr>
          <p:cNvPr id="8" name="Text 6"/>
          <p:cNvSpPr txBox="1"/>
          <p:nvPr/>
        </p:nvSpPr>
        <p:spPr>
          <a:xfrm>
            <a:off x="822960" y="2359152"/>
            <a:ext cx="3840480" cy="475488"/>
          </a:xfrm>
          <a:prstGeom prst="rect">
            <a:avLst/>
          </a:prstGeom>
          <a:noFill/>
          <a:ln/>
        </p:spPr>
        <p:txBody>
          <a:bodyPr wrap="square" lIns="0" tIns="0" rIns="0" bIns="0" rtlCol="0" anchor="ctr"/>
          <a:lstStyle/>
          <a:p>
            <a:pPr marL="0" indent="0">
              <a:buNone/>
            </a:pPr>
            <a:r>
              <a:rPr lang="en-US" sz="1600" dirty="0">
                <a:solidFill>
                  <a:srgbClr val="FFFFFF"/>
                </a:solidFill>
              </a:rPr>
              <a:t>Commande en urgence</a:t>
            </a:r>
            <a:endParaRPr lang="en-US" sz="1600" dirty="0"/>
          </a:p>
        </p:txBody>
      </p:sp>
      <p:sp>
        <p:nvSpPr>
          <p:cNvPr id="9" name="Shape 7"/>
          <p:cNvSpPr/>
          <p:nvPr/>
        </p:nvSpPr>
        <p:spPr>
          <a:xfrm>
            <a:off x="2743200" y="2834640"/>
            <a:ext cx="0" cy="237744"/>
          </a:xfrm>
          <a:prstGeom prst="line">
            <a:avLst/>
          </a:prstGeom>
          <a:noFill/>
          <a:ln w="15875">
            <a:solidFill>
              <a:srgbClr val="AEB8CC"/>
            </a:solidFill>
            <a:prstDash val="solid"/>
            <a:tailEnd type="triangle"/>
          </a:ln>
        </p:spPr>
      </p:sp>
      <p:sp>
        <p:nvSpPr>
          <p:cNvPr id="10" name="Shape 8"/>
          <p:cNvSpPr/>
          <p:nvPr/>
        </p:nvSpPr>
        <p:spPr>
          <a:xfrm>
            <a:off x="640080" y="3072384"/>
            <a:ext cx="4206240" cy="475488"/>
          </a:xfrm>
          <a:prstGeom prst="rect">
            <a:avLst/>
          </a:prstGeom>
          <a:ln w="12700">
            <a:solidFill>
              <a:srgbClr val="4A5675"/>
            </a:solidFill>
            <a:prstDash val="solid"/>
          </a:ln>
        </p:spPr>
      </p:sp>
      <p:sp>
        <p:nvSpPr>
          <p:cNvPr id="11" name="Text 9"/>
          <p:cNvSpPr txBox="1"/>
          <p:nvPr/>
        </p:nvSpPr>
        <p:spPr>
          <a:xfrm>
            <a:off x="822960" y="3072384"/>
            <a:ext cx="3840480" cy="475488"/>
          </a:xfrm>
          <a:prstGeom prst="rect">
            <a:avLst/>
          </a:prstGeom>
          <a:noFill/>
          <a:ln/>
        </p:spPr>
        <p:txBody>
          <a:bodyPr wrap="square" lIns="0" tIns="0" rIns="0" bIns="0" rtlCol="0" anchor="ctr"/>
          <a:lstStyle/>
          <a:p>
            <a:pPr marL="0" indent="0">
              <a:buNone/>
            </a:pPr>
            <a:r>
              <a:rPr lang="en-US" sz="1600" dirty="0">
                <a:solidFill>
                  <a:srgbClr val="FFFFFF"/>
                </a:solidFill>
              </a:rPr>
              <a:t>Recherche dans le carnet d'adresses</a:t>
            </a:r>
            <a:endParaRPr lang="en-US" sz="1600" dirty="0"/>
          </a:p>
        </p:txBody>
      </p:sp>
      <p:sp>
        <p:nvSpPr>
          <p:cNvPr id="12" name="Shape 10"/>
          <p:cNvSpPr/>
          <p:nvPr/>
        </p:nvSpPr>
        <p:spPr>
          <a:xfrm>
            <a:off x="2743200" y="3547872"/>
            <a:ext cx="0" cy="237744"/>
          </a:xfrm>
          <a:prstGeom prst="line">
            <a:avLst/>
          </a:prstGeom>
          <a:noFill/>
          <a:ln w="15875">
            <a:solidFill>
              <a:srgbClr val="AEB8CC"/>
            </a:solidFill>
            <a:prstDash val="solid"/>
            <a:tailEnd type="triangle"/>
          </a:ln>
        </p:spPr>
      </p:sp>
      <p:sp>
        <p:nvSpPr>
          <p:cNvPr id="13" name="Shape 11"/>
          <p:cNvSpPr/>
          <p:nvPr/>
        </p:nvSpPr>
        <p:spPr>
          <a:xfrm>
            <a:off x="640080" y="3785616"/>
            <a:ext cx="4206240" cy="475488"/>
          </a:xfrm>
          <a:prstGeom prst="rect">
            <a:avLst/>
          </a:prstGeom>
          <a:ln w="12700">
            <a:solidFill>
              <a:srgbClr val="4A5675"/>
            </a:solidFill>
            <a:prstDash val="solid"/>
          </a:ln>
        </p:spPr>
      </p:sp>
      <p:sp>
        <p:nvSpPr>
          <p:cNvPr id="14" name="Text 12"/>
          <p:cNvSpPr txBox="1"/>
          <p:nvPr/>
        </p:nvSpPr>
        <p:spPr>
          <a:xfrm>
            <a:off x="822960" y="3785616"/>
            <a:ext cx="3840480" cy="475488"/>
          </a:xfrm>
          <a:prstGeom prst="rect">
            <a:avLst/>
          </a:prstGeom>
          <a:noFill/>
          <a:ln/>
        </p:spPr>
        <p:txBody>
          <a:bodyPr wrap="square" lIns="0" tIns="0" rIns="0" bIns="0" rtlCol="0" anchor="ctr"/>
          <a:lstStyle/>
          <a:p>
            <a:pPr marL="0" indent="0">
              <a:buNone/>
            </a:pPr>
            <a:r>
              <a:rPr lang="en-US" sz="1600" dirty="0">
                <a:solidFill>
                  <a:srgbClr val="FFFFFF"/>
                </a:solidFill>
              </a:rPr>
              <a:t>Mails, appels, déplacements</a:t>
            </a:r>
            <a:endParaRPr lang="en-US" sz="1600" dirty="0"/>
          </a:p>
        </p:txBody>
      </p:sp>
      <p:sp>
        <p:nvSpPr>
          <p:cNvPr id="15" name="Shape 13"/>
          <p:cNvSpPr/>
          <p:nvPr/>
        </p:nvSpPr>
        <p:spPr>
          <a:xfrm>
            <a:off x="2743200" y="4261104"/>
            <a:ext cx="0" cy="237744"/>
          </a:xfrm>
          <a:prstGeom prst="line">
            <a:avLst/>
          </a:prstGeom>
          <a:noFill/>
          <a:ln w="15875">
            <a:solidFill>
              <a:srgbClr val="AEB8CC"/>
            </a:solidFill>
            <a:prstDash val="solid"/>
            <a:tailEnd type="triangle"/>
          </a:ln>
        </p:spPr>
      </p:sp>
      <p:sp>
        <p:nvSpPr>
          <p:cNvPr id="16" name="Shape 14"/>
          <p:cNvSpPr/>
          <p:nvPr/>
        </p:nvSpPr>
        <p:spPr>
          <a:xfrm>
            <a:off x="640080" y="4498848"/>
            <a:ext cx="4206240" cy="475488"/>
          </a:xfrm>
          <a:prstGeom prst="rect">
            <a:avLst/>
          </a:prstGeom>
          <a:ln w="12700">
            <a:solidFill>
              <a:srgbClr val="4A5675"/>
            </a:solidFill>
            <a:prstDash val="solid"/>
          </a:ln>
        </p:spPr>
      </p:sp>
      <p:sp>
        <p:nvSpPr>
          <p:cNvPr id="17" name="Text 15"/>
          <p:cNvSpPr txBox="1"/>
          <p:nvPr/>
        </p:nvSpPr>
        <p:spPr>
          <a:xfrm>
            <a:off x="822960" y="4498848"/>
            <a:ext cx="3840480" cy="475488"/>
          </a:xfrm>
          <a:prstGeom prst="rect">
            <a:avLst/>
          </a:prstGeom>
          <a:noFill/>
          <a:ln/>
        </p:spPr>
        <p:txBody>
          <a:bodyPr wrap="square" lIns="0" tIns="0" rIns="0" bIns="0" rtlCol="0" anchor="ctr"/>
          <a:lstStyle/>
          <a:p>
            <a:pPr marL="0" indent="0">
              <a:buNone/>
            </a:pPr>
            <a:r>
              <a:rPr lang="en-US" sz="1600" dirty="0">
                <a:solidFill>
                  <a:srgbClr val="FFFFFF"/>
                </a:solidFill>
              </a:rPr>
              <a:t>Produit inadapté ou surfacturé</a:t>
            </a:r>
            <a:endParaRPr lang="en-US" sz="1600" dirty="0"/>
          </a:p>
        </p:txBody>
      </p:sp>
      <p:sp>
        <p:nvSpPr>
          <p:cNvPr id="18" name="Shape 16"/>
          <p:cNvSpPr/>
          <p:nvPr/>
        </p:nvSpPr>
        <p:spPr>
          <a:xfrm>
            <a:off x="2743200" y="4974336"/>
            <a:ext cx="0" cy="237744"/>
          </a:xfrm>
          <a:prstGeom prst="line">
            <a:avLst/>
          </a:prstGeom>
          <a:noFill/>
          <a:ln w="15875">
            <a:solidFill>
              <a:srgbClr val="AEB8CC"/>
            </a:solidFill>
            <a:prstDash val="solid"/>
            <a:tailEnd type="triangle"/>
          </a:ln>
        </p:spPr>
      </p:sp>
      <p:sp>
        <p:nvSpPr>
          <p:cNvPr id="19" name="Shape 17"/>
          <p:cNvSpPr/>
          <p:nvPr/>
        </p:nvSpPr>
        <p:spPr>
          <a:xfrm>
            <a:off x="640080" y="5212080"/>
            <a:ext cx="4206240" cy="475488"/>
          </a:xfrm>
          <a:prstGeom prst="rect">
            <a:avLst/>
          </a:prstGeom>
          <a:solidFill>
            <a:srgbClr val="3A57E0"/>
          </a:solidFill>
          <a:ln w="12700">
            <a:solidFill>
              <a:srgbClr val="3A57E0"/>
            </a:solidFill>
            <a:prstDash val="solid"/>
          </a:ln>
        </p:spPr>
      </p:sp>
      <p:sp>
        <p:nvSpPr>
          <p:cNvPr id="20" name="Text 18"/>
          <p:cNvSpPr txBox="1"/>
          <p:nvPr/>
        </p:nvSpPr>
        <p:spPr>
          <a:xfrm>
            <a:off x="822960" y="5212080"/>
            <a:ext cx="3840480" cy="475488"/>
          </a:xfrm>
          <a:prstGeom prst="rect">
            <a:avLst/>
          </a:prstGeom>
          <a:noFill/>
          <a:ln/>
        </p:spPr>
        <p:txBody>
          <a:bodyPr wrap="square" lIns="0" tIns="0" rIns="0" bIns="0" rtlCol="0" anchor="ctr"/>
          <a:lstStyle/>
          <a:p>
            <a:pPr marL="0" indent="0">
              <a:buNone/>
            </a:pPr>
            <a:r>
              <a:rPr lang="en-US" sz="1600" b="1" dirty="0">
                <a:solidFill>
                  <a:srgbClr val="FFFFFF"/>
                </a:solidFill>
              </a:rPr>
              <a:t>Marge réduite, clients perdus</a:t>
            </a:r>
            <a:endParaRPr lang="en-US" sz="1600" dirty="0"/>
          </a:p>
        </p:txBody>
      </p:sp>
      <p:sp>
        <p:nvSpPr>
          <p:cNvPr id="21" name="Text 19"/>
          <p:cNvSpPr txBox="1"/>
          <p:nvPr/>
        </p:nvSpPr>
        <p:spPr>
          <a:xfrm>
            <a:off x="5577840" y="1783080"/>
            <a:ext cx="5943600" cy="365760"/>
          </a:xfrm>
          <a:prstGeom prst="rect">
            <a:avLst/>
          </a:prstGeom>
          <a:noFill/>
          <a:ln/>
        </p:spPr>
        <p:txBody>
          <a:bodyPr wrap="square" lIns="0" tIns="0" rIns="0" bIns="0" rtlCol="0" anchor="t"/>
          <a:lstStyle/>
          <a:p>
            <a:pPr marL="0" indent="0">
              <a:buNone/>
            </a:pPr>
            <a:r>
              <a:rPr lang="en-US" sz="1500" b="1" dirty="0">
                <a:solidFill>
                  <a:srgbClr val="93A8F7"/>
                </a:solidFill>
              </a:rPr>
              <a:t>Question centrale</a:t>
            </a:r>
            <a:endParaRPr lang="en-US" sz="1500" dirty="0"/>
          </a:p>
        </p:txBody>
      </p:sp>
      <p:sp>
        <p:nvSpPr>
          <p:cNvPr id="22" name="Text 20"/>
          <p:cNvSpPr txBox="1"/>
          <p:nvPr/>
        </p:nvSpPr>
        <p:spPr>
          <a:xfrm>
            <a:off x="5577840" y="2240280"/>
            <a:ext cx="5943600" cy="2468880"/>
          </a:xfrm>
          <a:prstGeom prst="rect">
            <a:avLst/>
          </a:prstGeom>
          <a:noFill/>
          <a:ln/>
        </p:spPr>
        <p:txBody>
          <a:bodyPr wrap="square" lIns="0" tIns="0" rIns="0" bIns="0" rtlCol="0" anchor="t"/>
          <a:lstStyle/>
          <a:p>
            <a:pPr marL="0" indent="0">
              <a:buNone/>
            </a:pPr>
            <a:r>
              <a:rPr lang="en-US" sz="3100" b="1" dirty="0">
                <a:solidFill>
                  <a:srgbClr val="FFFFFF"/>
                </a:solidFill>
              </a:rPr>
              <a:t>Comment centraliser la gestion commerciale des PME et fluidifier leurs échanges B2B, notamment en situation d'urgence ?</a:t>
            </a:r>
            <a:endParaRPr lang="en-US" sz="3100" dirty="0"/>
          </a:p>
        </p:txBody>
      </p:sp>
      <p:sp>
        <p:nvSpPr>
          <p:cNvPr id="23" name="Shape 21"/>
          <p:cNvSpPr/>
          <p:nvPr/>
        </p:nvSpPr>
        <p:spPr>
          <a:xfrm>
            <a:off x="5577840" y="4983480"/>
            <a:ext cx="5971032" cy="0"/>
          </a:xfrm>
          <a:prstGeom prst="line">
            <a:avLst/>
          </a:prstGeom>
          <a:noFill/>
          <a:ln w="9525">
            <a:solidFill>
              <a:srgbClr val="3A4663"/>
            </a:solidFill>
            <a:prstDash val="solid"/>
          </a:ln>
        </p:spPr>
      </p:sp>
      <p:sp>
        <p:nvSpPr>
          <p:cNvPr id="24" name="Text 22"/>
          <p:cNvSpPr txBox="1"/>
          <p:nvPr/>
        </p:nvSpPr>
        <p:spPr>
          <a:xfrm>
            <a:off x="5577840" y="5120640"/>
            <a:ext cx="5943600" cy="731520"/>
          </a:xfrm>
          <a:prstGeom prst="rect">
            <a:avLst/>
          </a:prstGeom>
          <a:noFill/>
          <a:ln/>
        </p:spPr>
        <p:txBody>
          <a:bodyPr wrap="square" lIns="0" tIns="0" rIns="0" bIns="0" rtlCol="0" anchor="t"/>
          <a:lstStyle/>
          <a:p>
            <a:pPr marL="0" indent="0">
              <a:buNone/>
            </a:pPr>
            <a:r>
              <a:rPr lang="en-US" sz="1500" dirty="0">
                <a:solidFill>
                  <a:srgbClr val="AEB8CC"/>
                </a:solidFill>
              </a:rPr>
              <a:t>Objectif triple : réduire les coûts, éliminer les délais d'attente des partenaires, optimiser la gestion des stocks.</a:t>
            </a:r>
            <a:endParaRPr lang="en-US" sz="1500" dirty="0"/>
          </a:p>
        </p:txBody>
      </p:sp>
      <p:sp>
        <p:nvSpPr>
          <p:cNvPr id="25" name="Slide Number Placeholder 0"/>
          <p:cNvSpPr>
            <a:spLocks noGrp="1"/>
          </p:cNvSpPr>
          <p:nvPr>
            <p:ph type="sldNum" sz="quarter" idx="4294967295"/>
          </p:nvPr>
        </p:nvSpPr>
        <p:spPr>
          <a:xfrm>
            <a:off x="1100023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7C88A3"/>
                </a:solidFill>
              </a:defRPr>
            </a:lvl1pPr>
          </a:lstStyle>
          <a:p>
            <a:pPr algn="r"/>
            <a:fld id="{F7021451-1387-4CA6-816F-3879F97B5CBC}" type="slidenum">
              <a:rPr lang="en-US" b="0"/>
              <a:t>6</a:t>
            </a:fld>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411480"/>
            <a:ext cx="10908792" cy="274320"/>
          </a:xfrm>
          <a:prstGeom prst="rect">
            <a:avLst/>
          </a:prstGeom>
          <a:noFill/>
          <a:ln/>
        </p:spPr>
        <p:txBody>
          <a:bodyPr wrap="square" lIns="0" tIns="0" rIns="0" bIns="0" rtlCol="0" anchor="t"/>
          <a:lstStyle/>
          <a:p>
            <a:pPr marL="0" indent="0" algn="l">
              <a:buNone/>
            </a:pPr>
            <a:r>
              <a:rPr lang="en-US" sz="1200" b="1" dirty="0">
                <a:solidFill>
                  <a:srgbClr val="3A57E0"/>
                </a:solidFill>
              </a:rPr>
              <a:t>2 · Étude préalable</a:t>
            </a:r>
            <a:endParaRPr lang="en-US" sz="1200" dirty="0"/>
          </a:p>
        </p:txBody>
      </p:sp>
      <p:sp>
        <p:nvSpPr>
          <p:cNvPr id="3" name="Text 1"/>
          <p:cNvSpPr>
            <a:spLocks noGrp="1"/>
          </p:cNvSpPr>
          <p:nvPr>
            <p:ph type="title" idx="102" hasCustomPrompt="1"/>
          </p:nvPr>
        </p:nvSpPr>
        <p:spPr>
          <a:xfrm>
            <a:off x="640080" y="713232"/>
            <a:ext cx="10908792" cy="640080"/>
          </a:xfrm>
          <a:prstGeom prst="rect">
            <a:avLst/>
          </a:prstGeom>
          <a:noFill/>
          <a:ln/>
        </p:spPr>
        <p:txBody>
          <a:bodyPr wrap="square" lIns="0" tIns="0" rIns="0" bIns="0" rtlCol="0" anchor="t"/>
          <a:lstStyle/>
          <a:p>
            <a:pPr marL="0" indent="0" algn="l">
              <a:buNone/>
            </a:pPr>
            <a:r>
              <a:rPr lang="en-US" sz="3000" b="1" dirty="0">
                <a:solidFill>
                  <a:srgbClr val="1A2540"/>
                </a:solidFill>
              </a:rPr>
              <a:t>L'existant : deux pratiques observées</a:t>
            </a:r>
            <a:endParaRPr lang="en-US" sz="3000" dirty="0"/>
          </a:p>
        </p:txBody>
      </p:sp>
      <p:sp>
        <p:nvSpPr>
          <p:cNvPr id="4" name="Text 2"/>
          <p:cNvSpPr txBox="1"/>
          <p:nvPr/>
        </p:nvSpPr>
        <p:spPr>
          <a:xfrm>
            <a:off x="640080" y="1554480"/>
            <a:ext cx="5120640" cy="411480"/>
          </a:xfrm>
          <a:prstGeom prst="rect">
            <a:avLst/>
          </a:prstGeom>
          <a:noFill/>
          <a:ln/>
        </p:spPr>
        <p:txBody>
          <a:bodyPr wrap="square" lIns="0" tIns="0" rIns="0" bIns="0" rtlCol="0" anchor="t"/>
          <a:lstStyle/>
          <a:p>
            <a:pPr marL="0" indent="0">
              <a:buNone/>
            </a:pPr>
            <a:r>
              <a:rPr lang="en-US" sz="2000" b="1" dirty="0">
                <a:solidFill>
                  <a:srgbClr val="1A2540"/>
                </a:solidFill>
              </a:rPr>
              <a:t>Vente au comptoir</a:t>
            </a:r>
            <a:endParaRPr lang="en-US" sz="2000" dirty="0"/>
          </a:p>
        </p:txBody>
      </p:sp>
      <p:sp>
        <p:nvSpPr>
          <p:cNvPr id="5" name="Shape 3"/>
          <p:cNvSpPr/>
          <p:nvPr/>
        </p:nvSpPr>
        <p:spPr>
          <a:xfrm>
            <a:off x="640080" y="2103120"/>
            <a:ext cx="5120640" cy="438912"/>
          </a:xfrm>
          <a:prstGeom prst="rect">
            <a:avLst/>
          </a:prstGeom>
          <a:solidFill>
            <a:srgbClr val="FFFFFF"/>
          </a:solidFill>
          <a:ln w="15875">
            <a:solidFill>
              <a:srgbClr val="CBD2DC"/>
            </a:solidFill>
            <a:prstDash val="solid"/>
          </a:ln>
        </p:spPr>
      </p:sp>
      <p:sp>
        <p:nvSpPr>
          <p:cNvPr id="6" name="Text 4"/>
          <p:cNvSpPr txBox="1"/>
          <p:nvPr/>
        </p:nvSpPr>
        <p:spPr>
          <a:xfrm>
            <a:off x="868680" y="2103120"/>
            <a:ext cx="4754880" cy="438912"/>
          </a:xfrm>
          <a:prstGeom prst="rect">
            <a:avLst/>
          </a:prstGeom>
          <a:noFill/>
          <a:ln/>
        </p:spPr>
        <p:txBody>
          <a:bodyPr wrap="square" lIns="0" tIns="0" rIns="0" bIns="0" rtlCol="0" anchor="ctr"/>
          <a:lstStyle/>
          <a:p>
            <a:pPr marL="0" indent="0">
              <a:buNone/>
            </a:pPr>
            <a:r>
              <a:rPr lang="en-US" sz="1450" dirty="0">
                <a:solidFill>
                  <a:srgbClr val="1F2937"/>
                </a:solidFill>
              </a:rPr>
              <a:t>Le client exprime son besoin</a:t>
            </a:r>
            <a:endParaRPr lang="en-US" sz="1450" dirty="0"/>
          </a:p>
        </p:txBody>
      </p:sp>
      <p:sp>
        <p:nvSpPr>
          <p:cNvPr id="7" name="Shape 5"/>
          <p:cNvSpPr/>
          <p:nvPr/>
        </p:nvSpPr>
        <p:spPr>
          <a:xfrm>
            <a:off x="1097280" y="2542032"/>
            <a:ext cx="0" cy="182880"/>
          </a:xfrm>
          <a:prstGeom prst="line">
            <a:avLst/>
          </a:prstGeom>
          <a:noFill/>
          <a:ln w="15875">
            <a:solidFill>
              <a:srgbClr val="5F6B7A"/>
            </a:solidFill>
            <a:prstDash val="solid"/>
            <a:tailEnd type="triangle"/>
          </a:ln>
        </p:spPr>
      </p:sp>
      <p:sp>
        <p:nvSpPr>
          <p:cNvPr id="8" name="Shape 6"/>
          <p:cNvSpPr/>
          <p:nvPr/>
        </p:nvSpPr>
        <p:spPr>
          <a:xfrm>
            <a:off x="640080" y="2724912"/>
            <a:ext cx="5120640" cy="438912"/>
          </a:xfrm>
          <a:prstGeom prst="rect">
            <a:avLst/>
          </a:prstGeom>
          <a:solidFill>
            <a:srgbClr val="FFFFFF"/>
          </a:solidFill>
          <a:ln w="15875">
            <a:solidFill>
              <a:srgbClr val="CBD2DC"/>
            </a:solidFill>
            <a:prstDash val="solid"/>
          </a:ln>
        </p:spPr>
      </p:sp>
      <p:sp>
        <p:nvSpPr>
          <p:cNvPr id="9" name="Text 7"/>
          <p:cNvSpPr txBox="1"/>
          <p:nvPr/>
        </p:nvSpPr>
        <p:spPr>
          <a:xfrm>
            <a:off x="868680" y="2724912"/>
            <a:ext cx="4754880" cy="438912"/>
          </a:xfrm>
          <a:prstGeom prst="rect">
            <a:avLst/>
          </a:prstGeom>
          <a:noFill/>
          <a:ln/>
        </p:spPr>
        <p:txBody>
          <a:bodyPr wrap="square" lIns="0" tIns="0" rIns="0" bIns="0" rtlCol="0" anchor="ctr"/>
          <a:lstStyle/>
          <a:p>
            <a:pPr marL="0" indent="0">
              <a:buNone/>
            </a:pPr>
            <a:r>
              <a:rPr lang="en-US" sz="1450" dirty="0">
                <a:solidFill>
                  <a:srgbClr val="1F2937"/>
                </a:solidFill>
              </a:rPr>
              <a:t>Le vendeur annonce le prix</a:t>
            </a:r>
            <a:endParaRPr lang="en-US" sz="1450" dirty="0"/>
          </a:p>
        </p:txBody>
      </p:sp>
      <p:sp>
        <p:nvSpPr>
          <p:cNvPr id="10" name="Shape 8"/>
          <p:cNvSpPr/>
          <p:nvPr/>
        </p:nvSpPr>
        <p:spPr>
          <a:xfrm>
            <a:off x="1097280" y="3163824"/>
            <a:ext cx="0" cy="182880"/>
          </a:xfrm>
          <a:prstGeom prst="line">
            <a:avLst/>
          </a:prstGeom>
          <a:noFill/>
          <a:ln w="15875">
            <a:solidFill>
              <a:srgbClr val="5F6B7A"/>
            </a:solidFill>
            <a:prstDash val="solid"/>
            <a:tailEnd type="triangle"/>
          </a:ln>
        </p:spPr>
      </p:sp>
      <p:sp>
        <p:nvSpPr>
          <p:cNvPr id="11" name="Shape 9"/>
          <p:cNvSpPr/>
          <p:nvPr/>
        </p:nvSpPr>
        <p:spPr>
          <a:xfrm>
            <a:off x="640080" y="3346704"/>
            <a:ext cx="5120640" cy="438912"/>
          </a:xfrm>
          <a:prstGeom prst="rect">
            <a:avLst/>
          </a:prstGeom>
          <a:solidFill>
            <a:srgbClr val="FFFFFF"/>
          </a:solidFill>
          <a:ln w="15875">
            <a:solidFill>
              <a:srgbClr val="CBD2DC"/>
            </a:solidFill>
            <a:prstDash val="solid"/>
          </a:ln>
        </p:spPr>
      </p:sp>
      <p:sp>
        <p:nvSpPr>
          <p:cNvPr id="12" name="Text 10"/>
          <p:cNvSpPr txBox="1"/>
          <p:nvPr/>
        </p:nvSpPr>
        <p:spPr>
          <a:xfrm>
            <a:off x="868680" y="3346704"/>
            <a:ext cx="4754880" cy="438912"/>
          </a:xfrm>
          <a:prstGeom prst="rect">
            <a:avLst/>
          </a:prstGeom>
          <a:noFill/>
          <a:ln/>
        </p:spPr>
        <p:txBody>
          <a:bodyPr wrap="square" lIns="0" tIns="0" rIns="0" bIns="0" rtlCol="0" anchor="ctr"/>
          <a:lstStyle/>
          <a:p>
            <a:pPr marL="0" indent="0">
              <a:buNone/>
            </a:pPr>
            <a:r>
              <a:rPr lang="en-US" sz="1450" dirty="0">
                <a:solidFill>
                  <a:srgbClr val="1F2937"/>
                </a:solidFill>
              </a:rPr>
              <a:t>Calcul du montant total</a:t>
            </a:r>
            <a:endParaRPr lang="en-US" sz="1450" dirty="0"/>
          </a:p>
        </p:txBody>
      </p:sp>
      <p:sp>
        <p:nvSpPr>
          <p:cNvPr id="13" name="Shape 11"/>
          <p:cNvSpPr/>
          <p:nvPr/>
        </p:nvSpPr>
        <p:spPr>
          <a:xfrm>
            <a:off x="1097280" y="3785616"/>
            <a:ext cx="0" cy="182880"/>
          </a:xfrm>
          <a:prstGeom prst="line">
            <a:avLst/>
          </a:prstGeom>
          <a:noFill/>
          <a:ln w="15875">
            <a:solidFill>
              <a:srgbClr val="5F6B7A"/>
            </a:solidFill>
            <a:prstDash val="solid"/>
            <a:tailEnd type="triangle"/>
          </a:ln>
        </p:spPr>
      </p:sp>
      <p:sp>
        <p:nvSpPr>
          <p:cNvPr id="14" name="Shape 12"/>
          <p:cNvSpPr/>
          <p:nvPr/>
        </p:nvSpPr>
        <p:spPr>
          <a:xfrm>
            <a:off x="640080" y="3968496"/>
            <a:ext cx="5120640" cy="438912"/>
          </a:xfrm>
          <a:prstGeom prst="rect">
            <a:avLst/>
          </a:prstGeom>
          <a:solidFill>
            <a:srgbClr val="FFFFFF"/>
          </a:solidFill>
          <a:ln w="15875">
            <a:solidFill>
              <a:srgbClr val="CBD2DC"/>
            </a:solidFill>
            <a:prstDash val="solid"/>
          </a:ln>
        </p:spPr>
      </p:sp>
      <p:sp>
        <p:nvSpPr>
          <p:cNvPr id="15" name="Text 13"/>
          <p:cNvSpPr txBox="1"/>
          <p:nvPr/>
        </p:nvSpPr>
        <p:spPr>
          <a:xfrm>
            <a:off x="868680" y="3968496"/>
            <a:ext cx="4754880" cy="438912"/>
          </a:xfrm>
          <a:prstGeom prst="rect">
            <a:avLst/>
          </a:prstGeom>
          <a:noFill/>
          <a:ln/>
        </p:spPr>
        <p:txBody>
          <a:bodyPr wrap="square" lIns="0" tIns="0" rIns="0" bIns="0" rtlCol="0" anchor="ctr"/>
          <a:lstStyle/>
          <a:p>
            <a:pPr marL="0" indent="0">
              <a:buNone/>
            </a:pPr>
            <a:r>
              <a:rPr lang="en-US" sz="1450" dirty="0">
                <a:solidFill>
                  <a:srgbClr val="1F2937"/>
                </a:solidFill>
              </a:rPr>
              <a:t>Paiement et remise d'un reçu</a:t>
            </a:r>
            <a:endParaRPr lang="en-US" sz="1450" dirty="0"/>
          </a:p>
        </p:txBody>
      </p:sp>
      <p:sp>
        <p:nvSpPr>
          <p:cNvPr id="16" name="Shape 14"/>
          <p:cNvSpPr/>
          <p:nvPr/>
        </p:nvSpPr>
        <p:spPr>
          <a:xfrm>
            <a:off x="1097280" y="4407408"/>
            <a:ext cx="0" cy="182880"/>
          </a:xfrm>
          <a:prstGeom prst="line">
            <a:avLst/>
          </a:prstGeom>
          <a:noFill/>
          <a:ln w="15875">
            <a:solidFill>
              <a:srgbClr val="5F6B7A"/>
            </a:solidFill>
            <a:prstDash val="solid"/>
            <a:tailEnd type="triangle"/>
          </a:ln>
        </p:spPr>
      </p:sp>
      <p:sp>
        <p:nvSpPr>
          <p:cNvPr id="17" name="Shape 15"/>
          <p:cNvSpPr/>
          <p:nvPr/>
        </p:nvSpPr>
        <p:spPr>
          <a:xfrm>
            <a:off x="640080" y="4590288"/>
            <a:ext cx="5120640" cy="438912"/>
          </a:xfrm>
          <a:prstGeom prst="rect">
            <a:avLst/>
          </a:prstGeom>
          <a:solidFill>
            <a:srgbClr val="FFFFFF"/>
          </a:solidFill>
          <a:ln w="15875">
            <a:solidFill>
              <a:srgbClr val="CBD2DC"/>
            </a:solidFill>
            <a:prstDash val="solid"/>
          </a:ln>
        </p:spPr>
      </p:sp>
      <p:sp>
        <p:nvSpPr>
          <p:cNvPr id="18" name="Text 16"/>
          <p:cNvSpPr txBox="1"/>
          <p:nvPr/>
        </p:nvSpPr>
        <p:spPr>
          <a:xfrm>
            <a:off x="868680" y="4590288"/>
            <a:ext cx="4754880" cy="438912"/>
          </a:xfrm>
          <a:prstGeom prst="rect">
            <a:avLst/>
          </a:prstGeom>
          <a:noFill/>
          <a:ln/>
        </p:spPr>
        <p:txBody>
          <a:bodyPr wrap="square" lIns="0" tIns="0" rIns="0" bIns="0" rtlCol="0" anchor="ctr"/>
          <a:lstStyle/>
          <a:p>
            <a:pPr marL="0" indent="0">
              <a:buNone/>
            </a:pPr>
            <a:r>
              <a:rPr lang="en-US" sz="1450" dirty="0">
                <a:solidFill>
                  <a:srgbClr val="1F2937"/>
                </a:solidFill>
              </a:rPr>
              <a:t>Vente notée dans un registre</a:t>
            </a:r>
            <a:endParaRPr lang="en-US" sz="1450" dirty="0"/>
          </a:p>
        </p:txBody>
      </p:sp>
      <p:sp>
        <p:nvSpPr>
          <p:cNvPr id="19" name="Text 17"/>
          <p:cNvSpPr txBox="1"/>
          <p:nvPr/>
        </p:nvSpPr>
        <p:spPr>
          <a:xfrm>
            <a:off x="6336792" y="1554480"/>
            <a:ext cx="5120640" cy="411480"/>
          </a:xfrm>
          <a:prstGeom prst="rect">
            <a:avLst/>
          </a:prstGeom>
          <a:noFill/>
          <a:ln/>
        </p:spPr>
        <p:txBody>
          <a:bodyPr wrap="square" lIns="0" tIns="0" rIns="0" bIns="0" rtlCol="0" anchor="t"/>
          <a:lstStyle/>
          <a:p>
            <a:pPr marL="0" indent="0">
              <a:buNone/>
            </a:pPr>
            <a:r>
              <a:rPr lang="en-US" sz="2000" b="1" dirty="0">
                <a:solidFill>
                  <a:srgbClr val="3A57E0"/>
                </a:solidFill>
              </a:rPr>
              <a:t>Réseautage B2B</a:t>
            </a:r>
            <a:endParaRPr lang="en-US" sz="2000" dirty="0"/>
          </a:p>
        </p:txBody>
      </p:sp>
      <p:sp>
        <p:nvSpPr>
          <p:cNvPr id="20" name="Shape 18"/>
          <p:cNvSpPr/>
          <p:nvPr/>
        </p:nvSpPr>
        <p:spPr>
          <a:xfrm>
            <a:off x="6336792" y="2103120"/>
            <a:ext cx="5120640" cy="438912"/>
          </a:xfrm>
          <a:prstGeom prst="rect">
            <a:avLst/>
          </a:prstGeom>
          <a:solidFill>
            <a:srgbClr val="FFFFFF"/>
          </a:solidFill>
          <a:ln w="15875">
            <a:solidFill>
              <a:srgbClr val="3A57E0"/>
            </a:solidFill>
            <a:prstDash val="solid"/>
          </a:ln>
        </p:spPr>
      </p:sp>
      <p:sp>
        <p:nvSpPr>
          <p:cNvPr id="21" name="Text 19"/>
          <p:cNvSpPr txBox="1"/>
          <p:nvPr/>
        </p:nvSpPr>
        <p:spPr>
          <a:xfrm>
            <a:off x="6565392" y="2103120"/>
            <a:ext cx="4754880" cy="438912"/>
          </a:xfrm>
          <a:prstGeom prst="rect">
            <a:avLst/>
          </a:prstGeom>
          <a:noFill/>
          <a:ln/>
        </p:spPr>
        <p:txBody>
          <a:bodyPr wrap="square" lIns="0" tIns="0" rIns="0" bIns="0" rtlCol="0" anchor="ctr"/>
          <a:lstStyle/>
          <a:p>
            <a:pPr marL="0" indent="0">
              <a:buNone/>
            </a:pPr>
            <a:r>
              <a:rPr lang="en-US" sz="1450" dirty="0">
                <a:solidFill>
                  <a:srgbClr val="1F2937"/>
                </a:solidFill>
              </a:rPr>
              <a:t>Besoin de commande</a:t>
            </a:r>
            <a:endParaRPr lang="en-US" sz="1450" dirty="0"/>
          </a:p>
        </p:txBody>
      </p:sp>
      <p:sp>
        <p:nvSpPr>
          <p:cNvPr id="22" name="Shape 20"/>
          <p:cNvSpPr/>
          <p:nvPr/>
        </p:nvSpPr>
        <p:spPr>
          <a:xfrm>
            <a:off x="6793992" y="2542032"/>
            <a:ext cx="0" cy="182880"/>
          </a:xfrm>
          <a:prstGeom prst="line">
            <a:avLst/>
          </a:prstGeom>
          <a:noFill/>
          <a:ln w="15875">
            <a:solidFill>
              <a:srgbClr val="5F6B7A"/>
            </a:solidFill>
            <a:prstDash val="solid"/>
            <a:tailEnd type="triangle"/>
          </a:ln>
        </p:spPr>
      </p:sp>
      <p:sp>
        <p:nvSpPr>
          <p:cNvPr id="23" name="Shape 21"/>
          <p:cNvSpPr/>
          <p:nvPr/>
        </p:nvSpPr>
        <p:spPr>
          <a:xfrm>
            <a:off x="6336792" y="2724912"/>
            <a:ext cx="5120640" cy="438912"/>
          </a:xfrm>
          <a:prstGeom prst="rect">
            <a:avLst/>
          </a:prstGeom>
          <a:solidFill>
            <a:srgbClr val="FFFFFF"/>
          </a:solidFill>
          <a:ln w="15875">
            <a:solidFill>
              <a:srgbClr val="3A57E0"/>
            </a:solidFill>
            <a:prstDash val="solid"/>
          </a:ln>
        </p:spPr>
      </p:sp>
      <p:sp>
        <p:nvSpPr>
          <p:cNvPr id="24" name="Text 22"/>
          <p:cNvSpPr txBox="1"/>
          <p:nvPr/>
        </p:nvSpPr>
        <p:spPr>
          <a:xfrm>
            <a:off x="6565392" y="2724912"/>
            <a:ext cx="4754880" cy="438912"/>
          </a:xfrm>
          <a:prstGeom prst="rect">
            <a:avLst/>
          </a:prstGeom>
          <a:noFill/>
          <a:ln/>
        </p:spPr>
        <p:txBody>
          <a:bodyPr wrap="square" lIns="0" tIns="0" rIns="0" bIns="0" rtlCol="0" anchor="ctr"/>
          <a:lstStyle/>
          <a:p>
            <a:pPr marL="0" indent="0">
              <a:buNone/>
            </a:pPr>
            <a:r>
              <a:rPr lang="en-US" sz="1450" dirty="0">
                <a:solidFill>
                  <a:srgbClr val="1F2937"/>
                </a:solidFill>
              </a:rPr>
              <a:t>Annonces : affiches, radio, télévision, réseaux sociaux</a:t>
            </a:r>
            <a:endParaRPr lang="en-US" sz="1450" dirty="0"/>
          </a:p>
        </p:txBody>
      </p:sp>
      <p:sp>
        <p:nvSpPr>
          <p:cNvPr id="25" name="Shape 23"/>
          <p:cNvSpPr/>
          <p:nvPr/>
        </p:nvSpPr>
        <p:spPr>
          <a:xfrm>
            <a:off x="6793992" y="3163824"/>
            <a:ext cx="0" cy="182880"/>
          </a:xfrm>
          <a:prstGeom prst="line">
            <a:avLst/>
          </a:prstGeom>
          <a:noFill/>
          <a:ln w="15875">
            <a:solidFill>
              <a:srgbClr val="5F6B7A"/>
            </a:solidFill>
            <a:prstDash val="solid"/>
            <a:tailEnd type="triangle"/>
          </a:ln>
        </p:spPr>
      </p:sp>
      <p:sp>
        <p:nvSpPr>
          <p:cNvPr id="26" name="Shape 24"/>
          <p:cNvSpPr/>
          <p:nvPr/>
        </p:nvSpPr>
        <p:spPr>
          <a:xfrm>
            <a:off x="6336792" y="3346704"/>
            <a:ext cx="5120640" cy="438912"/>
          </a:xfrm>
          <a:prstGeom prst="rect">
            <a:avLst/>
          </a:prstGeom>
          <a:solidFill>
            <a:srgbClr val="FFFFFF"/>
          </a:solidFill>
          <a:ln w="15875">
            <a:solidFill>
              <a:srgbClr val="3A57E0"/>
            </a:solidFill>
            <a:prstDash val="solid"/>
          </a:ln>
        </p:spPr>
      </p:sp>
      <p:sp>
        <p:nvSpPr>
          <p:cNvPr id="27" name="Text 25"/>
          <p:cNvSpPr txBox="1"/>
          <p:nvPr/>
        </p:nvSpPr>
        <p:spPr>
          <a:xfrm>
            <a:off x="6565392" y="3346704"/>
            <a:ext cx="4754880" cy="438912"/>
          </a:xfrm>
          <a:prstGeom prst="rect">
            <a:avLst/>
          </a:prstGeom>
          <a:noFill/>
          <a:ln/>
        </p:spPr>
        <p:txBody>
          <a:bodyPr wrap="square" lIns="0" tIns="0" rIns="0" bIns="0" rtlCol="0" anchor="ctr"/>
          <a:lstStyle/>
          <a:p>
            <a:pPr marL="0" indent="0">
              <a:buNone/>
            </a:pPr>
            <a:r>
              <a:rPr lang="en-US" sz="1450" dirty="0">
                <a:solidFill>
                  <a:srgbClr val="1F2937"/>
                </a:solidFill>
              </a:rPr>
              <a:t>Prise de contact, surtout par WhatsApp</a:t>
            </a:r>
            <a:endParaRPr lang="en-US" sz="1450" dirty="0"/>
          </a:p>
        </p:txBody>
      </p:sp>
      <p:sp>
        <p:nvSpPr>
          <p:cNvPr id="28" name="Shape 26"/>
          <p:cNvSpPr/>
          <p:nvPr/>
        </p:nvSpPr>
        <p:spPr>
          <a:xfrm>
            <a:off x="6793992" y="3785616"/>
            <a:ext cx="0" cy="182880"/>
          </a:xfrm>
          <a:prstGeom prst="line">
            <a:avLst/>
          </a:prstGeom>
          <a:noFill/>
          <a:ln w="15875">
            <a:solidFill>
              <a:srgbClr val="5F6B7A"/>
            </a:solidFill>
            <a:prstDash val="solid"/>
            <a:tailEnd type="triangle"/>
          </a:ln>
        </p:spPr>
      </p:sp>
      <p:sp>
        <p:nvSpPr>
          <p:cNvPr id="29" name="Shape 27"/>
          <p:cNvSpPr/>
          <p:nvPr/>
        </p:nvSpPr>
        <p:spPr>
          <a:xfrm>
            <a:off x="6336792" y="3968496"/>
            <a:ext cx="5120640" cy="438912"/>
          </a:xfrm>
          <a:prstGeom prst="rect">
            <a:avLst/>
          </a:prstGeom>
          <a:solidFill>
            <a:srgbClr val="FFFFFF"/>
          </a:solidFill>
          <a:ln w="15875">
            <a:solidFill>
              <a:srgbClr val="3A57E0"/>
            </a:solidFill>
            <a:prstDash val="solid"/>
          </a:ln>
        </p:spPr>
      </p:sp>
      <p:sp>
        <p:nvSpPr>
          <p:cNvPr id="30" name="Text 28"/>
          <p:cNvSpPr txBox="1"/>
          <p:nvPr/>
        </p:nvSpPr>
        <p:spPr>
          <a:xfrm>
            <a:off x="6565392" y="3968496"/>
            <a:ext cx="4754880" cy="438912"/>
          </a:xfrm>
          <a:prstGeom prst="rect">
            <a:avLst/>
          </a:prstGeom>
          <a:noFill/>
          <a:ln/>
        </p:spPr>
        <p:txBody>
          <a:bodyPr wrap="square" lIns="0" tIns="0" rIns="0" bIns="0" rtlCol="0" anchor="ctr"/>
          <a:lstStyle/>
          <a:p>
            <a:pPr marL="0" indent="0">
              <a:buNone/>
            </a:pPr>
            <a:r>
              <a:rPr lang="en-US" sz="1450" dirty="0">
                <a:solidFill>
                  <a:srgbClr val="1F2937"/>
                </a:solidFill>
              </a:rPr>
              <a:t>Échanges sur les produits, les prix, les quantités</a:t>
            </a:r>
            <a:endParaRPr lang="en-US" sz="1450" dirty="0"/>
          </a:p>
        </p:txBody>
      </p:sp>
      <p:sp>
        <p:nvSpPr>
          <p:cNvPr id="31" name="Shape 29"/>
          <p:cNvSpPr/>
          <p:nvPr/>
        </p:nvSpPr>
        <p:spPr>
          <a:xfrm>
            <a:off x="6793992" y="4407408"/>
            <a:ext cx="0" cy="182880"/>
          </a:xfrm>
          <a:prstGeom prst="line">
            <a:avLst/>
          </a:prstGeom>
          <a:noFill/>
          <a:ln w="15875">
            <a:solidFill>
              <a:srgbClr val="5F6B7A"/>
            </a:solidFill>
            <a:prstDash val="solid"/>
            <a:tailEnd type="triangle"/>
          </a:ln>
        </p:spPr>
      </p:sp>
      <p:sp>
        <p:nvSpPr>
          <p:cNvPr id="32" name="Shape 30"/>
          <p:cNvSpPr/>
          <p:nvPr/>
        </p:nvSpPr>
        <p:spPr>
          <a:xfrm>
            <a:off x="6336792" y="4590288"/>
            <a:ext cx="5120640" cy="438912"/>
          </a:xfrm>
          <a:prstGeom prst="rect">
            <a:avLst/>
          </a:prstGeom>
          <a:solidFill>
            <a:srgbClr val="FFFFFF"/>
          </a:solidFill>
          <a:ln w="15875">
            <a:solidFill>
              <a:srgbClr val="3A57E0"/>
            </a:solidFill>
            <a:prstDash val="solid"/>
          </a:ln>
        </p:spPr>
      </p:sp>
      <p:sp>
        <p:nvSpPr>
          <p:cNvPr id="33" name="Text 31"/>
          <p:cNvSpPr txBox="1"/>
          <p:nvPr/>
        </p:nvSpPr>
        <p:spPr>
          <a:xfrm>
            <a:off x="6565392" y="4590288"/>
            <a:ext cx="4754880" cy="438912"/>
          </a:xfrm>
          <a:prstGeom prst="rect">
            <a:avLst/>
          </a:prstGeom>
          <a:noFill/>
          <a:ln/>
        </p:spPr>
        <p:txBody>
          <a:bodyPr wrap="square" lIns="0" tIns="0" rIns="0" bIns="0" rtlCol="0" anchor="ctr"/>
          <a:lstStyle/>
          <a:p>
            <a:pPr marL="0" indent="0">
              <a:buNone/>
            </a:pPr>
            <a:r>
              <a:rPr lang="en-US" sz="1450" dirty="0">
                <a:solidFill>
                  <a:srgbClr val="1F2937"/>
                </a:solidFill>
              </a:rPr>
              <a:t>Commande, puis confirmation du vendeur</a:t>
            </a:r>
            <a:endParaRPr lang="en-US" sz="1450" dirty="0"/>
          </a:p>
        </p:txBody>
      </p:sp>
      <p:sp>
        <p:nvSpPr>
          <p:cNvPr id="34" name="Shape 32"/>
          <p:cNvSpPr/>
          <p:nvPr/>
        </p:nvSpPr>
        <p:spPr>
          <a:xfrm>
            <a:off x="6793992" y="5029200"/>
            <a:ext cx="0" cy="182880"/>
          </a:xfrm>
          <a:prstGeom prst="line">
            <a:avLst/>
          </a:prstGeom>
          <a:noFill/>
          <a:ln w="15875">
            <a:solidFill>
              <a:srgbClr val="5F6B7A"/>
            </a:solidFill>
            <a:prstDash val="solid"/>
            <a:tailEnd type="triangle"/>
          </a:ln>
        </p:spPr>
      </p:sp>
      <p:sp>
        <p:nvSpPr>
          <p:cNvPr id="35" name="Shape 33"/>
          <p:cNvSpPr/>
          <p:nvPr/>
        </p:nvSpPr>
        <p:spPr>
          <a:xfrm>
            <a:off x="6336792" y="5212080"/>
            <a:ext cx="5120640" cy="438912"/>
          </a:xfrm>
          <a:prstGeom prst="rect">
            <a:avLst/>
          </a:prstGeom>
          <a:solidFill>
            <a:srgbClr val="FFFFFF"/>
          </a:solidFill>
          <a:ln w="15875">
            <a:solidFill>
              <a:srgbClr val="3A57E0"/>
            </a:solidFill>
            <a:prstDash val="solid"/>
          </a:ln>
        </p:spPr>
      </p:sp>
      <p:sp>
        <p:nvSpPr>
          <p:cNvPr id="36" name="Text 34"/>
          <p:cNvSpPr txBox="1"/>
          <p:nvPr/>
        </p:nvSpPr>
        <p:spPr>
          <a:xfrm>
            <a:off x="6565392" y="5212080"/>
            <a:ext cx="4754880" cy="438912"/>
          </a:xfrm>
          <a:prstGeom prst="rect">
            <a:avLst/>
          </a:prstGeom>
          <a:noFill/>
          <a:ln/>
        </p:spPr>
        <p:txBody>
          <a:bodyPr wrap="square" lIns="0" tIns="0" rIns="0" bIns="0" rtlCol="0" anchor="ctr"/>
          <a:lstStyle/>
          <a:p>
            <a:pPr marL="0" indent="0">
              <a:buNone/>
            </a:pPr>
            <a:r>
              <a:rPr lang="en-US" sz="1450" dirty="0">
                <a:solidFill>
                  <a:srgbClr val="1F2937"/>
                </a:solidFill>
              </a:rPr>
              <a:t>Paiement</a:t>
            </a:r>
            <a:endParaRPr lang="en-US" sz="1450" dirty="0"/>
          </a:p>
        </p:txBody>
      </p:sp>
      <p:sp>
        <p:nvSpPr>
          <p:cNvPr id="37" name="Text 35"/>
          <p:cNvSpPr txBox="1"/>
          <p:nvPr/>
        </p:nvSpPr>
        <p:spPr>
          <a:xfrm>
            <a:off x="6336792" y="5897880"/>
            <a:ext cx="5212080" cy="320040"/>
          </a:xfrm>
          <a:prstGeom prst="rect">
            <a:avLst/>
          </a:prstGeom>
          <a:noFill/>
          <a:ln/>
        </p:spPr>
        <p:txBody>
          <a:bodyPr wrap="square" lIns="0" tIns="0" rIns="0" bIns="0" rtlCol="0" anchor="t"/>
          <a:lstStyle/>
          <a:p>
            <a:pPr marL="0" indent="0">
              <a:buNone/>
            </a:pPr>
            <a:r>
              <a:rPr lang="en-US" sz="1300" i="1" dirty="0">
                <a:solidFill>
                  <a:srgbClr val="5F6B7A"/>
                </a:solidFill>
              </a:rPr>
              <a:t>Si aucun partenaire ne correspond, la démarche s'arrête.</a:t>
            </a:r>
            <a:endParaRPr lang="en-US" sz="1300" dirty="0"/>
          </a:p>
        </p:txBody>
      </p:sp>
      <p:sp>
        <p:nvSpPr>
          <p:cNvPr id="38" name="Slide Number Placeholder 0"/>
          <p:cNvSpPr>
            <a:spLocks noGrp="1"/>
          </p:cNvSpPr>
          <p:nvPr>
            <p:ph type="sldNum" sz="quarter" idx="4294967295"/>
          </p:nvPr>
        </p:nvSpPr>
        <p:spPr>
          <a:xfrm>
            <a:off x="1100023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defRPr>
            </a:lvl1pPr>
          </a:lstStyle>
          <a:p>
            <a:pPr algn="r"/>
            <a:fld id="{F7021451-1387-4CA6-816F-3879F97B5CBC}" type="slidenum">
              <a:rPr lang="en-US" b="0"/>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411480"/>
            <a:ext cx="10908792" cy="274320"/>
          </a:xfrm>
          <a:prstGeom prst="rect">
            <a:avLst/>
          </a:prstGeom>
          <a:noFill/>
          <a:ln/>
        </p:spPr>
        <p:txBody>
          <a:bodyPr wrap="square" lIns="0" tIns="0" rIns="0" bIns="0" rtlCol="0" anchor="t"/>
          <a:lstStyle/>
          <a:p>
            <a:pPr marL="0" indent="0" algn="l">
              <a:buNone/>
            </a:pPr>
            <a:r>
              <a:rPr lang="en-US" sz="1200" b="1" dirty="0">
                <a:solidFill>
                  <a:srgbClr val="3A57E0"/>
                </a:solidFill>
              </a:rPr>
              <a:t>2 · Étude préalable</a:t>
            </a:r>
            <a:endParaRPr lang="en-US" sz="1200" dirty="0"/>
          </a:p>
        </p:txBody>
      </p:sp>
      <p:sp>
        <p:nvSpPr>
          <p:cNvPr id="3" name="Text 1"/>
          <p:cNvSpPr>
            <a:spLocks noGrp="1"/>
          </p:cNvSpPr>
          <p:nvPr>
            <p:ph type="title" idx="102" hasCustomPrompt="1"/>
          </p:nvPr>
        </p:nvSpPr>
        <p:spPr>
          <a:xfrm>
            <a:off x="640080" y="713232"/>
            <a:ext cx="10908792" cy="640080"/>
          </a:xfrm>
          <a:prstGeom prst="rect">
            <a:avLst/>
          </a:prstGeom>
          <a:noFill/>
          <a:ln/>
        </p:spPr>
        <p:txBody>
          <a:bodyPr wrap="square" lIns="0" tIns="0" rIns="0" bIns="0" rtlCol="0" anchor="t"/>
          <a:lstStyle/>
          <a:p>
            <a:pPr marL="0" indent="0" algn="l">
              <a:buNone/>
            </a:pPr>
            <a:r>
              <a:rPr lang="en-US" sz="3000" b="1" dirty="0">
                <a:solidFill>
                  <a:srgbClr val="1A2540"/>
                </a:solidFill>
              </a:rPr>
              <a:t>Critique de l'existant</a:t>
            </a:r>
            <a:endParaRPr lang="en-US" sz="3000" dirty="0"/>
          </a:p>
        </p:txBody>
      </p:sp>
      <p:sp>
        <p:nvSpPr>
          <p:cNvPr id="4" name="Text 2"/>
          <p:cNvSpPr txBox="1"/>
          <p:nvPr/>
        </p:nvSpPr>
        <p:spPr>
          <a:xfrm>
            <a:off x="640080" y="1554480"/>
            <a:ext cx="5943600" cy="365760"/>
          </a:xfrm>
          <a:prstGeom prst="rect">
            <a:avLst/>
          </a:prstGeom>
          <a:noFill/>
          <a:ln/>
        </p:spPr>
        <p:txBody>
          <a:bodyPr wrap="square" lIns="0" tIns="0" rIns="0" bIns="0" rtlCol="0" anchor="t"/>
          <a:lstStyle/>
          <a:p>
            <a:pPr marL="0" indent="0">
              <a:buNone/>
            </a:pPr>
            <a:r>
              <a:rPr lang="en-US" sz="1800" b="1" dirty="0">
                <a:solidFill>
                  <a:srgbClr val="1A2540"/>
                </a:solidFill>
              </a:rPr>
              <a:t>Côté boutique</a:t>
            </a:r>
            <a:endParaRPr lang="en-US" sz="1800" dirty="0"/>
          </a:p>
        </p:txBody>
      </p:sp>
      <p:sp>
        <p:nvSpPr>
          <p:cNvPr id="5" name="Shape 3"/>
          <p:cNvSpPr/>
          <p:nvPr/>
        </p:nvSpPr>
        <p:spPr>
          <a:xfrm>
            <a:off x="640080" y="1993392"/>
            <a:ext cx="5943600" cy="0"/>
          </a:xfrm>
          <a:prstGeom prst="line">
            <a:avLst/>
          </a:prstGeom>
          <a:noFill/>
          <a:ln w="9525">
            <a:solidFill>
              <a:srgbClr val="CBD2DC"/>
            </a:solidFill>
            <a:prstDash val="solid"/>
          </a:ln>
        </p:spPr>
      </p:sp>
      <p:sp>
        <p:nvSpPr>
          <p:cNvPr id="6" name="Text 4"/>
          <p:cNvSpPr txBox="1"/>
          <p:nvPr/>
        </p:nvSpPr>
        <p:spPr>
          <a:xfrm>
            <a:off x="640080" y="2029968"/>
            <a:ext cx="5943600" cy="402336"/>
          </a:xfrm>
          <a:prstGeom prst="rect">
            <a:avLst/>
          </a:prstGeom>
          <a:noFill/>
          <a:ln/>
        </p:spPr>
        <p:txBody>
          <a:bodyPr wrap="square" lIns="0" tIns="0" rIns="0" bIns="0" rtlCol="0" anchor="ctr"/>
          <a:lstStyle/>
          <a:p>
            <a:pPr marL="0" indent="0">
              <a:buNone/>
            </a:pPr>
            <a:r>
              <a:rPr lang="en-US" sz="1500" dirty="0">
                <a:solidFill>
                  <a:srgbClr val="1F2937"/>
                </a:solidFill>
              </a:rPr>
              <a:t>Suivi du stock difficile</a:t>
            </a:r>
            <a:endParaRPr lang="en-US" sz="1500" dirty="0"/>
          </a:p>
        </p:txBody>
      </p:sp>
      <p:sp>
        <p:nvSpPr>
          <p:cNvPr id="7" name="Shape 5"/>
          <p:cNvSpPr/>
          <p:nvPr/>
        </p:nvSpPr>
        <p:spPr>
          <a:xfrm>
            <a:off x="640080" y="2450592"/>
            <a:ext cx="5943600" cy="0"/>
          </a:xfrm>
          <a:prstGeom prst="line">
            <a:avLst/>
          </a:prstGeom>
          <a:noFill/>
          <a:ln w="9525">
            <a:solidFill>
              <a:srgbClr val="CBD2DC"/>
            </a:solidFill>
            <a:prstDash val="solid"/>
          </a:ln>
        </p:spPr>
      </p:sp>
      <p:sp>
        <p:nvSpPr>
          <p:cNvPr id="8" name="Text 6"/>
          <p:cNvSpPr txBox="1"/>
          <p:nvPr/>
        </p:nvSpPr>
        <p:spPr>
          <a:xfrm>
            <a:off x="640080" y="2487168"/>
            <a:ext cx="5943600" cy="402336"/>
          </a:xfrm>
          <a:prstGeom prst="rect">
            <a:avLst/>
          </a:prstGeom>
          <a:noFill/>
          <a:ln/>
        </p:spPr>
        <p:txBody>
          <a:bodyPr wrap="square" lIns="0" tIns="0" rIns="0" bIns="0" rtlCol="0" anchor="ctr"/>
          <a:lstStyle/>
          <a:p>
            <a:pPr marL="0" indent="0">
              <a:buNone/>
            </a:pPr>
            <a:r>
              <a:rPr lang="en-US" sz="1500" dirty="0">
                <a:solidFill>
                  <a:srgbClr val="1F2937"/>
                </a:solidFill>
              </a:rPr>
              <a:t>Inventaires longs : le registre se parcourt feuille par feuille</a:t>
            </a:r>
            <a:endParaRPr lang="en-US" sz="1500" dirty="0"/>
          </a:p>
        </p:txBody>
      </p:sp>
      <p:sp>
        <p:nvSpPr>
          <p:cNvPr id="9" name="Shape 7"/>
          <p:cNvSpPr/>
          <p:nvPr/>
        </p:nvSpPr>
        <p:spPr>
          <a:xfrm>
            <a:off x="640080" y="2907792"/>
            <a:ext cx="5943600" cy="0"/>
          </a:xfrm>
          <a:prstGeom prst="line">
            <a:avLst/>
          </a:prstGeom>
          <a:noFill/>
          <a:ln w="9525">
            <a:solidFill>
              <a:srgbClr val="CBD2DC"/>
            </a:solidFill>
            <a:prstDash val="solid"/>
          </a:ln>
        </p:spPr>
      </p:sp>
      <p:sp>
        <p:nvSpPr>
          <p:cNvPr id="10" name="Text 8"/>
          <p:cNvSpPr txBox="1"/>
          <p:nvPr/>
        </p:nvSpPr>
        <p:spPr>
          <a:xfrm>
            <a:off x="640080" y="2944368"/>
            <a:ext cx="5943600" cy="402336"/>
          </a:xfrm>
          <a:prstGeom prst="rect">
            <a:avLst/>
          </a:prstGeom>
          <a:noFill/>
          <a:ln/>
        </p:spPr>
        <p:txBody>
          <a:bodyPr wrap="square" lIns="0" tIns="0" rIns="0" bIns="0" rtlCol="0" anchor="ctr"/>
          <a:lstStyle/>
          <a:p>
            <a:pPr marL="0" indent="0">
              <a:buNone/>
            </a:pPr>
            <a:r>
              <a:rPr lang="en-US" sz="1500" dirty="0">
                <a:solidFill>
                  <a:srgbClr val="1F2937"/>
                </a:solidFill>
              </a:rPr>
              <a:t>Fidélisation des clients difficile</a:t>
            </a:r>
            <a:endParaRPr lang="en-US" sz="1500" dirty="0"/>
          </a:p>
        </p:txBody>
      </p:sp>
      <p:sp>
        <p:nvSpPr>
          <p:cNvPr id="11" name="Text 9"/>
          <p:cNvSpPr txBox="1"/>
          <p:nvPr/>
        </p:nvSpPr>
        <p:spPr>
          <a:xfrm>
            <a:off x="640080" y="3529584"/>
            <a:ext cx="5943600" cy="365760"/>
          </a:xfrm>
          <a:prstGeom prst="rect">
            <a:avLst/>
          </a:prstGeom>
          <a:noFill/>
          <a:ln/>
        </p:spPr>
        <p:txBody>
          <a:bodyPr wrap="square" lIns="0" tIns="0" rIns="0" bIns="0" rtlCol="0" anchor="t"/>
          <a:lstStyle/>
          <a:p>
            <a:pPr marL="0" indent="0">
              <a:buNone/>
            </a:pPr>
            <a:r>
              <a:rPr lang="en-US" sz="1800" b="1" dirty="0">
                <a:solidFill>
                  <a:srgbClr val="3A57E0"/>
                </a:solidFill>
              </a:rPr>
              <a:t>Côté B2B</a:t>
            </a:r>
            <a:endParaRPr lang="en-US" sz="1800" dirty="0"/>
          </a:p>
        </p:txBody>
      </p:sp>
      <p:sp>
        <p:nvSpPr>
          <p:cNvPr id="12" name="Shape 10"/>
          <p:cNvSpPr/>
          <p:nvPr/>
        </p:nvSpPr>
        <p:spPr>
          <a:xfrm>
            <a:off x="640080" y="3968496"/>
            <a:ext cx="5943600" cy="0"/>
          </a:xfrm>
          <a:prstGeom prst="line">
            <a:avLst/>
          </a:prstGeom>
          <a:noFill/>
          <a:ln w="9525">
            <a:solidFill>
              <a:srgbClr val="CBD2DC"/>
            </a:solidFill>
            <a:prstDash val="solid"/>
          </a:ln>
        </p:spPr>
      </p:sp>
      <p:sp>
        <p:nvSpPr>
          <p:cNvPr id="13" name="Text 11"/>
          <p:cNvSpPr txBox="1"/>
          <p:nvPr/>
        </p:nvSpPr>
        <p:spPr>
          <a:xfrm>
            <a:off x="640080" y="4005072"/>
            <a:ext cx="5943600" cy="402336"/>
          </a:xfrm>
          <a:prstGeom prst="rect">
            <a:avLst/>
          </a:prstGeom>
          <a:noFill/>
          <a:ln/>
        </p:spPr>
        <p:txBody>
          <a:bodyPr wrap="square" lIns="0" tIns="0" rIns="0" bIns="0" rtlCol="0" anchor="ctr"/>
          <a:lstStyle/>
          <a:p>
            <a:pPr marL="0" indent="0">
              <a:buNone/>
            </a:pPr>
            <a:r>
              <a:rPr lang="en-US" sz="1500" dirty="0">
                <a:solidFill>
                  <a:srgbClr val="1F2937"/>
                </a:solidFill>
              </a:rPr>
              <a:t>Offres à dénicher dans les annonces et les journaux</a:t>
            </a:r>
            <a:endParaRPr lang="en-US" sz="1500" dirty="0"/>
          </a:p>
        </p:txBody>
      </p:sp>
      <p:sp>
        <p:nvSpPr>
          <p:cNvPr id="14" name="Shape 12"/>
          <p:cNvSpPr/>
          <p:nvPr/>
        </p:nvSpPr>
        <p:spPr>
          <a:xfrm>
            <a:off x="640080" y="4425696"/>
            <a:ext cx="5943600" cy="0"/>
          </a:xfrm>
          <a:prstGeom prst="line">
            <a:avLst/>
          </a:prstGeom>
          <a:noFill/>
          <a:ln w="9525">
            <a:solidFill>
              <a:srgbClr val="CBD2DC"/>
            </a:solidFill>
            <a:prstDash val="solid"/>
          </a:ln>
        </p:spPr>
      </p:sp>
      <p:sp>
        <p:nvSpPr>
          <p:cNvPr id="15" name="Text 13"/>
          <p:cNvSpPr txBox="1"/>
          <p:nvPr/>
        </p:nvSpPr>
        <p:spPr>
          <a:xfrm>
            <a:off x="640080" y="4462272"/>
            <a:ext cx="5943600" cy="402336"/>
          </a:xfrm>
          <a:prstGeom prst="rect">
            <a:avLst/>
          </a:prstGeom>
          <a:noFill/>
          <a:ln/>
        </p:spPr>
        <p:txBody>
          <a:bodyPr wrap="square" lIns="0" tIns="0" rIns="0" bIns="0" rtlCol="0" anchor="ctr"/>
          <a:lstStyle/>
          <a:p>
            <a:pPr marL="0" indent="0">
              <a:buNone/>
            </a:pPr>
            <a:r>
              <a:rPr lang="en-US" sz="1500" dirty="0">
                <a:solidFill>
                  <a:srgbClr val="1F2937"/>
                </a:solidFill>
              </a:rPr>
              <a:t>Recherche de partenaire coûteuse</a:t>
            </a:r>
            <a:endParaRPr lang="en-US" sz="1500" dirty="0"/>
          </a:p>
        </p:txBody>
      </p:sp>
      <p:sp>
        <p:nvSpPr>
          <p:cNvPr id="16" name="Shape 14"/>
          <p:cNvSpPr/>
          <p:nvPr/>
        </p:nvSpPr>
        <p:spPr>
          <a:xfrm>
            <a:off x="640080" y="4882896"/>
            <a:ext cx="5943600" cy="0"/>
          </a:xfrm>
          <a:prstGeom prst="line">
            <a:avLst/>
          </a:prstGeom>
          <a:noFill/>
          <a:ln w="9525">
            <a:solidFill>
              <a:srgbClr val="CBD2DC"/>
            </a:solidFill>
            <a:prstDash val="solid"/>
          </a:ln>
        </p:spPr>
      </p:sp>
      <p:sp>
        <p:nvSpPr>
          <p:cNvPr id="17" name="Text 15"/>
          <p:cNvSpPr txBox="1"/>
          <p:nvPr/>
        </p:nvSpPr>
        <p:spPr>
          <a:xfrm>
            <a:off x="640080" y="4919472"/>
            <a:ext cx="5943600" cy="402336"/>
          </a:xfrm>
          <a:prstGeom prst="rect">
            <a:avLst/>
          </a:prstGeom>
          <a:noFill/>
          <a:ln/>
        </p:spPr>
        <p:txBody>
          <a:bodyPr wrap="square" lIns="0" tIns="0" rIns="0" bIns="0" rtlCol="0" anchor="ctr"/>
          <a:lstStyle/>
          <a:p>
            <a:pPr marL="0" indent="0">
              <a:buNone/>
            </a:pPr>
            <a:r>
              <a:rPr lang="en-US" sz="1500" dirty="0">
                <a:solidFill>
                  <a:srgbClr val="1F2937"/>
                </a:solidFill>
              </a:rPr>
              <a:t>Offres difficiles à comparer, faute de visibilité du marché</a:t>
            </a:r>
            <a:endParaRPr lang="en-US" sz="1500" dirty="0"/>
          </a:p>
        </p:txBody>
      </p:sp>
      <p:sp>
        <p:nvSpPr>
          <p:cNvPr id="18" name="Shape 16"/>
          <p:cNvSpPr/>
          <p:nvPr/>
        </p:nvSpPr>
        <p:spPr>
          <a:xfrm>
            <a:off x="640080" y="5340096"/>
            <a:ext cx="5943600" cy="0"/>
          </a:xfrm>
          <a:prstGeom prst="line">
            <a:avLst/>
          </a:prstGeom>
          <a:noFill/>
          <a:ln w="9525">
            <a:solidFill>
              <a:srgbClr val="CBD2DC"/>
            </a:solidFill>
            <a:prstDash val="solid"/>
          </a:ln>
        </p:spPr>
      </p:sp>
      <p:sp>
        <p:nvSpPr>
          <p:cNvPr id="19" name="Text 17"/>
          <p:cNvSpPr txBox="1"/>
          <p:nvPr/>
        </p:nvSpPr>
        <p:spPr>
          <a:xfrm>
            <a:off x="640080" y="5376672"/>
            <a:ext cx="5943600" cy="402336"/>
          </a:xfrm>
          <a:prstGeom prst="rect">
            <a:avLst/>
          </a:prstGeom>
          <a:noFill/>
          <a:ln/>
        </p:spPr>
        <p:txBody>
          <a:bodyPr wrap="square" lIns="0" tIns="0" rIns="0" bIns="0" rtlCol="0" anchor="ctr"/>
          <a:lstStyle/>
          <a:p>
            <a:pPr marL="0" indent="0">
              <a:buNone/>
            </a:pPr>
            <a:r>
              <a:rPr lang="en-US" sz="1500" dirty="0">
                <a:solidFill>
                  <a:srgbClr val="1F2937"/>
                </a:solidFill>
              </a:rPr>
              <a:t>Négociation bloquée si l'interlocuteur ne répond pas</a:t>
            </a:r>
            <a:endParaRPr lang="en-US" sz="1500" dirty="0"/>
          </a:p>
        </p:txBody>
      </p:sp>
      <p:sp>
        <p:nvSpPr>
          <p:cNvPr id="20" name="Shape 18"/>
          <p:cNvSpPr/>
          <p:nvPr/>
        </p:nvSpPr>
        <p:spPr>
          <a:xfrm>
            <a:off x="640080" y="5797296"/>
            <a:ext cx="5943600" cy="0"/>
          </a:xfrm>
          <a:prstGeom prst="line">
            <a:avLst/>
          </a:prstGeom>
          <a:noFill/>
          <a:ln w="9525">
            <a:solidFill>
              <a:srgbClr val="CBD2DC"/>
            </a:solidFill>
            <a:prstDash val="solid"/>
          </a:ln>
        </p:spPr>
      </p:sp>
      <p:sp>
        <p:nvSpPr>
          <p:cNvPr id="21" name="Text 19"/>
          <p:cNvSpPr txBox="1"/>
          <p:nvPr/>
        </p:nvSpPr>
        <p:spPr>
          <a:xfrm>
            <a:off x="640080" y="5833872"/>
            <a:ext cx="5943600" cy="402336"/>
          </a:xfrm>
          <a:prstGeom prst="rect">
            <a:avLst/>
          </a:prstGeom>
          <a:noFill/>
          <a:ln/>
        </p:spPr>
        <p:txBody>
          <a:bodyPr wrap="square" lIns="0" tIns="0" rIns="0" bIns="0" rtlCol="0" anchor="ctr"/>
          <a:lstStyle/>
          <a:p>
            <a:pPr marL="0" indent="0">
              <a:buNone/>
            </a:pPr>
            <a:r>
              <a:rPr lang="en-US" sz="1500" dirty="0">
                <a:solidFill>
                  <a:srgbClr val="1F2937"/>
                </a:solidFill>
              </a:rPr>
              <a:t>Surfacturation en cas d'urgence</a:t>
            </a:r>
            <a:endParaRPr lang="en-US" sz="1500" dirty="0"/>
          </a:p>
        </p:txBody>
      </p:sp>
      <p:pic>
        <p:nvPicPr>
          <p:cNvPr id="22" name="Image 0" descr="C:\Users\ALEX\AppData\Local\Temp\claude\C--laragon-www-facturation\62a43aad-6d46-45af-979c-6c158c66b0c3\scratchpad\ppt3\use\annexeA.jpg"/>
          <p:cNvPicPr>
            <a:picLocks noChangeAspect="1"/>
          </p:cNvPicPr>
          <p:nvPr/>
        </p:nvPicPr>
        <p:blipFill>
          <a:blip r:embed="rId3"/>
          <a:stretch>
            <a:fillRect/>
          </a:stretch>
        </p:blipFill>
        <p:spPr>
          <a:xfrm>
            <a:off x="7040880" y="1600200"/>
            <a:ext cx="1859686" cy="4023360"/>
          </a:xfrm>
          <a:prstGeom prst="rect">
            <a:avLst/>
          </a:prstGeom>
        </p:spPr>
      </p:pic>
      <p:sp>
        <p:nvSpPr>
          <p:cNvPr id="23" name="Shape 20"/>
          <p:cNvSpPr/>
          <p:nvPr/>
        </p:nvSpPr>
        <p:spPr>
          <a:xfrm>
            <a:off x="7040880" y="1600200"/>
            <a:ext cx="1859686" cy="4023360"/>
          </a:xfrm>
          <a:prstGeom prst="rect">
            <a:avLst/>
          </a:prstGeom>
          <a:ln w="9525">
            <a:solidFill>
              <a:srgbClr val="CBD2DC"/>
            </a:solidFill>
            <a:prstDash val="solid"/>
          </a:ln>
        </p:spPr>
      </p:sp>
      <p:pic>
        <p:nvPicPr>
          <p:cNvPr id="24" name="Image 1" descr="C:\Users\ALEX\AppData\Local\Temp\claude\C--laragon-www-facturation\62a43aad-6d46-45af-979c-6c158c66b0c3\scratchpad\ppt3\use\annexeB.jpg"/>
          <p:cNvPicPr>
            <a:picLocks noChangeAspect="1"/>
          </p:cNvPicPr>
          <p:nvPr/>
        </p:nvPicPr>
        <p:blipFill>
          <a:blip r:embed="rId4"/>
          <a:stretch>
            <a:fillRect/>
          </a:stretch>
        </p:blipFill>
        <p:spPr>
          <a:xfrm>
            <a:off x="9281160" y="1600200"/>
            <a:ext cx="2266493" cy="4023360"/>
          </a:xfrm>
          <a:prstGeom prst="rect">
            <a:avLst/>
          </a:prstGeom>
        </p:spPr>
      </p:pic>
      <p:sp>
        <p:nvSpPr>
          <p:cNvPr id="25" name="Shape 21"/>
          <p:cNvSpPr/>
          <p:nvPr/>
        </p:nvSpPr>
        <p:spPr>
          <a:xfrm>
            <a:off x="9281160" y="1600200"/>
            <a:ext cx="2266493" cy="4023360"/>
          </a:xfrm>
          <a:prstGeom prst="rect">
            <a:avLst/>
          </a:prstGeom>
          <a:ln w="9525">
            <a:solidFill>
              <a:srgbClr val="CBD2DC"/>
            </a:solidFill>
            <a:prstDash val="solid"/>
          </a:ln>
        </p:spPr>
      </p:sp>
      <p:sp>
        <p:nvSpPr>
          <p:cNvPr id="26" name="Text 22"/>
          <p:cNvSpPr txBox="1"/>
          <p:nvPr/>
        </p:nvSpPr>
        <p:spPr>
          <a:xfrm>
            <a:off x="7040880" y="5696712"/>
            <a:ext cx="2103120" cy="457200"/>
          </a:xfrm>
          <a:prstGeom prst="rect">
            <a:avLst/>
          </a:prstGeom>
          <a:noFill/>
          <a:ln/>
        </p:spPr>
        <p:txBody>
          <a:bodyPr wrap="square" lIns="0" tIns="0" rIns="0" bIns="0" rtlCol="0" anchor="t"/>
          <a:lstStyle/>
          <a:p>
            <a:pPr marL="0" indent="0">
              <a:buNone/>
            </a:pPr>
            <a:r>
              <a:rPr lang="en-US" sz="1150" dirty="0">
                <a:solidFill>
                  <a:srgbClr val="5F6B7A"/>
                </a:solidFill>
              </a:rPr>
              <a:t>Annexe A : catalogue diffusé sur WhatsApp</a:t>
            </a:r>
            <a:endParaRPr lang="en-US" sz="1150" dirty="0"/>
          </a:p>
        </p:txBody>
      </p:sp>
      <p:sp>
        <p:nvSpPr>
          <p:cNvPr id="27" name="Text 23"/>
          <p:cNvSpPr txBox="1"/>
          <p:nvPr/>
        </p:nvSpPr>
        <p:spPr>
          <a:xfrm>
            <a:off x="9281160" y="5696712"/>
            <a:ext cx="2286000" cy="457200"/>
          </a:xfrm>
          <a:prstGeom prst="rect">
            <a:avLst/>
          </a:prstGeom>
          <a:noFill/>
          <a:ln/>
        </p:spPr>
        <p:txBody>
          <a:bodyPr wrap="square" lIns="0" tIns="0" rIns="0" bIns="0" rtlCol="0" anchor="t"/>
          <a:lstStyle/>
          <a:p>
            <a:pPr marL="0" indent="0">
              <a:buNone/>
            </a:pPr>
            <a:r>
              <a:rPr lang="en-US" sz="1150" dirty="0">
                <a:solidFill>
                  <a:srgbClr val="5F6B7A"/>
                </a:solidFill>
              </a:rPr>
              <a:t>Annexe B : cahier de réapprovisionnement</a:t>
            </a:r>
            <a:endParaRPr lang="en-US" sz="1150" dirty="0"/>
          </a:p>
        </p:txBody>
      </p:sp>
      <p:sp>
        <p:nvSpPr>
          <p:cNvPr id="28" name="Slide Number Placeholder 0"/>
          <p:cNvSpPr>
            <a:spLocks noGrp="1"/>
          </p:cNvSpPr>
          <p:nvPr>
            <p:ph type="sldNum" sz="quarter" idx="4294967295"/>
          </p:nvPr>
        </p:nvSpPr>
        <p:spPr>
          <a:xfrm>
            <a:off x="1100023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defRPr>
            </a:lvl1pPr>
          </a:lstStyle>
          <a:p>
            <a:pPr algn="r"/>
            <a:fld id="{F7021451-1387-4CA6-816F-3879F97B5CBC}" type="slidenum">
              <a:rPr lang="en-US" b="0"/>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411480"/>
            <a:ext cx="10908792" cy="274320"/>
          </a:xfrm>
          <a:prstGeom prst="rect">
            <a:avLst/>
          </a:prstGeom>
          <a:noFill/>
          <a:ln/>
        </p:spPr>
        <p:txBody>
          <a:bodyPr wrap="square" lIns="0" tIns="0" rIns="0" bIns="0" rtlCol="0" anchor="t"/>
          <a:lstStyle/>
          <a:p>
            <a:pPr marL="0" indent="0" algn="l">
              <a:buNone/>
            </a:pPr>
            <a:r>
              <a:rPr lang="en-US" sz="1200" b="1" dirty="0">
                <a:solidFill>
                  <a:srgbClr val="3A57E0"/>
                </a:solidFill>
              </a:rPr>
              <a:t>3 · La solution</a:t>
            </a:r>
            <a:endParaRPr lang="en-US" sz="1200" dirty="0"/>
          </a:p>
        </p:txBody>
      </p:sp>
      <p:sp>
        <p:nvSpPr>
          <p:cNvPr id="3" name="Text 1"/>
          <p:cNvSpPr>
            <a:spLocks noGrp="1"/>
          </p:cNvSpPr>
          <p:nvPr>
            <p:ph type="title" idx="102" hasCustomPrompt="1"/>
          </p:nvPr>
        </p:nvSpPr>
        <p:spPr>
          <a:xfrm>
            <a:off x="640080" y="713232"/>
            <a:ext cx="10908792" cy="640080"/>
          </a:xfrm>
          <a:prstGeom prst="rect">
            <a:avLst/>
          </a:prstGeom>
          <a:noFill/>
          <a:ln/>
        </p:spPr>
        <p:txBody>
          <a:bodyPr wrap="square" lIns="0" tIns="0" rIns="0" bIns="0" rtlCol="0" anchor="t"/>
          <a:lstStyle/>
          <a:p>
            <a:pPr marL="0" indent="0" algn="l">
              <a:buNone/>
            </a:pPr>
            <a:r>
              <a:rPr lang="en-US" sz="3000" b="1" dirty="0">
                <a:solidFill>
                  <a:srgbClr val="1A2540"/>
                </a:solidFill>
              </a:rPr>
              <a:t>FactuPro</a:t>
            </a:r>
            <a:endParaRPr lang="en-US" sz="3000" dirty="0"/>
          </a:p>
        </p:txBody>
      </p:sp>
      <p:sp>
        <p:nvSpPr>
          <p:cNvPr id="4" name="Text 2"/>
          <p:cNvSpPr txBox="1"/>
          <p:nvPr/>
        </p:nvSpPr>
        <p:spPr>
          <a:xfrm>
            <a:off x="640080" y="1371600"/>
            <a:ext cx="10881360" cy="457200"/>
          </a:xfrm>
          <a:prstGeom prst="rect">
            <a:avLst/>
          </a:prstGeom>
          <a:noFill/>
          <a:ln/>
        </p:spPr>
        <p:txBody>
          <a:bodyPr wrap="square" lIns="0" tIns="0" rIns="0" bIns="0" rtlCol="0" anchor="t"/>
          <a:lstStyle/>
          <a:p>
            <a:pPr marL="0" indent="0">
              <a:buNone/>
            </a:pPr>
            <a:r>
              <a:rPr lang="en-US" sz="2000" dirty="0">
                <a:solidFill>
                  <a:srgbClr val="5F6B7A"/>
                </a:solidFill>
              </a:rPr>
              <a:t>Une seule application pour gérer son activité commerciale et faciliter les échanges B2B.</a:t>
            </a:r>
            <a:endParaRPr lang="en-US" sz="2000" dirty="0"/>
          </a:p>
        </p:txBody>
      </p:sp>
      <p:sp>
        <p:nvSpPr>
          <p:cNvPr id="5" name="Shape 3"/>
          <p:cNvSpPr/>
          <p:nvPr/>
        </p:nvSpPr>
        <p:spPr>
          <a:xfrm>
            <a:off x="640080" y="2514600"/>
            <a:ext cx="2331720" cy="1051560"/>
          </a:xfrm>
          <a:prstGeom prst="rect">
            <a:avLst/>
          </a:prstGeom>
          <a:solidFill>
            <a:srgbClr val="FFFFFF"/>
          </a:solidFill>
          <a:ln w="19050">
            <a:solidFill>
              <a:srgbClr val="1A2540"/>
            </a:solidFill>
            <a:prstDash val="solid"/>
          </a:ln>
        </p:spPr>
      </p:sp>
      <p:sp>
        <p:nvSpPr>
          <p:cNvPr id="6" name="Text 4"/>
          <p:cNvSpPr txBox="1"/>
          <p:nvPr/>
        </p:nvSpPr>
        <p:spPr>
          <a:xfrm>
            <a:off x="713232" y="2514600"/>
            <a:ext cx="2185416" cy="1051560"/>
          </a:xfrm>
          <a:prstGeom prst="rect">
            <a:avLst/>
          </a:prstGeom>
          <a:noFill/>
          <a:ln/>
        </p:spPr>
        <p:txBody>
          <a:bodyPr wrap="square" lIns="0" tIns="0" rIns="0" bIns="0" rtlCol="0" anchor="ctr"/>
          <a:lstStyle/>
          <a:p>
            <a:pPr marL="0" indent="0" algn="ctr">
              <a:buNone/>
            </a:pPr>
            <a:r>
              <a:rPr lang="en-US" sz="1700" b="1" dirty="0">
                <a:solidFill>
                  <a:srgbClr val="1A2540"/>
                </a:solidFill>
              </a:rPr>
              <a:t>Gestion de la boutique</a:t>
            </a:r>
            <a:endParaRPr lang="en-US" sz="1700" dirty="0"/>
          </a:p>
        </p:txBody>
      </p:sp>
      <p:sp>
        <p:nvSpPr>
          <p:cNvPr id="7" name="Text 5"/>
          <p:cNvSpPr txBox="1"/>
          <p:nvPr/>
        </p:nvSpPr>
        <p:spPr>
          <a:xfrm>
            <a:off x="2971800" y="2514600"/>
            <a:ext cx="502920" cy="1051560"/>
          </a:xfrm>
          <a:prstGeom prst="rect">
            <a:avLst/>
          </a:prstGeom>
          <a:noFill/>
          <a:ln/>
        </p:spPr>
        <p:txBody>
          <a:bodyPr wrap="square" lIns="0" tIns="0" rIns="0" bIns="0" rtlCol="0" anchor="ctr"/>
          <a:lstStyle/>
          <a:p>
            <a:pPr marL="0" indent="0" algn="ctr">
              <a:buNone/>
            </a:pPr>
            <a:r>
              <a:rPr lang="en-US" sz="3000" b="1" dirty="0">
                <a:solidFill>
                  <a:srgbClr val="5F6B7A"/>
                </a:solidFill>
              </a:rPr>
              <a:t>+</a:t>
            </a:r>
            <a:endParaRPr lang="en-US" sz="3000" dirty="0"/>
          </a:p>
        </p:txBody>
      </p:sp>
      <p:sp>
        <p:nvSpPr>
          <p:cNvPr id="8" name="Shape 6"/>
          <p:cNvSpPr/>
          <p:nvPr/>
        </p:nvSpPr>
        <p:spPr>
          <a:xfrm>
            <a:off x="3474720" y="2514600"/>
            <a:ext cx="2331720" cy="1051560"/>
          </a:xfrm>
          <a:prstGeom prst="rect">
            <a:avLst/>
          </a:prstGeom>
          <a:solidFill>
            <a:srgbClr val="FFFFFF"/>
          </a:solidFill>
          <a:ln w="19050">
            <a:solidFill>
              <a:srgbClr val="1A2540"/>
            </a:solidFill>
            <a:prstDash val="solid"/>
          </a:ln>
        </p:spPr>
      </p:sp>
      <p:sp>
        <p:nvSpPr>
          <p:cNvPr id="9" name="Text 7"/>
          <p:cNvSpPr txBox="1"/>
          <p:nvPr/>
        </p:nvSpPr>
        <p:spPr>
          <a:xfrm>
            <a:off x="3547872" y="2514600"/>
            <a:ext cx="2185416" cy="1051560"/>
          </a:xfrm>
          <a:prstGeom prst="rect">
            <a:avLst/>
          </a:prstGeom>
          <a:noFill/>
          <a:ln/>
        </p:spPr>
        <p:txBody>
          <a:bodyPr wrap="square" lIns="0" tIns="0" rIns="0" bIns="0" rtlCol="0" anchor="ctr"/>
          <a:lstStyle/>
          <a:p>
            <a:pPr marL="0" indent="0" algn="ctr">
              <a:buNone/>
            </a:pPr>
            <a:r>
              <a:rPr lang="en-US" sz="1700" b="1" dirty="0">
                <a:solidFill>
                  <a:srgbClr val="1A2540"/>
                </a:solidFill>
              </a:rPr>
              <a:t>Approvisionnement</a:t>
            </a:r>
            <a:endParaRPr lang="en-US" sz="1700" dirty="0"/>
          </a:p>
        </p:txBody>
      </p:sp>
      <p:sp>
        <p:nvSpPr>
          <p:cNvPr id="10" name="Text 8"/>
          <p:cNvSpPr txBox="1"/>
          <p:nvPr/>
        </p:nvSpPr>
        <p:spPr>
          <a:xfrm>
            <a:off x="5806440" y="2514600"/>
            <a:ext cx="502920" cy="1051560"/>
          </a:xfrm>
          <a:prstGeom prst="rect">
            <a:avLst/>
          </a:prstGeom>
          <a:noFill/>
          <a:ln/>
        </p:spPr>
        <p:txBody>
          <a:bodyPr wrap="square" lIns="0" tIns="0" rIns="0" bIns="0" rtlCol="0" anchor="ctr"/>
          <a:lstStyle/>
          <a:p>
            <a:pPr marL="0" indent="0" algn="ctr">
              <a:buNone/>
            </a:pPr>
            <a:r>
              <a:rPr lang="en-US" sz="3000" b="1" dirty="0">
                <a:solidFill>
                  <a:srgbClr val="5F6B7A"/>
                </a:solidFill>
              </a:rPr>
              <a:t>+</a:t>
            </a:r>
            <a:endParaRPr lang="en-US" sz="3000" dirty="0"/>
          </a:p>
        </p:txBody>
      </p:sp>
      <p:sp>
        <p:nvSpPr>
          <p:cNvPr id="11" name="Shape 9"/>
          <p:cNvSpPr/>
          <p:nvPr/>
        </p:nvSpPr>
        <p:spPr>
          <a:xfrm>
            <a:off x="6309360" y="2514600"/>
            <a:ext cx="2331720" cy="1051560"/>
          </a:xfrm>
          <a:prstGeom prst="rect">
            <a:avLst/>
          </a:prstGeom>
          <a:solidFill>
            <a:srgbClr val="FFFFFF"/>
          </a:solidFill>
          <a:ln w="19050">
            <a:solidFill>
              <a:srgbClr val="3A57E0"/>
            </a:solidFill>
            <a:prstDash val="solid"/>
          </a:ln>
        </p:spPr>
      </p:sp>
      <p:sp>
        <p:nvSpPr>
          <p:cNvPr id="12" name="Text 10"/>
          <p:cNvSpPr txBox="1"/>
          <p:nvPr/>
        </p:nvSpPr>
        <p:spPr>
          <a:xfrm>
            <a:off x="6382512" y="2514600"/>
            <a:ext cx="2185416" cy="1051560"/>
          </a:xfrm>
          <a:prstGeom prst="rect">
            <a:avLst/>
          </a:prstGeom>
          <a:noFill/>
          <a:ln/>
        </p:spPr>
        <p:txBody>
          <a:bodyPr wrap="square" lIns="0" tIns="0" rIns="0" bIns="0" rtlCol="0" anchor="ctr"/>
          <a:lstStyle/>
          <a:p>
            <a:pPr marL="0" indent="0" algn="ctr">
              <a:buNone/>
            </a:pPr>
            <a:r>
              <a:rPr lang="en-US" sz="1700" b="1" dirty="0">
                <a:solidFill>
                  <a:srgbClr val="3A57E0"/>
                </a:solidFill>
              </a:rPr>
              <a:t>Échanges entre entreprises</a:t>
            </a:r>
            <a:endParaRPr lang="en-US" sz="1700" dirty="0"/>
          </a:p>
        </p:txBody>
      </p:sp>
      <p:sp>
        <p:nvSpPr>
          <p:cNvPr id="13" name="Text 11"/>
          <p:cNvSpPr txBox="1"/>
          <p:nvPr/>
        </p:nvSpPr>
        <p:spPr>
          <a:xfrm>
            <a:off x="8641080" y="2514600"/>
            <a:ext cx="502920" cy="1051560"/>
          </a:xfrm>
          <a:prstGeom prst="rect">
            <a:avLst/>
          </a:prstGeom>
          <a:noFill/>
          <a:ln/>
        </p:spPr>
        <p:txBody>
          <a:bodyPr wrap="square" lIns="0" tIns="0" rIns="0" bIns="0" rtlCol="0" anchor="ctr"/>
          <a:lstStyle/>
          <a:p>
            <a:pPr marL="0" indent="0" algn="ctr">
              <a:buNone/>
            </a:pPr>
            <a:r>
              <a:rPr lang="en-US" sz="3000" b="1" dirty="0">
                <a:solidFill>
                  <a:srgbClr val="5F6B7A"/>
                </a:solidFill>
              </a:rPr>
              <a:t>=</a:t>
            </a:r>
            <a:endParaRPr lang="en-US" sz="3000" dirty="0"/>
          </a:p>
        </p:txBody>
      </p:sp>
      <p:sp>
        <p:nvSpPr>
          <p:cNvPr id="14" name="Shape 12"/>
          <p:cNvSpPr/>
          <p:nvPr/>
        </p:nvSpPr>
        <p:spPr>
          <a:xfrm>
            <a:off x="9144000" y="2514600"/>
            <a:ext cx="2404872" cy="1051560"/>
          </a:xfrm>
          <a:prstGeom prst="rect">
            <a:avLst/>
          </a:prstGeom>
          <a:solidFill>
            <a:srgbClr val="1A2540"/>
          </a:solidFill>
          <a:ln w="15875">
            <a:solidFill>
              <a:srgbClr val="1A2540"/>
            </a:solidFill>
            <a:prstDash val="solid"/>
          </a:ln>
        </p:spPr>
      </p:sp>
      <p:sp>
        <p:nvSpPr>
          <p:cNvPr id="15" name="Text 13"/>
          <p:cNvSpPr txBox="1"/>
          <p:nvPr/>
        </p:nvSpPr>
        <p:spPr>
          <a:xfrm>
            <a:off x="9217152" y="2514600"/>
            <a:ext cx="2258568" cy="1051560"/>
          </a:xfrm>
          <a:prstGeom prst="rect">
            <a:avLst/>
          </a:prstGeom>
          <a:noFill/>
          <a:ln/>
        </p:spPr>
        <p:txBody>
          <a:bodyPr wrap="square" lIns="0" tIns="0" rIns="0" bIns="0" rtlCol="0" anchor="ctr"/>
          <a:lstStyle/>
          <a:p>
            <a:pPr marL="0" indent="0" algn="ctr">
              <a:buNone/>
            </a:pPr>
            <a:r>
              <a:rPr lang="en-US" sz="2600" b="1" dirty="0">
                <a:solidFill>
                  <a:srgbClr val="FFFFFF"/>
                </a:solidFill>
              </a:rPr>
              <a:t>FactuPro</a:t>
            </a:r>
            <a:endParaRPr lang="en-US" sz="2600" dirty="0"/>
          </a:p>
        </p:txBody>
      </p:sp>
      <p:sp>
        <p:nvSpPr>
          <p:cNvPr id="16" name="Shape 14"/>
          <p:cNvSpPr/>
          <p:nvPr/>
        </p:nvSpPr>
        <p:spPr>
          <a:xfrm>
            <a:off x="640080" y="4160520"/>
            <a:ext cx="10908792" cy="0"/>
          </a:xfrm>
          <a:prstGeom prst="line">
            <a:avLst/>
          </a:prstGeom>
          <a:noFill/>
          <a:ln w="9525">
            <a:solidFill>
              <a:srgbClr val="CBD2DC"/>
            </a:solidFill>
            <a:prstDash val="solid"/>
          </a:ln>
        </p:spPr>
      </p:sp>
      <p:sp>
        <p:nvSpPr>
          <p:cNvPr id="17" name="Text 15"/>
          <p:cNvSpPr txBox="1"/>
          <p:nvPr/>
        </p:nvSpPr>
        <p:spPr>
          <a:xfrm>
            <a:off x="640080" y="4343400"/>
            <a:ext cx="2743200" cy="320040"/>
          </a:xfrm>
          <a:prstGeom prst="rect">
            <a:avLst/>
          </a:prstGeom>
          <a:noFill/>
          <a:ln/>
        </p:spPr>
        <p:txBody>
          <a:bodyPr wrap="square" lIns="0" tIns="0" rIns="0" bIns="0" rtlCol="0" anchor="t"/>
          <a:lstStyle/>
          <a:p>
            <a:pPr marL="0" indent="0">
              <a:buNone/>
            </a:pPr>
            <a:r>
              <a:rPr lang="en-US" sz="1400" b="1" dirty="0">
                <a:solidFill>
                  <a:srgbClr val="3A57E0"/>
                </a:solidFill>
              </a:rPr>
              <a:t>L'idée de départ</a:t>
            </a:r>
            <a:endParaRPr lang="en-US" sz="1400" dirty="0"/>
          </a:p>
        </p:txBody>
      </p:sp>
      <p:sp>
        <p:nvSpPr>
          <p:cNvPr id="18" name="Text 16"/>
          <p:cNvSpPr txBox="1"/>
          <p:nvPr/>
        </p:nvSpPr>
        <p:spPr>
          <a:xfrm>
            <a:off x="640080" y="4709160"/>
            <a:ext cx="10881360" cy="1188720"/>
          </a:xfrm>
          <a:prstGeom prst="rect">
            <a:avLst/>
          </a:prstGeom>
          <a:noFill/>
          <a:ln/>
        </p:spPr>
        <p:txBody>
          <a:bodyPr wrap="square" lIns="0" tIns="0" rIns="0" bIns="0" rtlCol="0" anchor="t"/>
          <a:lstStyle/>
          <a:p>
            <a:pPr marL="0" indent="0">
              <a:buNone/>
            </a:pPr>
            <a:r>
              <a:rPr lang="en-US" sz="1800" dirty="0">
                <a:solidFill>
                  <a:srgbClr val="1A2540"/>
                </a:solidFill>
              </a:rPr>
              <a:t>Si les entreprises exposent leurs produits sur une même plateforme, une entreprise en manque cherche d'abord là. Si elle trouve le produit, elle l'achète directement, sans déplacements, sans appels répétés, sans surfacturation.</a:t>
            </a:r>
            <a:endParaRPr lang="en-US" sz="1800" dirty="0"/>
          </a:p>
        </p:txBody>
      </p:sp>
      <p:sp>
        <p:nvSpPr>
          <p:cNvPr id="25" name="Slide Number Placeholder 0"/>
          <p:cNvSpPr>
            <a:spLocks noGrp="1"/>
          </p:cNvSpPr>
          <p:nvPr>
            <p:ph type="sldNum" sz="quarter" idx="4294967295"/>
          </p:nvPr>
        </p:nvSpPr>
        <p:spPr>
          <a:xfrm>
            <a:off x="1100023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defRPr>
            </a:lvl1pPr>
          </a:lstStyle>
          <a:p>
            <a:pPr algn="r"/>
            <a:fld id="{F7021451-1387-4CA6-816F-3879F97B5CBC}" type="slidenum">
              <a:rPr lang="en-US" b="0"/>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411480"/>
            <a:ext cx="10908792" cy="274320"/>
          </a:xfrm>
          <a:prstGeom prst="rect">
            <a:avLst/>
          </a:prstGeom>
          <a:noFill/>
          <a:ln/>
        </p:spPr>
        <p:txBody>
          <a:bodyPr wrap="square" lIns="0" tIns="0" rIns="0" bIns="0" rtlCol="0" anchor="t"/>
          <a:lstStyle/>
          <a:p>
            <a:pPr marL="0" indent="0" algn="l">
              <a:buNone/>
            </a:pPr>
            <a:r>
              <a:rPr lang="en-US" sz="1200" b="1" dirty="0">
                <a:solidFill>
                  <a:srgbClr val="3A57E0"/>
                </a:solidFill>
              </a:rPr>
              <a:t>3 · La solution</a:t>
            </a:r>
            <a:endParaRPr lang="en-US" sz="1200" dirty="0"/>
          </a:p>
        </p:txBody>
      </p:sp>
      <p:sp>
        <p:nvSpPr>
          <p:cNvPr id="3" name="Text 1"/>
          <p:cNvSpPr>
            <a:spLocks noGrp="1"/>
          </p:cNvSpPr>
          <p:nvPr>
            <p:ph type="title" idx="102" hasCustomPrompt="1"/>
          </p:nvPr>
        </p:nvSpPr>
        <p:spPr>
          <a:xfrm>
            <a:off x="640080" y="713232"/>
            <a:ext cx="10908792" cy="640080"/>
          </a:xfrm>
          <a:prstGeom prst="rect">
            <a:avLst/>
          </a:prstGeom>
          <a:noFill/>
          <a:ln/>
        </p:spPr>
        <p:txBody>
          <a:bodyPr wrap="square" lIns="0" tIns="0" rIns="0" bIns="0" rtlCol="0" anchor="t"/>
          <a:lstStyle/>
          <a:p>
            <a:pPr marL="0" indent="0" algn="l">
              <a:buNone/>
            </a:pPr>
            <a:r>
              <a:rPr lang="en-US" sz="3000" b="1" dirty="0">
                <a:solidFill>
                  <a:srgbClr val="1A2540"/>
                </a:solidFill>
              </a:rPr>
              <a:t>Deux espaces dans une même application</a:t>
            </a:r>
            <a:endParaRPr lang="en-US" sz="3000" dirty="0"/>
          </a:p>
        </p:txBody>
      </p:sp>
      <p:sp>
        <p:nvSpPr>
          <p:cNvPr id="4" name="Text 2"/>
          <p:cNvSpPr txBox="1"/>
          <p:nvPr/>
        </p:nvSpPr>
        <p:spPr>
          <a:xfrm>
            <a:off x="640080" y="1508760"/>
            <a:ext cx="5120640" cy="411480"/>
          </a:xfrm>
          <a:prstGeom prst="rect">
            <a:avLst/>
          </a:prstGeom>
          <a:noFill/>
          <a:ln/>
        </p:spPr>
        <p:txBody>
          <a:bodyPr wrap="square" lIns="0" tIns="0" rIns="0" bIns="0" rtlCol="0" anchor="t"/>
          <a:lstStyle/>
          <a:p>
            <a:pPr marL="0" indent="0">
              <a:buNone/>
            </a:pPr>
            <a:r>
              <a:rPr lang="en-US" sz="2100" b="1" dirty="0">
                <a:solidFill>
                  <a:srgbClr val="1A2540"/>
                </a:solidFill>
              </a:rPr>
              <a:t>Gestion interne</a:t>
            </a:r>
            <a:endParaRPr lang="en-US" sz="2100" dirty="0"/>
          </a:p>
        </p:txBody>
      </p:sp>
      <p:sp>
        <p:nvSpPr>
          <p:cNvPr id="5" name="Text 3"/>
          <p:cNvSpPr txBox="1"/>
          <p:nvPr/>
        </p:nvSpPr>
        <p:spPr>
          <a:xfrm>
            <a:off x="640080" y="1965960"/>
            <a:ext cx="5212080" cy="329184"/>
          </a:xfrm>
          <a:prstGeom prst="rect">
            <a:avLst/>
          </a:prstGeom>
          <a:noFill/>
          <a:ln/>
        </p:spPr>
        <p:txBody>
          <a:bodyPr wrap="square" lIns="0" tIns="0" rIns="0" bIns="0" rtlCol="0" anchor="ctr"/>
          <a:lstStyle/>
          <a:p>
            <a:pPr marL="0" indent="0">
              <a:buNone/>
            </a:pPr>
            <a:r>
              <a:rPr lang="en-US" sz="1500" dirty="0">
                <a:solidFill>
                  <a:srgbClr val="1F2937"/>
                </a:solidFill>
              </a:rPr>
              <a:t>Produits et stocks, avec seuil d'alerte</a:t>
            </a:r>
            <a:endParaRPr lang="en-US" sz="1500" dirty="0"/>
          </a:p>
        </p:txBody>
      </p:sp>
      <p:sp>
        <p:nvSpPr>
          <p:cNvPr id="6" name="Text 4"/>
          <p:cNvSpPr txBox="1"/>
          <p:nvPr/>
        </p:nvSpPr>
        <p:spPr>
          <a:xfrm>
            <a:off x="640080" y="2295144"/>
            <a:ext cx="5212080" cy="329184"/>
          </a:xfrm>
          <a:prstGeom prst="rect">
            <a:avLst/>
          </a:prstGeom>
          <a:noFill/>
          <a:ln/>
        </p:spPr>
        <p:txBody>
          <a:bodyPr wrap="square" lIns="0" tIns="0" rIns="0" bIns="0" rtlCol="0" anchor="ctr"/>
          <a:lstStyle/>
          <a:p>
            <a:pPr marL="0" indent="0">
              <a:buNone/>
            </a:pPr>
            <a:r>
              <a:rPr lang="en-US" sz="1500" dirty="0">
                <a:solidFill>
                  <a:srgbClr val="1F2937"/>
                </a:solidFill>
              </a:rPr>
              <a:t>Vente au comptoir et facturation</a:t>
            </a:r>
            <a:endParaRPr lang="en-US" sz="1500" dirty="0"/>
          </a:p>
        </p:txBody>
      </p:sp>
      <p:sp>
        <p:nvSpPr>
          <p:cNvPr id="7" name="Text 5"/>
          <p:cNvSpPr txBox="1"/>
          <p:nvPr/>
        </p:nvSpPr>
        <p:spPr>
          <a:xfrm>
            <a:off x="640080" y="2624328"/>
            <a:ext cx="5212080" cy="329184"/>
          </a:xfrm>
          <a:prstGeom prst="rect">
            <a:avLst/>
          </a:prstGeom>
          <a:noFill/>
          <a:ln/>
        </p:spPr>
        <p:txBody>
          <a:bodyPr wrap="square" lIns="0" tIns="0" rIns="0" bIns="0" rtlCol="0" anchor="ctr"/>
          <a:lstStyle/>
          <a:p>
            <a:pPr marL="0" indent="0">
              <a:buNone/>
            </a:pPr>
            <a:r>
              <a:rPr lang="en-US" sz="1500" dirty="0">
                <a:solidFill>
                  <a:srgbClr val="1F2937"/>
                </a:solidFill>
              </a:rPr>
              <a:t>Clients et historique des achats</a:t>
            </a:r>
            <a:endParaRPr lang="en-US" sz="1500" dirty="0"/>
          </a:p>
        </p:txBody>
      </p:sp>
      <p:sp>
        <p:nvSpPr>
          <p:cNvPr id="8" name="Text 6"/>
          <p:cNvSpPr txBox="1"/>
          <p:nvPr/>
        </p:nvSpPr>
        <p:spPr>
          <a:xfrm>
            <a:off x="640080" y="2953512"/>
            <a:ext cx="5212080" cy="329184"/>
          </a:xfrm>
          <a:prstGeom prst="rect">
            <a:avLst/>
          </a:prstGeom>
          <a:noFill/>
          <a:ln/>
        </p:spPr>
        <p:txBody>
          <a:bodyPr wrap="square" lIns="0" tIns="0" rIns="0" bIns="0" rtlCol="0" anchor="ctr"/>
          <a:lstStyle/>
          <a:p>
            <a:pPr marL="0" indent="0">
              <a:buNone/>
            </a:pPr>
            <a:r>
              <a:rPr lang="en-US" sz="1500" dirty="0">
                <a:solidFill>
                  <a:srgbClr val="1F2937"/>
                </a:solidFill>
              </a:rPr>
              <a:t>Équipe et rôles des utilisateurs</a:t>
            </a:r>
            <a:endParaRPr lang="en-US" sz="1500" dirty="0"/>
          </a:p>
        </p:txBody>
      </p:sp>
      <p:pic>
        <p:nvPicPr>
          <p:cNvPr id="9" name="Image 0" descr="C:\Users\ALEX\AppData\Local\Temp\claude\C--laragon-www-facturation\62a43aad-6d46-45af-979c-6c158c66b0c3\scratchpad\ppt3\use\produits.jpg"/>
          <p:cNvPicPr>
            <a:picLocks noChangeAspect="1"/>
          </p:cNvPicPr>
          <p:nvPr/>
        </p:nvPicPr>
        <p:blipFill>
          <a:blip r:embed="rId3"/>
          <a:stretch>
            <a:fillRect/>
          </a:stretch>
        </p:blipFill>
        <p:spPr>
          <a:xfrm>
            <a:off x="640080" y="3429000"/>
            <a:ext cx="3760076" cy="2423160"/>
          </a:xfrm>
          <a:prstGeom prst="rect">
            <a:avLst/>
          </a:prstGeom>
        </p:spPr>
      </p:pic>
      <p:sp>
        <p:nvSpPr>
          <p:cNvPr id="10" name="Shape 7"/>
          <p:cNvSpPr/>
          <p:nvPr/>
        </p:nvSpPr>
        <p:spPr>
          <a:xfrm>
            <a:off x="640080" y="3429000"/>
            <a:ext cx="3760076" cy="2423160"/>
          </a:xfrm>
          <a:prstGeom prst="rect">
            <a:avLst/>
          </a:prstGeom>
          <a:ln w="9525">
            <a:solidFill>
              <a:srgbClr val="CBD2DC"/>
            </a:solidFill>
            <a:prstDash val="solid"/>
          </a:ln>
        </p:spPr>
      </p:sp>
      <p:sp>
        <p:nvSpPr>
          <p:cNvPr id="11" name="Text 8"/>
          <p:cNvSpPr txBox="1"/>
          <p:nvPr/>
        </p:nvSpPr>
        <p:spPr>
          <a:xfrm>
            <a:off x="640080" y="5907024"/>
            <a:ext cx="5212080" cy="274320"/>
          </a:xfrm>
          <a:prstGeom prst="rect">
            <a:avLst/>
          </a:prstGeom>
          <a:noFill/>
          <a:ln/>
        </p:spPr>
        <p:txBody>
          <a:bodyPr wrap="square" lIns="0" tIns="0" rIns="0" bIns="0" rtlCol="0" anchor="t"/>
          <a:lstStyle/>
          <a:p>
            <a:pPr marL="0" indent="0">
              <a:buNone/>
            </a:pPr>
            <a:r>
              <a:rPr lang="en-US" sz="1150" dirty="0">
                <a:solidFill>
                  <a:srgbClr val="5F6B7A"/>
                </a:solidFill>
              </a:rPr>
              <a:t>Liste des produits : la colonne B2B met un produit en déstockage</a:t>
            </a:r>
            <a:endParaRPr lang="en-US" sz="1150" dirty="0"/>
          </a:p>
        </p:txBody>
      </p:sp>
      <p:sp>
        <p:nvSpPr>
          <p:cNvPr id="12" name="Text 9"/>
          <p:cNvSpPr txBox="1"/>
          <p:nvPr/>
        </p:nvSpPr>
        <p:spPr>
          <a:xfrm>
            <a:off x="6336792" y="1508760"/>
            <a:ext cx="5120640" cy="411480"/>
          </a:xfrm>
          <a:prstGeom prst="rect">
            <a:avLst/>
          </a:prstGeom>
          <a:noFill/>
          <a:ln/>
        </p:spPr>
        <p:txBody>
          <a:bodyPr wrap="square" lIns="0" tIns="0" rIns="0" bIns="0" rtlCol="0" anchor="t"/>
          <a:lstStyle/>
          <a:p>
            <a:pPr marL="0" indent="0">
              <a:buNone/>
            </a:pPr>
            <a:r>
              <a:rPr lang="en-US" sz="2100" b="1" dirty="0">
                <a:solidFill>
                  <a:srgbClr val="3A57E0"/>
                </a:solidFill>
              </a:rPr>
              <a:t>Réseau B2B</a:t>
            </a:r>
            <a:endParaRPr lang="en-US" sz="2100" dirty="0"/>
          </a:p>
        </p:txBody>
      </p:sp>
      <p:sp>
        <p:nvSpPr>
          <p:cNvPr id="13" name="Text 10"/>
          <p:cNvSpPr txBox="1"/>
          <p:nvPr/>
        </p:nvSpPr>
        <p:spPr>
          <a:xfrm>
            <a:off x="6336792" y="1965960"/>
            <a:ext cx="5212080" cy="329184"/>
          </a:xfrm>
          <a:prstGeom prst="rect">
            <a:avLst/>
          </a:prstGeom>
          <a:noFill/>
          <a:ln/>
        </p:spPr>
        <p:txBody>
          <a:bodyPr wrap="square" lIns="0" tIns="0" rIns="0" bIns="0" rtlCol="0" anchor="ctr"/>
          <a:lstStyle/>
          <a:p>
            <a:pPr marL="0" indent="0">
              <a:buNone/>
            </a:pPr>
            <a:r>
              <a:rPr lang="en-US" sz="1500" dirty="0">
                <a:solidFill>
                  <a:srgbClr val="1F2937"/>
                </a:solidFill>
              </a:rPr>
              <a:t>Annuaire des entreprises, avec la distance</a:t>
            </a:r>
            <a:endParaRPr lang="en-US" sz="1500" dirty="0"/>
          </a:p>
        </p:txBody>
      </p:sp>
      <p:sp>
        <p:nvSpPr>
          <p:cNvPr id="14" name="Text 11"/>
          <p:cNvSpPr txBox="1"/>
          <p:nvPr/>
        </p:nvSpPr>
        <p:spPr>
          <a:xfrm>
            <a:off x="6336792" y="2295144"/>
            <a:ext cx="5212080" cy="329184"/>
          </a:xfrm>
          <a:prstGeom prst="rect">
            <a:avLst/>
          </a:prstGeom>
          <a:noFill/>
          <a:ln/>
        </p:spPr>
        <p:txBody>
          <a:bodyPr wrap="square" lIns="0" tIns="0" rIns="0" bIns="0" rtlCol="0" anchor="ctr"/>
          <a:lstStyle/>
          <a:p>
            <a:pPr marL="0" indent="0">
              <a:buNone/>
            </a:pPr>
            <a:r>
              <a:rPr lang="en-US" sz="1500" dirty="0">
                <a:solidFill>
                  <a:srgbClr val="1F2937"/>
                </a:solidFill>
              </a:rPr>
              <a:t>Annonces : offres et appels d'offres</a:t>
            </a:r>
            <a:endParaRPr lang="en-US" sz="1500" dirty="0"/>
          </a:p>
        </p:txBody>
      </p:sp>
      <p:sp>
        <p:nvSpPr>
          <p:cNvPr id="15" name="Text 12"/>
          <p:cNvSpPr txBox="1"/>
          <p:nvPr/>
        </p:nvSpPr>
        <p:spPr>
          <a:xfrm>
            <a:off x="6336792" y="2624328"/>
            <a:ext cx="5212080" cy="329184"/>
          </a:xfrm>
          <a:prstGeom prst="rect">
            <a:avLst/>
          </a:prstGeom>
          <a:noFill/>
          <a:ln/>
        </p:spPr>
        <p:txBody>
          <a:bodyPr wrap="square" lIns="0" tIns="0" rIns="0" bIns="0" rtlCol="0" anchor="ctr"/>
          <a:lstStyle/>
          <a:p>
            <a:pPr marL="0" indent="0">
              <a:buNone/>
            </a:pPr>
            <a:r>
              <a:rPr lang="en-US" sz="1500" dirty="0">
                <a:solidFill>
                  <a:srgbClr val="1F2937"/>
                </a:solidFill>
              </a:rPr>
              <a:t>Commandes B2B : accepter ou refuser</a:t>
            </a:r>
            <a:endParaRPr lang="en-US" sz="1500" dirty="0"/>
          </a:p>
        </p:txBody>
      </p:sp>
      <p:sp>
        <p:nvSpPr>
          <p:cNvPr id="16" name="Text 13"/>
          <p:cNvSpPr txBox="1"/>
          <p:nvPr/>
        </p:nvSpPr>
        <p:spPr>
          <a:xfrm>
            <a:off x="6336792" y="2953512"/>
            <a:ext cx="5212080" cy="329184"/>
          </a:xfrm>
          <a:prstGeom prst="rect">
            <a:avLst/>
          </a:prstGeom>
          <a:noFill/>
          <a:ln/>
        </p:spPr>
        <p:txBody>
          <a:bodyPr wrap="square" lIns="0" tIns="0" rIns="0" bIns="0" rtlCol="0" anchor="ctr"/>
          <a:lstStyle/>
          <a:p>
            <a:pPr marL="0" indent="0">
              <a:buNone/>
            </a:pPr>
            <a:r>
              <a:rPr lang="en-US" sz="1500" dirty="0">
                <a:solidFill>
                  <a:srgbClr val="1F2937"/>
                </a:solidFill>
              </a:rPr>
              <a:t>Messages et notifications</a:t>
            </a:r>
            <a:endParaRPr lang="en-US" sz="1500" dirty="0"/>
          </a:p>
        </p:txBody>
      </p:sp>
      <p:pic>
        <p:nvPicPr>
          <p:cNvPr id="17" name="Image 1" descr="C:\Users\ALEX\AppData\Local\Temp\claude\C--laragon-www-facturation\62a43aad-6d46-45af-979c-6c158c66b0c3\scratchpad\ppt3\use\annonces.jpg"/>
          <p:cNvPicPr>
            <a:picLocks noChangeAspect="1"/>
          </p:cNvPicPr>
          <p:nvPr/>
        </p:nvPicPr>
        <p:blipFill>
          <a:blip r:embed="rId4"/>
          <a:stretch>
            <a:fillRect/>
          </a:stretch>
        </p:blipFill>
        <p:spPr>
          <a:xfrm>
            <a:off x="6336792" y="3429000"/>
            <a:ext cx="5054444" cy="2423160"/>
          </a:xfrm>
          <a:prstGeom prst="rect">
            <a:avLst/>
          </a:prstGeom>
        </p:spPr>
      </p:pic>
      <p:sp>
        <p:nvSpPr>
          <p:cNvPr id="18" name="Shape 14"/>
          <p:cNvSpPr/>
          <p:nvPr/>
        </p:nvSpPr>
        <p:spPr>
          <a:xfrm>
            <a:off x="6336792" y="3429000"/>
            <a:ext cx="5054444" cy="2423160"/>
          </a:xfrm>
          <a:prstGeom prst="rect">
            <a:avLst/>
          </a:prstGeom>
          <a:ln w="9525">
            <a:solidFill>
              <a:srgbClr val="CBD2DC"/>
            </a:solidFill>
            <a:prstDash val="solid"/>
          </a:ln>
        </p:spPr>
      </p:sp>
      <p:sp>
        <p:nvSpPr>
          <p:cNvPr id="19" name="Text 15"/>
          <p:cNvSpPr txBox="1"/>
          <p:nvPr/>
        </p:nvSpPr>
        <p:spPr>
          <a:xfrm>
            <a:off x="6336792" y="5907024"/>
            <a:ext cx="5212080" cy="274320"/>
          </a:xfrm>
          <a:prstGeom prst="rect">
            <a:avLst/>
          </a:prstGeom>
          <a:noFill/>
          <a:ln/>
        </p:spPr>
        <p:txBody>
          <a:bodyPr wrap="square" lIns="0" tIns="0" rIns="0" bIns="0" rtlCol="0" anchor="t"/>
          <a:lstStyle/>
          <a:p>
            <a:pPr marL="0" indent="0">
              <a:buNone/>
            </a:pPr>
            <a:r>
              <a:rPr lang="en-US" sz="1150" dirty="0">
                <a:solidFill>
                  <a:srgbClr val="5F6B7A"/>
                </a:solidFill>
              </a:rPr>
              <a:t>Annonces publiées par les entreprises du réseau</a:t>
            </a:r>
            <a:endParaRPr lang="en-US" sz="1150" dirty="0"/>
          </a:p>
        </p:txBody>
      </p:sp>
      <p:sp>
        <p:nvSpPr>
          <p:cNvPr id="20" name="Shape 16"/>
          <p:cNvSpPr/>
          <p:nvPr/>
        </p:nvSpPr>
        <p:spPr>
          <a:xfrm>
            <a:off x="6190488" y="1600200"/>
            <a:ext cx="0" cy="4526280"/>
          </a:xfrm>
          <a:prstGeom prst="line">
            <a:avLst/>
          </a:prstGeom>
          <a:noFill/>
          <a:ln w="9525">
            <a:solidFill>
              <a:srgbClr val="CBD2DC"/>
            </a:solidFill>
            <a:prstDash val="solid"/>
          </a:ln>
        </p:spPr>
      </p:sp>
      <p:sp>
        <p:nvSpPr>
          <p:cNvPr id="25" name="Slide Number Placeholder 0"/>
          <p:cNvSpPr>
            <a:spLocks noGrp="1"/>
          </p:cNvSpPr>
          <p:nvPr>
            <p:ph type="sldNum" sz="quarter" idx="4294967295"/>
          </p:nvPr>
        </p:nvSpPr>
        <p:spPr>
          <a:xfrm>
            <a:off x="1100023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defRPr>
            </a:lvl1pPr>
          </a:lstStyle>
          <a:p>
            <a:pPr algn="r"/>
            <a:fld id="{F7021451-1387-4CA6-816F-3879F97B5CBC}" type="slidenum">
              <a:rPr lang="en-US" b="0"/>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411480"/>
            <a:ext cx="10908792" cy="274320"/>
          </a:xfrm>
          <a:prstGeom prst="rect">
            <a:avLst/>
          </a:prstGeom>
          <a:noFill/>
          <a:ln/>
        </p:spPr>
        <p:txBody>
          <a:bodyPr wrap="square" lIns="0" tIns="0" rIns="0" bIns="0" rtlCol="0" anchor="t"/>
          <a:lstStyle/>
          <a:p>
            <a:pPr marL="0" indent="0" algn="l">
              <a:buNone/>
            </a:pPr>
            <a:r>
              <a:rPr lang="en-US" sz="1200" b="1" dirty="0">
                <a:solidFill>
                  <a:srgbClr val="3A57E0"/>
                </a:solidFill>
              </a:rPr>
              <a:t>4 · Conception</a:t>
            </a:r>
            <a:endParaRPr lang="en-US" sz="1200" dirty="0"/>
          </a:p>
        </p:txBody>
      </p:sp>
      <p:sp>
        <p:nvSpPr>
          <p:cNvPr id="3" name="Text 1"/>
          <p:cNvSpPr>
            <a:spLocks noGrp="1"/>
          </p:cNvSpPr>
          <p:nvPr>
            <p:ph type="title" idx="102" hasCustomPrompt="1"/>
          </p:nvPr>
        </p:nvSpPr>
        <p:spPr>
          <a:xfrm>
            <a:off x="640080" y="713232"/>
            <a:ext cx="10908792" cy="640080"/>
          </a:xfrm>
          <a:prstGeom prst="rect">
            <a:avLst/>
          </a:prstGeom>
          <a:noFill/>
          <a:ln/>
        </p:spPr>
        <p:txBody>
          <a:bodyPr wrap="square" lIns="0" tIns="0" rIns="0" bIns="0" rtlCol="0" anchor="t"/>
          <a:lstStyle/>
          <a:p>
            <a:pPr marL="0" indent="0" algn="l">
              <a:buNone/>
            </a:pPr>
            <a:r>
              <a:rPr lang="en-US" sz="3000" b="1" dirty="0">
                <a:solidFill>
                  <a:srgbClr val="1A2540"/>
                </a:solidFill>
              </a:rPr>
              <a:t>La démarche MERISE</a:t>
            </a:r>
            <a:endParaRPr lang="en-US" sz="3000" dirty="0"/>
          </a:p>
        </p:txBody>
      </p:sp>
      <p:sp>
        <p:nvSpPr>
          <p:cNvPr id="4" name="Text 2"/>
          <p:cNvSpPr txBox="1"/>
          <p:nvPr/>
        </p:nvSpPr>
        <p:spPr>
          <a:xfrm>
            <a:off x="640080" y="1463040"/>
            <a:ext cx="5312664" cy="274320"/>
          </a:xfrm>
          <a:prstGeom prst="rect">
            <a:avLst/>
          </a:prstGeom>
          <a:noFill/>
          <a:ln/>
        </p:spPr>
        <p:txBody>
          <a:bodyPr wrap="square" lIns="0" tIns="0" rIns="0" bIns="0" rtlCol="0" anchor="t"/>
          <a:lstStyle/>
          <a:p>
            <a:pPr marL="0" indent="0" algn="ctr">
              <a:buNone/>
            </a:pPr>
            <a:r>
              <a:rPr lang="en-US" sz="1250" dirty="0">
                <a:solidFill>
                  <a:srgbClr val="5F6B7A"/>
                </a:solidFill>
              </a:rPr>
              <a:t>Niveau conceptuel</a:t>
            </a:r>
            <a:endParaRPr lang="en-US" sz="1250" dirty="0"/>
          </a:p>
        </p:txBody>
      </p:sp>
      <p:sp>
        <p:nvSpPr>
          <p:cNvPr id="5" name="Shape 3"/>
          <p:cNvSpPr/>
          <p:nvPr/>
        </p:nvSpPr>
        <p:spPr>
          <a:xfrm>
            <a:off x="685800" y="1801368"/>
            <a:ext cx="5221224" cy="0"/>
          </a:xfrm>
          <a:prstGeom prst="line">
            <a:avLst/>
          </a:prstGeom>
          <a:noFill/>
          <a:ln w="12700">
            <a:solidFill>
              <a:srgbClr val="CBD2DC"/>
            </a:solidFill>
            <a:prstDash val="solid"/>
          </a:ln>
        </p:spPr>
      </p:sp>
      <p:sp>
        <p:nvSpPr>
          <p:cNvPr id="6" name="Text 4"/>
          <p:cNvSpPr txBox="1"/>
          <p:nvPr/>
        </p:nvSpPr>
        <p:spPr>
          <a:xfrm>
            <a:off x="6236208" y="1463040"/>
            <a:ext cx="2514600" cy="274320"/>
          </a:xfrm>
          <a:prstGeom prst="rect">
            <a:avLst/>
          </a:prstGeom>
          <a:noFill/>
          <a:ln/>
        </p:spPr>
        <p:txBody>
          <a:bodyPr wrap="square" lIns="0" tIns="0" rIns="0" bIns="0" rtlCol="0" anchor="t"/>
          <a:lstStyle/>
          <a:p>
            <a:pPr marL="0" indent="0" algn="ctr">
              <a:buNone/>
            </a:pPr>
            <a:r>
              <a:rPr lang="en-US" sz="1250" dirty="0">
                <a:solidFill>
                  <a:srgbClr val="5F6B7A"/>
                </a:solidFill>
              </a:rPr>
              <a:t>Niveau logique</a:t>
            </a:r>
            <a:endParaRPr lang="en-US" sz="1250" dirty="0"/>
          </a:p>
        </p:txBody>
      </p:sp>
      <p:sp>
        <p:nvSpPr>
          <p:cNvPr id="7" name="Shape 5"/>
          <p:cNvSpPr/>
          <p:nvPr/>
        </p:nvSpPr>
        <p:spPr>
          <a:xfrm>
            <a:off x="6281928" y="1801368"/>
            <a:ext cx="2423160" cy="0"/>
          </a:xfrm>
          <a:prstGeom prst="line">
            <a:avLst/>
          </a:prstGeom>
          <a:noFill/>
          <a:ln w="12700">
            <a:solidFill>
              <a:srgbClr val="CBD2DC"/>
            </a:solidFill>
            <a:prstDash val="solid"/>
          </a:ln>
        </p:spPr>
      </p:sp>
      <p:sp>
        <p:nvSpPr>
          <p:cNvPr id="8" name="Text 6"/>
          <p:cNvSpPr txBox="1"/>
          <p:nvPr/>
        </p:nvSpPr>
        <p:spPr>
          <a:xfrm>
            <a:off x="9034272" y="1463040"/>
            <a:ext cx="2514600" cy="274320"/>
          </a:xfrm>
          <a:prstGeom prst="rect">
            <a:avLst/>
          </a:prstGeom>
          <a:noFill/>
          <a:ln/>
        </p:spPr>
        <p:txBody>
          <a:bodyPr wrap="square" lIns="0" tIns="0" rIns="0" bIns="0" rtlCol="0" anchor="t"/>
          <a:lstStyle/>
          <a:p>
            <a:pPr marL="0" indent="0" algn="ctr">
              <a:buNone/>
            </a:pPr>
            <a:r>
              <a:rPr lang="en-US" sz="1250" dirty="0">
                <a:solidFill>
                  <a:srgbClr val="5F6B7A"/>
                </a:solidFill>
              </a:rPr>
              <a:t>Niveau organisationnel</a:t>
            </a:r>
            <a:endParaRPr lang="en-US" sz="1250" dirty="0"/>
          </a:p>
        </p:txBody>
      </p:sp>
      <p:sp>
        <p:nvSpPr>
          <p:cNvPr id="9" name="Shape 7"/>
          <p:cNvSpPr/>
          <p:nvPr/>
        </p:nvSpPr>
        <p:spPr>
          <a:xfrm>
            <a:off x="9079992" y="1801368"/>
            <a:ext cx="2423160" cy="0"/>
          </a:xfrm>
          <a:prstGeom prst="line">
            <a:avLst/>
          </a:prstGeom>
          <a:noFill/>
          <a:ln w="12700">
            <a:solidFill>
              <a:srgbClr val="CBD2DC"/>
            </a:solidFill>
            <a:prstDash val="solid"/>
          </a:ln>
        </p:spPr>
      </p:sp>
      <p:sp>
        <p:nvSpPr>
          <p:cNvPr id="10" name="Shape 8"/>
          <p:cNvSpPr/>
          <p:nvPr/>
        </p:nvSpPr>
        <p:spPr>
          <a:xfrm>
            <a:off x="640080" y="2011680"/>
            <a:ext cx="2514600" cy="1051560"/>
          </a:xfrm>
          <a:prstGeom prst="rect">
            <a:avLst/>
          </a:prstGeom>
          <a:solidFill>
            <a:srgbClr val="1A2540"/>
          </a:solidFill>
          <a:ln/>
        </p:spPr>
      </p:sp>
      <p:sp>
        <p:nvSpPr>
          <p:cNvPr id="11" name="Text 9"/>
          <p:cNvSpPr txBox="1"/>
          <p:nvPr/>
        </p:nvSpPr>
        <p:spPr>
          <a:xfrm>
            <a:off x="822960" y="2057400"/>
            <a:ext cx="2148840" cy="548640"/>
          </a:xfrm>
          <a:prstGeom prst="rect">
            <a:avLst/>
          </a:prstGeom>
          <a:noFill/>
          <a:ln/>
        </p:spPr>
        <p:txBody>
          <a:bodyPr wrap="square" lIns="0" tIns="0" rIns="0" bIns="0" rtlCol="0" anchor="ctr"/>
          <a:lstStyle/>
          <a:p>
            <a:pPr marL="0" indent="0">
              <a:buNone/>
            </a:pPr>
            <a:r>
              <a:rPr lang="en-US" sz="2800" b="1" dirty="0">
                <a:solidFill>
                  <a:srgbClr val="FFFFFF"/>
                </a:solidFill>
              </a:rPr>
              <a:t>MCD</a:t>
            </a:r>
            <a:endParaRPr lang="en-US" sz="2800" dirty="0"/>
          </a:p>
        </p:txBody>
      </p:sp>
      <p:sp>
        <p:nvSpPr>
          <p:cNvPr id="12" name="Text 10"/>
          <p:cNvSpPr txBox="1"/>
          <p:nvPr/>
        </p:nvSpPr>
        <p:spPr>
          <a:xfrm>
            <a:off x="822960" y="2578608"/>
            <a:ext cx="2148840" cy="457200"/>
          </a:xfrm>
          <a:prstGeom prst="rect">
            <a:avLst/>
          </a:prstGeom>
          <a:noFill/>
          <a:ln/>
        </p:spPr>
        <p:txBody>
          <a:bodyPr wrap="square" lIns="0" tIns="0" rIns="0" bIns="0" rtlCol="0" anchor="t"/>
          <a:lstStyle/>
          <a:p>
            <a:pPr marL="0" indent="0">
              <a:buNone/>
            </a:pPr>
            <a:r>
              <a:rPr lang="en-US" sz="1150" dirty="0">
                <a:solidFill>
                  <a:srgbClr val="AEB8CC"/>
                </a:solidFill>
              </a:rPr>
              <a:t>Modèle Conceptuel des Données</a:t>
            </a:r>
            <a:endParaRPr lang="en-US" sz="1150" dirty="0"/>
          </a:p>
        </p:txBody>
      </p:sp>
      <p:sp>
        <p:nvSpPr>
          <p:cNvPr id="13" name="Text 11"/>
          <p:cNvSpPr txBox="1"/>
          <p:nvPr/>
        </p:nvSpPr>
        <p:spPr>
          <a:xfrm>
            <a:off x="640080" y="3291840"/>
            <a:ext cx="2514600" cy="411480"/>
          </a:xfrm>
          <a:prstGeom prst="rect">
            <a:avLst/>
          </a:prstGeom>
          <a:noFill/>
          <a:ln/>
        </p:spPr>
        <p:txBody>
          <a:bodyPr wrap="square" lIns="0" tIns="0" rIns="0" bIns="0" rtlCol="0" anchor="t"/>
          <a:lstStyle/>
          <a:p>
            <a:pPr marL="0" indent="0">
              <a:buNone/>
            </a:pPr>
            <a:r>
              <a:rPr lang="en-US" sz="1900" b="1" dirty="0">
                <a:solidFill>
                  <a:srgbClr val="3A57E0"/>
                </a:solidFill>
              </a:rPr>
              <a:t>Quelles données ?</a:t>
            </a:r>
            <a:endParaRPr lang="en-US" sz="1900" dirty="0"/>
          </a:p>
        </p:txBody>
      </p:sp>
      <p:sp>
        <p:nvSpPr>
          <p:cNvPr id="14" name="Text 12"/>
          <p:cNvSpPr txBox="1"/>
          <p:nvPr/>
        </p:nvSpPr>
        <p:spPr>
          <a:xfrm>
            <a:off x="640080" y="3749040"/>
            <a:ext cx="2514600" cy="1280160"/>
          </a:xfrm>
          <a:prstGeom prst="rect">
            <a:avLst/>
          </a:prstGeom>
          <a:noFill/>
          <a:ln/>
        </p:spPr>
        <p:txBody>
          <a:bodyPr wrap="square" lIns="0" tIns="0" rIns="0" bIns="0" rtlCol="0" anchor="t"/>
          <a:lstStyle/>
          <a:p>
            <a:pPr marL="0" indent="0">
              <a:buNone/>
            </a:pPr>
            <a:r>
              <a:rPr lang="en-US" sz="1450" dirty="0">
                <a:solidFill>
                  <a:srgbClr val="1F2937"/>
                </a:solidFill>
              </a:rPr>
              <a:t>Entités, associations et cardinalités, issues de 13 règles de gestion</a:t>
            </a:r>
            <a:endParaRPr lang="en-US" sz="1450" dirty="0"/>
          </a:p>
        </p:txBody>
      </p:sp>
      <p:sp>
        <p:nvSpPr>
          <p:cNvPr id="15" name="Shape 13"/>
          <p:cNvSpPr/>
          <p:nvPr/>
        </p:nvSpPr>
        <p:spPr>
          <a:xfrm>
            <a:off x="3182112" y="2537460"/>
            <a:ext cx="228600" cy="0"/>
          </a:xfrm>
          <a:prstGeom prst="line">
            <a:avLst/>
          </a:prstGeom>
          <a:noFill/>
          <a:ln w="15875">
            <a:solidFill>
              <a:srgbClr val="5F6B7A"/>
            </a:solidFill>
            <a:prstDash val="solid"/>
            <a:tailEnd type="triangle"/>
          </a:ln>
        </p:spPr>
      </p:sp>
      <p:sp>
        <p:nvSpPr>
          <p:cNvPr id="16" name="Shape 14"/>
          <p:cNvSpPr/>
          <p:nvPr/>
        </p:nvSpPr>
        <p:spPr>
          <a:xfrm>
            <a:off x="3438144" y="2011680"/>
            <a:ext cx="2514600" cy="1051560"/>
          </a:xfrm>
          <a:prstGeom prst="rect">
            <a:avLst/>
          </a:prstGeom>
          <a:solidFill>
            <a:srgbClr val="1A2540"/>
          </a:solidFill>
          <a:ln/>
        </p:spPr>
      </p:sp>
      <p:sp>
        <p:nvSpPr>
          <p:cNvPr id="17" name="Text 15"/>
          <p:cNvSpPr txBox="1"/>
          <p:nvPr/>
        </p:nvSpPr>
        <p:spPr>
          <a:xfrm>
            <a:off x="3621024" y="2057400"/>
            <a:ext cx="2148840" cy="548640"/>
          </a:xfrm>
          <a:prstGeom prst="rect">
            <a:avLst/>
          </a:prstGeom>
          <a:noFill/>
          <a:ln/>
        </p:spPr>
        <p:txBody>
          <a:bodyPr wrap="square" lIns="0" tIns="0" rIns="0" bIns="0" rtlCol="0" anchor="ctr"/>
          <a:lstStyle/>
          <a:p>
            <a:pPr marL="0" indent="0">
              <a:buNone/>
            </a:pPr>
            <a:r>
              <a:rPr lang="en-US" sz="2800" b="1" dirty="0">
                <a:solidFill>
                  <a:srgbClr val="FFFFFF"/>
                </a:solidFill>
              </a:rPr>
              <a:t>MCT</a:t>
            </a:r>
            <a:endParaRPr lang="en-US" sz="2800" dirty="0"/>
          </a:p>
        </p:txBody>
      </p:sp>
      <p:sp>
        <p:nvSpPr>
          <p:cNvPr id="18" name="Text 16"/>
          <p:cNvSpPr txBox="1"/>
          <p:nvPr/>
        </p:nvSpPr>
        <p:spPr>
          <a:xfrm>
            <a:off x="3621024" y="2578608"/>
            <a:ext cx="2148840" cy="457200"/>
          </a:xfrm>
          <a:prstGeom prst="rect">
            <a:avLst/>
          </a:prstGeom>
          <a:noFill/>
          <a:ln/>
        </p:spPr>
        <p:txBody>
          <a:bodyPr wrap="square" lIns="0" tIns="0" rIns="0" bIns="0" rtlCol="0" anchor="t"/>
          <a:lstStyle/>
          <a:p>
            <a:pPr marL="0" indent="0">
              <a:buNone/>
            </a:pPr>
            <a:r>
              <a:rPr lang="en-US" sz="1150" dirty="0">
                <a:solidFill>
                  <a:srgbClr val="AEB8CC"/>
                </a:solidFill>
              </a:rPr>
              <a:t>Modèle Conceptuel des Traitements</a:t>
            </a:r>
            <a:endParaRPr lang="en-US" sz="1150" dirty="0"/>
          </a:p>
        </p:txBody>
      </p:sp>
      <p:sp>
        <p:nvSpPr>
          <p:cNvPr id="19" name="Text 17"/>
          <p:cNvSpPr txBox="1"/>
          <p:nvPr/>
        </p:nvSpPr>
        <p:spPr>
          <a:xfrm>
            <a:off x="3438144" y="3291840"/>
            <a:ext cx="2514600" cy="411480"/>
          </a:xfrm>
          <a:prstGeom prst="rect">
            <a:avLst/>
          </a:prstGeom>
          <a:noFill/>
          <a:ln/>
        </p:spPr>
        <p:txBody>
          <a:bodyPr wrap="square" lIns="0" tIns="0" rIns="0" bIns="0" rtlCol="0" anchor="t"/>
          <a:lstStyle/>
          <a:p>
            <a:pPr marL="0" indent="0">
              <a:buNone/>
            </a:pPr>
            <a:r>
              <a:rPr lang="en-US" sz="1900" b="1" dirty="0">
                <a:solidFill>
                  <a:srgbClr val="3A57E0"/>
                </a:solidFill>
              </a:rPr>
              <a:t>Quels traitements ?</a:t>
            </a:r>
            <a:endParaRPr lang="en-US" sz="1900" dirty="0"/>
          </a:p>
        </p:txBody>
      </p:sp>
      <p:sp>
        <p:nvSpPr>
          <p:cNvPr id="20" name="Text 18"/>
          <p:cNvSpPr txBox="1"/>
          <p:nvPr/>
        </p:nvSpPr>
        <p:spPr>
          <a:xfrm>
            <a:off x="3438144" y="3749040"/>
            <a:ext cx="2514600" cy="1280160"/>
          </a:xfrm>
          <a:prstGeom prst="rect">
            <a:avLst/>
          </a:prstGeom>
          <a:noFill/>
          <a:ln/>
        </p:spPr>
        <p:txBody>
          <a:bodyPr wrap="square" lIns="0" tIns="0" rIns="0" bIns="0" rtlCol="0" anchor="t"/>
          <a:lstStyle/>
          <a:p>
            <a:pPr marL="0" indent="0">
              <a:buNone/>
            </a:pPr>
            <a:r>
              <a:rPr lang="en-US" sz="1450" dirty="0">
                <a:solidFill>
                  <a:srgbClr val="1F2937"/>
                </a:solidFill>
              </a:rPr>
              <a:t>Deux modules métier : vente au comptoir et réseautage B2B</a:t>
            </a:r>
            <a:endParaRPr lang="en-US" sz="1450" dirty="0"/>
          </a:p>
        </p:txBody>
      </p:sp>
      <p:sp>
        <p:nvSpPr>
          <p:cNvPr id="21" name="Shape 19"/>
          <p:cNvSpPr/>
          <p:nvPr/>
        </p:nvSpPr>
        <p:spPr>
          <a:xfrm>
            <a:off x="5980176" y="2537460"/>
            <a:ext cx="228600" cy="0"/>
          </a:xfrm>
          <a:prstGeom prst="line">
            <a:avLst/>
          </a:prstGeom>
          <a:noFill/>
          <a:ln w="15875">
            <a:solidFill>
              <a:srgbClr val="5F6B7A"/>
            </a:solidFill>
            <a:prstDash val="solid"/>
            <a:tailEnd type="triangle"/>
          </a:ln>
        </p:spPr>
      </p:sp>
      <p:sp>
        <p:nvSpPr>
          <p:cNvPr id="22" name="Shape 20"/>
          <p:cNvSpPr/>
          <p:nvPr/>
        </p:nvSpPr>
        <p:spPr>
          <a:xfrm>
            <a:off x="6236208" y="2011680"/>
            <a:ext cx="2514600" cy="1051560"/>
          </a:xfrm>
          <a:prstGeom prst="rect">
            <a:avLst/>
          </a:prstGeom>
          <a:solidFill>
            <a:srgbClr val="1A2540"/>
          </a:solidFill>
          <a:ln/>
        </p:spPr>
      </p:sp>
      <p:sp>
        <p:nvSpPr>
          <p:cNvPr id="23" name="Text 21"/>
          <p:cNvSpPr txBox="1"/>
          <p:nvPr/>
        </p:nvSpPr>
        <p:spPr>
          <a:xfrm>
            <a:off x="6419088" y="2057400"/>
            <a:ext cx="2148840" cy="548640"/>
          </a:xfrm>
          <a:prstGeom prst="rect">
            <a:avLst/>
          </a:prstGeom>
          <a:noFill/>
          <a:ln/>
        </p:spPr>
        <p:txBody>
          <a:bodyPr wrap="square" lIns="0" tIns="0" rIns="0" bIns="0" rtlCol="0" anchor="ctr"/>
          <a:lstStyle/>
          <a:p>
            <a:pPr marL="0" indent="0">
              <a:buNone/>
            </a:pPr>
            <a:r>
              <a:rPr lang="en-US" sz="2800" b="1" dirty="0">
                <a:solidFill>
                  <a:srgbClr val="FFFFFF"/>
                </a:solidFill>
              </a:rPr>
              <a:t>MLD</a:t>
            </a:r>
            <a:endParaRPr lang="en-US" sz="2800" dirty="0"/>
          </a:p>
        </p:txBody>
      </p:sp>
      <p:sp>
        <p:nvSpPr>
          <p:cNvPr id="24" name="Text 22"/>
          <p:cNvSpPr txBox="1"/>
          <p:nvPr/>
        </p:nvSpPr>
        <p:spPr>
          <a:xfrm>
            <a:off x="6419088" y="2578608"/>
            <a:ext cx="2148840" cy="457200"/>
          </a:xfrm>
          <a:prstGeom prst="rect">
            <a:avLst/>
          </a:prstGeom>
          <a:noFill/>
          <a:ln/>
        </p:spPr>
        <p:txBody>
          <a:bodyPr wrap="square" lIns="0" tIns="0" rIns="0" bIns="0" rtlCol="0" anchor="t"/>
          <a:lstStyle/>
          <a:p>
            <a:pPr marL="0" indent="0">
              <a:buNone/>
            </a:pPr>
            <a:r>
              <a:rPr lang="en-US" sz="1150" dirty="0">
                <a:solidFill>
                  <a:srgbClr val="AEB8CC"/>
                </a:solidFill>
              </a:rPr>
              <a:t>Modèle Logique des Données</a:t>
            </a:r>
            <a:endParaRPr lang="en-US" sz="1150" dirty="0"/>
          </a:p>
        </p:txBody>
      </p:sp>
      <p:sp>
        <p:nvSpPr>
          <p:cNvPr id="25" name="Text 23"/>
          <p:cNvSpPr txBox="1"/>
          <p:nvPr/>
        </p:nvSpPr>
        <p:spPr>
          <a:xfrm>
            <a:off x="6236208" y="3291840"/>
            <a:ext cx="2514600" cy="411480"/>
          </a:xfrm>
          <a:prstGeom prst="rect">
            <a:avLst/>
          </a:prstGeom>
          <a:noFill/>
          <a:ln/>
        </p:spPr>
        <p:txBody>
          <a:bodyPr wrap="square" lIns="0" tIns="0" rIns="0" bIns="0" rtlCol="0" anchor="t"/>
          <a:lstStyle/>
          <a:p>
            <a:pPr marL="0" indent="0">
              <a:buNone/>
            </a:pPr>
            <a:r>
              <a:rPr lang="en-US" sz="1900" b="1" dirty="0">
                <a:solidFill>
                  <a:srgbClr val="3A57E0"/>
                </a:solidFill>
              </a:rPr>
              <a:t>Quelles tables ?</a:t>
            </a:r>
            <a:endParaRPr lang="en-US" sz="1900" dirty="0"/>
          </a:p>
        </p:txBody>
      </p:sp>
      <p:sp>
        <p:nvSpPr>
          <p:cNvPr id="26" name="Text 24"/>
          <p:cNvSpPr txBox="1"/>
          <p:nvPr/>
        </p:nvSpPr>
        <p:spPr>
          <a:xfrm>
            <a:off x="6236208" y="3749040"/>
            <a:ext cx="2514600" cy="1280160"/>
          </a:xfrm>
          <a:prstGeom prst="rect">
            <a:avLst/>
          </a:prstGeom>
          <a:noFill/>
          <a:ln/>
        </p:spPr>
        <p:txBody>
          <a:bodyPr wrap="square" lIns="0" tIns="0" rIns="0" bIns="0" rtlCol="0" anchor="t"/>
          <a:lstStyle/>
          <a:p>
            <a:pPr marL="0" indent="0">
              <a:buNone/>
            </a:pPr>
            <a:r>
              <a:rPr lang="en-US" sz="1450" dirty="0">
                <a:solidFill>
                  <a:srgbClr val="1F2937"/>
                </a:solidFill>
              </a:rPr>
              <a:t>17 relations, avec clés primaires et clés étrangères</a:t>
            </a:r>
            <a:endParaRPr lang="en-US" sz="1450" dirty="0"/>
          </a:p>
        </p:txBody>
      </p:sp>
      <p:sp>
        <p:nvSpPr>
          <p:cNvPr id="27" name="Shape 25"/>
          <p:cNvSpPr/>
          <p:nvPr/>
        </p:nvSpPr>
        <p:spPr>
          <a:xfrm>
            <a:off x="8778240" y="2537460"/>
            <a:ext cx="228600" cy="0"/>
          </a:xfrm>
          <a:prstGeom prst="line">
            <a:avLst/>
          </a:prstGeom>
          <a:noFill/>
          <a:ln w="15875">
            <a:solidFill>
              <a:srgbClr val="5F6B7A"/>
            </a:solidFill>
            <a:prstDash val="solid"/>
            <a:tailEnd type="triangle"/>
          </a:ln>
        </p:spPr>
      </p:sp>
      <p:sp>
        <p:nvSpPr>
          <p:cNvPr id="28" name="Shape 26"/>
          <p:cNvSpPr/>
          <p:nvPr/>
        </p:nvSpPr>
        <p:spPr>
          <a:xfrm>
            <a:off x="9034272" y="2011680"/>
            <a:ext cx="2514600" cy="1051560"/>
          </a:xfrm>
          <a:prstGeom prst="rect">
            <a:avLst/>
          </a:prstGeom>
          <a:solidFill>
            <a:srgbClr val="1A2540"/>
          </a:solidFill>
          <a:ln/>
        </p:spPr>
      </p:sp>
      <p:sp>
        <p:nvSpPr>
          <p:cNvPr id="29" name="Text 27"/>
          <p:cNvSpPr txBox="1"/>
          <p:nvPr/>
        </p:nvSpPr>
        <p:spPr>
          <a:xfrm>
            <a:off x="9217152" y="2057400"/>
            <a:ext cx="2148840" cy="548640"/>
          </a:xfrm>
          <a:prstGeom prst="rect">
            <a:avLst/>
          </a:prstGeom>
          <a:noFill/>
          <a:ln/>
        </p:spPr>
        <p:txBody>
          <a:bodyPr wrap="square" lIns="0" tIns="0" rIns="0" bIns="0" rtlCol="0" anchor="ctr"/>
          <a:lstStyle/>
          <a:p>
            <a:pPr marL="0" indent="0">
              <a:buNone/>
            </a:pPr>
            <a:r>
              <a:rPr lang="en-US" sz="2800" b="1" dirty="0">
                <a:solidFill>
                  <a:srgbClr val="FFFFFF"/>
                </a:solidFill>
              </a:rPr>
              <a:t>MOT</a:t>
            </a:r>
            <a:endParaRPr lang="en-US" sz="2800" dirty="0"/>
          </a:p>
        </p:txBody>
      </p:sp>
      <p:sp>
        <p:nvSpPr>
          <p:cNvPr id="30" name="Text 28"/>
          <p:cNvSpPr txBox="1"/>
          <p:nvPr/>
        </p:nvSpPr>
        <p:spPr>
          <a:xfrm>
            <a:off x="9217152" y="2578608"/>
            <a:ext cx="2148840" cy="457200"/>
          </a:xfrm>
          <a:prstGeom prst="rect">
            <a:avLst/>
          </a:prstGeom>
          <a:noFill/>
          <a:ln/>
        </p:spPr>
        <p:txBody>
          <a:bodyPr wrap="square" lIns="0" tIns="0" rIns="0" bIns="0" rtlCol="0" anchor="t"/>
          <a:lstStyle/>
          <a:p>
            <a:pPr marL="0" indent="0">
              <a:buNone/>
            </a:pPr>
            <a:r>
              <a:rPr lang="en-US" sz="1150" dirty="0">
                <a:solidFill>
                  <a:srgbClr val="AEB8CC"/>
                </a:solidFill>
              </a:rPr>
              <a:t>Modèle Organisationnel des Traitements</a:t>
            </a:r>
            <a:endParaRPr lang="en-US" sz="1150" dirty="0"/>
          </a:p>
        </p:txBody>
      </p:sp>
      <p:sp>
        <p:nvSpPr>
          <p:cNvPr id="31" name="Text 29"/>
          <p:cNvSpPr txBox="1"/>
          <p:nvPr/>
        </p:nvSpPr>
        <p:spPr>
          <a:xfrm>
            <a:off x="9034272" y="3291840"/>
            <a:ext cx="2514600" cy="411480"/>
          </a:xfrm>
          <a:prstGeom prst="rect">
            <a:avLst/>
          </a:prstGeom>
          <a:noFill/>
          <a:ln/>
        </p:spPr>
        <p:txBody>
          <a:bodyPr wrap="square" lIns="0" tIns="0" rIns="0" bIns="0" rtlCol="0" anchor="t"/>
          <a:lstStyle/>
          <a:p>
            <a:pPr marL="0" indent="0">
              <a:buNone/>
            </a:pPr>
            <a:r>
              <a:rPr lang="en-US" sz="1900" b="1" dirty="0">
                <a:solidFill>
                  <a:srgbClr val="3A57E0"/>
                </a:solidFill>
              </a:rPr>
              <a:t>Qui, où, quand ?</a:t>
            </a:r>
            <a:endParaRPr lang="en-US" sz="1900" dirty="0"/>
          </a:p>
        </p:txBody>
      </p:sp>
      <p:sp>
        <p:nvSpPr>
          <p:cNvPr id="32" name="Text 30"/>
          <p:cNvSpPr txBox="1"/>
          <p:nvPr/>
        </p:nvSpPr>
        <p:spPr>
          <a:xfrm>
            <a:off x="9034272" y="3749040"/>
            <a:ext cx="2514600" cy="1280160"/>
          </a:xfrm>
          <a:prstGeom prst="rect">
            <a:avLst/>
          </a:prstGeom>
          <a:noFill/>
          <a:ln/>
        </p:spPr>
        <p:txBody>
          <a:bodyPr wrap="square" lIns="0" tIns="0" rIns="0" bIns="0" rtlCol="0" anchor="t"/>
          <a:lstStyle/>
          <a:p>
            <a:pPr marL="0" indent="0">
              <a:buNone/>
            </a:pPr>
            <a:r>
              <a:rPr lang="en-US" sz="1450" dirty="0">
                <a:solidFill>
                  <a:srgbClr val="1F2937"/>
                </a:solidFill>
              </a:rPr>
              <a:t>Ex. : « besoin de passer une commande », traité par le système, de façon semi‑automatique</a:t>
            </a:r>
            <a:endParaRPr lang="en-US" sz="1450" dirty="0"/>
          </a:p>
        </p:txBody>
      </p:sp>
      <p:sp>
        <p:nvSpPr>
          <p:cNvPr id="33" name="Shape 31"/>
          <p:cNvSpPr/>
          <p:nvPr/>
        </p:nvSpPr>
        <p:spPr>
          <a:xfrm>
            <a:off x="640080" y="5257800"/>
            <a:ext cx="10908792" cy="0"/>
          </a:xfrm>
          <a:prstGeom prst="line">
            <a:avLst/>
          </a:prstGeom>
          <a:noFill/>
          <a:ln w="9525">
            <a:solidFill>
              <a:srgbClr val="CBD2DC"/>
            </a:solidFill>
            <a:prstDash val="solid"/>
          </a:ln>
        </p:spPr>
      </p:sp>
      <p:sp>
        <p:nvSpPr>
          <p:cNvPr id="34" name="Text 32"/>
          <p:cNvSpPr txBox="1"/>
          <p:nvPr/>
        </p:nvSpPr>
        <p:spPr>
          <a:xfrm>
            <a:off x="640080" y="5394960"/>
            <a:ext cx="10881360" cy="411480"/>
          </a:xfrm>
          <a:prstGeom prst="rect">
            <a:avLst/>
          </a:prstGeom>
          <a:noFill/>
          <a:ln/>
        </p:spPr>
        <p:txBody>
          <a:bodyPr wrap="square" lIns="0" tIns="0" rIns="0" bIns="0" rtlCol="0" anchor="t"/>
          <a:lstStyle/>
          <a:p>
            <a:pPr marL="0" indent="0">
              <a:buNone/>
            </a:pPr>
            <a:r>
              <a:rPr lang="en-US" sz="1600" dirty="0">
                <a:solidFill>
                  <a:srgbClr val="1A2540"/>
                </a:solidFill>
              </a:rPr>
              <a:t>Acteurs externes : administrateur, client au comptant, entreprises vendeuse et acheteuse.</a:t>
            </a:r>
            <a:endParaRPr lang="en-US" sz="1600" dirty="0"/>
          </a:p>
        </p:txBody>
      </p:sp>
      <p:sp>
        <p:nvSpPr>
          <p:cNvPr id="35" name="Slide Number Placeholder 0"/>
          <p:cNvSpPr>
            <a:spLocks noGrp="1"/>
          </p:cNvSpPr>
          <p:nvPr>
            <p:ph type="sldNum" sz="quarter" idx="4294967295"/>
          </p:nvPr>
        </p:nvSpPr>
        <p:spPr>
          <a:xfrm>
            <a:off x="1100023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defRPr>
            </a:lvl1pPr>
          </a:lstStyle>
          <a:p>
            <a:pPr algn="r"/>
            <a:fld id="{F7021451-1387-4CA6-816F-3879F97B5CBC}" type="slidenum">
              <a:rPr lang="en-US" b="0"/>
              <a:t>11</a:t>
            </a:fld>
            <a:endParaRPr lang="en-US"/>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411480"/>
            <a:ext cx="10908792" cy="274320"/>
          </a:xfrm>
          <a:prstGeom prst="rect">
            <a:avLst/>
          </a:prstGeom>
          <a:noFill/>
          <a:ln/>
        </p:spPr>
        <p:txBody>
          <a:bodyPr wrap="square" lIns="0" tIns="0" rIns="0" bIns="0" rtlCol="0" anchor="t"/>
          <a:lstStyle/>
          <a:p>
            <a:pPr marL="0" indent="0" algn="l">
              <a:buNone/>
            </a:pPr>
            <a:r>
              <a:rPr lang="en-US" sz="1200" b="1" dirty="0">
                <a:solidFill>
                  <a:srgbClr val="3A57E0"/>
                </a:solidFill>
              </a:rPr>
              <a:t>4 · Conception</a:t>
            </a:r>
            <a:endParaRPr lang="en-US" sz="1200" dirty="0"/>
          </a:p>
        </p:txBody>
      </p:sp>
      <p:sp>
        <p:nvSpPr>
          <p:cNvPr id="3" name="Text 1"/>
          <p:cNvSpPr>
            <a:spLocks noGrp="1"/>
          </p:cNvSpPr>
          <p:nvPr>
            <p:ph type="title" idx="102" hasCustomPrompt="1"/>
          </p:nvPr>
        </p:nvSpPr>
        <p:spPr>
          <a:xfrm>
            <a:off x="640080" y="713232"/>
            <a:ext cx="10908792" cy="640080"/>
          </a:xfrm>
          <a:prstGeom prst="rect">
            <a:avLst/>
          </a:prstGeom>
          <a:noFill/>
          <a:ln/>
        </p:spPr>
        <p:txBody>
          <a:bodyPr wrap="square" lIns="0" tIns="0" rIns="0" bIns="0" rtlCol="0" anchor="t"/>
          <a:lstStyle/>
          <a:p>
            <a:pPr marL="0" indent="0" algn="l">
              <a:buNone/>
            </a:pPr>
            <a:r>
              <a:rPr lang="en-US" sz="3000" b="1" dirty="0">
                <a:solidFill>
                  <a:srgbClr val="1A2540"/>
                </a:solidFill>
              </a:rPr>
              <a:t>Extrait du MCD : la commande B2B</a:t>
            </a:r>
            <a:endParaRPr lang="en-US" sz="3000" dirty="0"/>
          </a:p>
        </p:txBody>
      </p:sp>
      <p:sp>
        <p:nvSpPr>
          <p:cNvPr id="4" name="Shape 2"/>
          <p:cNvSpPr/>
          <p:nvPr/>
        </p:nvSpPr>
        <p:spPr>
          <a:xfrm>
            <a:off x="2148840" y="2011680"/>
            <a:ext cx="0" cy="3712464"/>
          </a:xfrm>
          <a:prstGeom prst="line">
            <a:avLst/>
          </a:prstGeom>
          <a:noFill/>
          <a:ln w="15875">
            <a:solidFill>
              <a:srgbClr val="5F6B7A"/>
            </a:solidFill>
            <a:prstDash val="solid"/>
          </a:ln>
        </p:spPr>
      </p:sp>
      <p:sp>
        <p:nvSpPr>
          <p:cNvPr id="5" name="Shape 3"/>
          <p:cNvSpPr/>
          <p:nvPr/>
        </p:nvSpPr>
        <p:spPr>
          <a:xfrm>
            <a:off x="914400" y="1554480"/>
            <a:ext cx="2468880" cy="457200"/>
          </a:xfrm>
          <a:prstGeom prst="rect">
            <a:avLst/>
          </a:prstGeom>
          <a:solidFill>
            <a:srgbClr val="FFFFFF"/>
          </a:solidFill>
          <a:ln w="15875">
            <a:solidFill>
              <a:srgbClr val="1A2540"/>
            </a:solidFill>
            <a:prstDash val="solid"/>
          </a:ln>
        </p:spPr>
      </p:sp>
      <p:sp>
        <p:nvSpPr>
          <p:cNvPr id="6" name="Text 4"/>
          <p:cNvSpPr txBox="1"/>
          <p:nvPr/>
        </p:nvSpPr>
        <p:spPr>
          <a:xfrm>
            <a:off x="987552" y="1554480"/>
            <a:ext cx="2322576" cy="457200"/>
          </a:xfrm>
          <a:prstGeom prst="rect">
            <a:avLst/>
          </a:prstGeom>
          <a:noFill/>
          <a:ln/>
        </p:spPr>
        <p:txBody>
          <a:bodyPr wrap="square" lIns="0" tIns="0" rIns="0" bIns="0" rtlCol="0" anchor="ctr"/>
          <a:lstStyle/>
          <a:p>
            <a:pPr marL="0" indent="0" algn="ctr">
              <a:buNone/>
            </a:pPr>
            <a:r>
              <a:rPr lang="en-US" sz="1400" b="1" dirty="0">
                <a:solidFill>
                  <a:srgbClr val="1A2540"/>
                </a:solidFill>
              </a:rPr>
              <a:t>Entreprise (acheteuse)</a:t>
            </a:r>
            <a:endParaRPr lang="en-US" sz="1400" dirty="0"/>
          </a:p>
        </p:txBody>
      </p:sp>
      <p:sp>
        <p:nvSpPr>
          <p:cNvPr id="7" name="Shape 5"/>
          <p:cNvSpPr/>
          <p:nvPr/>
        </p:nvSpPr>
        <p:spPr>
          <a:xfrm>
            <a:off x="1463040" y="2286000"/>
            <a:ext cx="1371600" cy="384048"/>
          </a:xfrm>
          <a:prstGeom prst="ellipse">
            <a:avLst/>
          </a:prstGeom>
          <a:solidFill>
            <a:srgbClr val="F2F4F8"/>
          </a:solidFill>
          <a:ln w="12700">
            <a:solidFill>
              <a:srgbClr val="5F6B7A"/>
            </a:solidFill>
            <a:prstDash val="solid"/>
          </a:ln>
        </p:spPr>
      </p:sp>
      <p:sp>
        <p:nvSpPr>
          <p:cNvPr id="8" name="Text 6"/>
          <p:cNvSpPr txBox="1"/>
          <p:nvPr/>
        </p:nvSpPr>
        <p:spPr>
          <a:xfrm>
            <a:off x="1508760" y="2286000"/>
            <a:ext cx="1280160" cy="384048"/>
          </a:xfrm>
          <a:prstGeom prst="rect">
            <a:avLst/>
          </a:prstGeom>
          <a:noFill/>
          <a:ln/>
        </p:spPr>
        <p:txBody>
          <a:bodyPr wrap="square" lIns="0" tIns="0" rIns="0" bIns="0" rtlCol="0" anchor="ctr"/>
          <a:lstStyle/>
          <a:p>
            <a:pPr marL="0" indent="0" algn="ctr">
              <a:buNone/>
            </a:pPr>
            <a:r>
              <a:rPr lang="en-US" sz="1250" i="1" dirty="0">
                <a:solidFill>
                  <a:srgbClr val="1F2937"/>
                </a:solidFill>
              </a:rPr>
              <a:t>Passer</a:t>
            </a:r>
            <a:endParaRPr lang="en-US" sz="1250" dirty="0"/>
          </a:p>
        </p:txBody>
      </p:sp>
      <p:sp>
        <p:nvSpPr>
          <p:cNvPr id="9" name="Text 7"/>
          <p:cNvSpPr txBox="1"/>
          <p:nvPr/>
        </p:nvSpPr>
        <p:spPr>
          <a:xfrm>
            <a:off x="1618488" y="2029968"/>
            <a:ext cx="457200" cy="237744"/>
          </a:xfrm>
          <a:prstGeom prst="rect">
            <a:avLst/>
          </a:prstGeom>
          <a:noFill/>
          <a:ln/>
        </p:spPr>
        <p:txBody>
          <a:bodyPr wrap="square" lIns="0" tIns="0" rIns="0" bIns="0" rtlCol="0" anchor="ctr"/>
          <a:lstStyle/>
          <a:p>
            <a:pPr marL="0" indent="0" algn="r">
              <a:buNone/>
            </a:pPr>
            <a:r>
              <a:rPr lang="en-US" sz="1250" b="1" dirty="0">
                <a:solidFill>
                  <a:srgbClr val="3A57E0"/>
                </a:solidFill>
              </a:rPr>
              <a:t>0,n</a:t>
            </a:r>
            <a:endParaRPr lang="en-US" sz="1250" dirty="0"/>
          </a:p>
        </p:txBody>
      </p:sp>
      <p:sp>
        <p:nvSpPr>
          <p:cNvPr id="10" name="Text 8"/>
          <p:cNvSpPr txBox="1"/>
          <p:nvPr/>
        </p:nvSpPr>
        <p:spPr>
          <a:xfrm>
            <a:off x="1618488" y="2688336"/>
            <a:ext cx="457200" cy="237744"/>
          </a:xfrm>
          <a:prstGeom prst="rect">
            <a:avLst/>
          </a:prstGeom>
          <a:noFill/>
          <a:ln/>
        </p:spPr>
        <p:txBody>
          <a:bodyPr wrap="square" lIns="0" tIns="0" rIns="0" bIns="0" rtlCol="0" anchor="ctr"/>
          <a:lstStyle/>
          <a:p>
            <a:pPr marL="0" indent="0" algn="r">
              <a:buNone/>
            </a:pPr>
            <a:r>
              <a:rPr lang="en-US" sz="1250" b="1" dirty="0">
                <a:solidFill>
                  <a:srgbClr val="3A57E0"/>
                </a:solidFill>
              </a:rPr>
              <a:t>1,1</a:t>
            </a:r>
            <a:endParaRPr lang="en-US" sz="1250" dirty="0"/>
          </a:p>
        </p:txBody>
      </p:sp>
      <p:sp>
        <p:nvSpPr>
          <p:cNvPr id="11" name="Shape 9"/>
          <p:cNvSpPr/>
          <p:nvPr/>
        </p:nvSpPr>
        <p:spPr>
          <a:xfrm>
            <a:off x="914400" y="2944368"/>
            <a:ext cx="2468880" cy="457200"/>
          </a:xfrm>
          <a:prstGeom prst="rect">
            <a:avLst/>
          </a:prstGeom>
          <a:solidFill>
            <a:srgbClr val="1A2540"/>
          </a:solidFill>
          <a:ln w="15875">
            <a:solidFill>
              <a:srgbClr val="1A2540"/>
            </a:solidFill>
            <a:prstDash val="solid"/>
          </a:ln>
        </p:spPr>
      </p:sp>
      <p:sp>
        <p:nvSpPr>
          <p:cNvPr id="12" name="Text 10"/>
          <p:cNvSpPr txBox="1"/>
          <p:nvPr/>
        </p:nvSpPr>
        <p:spPr>
          <a:xfrm>
            <a:off x="987552" y="2944368"/>
            <a:ext cx="2322576" cy="457200"/>
          </a:xfrm>
          <a:prstGeom prst="rect">
            <a:avLst/>
          </a:prstGeom>
          <a:noFill/>
          <a:ln/>
        </p:spPr>
        <p:txBody>
          <a:bodyPr wrap="square" lIns="0" tIns="0" rIns="0" bIns="0" rtlCol="0" anchor="ctr"/>
          <a:lstStyle/>
          <a:p>
            <a:pPr marL="0" indent="0" algn="ctr">
              <a:buNone/>
            </a:pPr>
            <a:r>
              <a:rPr lang="en-US" sz="1400" b="1" dirty="0">
                <a:solidFill>
                  <a:srgbClr val="FFFFFF"/>
                </a:solidFill>
              </a:rPr>
              <a:t>Commande_B2B</a:t>
            </a:r>
            <a:endParaRPr lang="en-US" sz="1400" dirty="0"/>
          </a:p>
        </p:txBody>
      </p:sp>
      <p:sp>
        <p:nvSpPr>
          <p:cNvPr id="13" name="Shape 11"/>
          <p:cNvSpPr/>
          <p:nvPr/>
        </p:nvSpPr>
        <p:spPr>
          <a:xfrm>
            <a:off x="1463040" y="3675888"/>
            <a:ext cx="1371600" cy="384048"/>
          </a:xfrm>
          <a:prstGeom prst="ellipse">
            <a:avLst/>
          </a:prstGeom>
          <a:solidFill>
            <a:srgbClr val="F2F4F8"/>
          </a:solidFill>
          <a:ln w="12700">
            <a:solidFill>
              <a:srgbClr val="5F6B7A"/>
            </a:solidFill>
            <a:prstDash val="solid"/>
          </a:ln>
        </p:spPr>
      </p:sp>
      <p:sp>
        <p:nvSpPr>
          <p:cNvPr id="14" name="Text 12"/>
          <p:cNvSpPr txBox="1"/>
          <p:nvPr/>
        </p:nvSpPr>
        <p:spPr>
          <a:xfrm>
            <a:off x="1508760" y="3675888"/>
            <a:ext cx="1280160" cy="384048"/>
          </a:xfrm>
          <a:prstGeom prst="rect">
            <a:avLst/>
          </a:prstGeom>
          <a:noFill/>
          <a:ln/>
        </p:spPr>
        <p:txBody>
          <a:bodyPr wrap="square" lIns="0" tIns="0" rIns="0" bIns="0" rtlCol="0" anchor="ctr"/>
          <a:lstStyle/>
          <a:p>
            <a:pPr marL="0" indent="0" algn="ctr">
              <a:buNone/>
            </a:pPr>
            <a:r>
              <a:rPr lang="en-US" sz="1250" i="1" dirty="0">
                <a:solidFill>
                  <a:srgbClr val="1F2937"/>
                </a:solidFill>
              </a:rPr>
              <a:t>Composer</a:t>
            </a:r>
            <a:endParaRPr lang="en-US" sz="1250" dirty="0"/>
          </a:p>
        </p:txBody>
      </p:sp>
      <p:sp>
        <p:nvSpPr>
          <p:cNvPr id="15" name="Text 13"/>
          <p:cNvSpPr txBox="1"/>
          <p:nvPr/>
        </p:nvSpPr>
        <p:spPr>
          <a:xfrm>
            <a:off x="1618488" y="3419856"/>
            <a:ext cx="457200" cy="237744"/>
          </a:xfrm>
          <a:prstGeom prst="rect">
            <a:avLst/>
          </a:prstGeom>
          <a:noFill/>
          <a:ln/>
        </p:spPr>
        <p:txBody>
          <a:bodyPr wrap="square" lIns="0" tIns="0" rIns="0" bIns="0" rtlCol="0" anchor="ctr"/>
          <a:lstStyle/>
          <a:p>
            <a:pPr marL="0" indent="0" algn="r">
              <a:buNone/>
            </a:pPr>
            <a:r>
              <a:rPr lang="en-US" sz="1250" b="1" dirty="0">
                <a:solidFill>
                  <a:srgbClr val="3A57E0"/>
                </a:solidFill>
              </a:rPr>
              <a:t>0,n</a:t>
            </a:r>
            <a:endParaRPr lang="en-US" sz="1250" dirty="0"/>
          </a:p>
        </p:txBody>
      </p:sp>
      <p:sp>
        <p:nvSpPr>
          <p:cNvPr id="16" name="Text 14"/>
          <p:cNvSpPr txBox="1"/>
          <p:nvPr/>
        </p:nvSpPr>
        <p:spPr>
          <a:xfrm>
            <a:off x="1618488" y="4078224"/>
            <a:ext cx="457200" cy="237744"/>
          </a:xfrm>
          <a:prstGeom prst="rect">
            <a:avLst/>
          </a:prstGeom>
          <a:noFill/>
          <a:ln/>
        </p:spPr>
        <p:txBody>
          <a:bodyPr wrap="square" lIns="0" tIns="0" rIns="0" bIns="0" rtlCol="0" anchor="ctr"/>
          <a:lstStyle/>
          <a:p>
            <a:pPr marL="0" indent="0" algn="r">
              <a:buNone/>
            </a:pPr>
            <a:r>
              <a:rPr lang="en-US" sz="1250" b="1" dirty="0">
                <a:solidFill>
                  <a:srgbClr val="3A57E0"/>
                </a:solidFill>
              </a:rPr>
              <a:t>1,1</a:t>
            </a:r>
            <a:endParaRPr lang="en-US" sz="1250" dirty="0"/>
          </a:p>
        </p:txBody>
      </p:sp>
      <p:sp>
        <p:nvSpPr>
          <p:cNvPr id="17" name="Shape 15"/>
          <p:cNvSpPr/>
          <p:nvPr/>
        </p:nvSpPr>
        <p:spPr>
          <a:xfrm>
            <a:off x="914400" y="4334256"/>
            <a:ext cx="2468880" cy="457200"/>
          </a:xfrm>
          <a:prstGeom prst="rect">
            <a:avLst/>
          </a:prstGeom>
          <a:solidFill>
            <a:srgbClr val="FFFFFF"/>
          </a:solidFill>
          <a:ln w="15875">
            <a:solidFill>
              <a:srgbClr val="1A2540"/>
            </a:solidFill>
            <a:prstDash val="solid"/>
          </a:ln>
        </p:spPr>
      </p:sp>
      <p:sp>
        <p:nvSpPr>
          <p:cNvPr id="18" name="Text 16"/>
          <p:cNvSpPr txBox="1"/>
          <p:nvPr/>
        </p:nvSpPr>
        <p:spPr>
          <a:xfrm>
            <a:off x="987552" y="4334256"/>
            <a:ext cx="2322576" cy="457200"/>
          </a:xfrm>
          <a:prstGeom prst="rect">
            <a:avLst/>
          </a:prstGeom>
          <a:noFill/>
          <a:ln/>
        </p:spPr>
        <p:txBody>
          <a:bodyPr wrap="square" lIns="0" tIns="0" rIns="0" bIns="0" rtlCol="0" anchor="ctr"/>
          <a:lstStyle/>
          <a:p>
            <a:pPr marL="0" indent="0" algn="ctr">
              <a:buNone/>
            </a:pPr>
            <a:r>
              <a:rPr lang="en-US" sz="1400" b="1" dirty="0">
                <a:solidFill>
                  <a:srgbClr val="1A2540"/>
                </a:solidFill>
              </a:rPr>
              <a:t>Ligne_Commande_B2B</a:t>
            </a:r>
            <a:endParaRPr lang="en-US" sz="1400" dirty="0"/>
          </a:p>
        </p:txBody>
      </p:sp>
      <p:sp>
        <p:nvSpPr>
          <p:cNvPr id="19" name="Shape 17"/>
          <p:cNvSpPr/>
          <p:nvPr/>
        </p:nvSpPr>
        <p:spPr>
          <a:xfrm>
            <a:off x="1463040" y="5065776"/>
            <a:ext cx="1371600" cy="384048"/>
          </a:xfrm>
          <a:prstGeom prst="ellipse">
            <a:avLst/>
          </a:prstGeom>
          <a:solidFill>
            <a:srgbClr val="F2F4F8"/>
          </a:solidFill>
          <a:ln w="12700">
            <a:solidFill>
              <a:srgbClr val="5F6B7A"/>
            </a:solidFill>
            <a:prstDash val="solid"/>
          </a:ln>
        </p:spPr>
      </p:sp>
      <p:sp>
        <p:nvSpPr>
          <p:cNvPr id="20" name="Text 18"/>
          <p:cNvSpPr txBox="1"/>
          <p:nvPr/>
        </p:nvSpPr>
        <p:spPr>
          <a:xfrm>
            <a:off x="1508760" y="5065776"/>
            <a:ext cx="1280160" cy="384048"/>
          </a:xfrm>
          <a:prstGeom prst="rect">
            <a:avLst/>
          </a:prstGeom>
          <a:noFill/>
          <a:ln/>
        </p:spPr>
        <p:txBody>
          <a:bodyPr wrap="square" lIns="0" tIns="0" rIns="0" bIns="0" rtlCol="0" anchor="ctr"/>
          <a:lstStyle/>
          <a:p>
            <a:pPr marL="0" indent="0" algn="ctr">
              <a:buNone/>
            </a:pPr>
            <a:r>
              <a:rPr lang="en-US" sz="1250" i="1" dirty="0">
                <a:solidFill>
                  <a:srgbClr val="1F2937"/>
                </a:solidFill>
              </a:rPr>
              <a:t>Concerner</a:t>
            </a:r>
            <a:endParaRPr lang="en-US" sz="1250" dirty="0"/>
          </a:p>
        </p:txBody>
      </p:sp>
      <p:sp>
        <p:nvSpPr>
          <p:cNvPr id="21" name="Text 19"/>
          <p:cNvSpPr txBox="1"/>
          <p:nvPr/>
        </p:nvSpPr>
        <p:spPr>
          <a:xfrm>
            <a:off x="1618488" y="4809744"/>
            <a:ext cx="457200" cy="237744"/>
          </a:xfrm>
          <a:prstGeom prst="rect">
            <a:avLst/>
          </a:prstGeom>
          <a:noFill/>
          <a:ln/>
        </p:spPr>
        <p:txBody>
          <a:bodyPr wrap="square" lIns="0" tIns="0" rIns="0" bIns="0" rtlCol="0" anchor="ctr"/>
          <a:lstStyle/>
          <a:p>
            <a:pPr marL="0" indent="0" algn="r">
              <a:buNone/>
            </a:pPr>
            <a:r>
              <a:rPr lang="en-US" sz="1250" b="1" dirty="0">
                <a:solidFill>
                  <a:srgbClr val="3A57E0"/>
                </a:solidFill>
              </a:rPr>
              <a:t>1,1</a:t>
            </a:r>
            <a:endParaRPr lang="en-US" sz="1250" dirty="0"/>
          </a:p>
        </p:txBody>
      </p:sp>
      <p:sp>
        <p:nvSpPr>
          <p:cNvPr id="22" name="Text 20"/>
          <p:cNvSpPr txBox="1"/>
          <p:nvPr/>
        </p:nvSpPr>
        <p:spPr>
          <a:xfrm>
            <a:off x="1618488" y="5468112"/>
            <a:ext cx="457200" cy="237744"/>
          </a:xfrm>
          <a:prstGeom prst="rect">
            <a:avLst/>
          </a:prstGeom>
          <a:noFill/>
          <a:ln/>
        </p:spPr>
        <p:txBody>
          <a:bodyPr wrap="square" lIns="0" tIns="0" rIns="0" bIns="0" rtlCol="0" anchor="ctr"/>
          <a:lstStyle/>
          <a:p>
            <a:pPr marL="0" indent="0" algn="r">
              <a:buNone/>
            </a:pPr>
            <a:r>
              <a:rPr lang="en-US" sz="1250" b="1" dirty="0">
                <a:solidFill>
                  <a:srgbClr val="3A57E0"/>
                </a:solidFill>
              </a:rPr>
              <a:t>0,n</a:t>
            </a:r>
            <a:endParaRPr lang="en-US" sz="1250" dirty="0"/>
          </a:p>
        </p:txBody>
      </p:sp>
      <p:sp>
        <p:nvSpPr>
          <p:cNvPr id="23" name="Shape 21"/>
          <p:cNvSpPr/>
          <p:nvPr/>
        </p:nvSpPr>
        <p:spPr>
          <a:xfrm>
            <a:off x="914400" y="5724144"/>
            <a:ext cx="2468880" cy="457200"/>
          </a:xfrm>
          <a:prstGeom prst="rect">
            <a:avLst/>
          </a:prstGeom>
          <a:solidFill>
            <a:srgbClr val="FFFFFF"/>
          </a:solidFill>
          <a:ln w="15875">
            <a:solidFill>
              <a:srgbClr val="1A2540"/>
            </a:solidFill>
            <a:prstDash val="solid"/>
          </a:ln>
        </p:spPr>
      </p:sp>
      <p:sp>
        <p:nvSpPr>
          <p:cNvPr id="24" name="Text 22"/>
          <p:cNvSpPr txBox="1"/>
          <p:nvPr/>
        </p:nvSpPr>
        <p:spPr>
          <a:xfrm>
            <a:off x="987552" y="5724144"/>
            <a:ext cx="2322576" cy="457200"/>
          </a:xfrm>
          <a:prstGeom prst="rect">
            <a:avLst/>
          </a:prstGeom>
          <a:noFill/>
          <a:ln/>
        </p:spPr>
        <p:txBody>
          <a:bodyPr wrap="square" lIns="0" tIns="0" rIns="0" bIns="0" rtlCol="0" anchor="ctr"/>
          <a:lstStyle/>
          <a:p>
            <a:pPr marL="0" indent="0" algn="ctr">
              <a:buNone/>
            </a:pPr>
            <a:r>
              <a:rPr lang="en-US" sz="1400" b="1" dirty="0">
                <a:solidFill>
                  <a:srgbClr val="1A2540"/>
                </a:solidFill>
              </a:rPr>
              <a:t>Produit</a:t>
            </a:r>
            <a:endParaRPr lang="en-US" sz="1400" dirty="0"/>
          </a:p>
        </p:txBody>
      </p:sp>
      <p:sp>
        <p:nvSpPr>
          <p:cNvPr id="25" name="Shape 23"/>
          <p:cNvSpPr/>
          <p:nvPr/>
        </p:nvSpPr>
        <p:spPr>
          <a:xfrm>
            <a:off x="3383280" y="3172968"/>
            <a:ext cx="502920" cy="0"/>
          </a:xfrm>
          <a:prstGeom prst="line">
            <a:avLst/>
          </a:prstGeom>
          <a:noFill/>
          <a:ln w="15875">
            <a:solidFill>
              <a:srgbClr val="5F6B7A"/>
            </a:solidFill>
            <a:prstDash val="solid"/>
          </a:ln>
        </p:spPr>
      </p:sp>
      <p:sp>
        <p:nvSpPr>
          <p:cNvPr id="26" name="Shape 24"/>
          <p:cNvSpPr/>
          <p:nvPr/>
        </p:nvSpPr>
        <p:spPr>
          <a:xfrm>
            <a:off x="3886200" y="1828800"/>
            <a:ext cx="0" cy="2286000"/>
          </a:xfrm>
          <a:prstGeom prst="line">
            <a:avLst/>
          </a:prstGeom>
          <a:noFill/>
          <a:ln w="15875">
            <a:solidFill>
              <a:srgbClr val="5F6B7A"/>
            </a:solidFill>
            <a:prstDash val="solid"/>
          </a:ln>
        </p:spPr>
      </p:sp>
      <p:sp>
        <p:nvSpPr>
          <p:cNvPr id="27" name="Shape 25"/>
          <p:cNvSpPr/>
          <p:nvPr/>
        </p:nvSpPr>
        <p:spPr>
          <a:xfrm>
            <a:off x="3886200" y="1828800"/>
            <a:ext cx="960120" cy="0"/>
          </a:xfrm>
          <a:prstGeom prst="line">
            <a:avLst/>
          </a:prstGeom>
          <a:noFill/>
          <a:ln w="15875">
            <a:solidFill>
              <a:srgbClr val="5F6B7A"/>
            </a:solidFill>
            <a:prstDash val="solid"/>
          </a:ln>
        </p:spPr>
      </p:sp>
      <p:sp>
        <p:nvSpPr>
          <p:cNvPr id="28" name="Shape 26"/>
          <p:cNvSpPr/>
          <p:nvPr/>
        </p:nvSpPr>
        <p:spPr>
          <a:xfrm>
            <a:off x="6400800" y="1828800"/>
            <a:ext cx="1463040" cy="0"/>
          </a:xfrm>
          <a:prstGeom prst="line">
            <a:avLst/>
          </a:prstGeom>
          <a:noFill/>
          <a:ln w="15875">
            <a:solidFill>
              <a:srgbClr val="5F6B7A"/>
            </a:solidFill>
            <a:prstDash val="solid"/>
          </a:ln>
        </p:spPr>
      </p:sp>
      <p:sp>
        <p:nvSpPr>
          <p:cNvPr id="29" name="Shape 27"/>
          <p:cNvSpPr/>
          <p:nvPr/>
        </p:nvSpPr>
        <p:spPr>
          <a:xfrm>
            <a:off x="4846320" y="1636776"/>
            <a:ext cx="1554480" cy="384048"/>
          </a:xfrm>
          <a:prstGeom prst="ellipse">
            <a:avLst/>
          </a:prstGeom>
          <a:solidFill>
            <a:srgbClr val="F2F4F8"/>
          </a:solidFill>
          <a:ln w="12700">
            <a:solidFill>
              <a:srgbClr val="5F6B7A"/>
            </a:solidFill>
            <a:prstDash val="solid"/>
          </a:ln>
        </p:spPr>
      </p:sp>
      <p:sp>
        <p:nvSpPr>
          <p:cNvPr id="30" name="Text 28"/>
          <p:cNvSpPr txBox="1"/>
          <p:nvPr/>
        </p:nvSpPr>
        <p:spPr>
          <a:xfrm>
            <a:off x="4892040" y="1636776"/>
            <a:ext cx="1463040" cy="384048"/>
          </a:xfrm>
          <a:prstGeom prst="rect">
            <a:avLst/>
          </a:prstGeom>
          <a:noFill/>
          <a:ln/>
        </p:spPr>
        <p:txBody>
          <a:bodyPr wrap="square" lIns="0" tIns="0" rIns="0" bIns="0" rtlCol="0" anchor="ctr"/>
          <a:lstStyle/>
          <a:p>
            <a:pPr marL="0" indent="0" algn="ctr">
              <a:buNone/>
            </a:pPr>
            <a:r>
              <a:rPr lang="en-US" sz="1250" i="1" dirty="0">
                <a:solidFill>
                  <a:srgbClr val="1F2937"/>
                </a:solidFill>
              </a:rPr>
              <a:t>Valider</a:t>
            </a:r>
            <a:endParaRPr lang="en-US" sz="1250" dirty="0"/>
          </a:p>
        </p:txBody>
      </p:sp>
      <p:sp>
        <p:nvSpPr>
          <p:cNvPr id="31" name="Shape 29"/>
          <p:cNvSpPr/>
          <p:nvPr/>
        </p:nvSpPr>
        <p:spPr>
          <a:xfrm>
            <a:off x="7863840" y="1600200"/>
            <a:ext cx="2514600" cy="457200"/>
          </a:xfrm>
          <a:prstGeom prst="rect">
            <a:avLst/>
          </a:prstGeom>
          <a:solidFill>
            <a:srgbClr val="FFFFFF"/>
          </a:solidFill>
          <a:ln w="15875">
            <a:solidFill>
              <a:srgbClr val="1A2540"/>
            </a:solidFill>
            <a:prstDash val="solid"/>
          </a:ln>
        </p:spPr>
      </p:sp>
      <p:sp>
        <p:nvSpPr>
          <p:cNvPr id="32" name="Text 30"/>
          <p:cNvSpPr txBox="1"/>
          <p:nvPr/>
        </p:nvSpPr>
        <p:spPr>
          <a:xfrm>
            <a:off x="7936992" y="1600200"/>
            <a:ext cx="2368296" cy="457200"/>
          </a:xfrm>
          <a:prstGeom prst="rect">
            <a:avLst/>
          </a:prstGeom>
          <a:noFill/>
          <a:ln/>
        </p:spPr>
        <p:txBody>
          <a:bodyPr wrap="square" lIns="0" tIns="0" rIns="0" bIns="0" rtlCol="0" anchor="ctr"/>
          <a:lstStyle/>
          <a:p>
            <a:pPr marL="0" indent="0" algn="ctr">
              <a:buNone/>
            </a:pPr>
            <a:r>
              <a:rPr lang="en-US" sz="1400" b="1" dirty="0">
                <a:solidFill>
                  <a:srgbClr val="1A2540"/>
                </a:solidFill>
              </a:rPr>
              <a:t>Entreprise (vendeuse)</a:t>
            </a:r>
            <a:endParaRPr lang="en-US" sz="1400" dirty="0"/>
          </a:p>
        </p:txBody>
      </p:sp>
      <p:sp>
        <p:nvSpPr>
          <p:cNvPr id="33" name="Text 31"/>
          <p:cNvSpPr txBox="1"/>
          <p:nvPr/>
        </p:nvSpPr>
        <p:spPr>
          <a:xfrm>
            <a:off x="3977640" y="1554480"/>
            <a:ext cx="457200" cy="237744"/>
          </a:xfrm>
          <a:prstGeom prst="rect">
            <a:avLst/>
          </a:prstGeom>
          <a:noFill/>
          <a:ln/>
        </p:spPr>
        <p:txBody>
          <a:bodyPr wrap="square" lIns="0" tIns="0" rIns="0" bIns="0" rtlCol="0" anchor="ctr"/>
          <a:lstStyle/>
          <a:p>
            <a:pPr marL="0" indent="0" algn="l">
              <a:buNone/>
            </a:pPr>
            <a:r>
              <a:rPr lang="en-US" sz="1250" b="1" dirty="0">
                <a:solidFill>
                  <a:srgbClr val="3A57E0"/>
                </a:solidFill>
              </a:rPr>
              <a:t>1,1</a:t>
            </a:r>
            <a:endParaRPr lang="en-US" sz="1250" dirty="0"/>
          </a:p>
        </p:txBody>
      </p:sp>
      <p:sp>
        <p:nvSpPr>
          <p:cNvPr id="34" name="Text 32"/>
          <p:cNvSpPr txBox="1"/>
          <p:nvPr/>
        </p:nvSpPr>
        <p:spPr>
          <a:xfrm>
            <a:off x="7351776" y="1554480"/>
            <a:ext cx="457200" cy="237744"/>
          </a:xfrm>
          <a:prstGeom prst="rect">
            <a:avLst/>
          </a:prstGeom>
          <a:noFill/>
          <a:ln/>
        </p:spPr>
        <p:txBody>
          <a:bodyPr wrap="square" lIns="0" tIns="0" rIns="0" bIns="0" rtlCol="0" anchor="ctr"/>
          <a:lstStyle/>
          <a:p>
            <a:pPr marL="0" indent="0" algn="r">
              <a:buNone/>
            </a:pPr>
            <a:r>
              <a:rPr lang="en-US" sz="1250" b="1" dirty="0">
                <a:solidFill>
                  <a:srgbClr val="3A57E0"/>
                </a:solidFill>
              </a:rPr>
              <a:t>0,n</a:t>
            </a:r>
            <a:endParaRPr lang="en-US" sz="1250" dirty="0"/>
          </a:p>
        </p:txBody>
      </p:sp>
      <p:sp>
        <p:nvSpPr>
          <p:cNvPr id="35" name="Shape 33"/>
          <p:cNvSpPr/>
          <p:nvPr/>
        </p:nvSpPr>
        <p:spPr>
          <a:xfrm>
            <a:off x="3886200" y="2971800"/>
            <a:ext cx="960120" cy="0"/>
          </a:xfrm>
          <a:prstGeom prst="line">
            <a:avLst/>
          </a:prstGeom>
          <a:noFill/>
          <a:ln w="15875">
            <a:solidFill>
              <a:srgbClr val="5F6B7A"/>
            </a:solidFill>
            <a:prstDash val="solid"/>
          </a:ln>
        </p:spPr>
      </p:sp>
      <p:sp>
        <p:nvSpPr>
          <p:cNvPr id="36" name="Shape 34"/>
          <p:cNvSpPr/>
          <p:nvPr/>
        </p:nvSpPr>
        <p:spPr>
          <a:xfrm>
            <a:off x="6400800" y="2971800"/>
            <a:ext cx="1463040" cy="0"/>
          </a:xfrm>
          <a:prstGeom prst="line">
            <a:avLst/>
          </a:prstGeom>
          <a:noFill/>
          <a:ln w="15875">
            <a:solidFill>
              <a:srgbClr val="5F6B7A"/>
            </a:solidFill>
            <a:prstDash val="solid"/>
          </a:ln>
        </p:spPr>
      </p:sp>
      <p:sp>
        <p:nvSpPr>
          <p:cNvPr id="37" name="Shape 35"/>
          <p:cNvSpPr/>
          <p:nvPr/>
        </p:nvSpPr>
        <p:spPr>
          <a:xfrm>
            <a:off x="4846320" y="2779776"/>
            <a:ext cx="1554480" cy="384048"/>
          </a:xfrm>
          <a:prstGeom prst="ellipse">
            <a:avLst/>
          </a:prstGeom>
          <a:solidFill>
            <a:srgbClr val="F2F4F8"/>
          </a:solidFill>
          <a:ln w="12700">
            <a:solidFill>
              <a:srgbClr val="5F6B7A"/>
            </a:solidFill>
            <a:prstDash val="solid"/>
          </a:ln>
        </p:spPr>
      </p:sp>
      <p:sp>
        <p:nvSpPr>
          <p:cNvPr id="38" name="Text 36"/>
          <p:cNvSpPr txBox="1"/>
          <p:nvPr/>
        </p:nvSpPr>
        <p:spPr>
          <a:xfrm>
            <a:off x="4892040" y="2779776"/>
            <a:ext cx="1463040" cy="384048"/>
          </a:xfrm>
          <a:prstGeom prst="rect">
            <a:avLst/>
          </a:prstGeom>
          <a:noFill/>
          <a:ln/>
        </p:spPr>
        <p:txBody>
          <a:bodyPr wrap="square" lIns="0" tIns="0" rIns="0" bIns="0" rtlCol="0" anchor="ctr"/>
          <a:lstStyle/>
          <a:p>
            <a:pPr marL="0" indent="0" algn="ctr">
              <a:buNone/>
            </a:pPr>
            <a:r>
              <a:rPr lang="en-US" sz="1250" i="1" dirty="0">
                <a:solidFill>
                  <a:srgbClr val="1F2937"/>
                </a:solidFill>
              </a:rPr>
              <a:t>Provenir</a:t>
            </a:r>
            <a:endParaRPr lang="en-US" sz="1250" dirty="0"/>
          </a:p>
        </p:txBody>
      </p:sp>
      <p:sp>
        <p:nvSpPr>
          <p:cNvPr id="39" name="Shape 37"/>
          <p:cNvSpPr/>
          <p:nvPr/>
        </p:nvSpPr>
        <p:spPr>
          <a:xfrm>
            <a:off x="7863840" y="2743200"/>
            <a:ext cx="2514600" cy="457200"/>
          </a:xfrm>
          <a:prstGeom prst="rect">
            <a:avLst/>
          </a:prstGeom>
          <a:solidFill>
            <a:srgbClr val="FFFFFF"/>
          </a:solidFill>
          <a:ln w="15875">
            <a:solidFill>
              <a:srgbClr val="1A2540"/>
            </a:solidFill>
            <a:prstDash val="solid"/>
          </a:ln>
        </p:spPr>
      </p:sp>
      <p:sp>
        <p:nvSpPr>
          <p:cNvPr id="40" name="Text 38"/>
          <p:cNvSpPr txBox="1"/>
          <p:nvPr/>
        </p:nvSpPr>
        <p:spPr>
          <a:xfrm>
            <a:off x="7936992" y="2743200"/>
            <a:ext cx="2368296" cy="457200"/>
          </a:xfrm>
          <a:prstGeom prst="rect">
            <a:avLst/>
          </a:prstGeom>
          <a:noFill/>
          <a:ln/>
        </p:spPr>
        <p:txBody>
          <a:bodyPr wrap="square" lIns="0" tIns="0" rIns="0" bIns="0" rtlCol="0" anchor="ctr"/>
          <a:lstStyle/>
          <a:p>
            <a:pPr marL="0" indent="0" algn="ctr">
              <a:buNone/>
            </a:pPr>
            <a:r>
              <a:rPr lang="en-US" sz="1400" b="1" dirty="0">
                <a:solidFill>
                  <a:srgbClr val="1A2540"/>
                </a:solidFill>
              </a:rPr>
              <a:t>Notification_B2B</a:t>
            </a:r>
            <a:endParaRPr lang="en-US" sz="1400" dirty="0"/>
          </a:p>
        </p:txBody>
      </p:sp>
      <p:sp>
        <p:nvSpPr>
          <p:cNvPr id="41" name="Text 39"/>
          <p:cNvSpPr txBox="1"/>
          <p:nvPr/>
        </p:nvSpPr>
        <p:spPr>
          <a:xfrm>
            <a:off x="3977640" y="2697480"/>
            <a:ext cx="457200" cy="237744"/>
          </a:xfrm>
          <a:prstGeom prst="rect">
            <a:avLst/>
          </a:prstGeom>
          <a:noFill/>
          <a:ln/>
        </p:spPr>
        <p:txBody>
          <a:bodyPr wrap="square" lIns="0" tIns="0" rIns="0" bIns="0" rtlCol="0" anchor="ctr"/>
          <a:lstStyle/>
          <a:p>
            <a:pPr marL="0" indent="0" algn="l">
              <a:buNone/>
            </a:pPr>
            <a:r>
              <a:rPr lang="en-US" sz="1250" b="1" dirty="0">
                <a:solidFill>
                  <a:srgbClr val="3A57E0"/>
                </a:solidFill>
              </a:rPr>
              <a:t>0,n</a:t>
            </a:r>
            <a:endParaRPr lang="en-US" sz="1250" dirty="0"/>
          </a:p>
        </p:txBody>
      </p:sp>
      <p:sp>
        <p:nvSpPr>
          <p:cNvPr id="42" name="Text 40"/>
          <p:cNvSpPr txBox="1"/>
          <p:nvPr/>
        </p:nvSpPr>
        <p:spPr>
          <a:xfrm>
            <a:off x="7351776" y="2697480"/>
            <a:ext cx="457200" cy="237744"/>
          </a:xfrm>
          <a:prstGeom prst="rect">
            <a:avLst/>
          </a:prstGeom>
          <a:noFill/>
          <a:ln/>
        </p:spPr>
        <p:txBody>
          <a:bodyPr wrap="square" lIns="0" tIns="0" rIns="0" bIns="0" rtlCol="0" anchor="ctr"/>
          <a:lstStyle/>
          <a:p>
            <a:pPr marL="0" indent="0" algn="r">
              <a:buNone/>
            </a:pPr>
            <a:r>
              <a:rPr lang="en-US" sz="1250" b="1" dirty="0">
                <a:solidFill>
                  <a:srgbClr val="3A57E0"/>
                </a:solidFill>
              </a:rPr>
              <a:t>0,1</a:t>
            </a:r>
            <a:endParaRPr lang="en-US" sz="1250" dirty="0"/>
          </a:p>
        </p:txBody>
      </p:sp>
      <p:sp>
        <p:nvSpPr>
          <p:cNvPr id="43" name="Shape 41"/>
          <p:cNvSpPr/>
          <p:nvPr/>
        </p:nvSpPr>
        <p:spPr>
          <a:xfrm>
            <a:off x="3886200" y="4114800"/>
            <a:ext cx="960120" cy="0"/>
          </a:xfrm>
          <a:prstGeom prst="line">
            <a:avLst/>
          </a:prstGeom>
          <a:noFill/>
          <a:ln w="15875">
            <a:solidFill>
              <a:srgbClr val="5F6B7A"/>
            </a:solidFill>
            <a:prstDash val="solid"/>
          </a:ln>
        </p:spPr>
      </p:sp>
      <p:sp>
        <p:nvSpPr>
          <p:cNvPr id="44" name="Shape 42"/>
          <p:cNvSpPr/>
          <p:nvPr/>
        </p:nvSpPr>
        <p:spPr>
          <a:xfrm>
            <a:off x="6400800" y="4114800"/>
            <a:ext cx="1463040" cy="0"/>
          </a:xfrm>
          <a:prstGeom prst="line">
            <a:avLst/>
          </a:prstGeom>
          <a:noFill/>
          <a:ln w="15875">
            <a:solidFill>
              <a:srgbClr val="5F6B7A"/>
            </a:solidFill>
            <a:prstDash val="solid"/>
          </a:ln>
        </p:spPr>
      </p:sp>
      <p:sp>
        <p:nvSpPr>
          <p:cNvPr id="45" name="Shape 43"/>
          <p:cNvSpPr/>
          <p:nvPr/>
        </p:nvSpPr>
        <p:spPr>
          <a:xfrm>
            <a:off x="4846320" y="3922776"/>
            <a:ext cx="1554480" cy="384048"/>
          </a:xfrm>
          <a:prstGeom prst="ellipse">
            <a:avLst/>
          </a:prstGeom>
          <a:solidFill>
            <a:srgbClr val="F2F4F8"/>
          </a:solidFill>
          <a:ln w="12700">
            <a:solidFill>
              <a:srgbClr val="5F6B7A"/>
            </a:solidFill>
            <a:prstDash val="solid"/>
          </a:ln>
        </p:spPr>
      </p:sp>
      <p:sp>
        <p:nvSpPr>
          <p:cNvPr id="46" name="Text 44"/>
          <p:cNvSpPr txBox="1"/>
          <p:nvPr/>
        </p:nvSpPr>
        <p:spPr>
          <a:xfrm>
            <a:off x="4892040" y="3922776"/>
            <a:ext cx="1463040" cy="384048"/>
          </a:xfrm>
          <a:prstGeom prst="rect">
            <a:avLst/>
          </a:prstGeom>
          <a:noFill/>
          <a:ln/>
        </p:spPr>
        <p:txBody>
          <a:bodyPr wrap="square" lIns="0" tIns="0" rIns="0" bIns="0" rtlCol="0" anchor="ctr"/>
          <a:lstStyle/>
          <a:p>
            <a:pPr marL="0" indent="0" algn="ctr">
              <a:buNone/>
            </a:pPr>
            <a:r>
              <a:rPr lang="en-US" sz="1250" i="1" dirty="0">
                <a:solidFill>
                  <a:srgbClr val="1F2937"/>
                </a:solidFill>
              </a:rPr>
              <a:t>Etre_Etablie</a:t>
            </a:r>
            <a:endParaRPr lang="en-US" sz="1250" dirty="0"/>
          </a:p>
        </p:txBody>
      </p:sp>
      <p:sp>
        <p:nvSpPr>
          <p:cNvPr id="47" name="Shape 45"/>
          <p:cNvSpPr/>
          <p:nvPr/>
        </p:nvSpPr>
        <p:spPr>
          <a:xfrm>
            <a:off x="7863840" y="3886200"/>
            <a:ext cx="2514600" cy="457200"/>
          </a:xfrm>
          <a:prstGeom prst="rect">
            <a:avLst/>
          </a:prstGeom>
          <a:solidFill>
            <a:srgbClr val="FFFFFF"/>
          </a:solidFill>
          <a:ln w="15875">
            <a:solidFill>
              <a:srgbClr val="1A2540"/>
            </a:solidFill>
            <a:prstDash val="solid"/>
          </a:ln>
        </p:spPr>
      </p:sp>
      <p:sp>
        <p:nvSpPr>
          <p:cNvPr id="48" name="Text 46"/>
          <p:cNvSpPr txBox="1"/>
          <p:nvPr/>
        </p:nvSpPr>
        <p:spPr>
          <a:xfrm>
            <a:off x="7936992" y="3886200"/>
            <a:ext cx="2368296" cy="457200"/>
          </a:xfrm>
          <a:prstGeom prst="rect">
            <a:avLst/>
          </a:prstGeom>
          <a:noFill/>
          <a:ln/>
        </p:spPr>
        <p:txBody>
          <a:bodyPr wrap="square" lIns="0" tIns="0" rIns="0" bIns="0" rtlCol="0" anchor="ctr"/>
          <a:lstStyle/>
          <a:p>
            <a:pPr marL="0" indent="0" algn="ctr">
              <a:buNone/>
            </a:pPr>
            <a:r>
              <a:rPr lang="en-US" sz="1400" b="1" dirty="0">
                <a:solidFill>
                  <a:srgbClr val="1A2540"/>
                </a:solidFill>
              </a:rPr>
              <a:t>Facture</a:t>
            </a:r>
            <a:endParaRPr lang="en-US" sz="1400" dirty="0"/>
          </a:p>
        </p:txBody>
      </p:sp>
      <p:sp>
        <p:nvSpPr>
          <p:cNvPr id="49" name="Text 47"/>
          <p:cNvSpPr txBox="1"/>
          <p:nvPr/>
        </p:nvSpPr>
        <p:spPr>
          <a:xfrm>
            <a:off x="3977640" y="3840480"/>
            <a:ext cx="457200" cy="237744"/>
          </a:xfrm>
          <a:prstGeom prst="rect">
            <a:avLst/>
          </a:prstGeom>
          <a:noFill/>
          <a:ln/>
        </p:spPr>
        <p:txBody>
          <a:bodyPr wrap="square" lIns="0" tIns="0" rIns="0" bIns="0" rtlCol="0" anchor="ctr"/>
          <a:lstStyle/>
          <a:p>
            <a:pPr marL="0" indent="0" algn="l">
              <a:buNone/>
            </a:pPr>
            <a:r>
              <a:rPr lang="en-US" sz="1250" b="1" dirty="0">
                <a:solidFill>
                  <a:srgbClr val="3A57E0"/>
                </a:solidFill>
              </a:rPr>
              <a:t>0,n</a:t>
            </a:r>
            <a:endParaRPr lang="en-US" sz="1250" dirty="0"/>
          </a:p>
        </p:txBody>
      </p:sp>
      <p:sp>
        <p:nvSpPr>
          <p:cNvPr id="50" name="Text 48"/>
          <p:cNvSpPr txBox="1"/>
          <p:nvPr/>
        </p:nvSpPr>
        <p:spPr>
          <a:xfrm>
            <a:off x="7351776" y="3840480"/>
            <a:ext cx="457200" cy="237744"/>
          </a:xfrm>
          <a:prstGeom prst="rect">
            <a:avLst/>
          </a:prstGeom>
          <a:noFill/>
          <a:ln/>
        </p:spPr>
        <p:txBody>
          <a:bodyPr wrap="square" lIns="0" tIns="0" rIns="0" bIns="0" rtlCol="0" anchor="ctr"/>
          <a:lstStyle/>
          <a:p>
            <a:pPr marL="0" indent="0" algn="r">
              <a:buNone/>
            </a:pPr>
            <a:r>
              <a:rPr lang="en-US" sz="1250" b="1" dirty="0">
                <a:solidFill>
                  <a:srgbClr val="3A57E0"/>
                </a:solidFill>
              </a:rPr>
              <a:t>0,1</a:t>
            </a:r>
            <a:endParaRPr lang="en-US" sz="1250" dirty="0"/>
          </a:p>
        </p:txBody>
      </p:sp>
      <p:sp>
        <p:nvSpPr>
          <p:cNvPr id="51" name="Text 49"/>
          <p:cNvSpPr txBox="1"/>
          <p:nvPr/>
        </p:nvSpPr>
        <p:spPr>
          <a:xfrm>
            <a:off x="3886200" y="4892040"/>
            <a:ext cx="7680960" cy="320040"/>
          </a:xfrm>
          <a:prstGeom prst="rect">
            <a:avLst/>
          </a:prstGeom>
          <a:noFill/>
          <a:ln/>
        </p:spPr>
        <p:txBody>
          <a:bodyPr wrap="square" lIns="0" tIns="0" rIns="0" bIns="0" rtlCol="0" anchor="t"/>
          <a:lstStyle/>
          <a:p>
            <a:pPr marL="0" indent="0">
              <a:buNone/>
            </a:pPr>
            <a:r>
              <a:rPr lang="en-US" sz="1500" b="1" dirty="0">
                <a:solidFill>
                  <a:srgbClr val="1A2540"/>
                </a:solidFill>
              </a:rPr>
              <a:t>Une seule entité Entreprise, qui joue deux rôles : acheteuse et vendeuse.</a:t>
            </a:r>
            <a:endParaRPr lang="en-US" sz="1500" dirty="0"/>
          </a:p>
        </p:txBody>
      </p:sp>
      <p:sp>
        <p:nvSpPr>
          <p:cNvPr id="52" name="Text 50"/>
          <p:cNvSpPr txBox="1"/>
          <p:nvPr/>
        </p:nvSpPr>
        <p:spPr>
          <a:xfrm>
            <a:off x="3886200" y="5257800"/>
            <a:ext cx="7680960" cy="685800"/>
          </a:xfrm>
          <a:prstGeom prst="rect">
            <a:avLst/>
          </a:prstGeom>
          <a:noFill/>
          <a:ln/>
        </p:spPr>
        <p:txBody>
          <a:bodyPr wrap="square" lIns="0" tIns="0" rIns="0" bIns="0" rtlCol="0" anchor="t"/>
          <a:lstStyle/>
          <a:p>
            <a:pPr marL="0" indent="0">
              <a:buNone/>
            </a:pPr>
            <a:r>
              <a:rPr lang="en-US" sz="1350" dirty="0">
                <a:solidFill>
                  <a:srgbClr val="5F6B7A"/>
                </a:solidFill>
              </a:rPr>
              <a:t>RG6 et RG7 : une commande B2B est passée par une seule entreprise acheteuse et adressée à une seule entreprise vendeuse, chargée de la valider ou de la refuser.</a:t>
            </a:r>
            <a:endParaRPr lang="en-US" sz="1350" dirty="0"/>
          </a:p>
        </p:txBody>
      </p:sp>
      <p:sp>
        <p:nvSpPr>
          <p:cNvPr id="53" name="Text 51"/>
          <p:cNvSpPr txBox="1"/>
          <p:nvPr/>
        </p:nvSpPr>
        <p:spPr>
          <a:xfrm>
            <a:off x="3886200" y="5989320"/>
            <a:ext cx="7680960" cy="274320"/>
          </a:xfrm>
          <a:prstGeom prst="rect">
            <a:avLst/>
          </a:prstGeom>
          <a:noFill/>
          <a:ln/>
        </p:spPr>
        <p:txBody>
          <a:bodyPr wrap="square" lIns="0" tIns="0" rIns="0" bIns="0" rtlCol="0" anchor="t"/>
          <a:lstStyle/>
          <a:p>
            <a:pPr marL="0" indent="0">
              <a:buNone/>
            </a:pPr>
            <a:r>
              <a:rPr lang="en-US" sz="1150" i="1" dirty="0">
                <a:solidFill>
                  <a:srgbClr val="5F6B7A"/>
                </a:solidFill>
              </a:rPr>
              <a:t>Extrait de la figure 7 du mémoire (MCD complet).</a:t>
            </a:r>
            <a:endParaRPr lang="en-US" sz="1150" dirty="0"/>
          </a:p>
        </p:txBody>
      </p:sp>
      <p:sp>
        <p:nvSpPr>
          <p:cNvPr id="54" name="Slide Number Placeholder 0"/>
          <p:cNvSpPr>
            <a:spLocks noGrp="1"/>
          </p:cNvSpPr>
          <p:nvPr>
            <p:ph type="sldNum" sz="quarter" idx="4294967295"/>
          </p:nvPr>
        </p:nvSpPr>
        <p:spPr>
          <a:xfrm>
            <a:off x="1100023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defRPr>
            </a:lvl1pPr>
          </a:lstStyle>
          <a:p>
            <a:pPr algn="r"/>
            <a:fld id="{F7021451-1387-4CA6-816F-3879F97B5CBC}" type="slidenum">
              <a:rPr lang="en-US" b="0"/>
              <a:t>12</a:t>
            </a:fld>
            <a:endParaRPr lang="en-US"/>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411480"/>
            <a:ext cx="10908792" cy="274320"/>
          </a:xfrm>
          <a:prstGeom prst="rect">
            <a:avLst/>
          </a:prstGeom>
          <a:noFill/>
          <a:ln/>
        </p:spPr>
        <p:txBody>
          <a:bodyPr wrap="square" lIns="0" tIns="0" rIns="0" bIns="0" rtlCol="0" anchor="t"/>
          <a:lstStyle/>
          <a:p>
            <a:pPr marL="0" indent="0" algn="l">
              <a:buNone/>
            </a:pPr>
            <a:r>
              <a:rPr lang="en-US" sz="1200" b="1" dirty="0">
                <a:solidFill>
                  <a:srgbClr val="3A57E0"/>
                </a:solidFill>
              </a:rPr>
              <a:t>4 · Conception</a:t>
            </a:r>
            <a:endParaRPr lang="en-US" sz="1200" dirty="0"/>
          </a:p>
        </p:txBody>
      </p:sp>
      <p:sp>
        <p:nvSpPr>
          <p:cNvPr id="3" name="Text 1"/>
          <p:cNvSpPr>
            <a:spLocks noGrp="1"/>
          </p:cNvSpPr>
          <p:nvPr>
            <p:ph type="title" idx="102" hasCustomPrompt="1"/>
          </p:nvPr>
        </p:nvSpPr>
        <p:spPr>
          <a:xfrm>
            <a:off x="640080" y="713232"/>
            <a:ext cx="10908792" cy="640080"/>
          </a:xfrm>
          <a:prstGeom prst="rect">
            <a:avLst/>
          </a:prstGeom>
          <a:noFill/>
          <a:ln/>
        </p:spPr>
        <p:txBody>
          <a:bodyPr wrap="square" lIns="0" tIns="0" rIns="0" bIns="0" rtlCol="0" anchor="t"/>
          <a:lstStyle/>
          <a:p>
            <a:pPr marL="0" indent="0" algn="l">
              <a:buNone/>
            </a:pPr>
            <a:r>
              <a:rPr lang="en-US" sz="3000" b="1" dirty="0">
                <a:solidFill>
                  <a:srgbClr val="1A2540"/>
                </a:solidFill>
              </a:rPr>
              <a:t>MCT du module réseautage B2B</a:t>
            </a:r>
            <a:endParaRPr lang="en-US" sz="3000" dirty="0"/>
          </a:p>
        </p:txBody>
      </p:sp>
      <p:sp>
        <p:nvSpPr>
          <p:cNvPr id="4" name="Shape 2"/>
          <p:cNvSpPr/>
          <p:nvPr/>
        </p:nvSpPr>
        <p:spPr>
          <a:xfrm>
            <a:off x="777240" y="1600200"/>
            <a:ext cx="2103120" cy="457200"/>
          </a:xfrm>
          <a:prstGeom prst="ellipse">
            <a:avLst/>
          </a:prstGeom>
          <a:solidFill>
            <a:srgbClr val="F2F4F8"/>
          </a:solidFill>
          <a:ln w="12700">
            <a:solidFill>
              <a:srgbClr val="5F6B7A"/>
            </a:solidFill>
            <a:prstDash val="solid"/>
          </a:ln>
        </p:spPr>
      </p:sp>
      <p:sp>
        <p:nvSpPr>
          <p:cNvPr id="5" name="Text 3"/>
          <p:cNvSpPr txBox="1"/>
          <p:nvPr/>
        </p:nvSpPr>
        <p:spPr>
          <a:xfrm>
            <a:off x="822960" y="1600200"/>
            <a:ext cx="2011680" cy="457200"/>
          </a:xfrm>
          <a:prstGeom prst="rect">
            <a:avLst/>
          </a:prstGeom>
          <a:noFill/>
          <a:ln/>
        </p:spPr>
        <p:txBody>
          <a:bodyPr wrap="square" lIns="0" tIns="0" rIns="0" bIns="0" rtlCol="0" anchor="ctr"/>
          <a:lstStyle/>
          <a:p>
            <a:pPr marL="0" indent="0" algn="ctr">
              <a:buNone/>
            </a:pPr>
            <a:r>
              <a:rPr lang="en-US" sz="1250" dirty="0">
                <a:solidFill>
                  <a:srgbClr val="1F2937"/>
                </a:solidFill>
              </a:rPr>
              <a:t>Besoin de commande</a:t>
            </a:r>
            <a:endParaRPr lang="en-US" sz="1250" dirty="0"/>
          </a:p>
        </p:txBody>
      </p:sp>
      <p:sp>
        <p:nvSpPr>
          <p:cNvPr id="6" name="Shape 4"/>
          <p:cNvSpPr/>
          <p:nvPr/>
        </p:nvSpPr>
        <p:spPr>
          <a:xfrm>
            <a:off x="1828800" y="2057400"/>
            <a:ext cx="0" cy="457200"/>
          </a:xfrm>
          <a:prstGeom prst="line">
            <a:avLst/>
          </a:prstGeom>
          <a:noFill/>
          <a:ln w="15875">
            <a:solidFill>
              <a:srgbClr val="5F6B7A"/>
            </a:solidFill>
            <a:prstDash val="solid"/>
            <a:tailEnd type="triangle"/>
          </a:ln>
        </p:spPr>
      </p:sp>
      <p:sp>
        <p:nvSpPr>
          <p:cNvPr id="7" name="Shape 5"/>
          <p:cNvSpPr/>
          <p:nvPr/>
        </p:nvSpPr>
        <p:spPr>
          <a:xfrm>
            <a:off x="3712464" y="1600200"/>
            <a:ext cx="1920240" cy="457200"/>
          </a:xfrm>
          <a:prstGeom prst="ellipse">
            <a:avLst/>
          </a:prstGeom>
          <a:solidFill>
            <a:srgbClr val="F2F4F8"/>
          </a:solidFill>
          <a:ln w="12700">
            <a:solidFill>
              <a:srgbClr val="5F6B7A"/>
            </a:solidFill>
            <a:prstDash val="solid"/>
          </a:ln>
        </p:spPr>
      </p:sp>
      <p:sp>
        <p:nvSpPr>
          <p:cNvPr id="8" name="Text 6"/>
          <p:cNvSpPr txBox="1"/>
          <p:nvPr/>
        </p:nvSpPr>
        <p:spPr>
          <a:xfrm>
            <a:off x="3758184" y="1600200"/>
            <a:ext cx="1828800" cy="457200"/>
          </a:xfrm>
          <a:prstGeom prst="rect">
            <a:avLst/>
          </a:prstGeom>
          <a:noFill/>
          <a:ln/>
        </p:spPr>
        <p:txBody>
          <a:bodyPr wrap="square" lIns="0" tIns="0" rIns="0" bIns="0" rtlCol="0" anchor="ctr"/>
          <a:lstStyle/>
          <a:p>
            <a:pPr marL="0" indent="0" algn="ctr">
              <a:buNone/>
            </a:pPr>
            <a:r>
              <a:rPr lang="en-US" sz="1250" dirty="0">
                <a:solidFill>
                  <a:srgbClr val="1F2937"/>
                </a:solidFill>
              </a:rPr>
              <a:t>Commande passée</a:t>
            </a:r>
            <a:endParaRPr lang="en-US" sz="1250" dirty="0"/>
          </a:p>
        </p:txBody>
      </p:sp>
      <p:sp>
        <p:nvSpPr>
          <p:cNvPr id="9" name="Shape 7"/>
          <p:cNvSpPr/>
          <p:nvPr/>
        </p:nvSpPr>
        <p:spPr>
          <a:xfrm>
            <a:off x="4672584" y="2057400"/>
            <a:ext cx="0" cy="457200"/>
          </a:xfrm>
          <a:prstGeom prst="line">
            <a:avLst/>
          </a:prstGeom>
          <a:noFill/>
          <a:ln w="15875">
            <a:solidFill>
              <a:srgbClr val="5F6B7A"/>
            </a:solidFill>
            <a:prstDash val="solid"/>
            <a:tailEnd type="triangle"/>
          </a:ln>
        </p:spPr>
      </p:sp>
      <p:sp>
        <p:nvSpPr>
          <p:cNvPr id="10" name="Text 8"/>
          <p:cNvSpPr txBox="1"/>
          <p:nvPr/>
        </p:nvSpPr>
        <p:spPr>
          <a:xfrm>
            <a:off x="4764024" y="2103120"/>
            <a:ext cx="365760" cy="274320"/>
          </a:xfrm>
          <a:prstGeom prst="rect">
            <a:avLst/>
          </a:prstGeom>
          <a:noFill/>
          <a:ln/>
        </p:spPr>
        <p:txBody>
          <a:bodyPr wrap="square" lIns="0" tIns="0" rIns="0" bIns="0" rtlCol="0" anchor="t"/>
          <a:lstStyle/>
          <a:p>
            <a:pPr marL="0" indent="0">
              <a:buNone/>
            </a:pPr>
            <a:r>
              <a:rPr lang="en-US" sz="1100" b="1" dirty="0">
                <a:solidFill>
                  <a:srgbClr val="3A57E0"/>
                </a:solidFill>
              </a:rPr>
              <a:t>ET</a:t>
            </a:r>
            <a:endParaRPr lang="en-US" sz="1100" dirty="0"/>
          </a:p>
        </p:txBody>
      </p:sp>
      <p:sp>
        <p:nvSpPr>
          <p:cNvPr id="11" name="Shape 9"/>
          <p:cNvSpPr/>
          <p:nvPr/>
        </p:nvSpPr>
        <p:spPr>
          <a:xfrm>
            <a:off x="640080" y="2514600"/>
            <a:ext cx="2377440" cy="1828800"/>
          </a:xfrm>
          <a:prstGeom prst="rect">
            <a:avLst/>
          </a:prstGeom>
          <a:solidFill>
            <a:srgbClr val="FFFFFF"/>
          </a:solidFill>
          <a:ln w="15875">
            <a:solidFill>
              <a:srgbClr val="1A2540"/>
            </a:solidFill>
            <a:prstDash val="solid"/>
          </a:ln>
        </p:spPr>
      </p:sp>
      <p:sp>
        <p:nvSpPr>
          <p:cNvPr id="12" name="Shape 10"/>
          <p:cNvSpPr/>
          <p:nvPr/>
        </p:nvSpPr>
        <p:spPr>
          <a:xfrm>
            <a:off x="640080" y="2514600"/>
            <a:ext cx="2377440" cy="457200"/>
          </a:xfrm>
          <a:prstGeom prst="rect">
            <a:avLst/>
          </a:prstGeom>
          <a:solidFill>
            <a:srgbClr val="1A2540"/>
          </a:solidFill>
          <a:ln/>
        </p:spPr>
      </p:sp>
      <p:sp>
        <p:nvSpPr>
          <p:cNvPr id="13" name="Text 11"/>
          <p:cNvSpPr txBox="1"/>
          <p:nvPr/>
        </p:nvSpPr>
        <p:spPr>
          <a:xfrm>
            <a:off x="731520" y="2514600"/>
            <a:ext cx="2194560" cy="457200"/>
          </a:xfrm>
          <a:prstGeom prst="rect">
            <a:avLst/>
          </a:prstGeom>
          <a:noFill/>
          <a:ln/>
        </p:spPr>
        <p:txBody>
          <a:bodyPr wrap="square" lIns="0" tIns="0" rIns="0" bIns="0" rtlCol="0" anchor="ctr"/>
          <a:lstStyle/>
          <a:p>
            <a:pPr marL="0" indent="0">
              <a:buNone/>
            </a:pPr>
            <a:r>
              <a:rPr lang="en-US" sz="1350" b="1" dirty="0">
                <a:solidFill>
                  <a:srgbClr val="FFFFFF"/>
                </a:solidFill>
              </a:rPr>
              <a:t>Lancement de la commande</a:t>
            </a:r>
            <a:endParaRPr lang="en-US" sz="1350" dirty="0"/>
          </a:p>
        </p:txBody>
      </p:sp>
      <p:sp>
        <p:nvSpPr>
          <p:cNvPr id="14" name="Text 12"/>
          <p:cNvSpPr txBox="1"/>
          <p:nvPr/>
        </p:nvSpPr>
        <p:spPr>
          <a:xfrm>
            <a:off x="749808" y="3063240"/>
            <a:ext cx="2157984" cy="914400"/>
          </a:xfrm>
          <a:prstGeom prst="rect">
            <a:avLst/>
          </a:prstGeom>
          <a:noFill/>
          <a:ln/>
        </p:spPr>
        <p:txBody>
          <a:bodyPr wrap="square" lIns="0" tIns="0" rIns="0" bIns="0" rtlCol="0" anchor="t"/>
          <a:lstStyle/>
          <a:p>
            <a:pPr marL="127000" indent="-127000">
              <a:buSzPct val="100000"/>
              <a:buChar char="•"/>
            </a:pPr>
            <a:r>
              <a:rPr lang="en-US" sz="1250" dirty="0">
                <a:solidFill>
                  <a:srgbClr val="1F2937"/>
                </a:solidFill>
              </a:rPr>
              <a:t>Recherche de partenaire</a:t>
            </a:r>
            <a:endParaRPr lang="en-US" sz="1250" dirty="0"/>
          </a:p>
          <a:p>
            <a:pPr marL="127000" indent="-127000">
              <a:buSzPct val="100000"/>
              <a:buChar char="•"/>
            </a:pPr>
            <a:r>
              <a:rPr lang="en-US" sz="1250" dirty="0">
                <a:solidFill>
                  <a:srgbClr val="1F2937"/>
                </a:solidFill>
              </a:rPr>
              <a:t>Recherche du produit</a:t>
            </a:r>
            <a:endParaRPr lang="en-US" sz="1250" dirty="0"/>
          </a:p>
          <a:p>
            <a:pPr marL="127000" indent="-127000">
              <a:buSzPct val="100000"/>
              <a:buChar char="•"/>
            </a:pPr>
            <a:r>
              <a:rPr lang="en-US" sz="1250" dirty="0">
                <a:solidFill>
                  <a:srgbClr val="1F2937"/>
                </a:solidFill>
              </a:rPr>
              <a:t>Confirmation de la commande</a:t>
            </a:r>
            <a:endParaRPr lang="en-US" sz="1250" dirty="0"/>
          </a:p>
        </p:txBody>
      </p:sp>
      <p:sp>
        <p:nvSpPr>
          <p:cNvPr id="15" name="Shape 13"/>
          <p:cNvSpPr/>
          <p:nvPr/>
        </p:nvSpPr>
        <p:spPr>
          <a:xfrm>
            <a:off x="640080" y="3995928"/>
            <a:ext cx="2377440" cy="0"/>
          </a:xfrm>
          <a:prstGeom prst="line">
            <a:avLst/>
          </a:prstGeom>
          <a:noFill/>
          <a:ln w="9525">
            <a:solidFill>
              <a:srgbClr val="CBD2DC"/>
            </a:solidFill>
            <a:prstDash val="solid"/>
          </a:ln>
        </p:spPr>
      </p:sp>
      <p:sp>
        <p:nvSpPr>
          <p:cNvPr id="16" name="Text 14"/>
          <p:cNvSpPr txBox="1"/>
          <p:nvPr/>
        </p:nvSpPr>
        <p:spPr>
          <a:xfrm>
            <a:off x="731520" y="3995928"/>
            <a:ext cx="2194560" cy="347472"/>
          </a:xfrm>
          <a:prstGeom prst="rect">
            <a:avLst/>
          </a:prstGeom>
          <a:noFill/>
          <a:ln/>
        </p:spPr>
        <p:txBody>
          <a:bodyPr wrap="square" lIns="0" tIns="0" rIns="0" bIns="0" rtlCol="0" anchor="ctr"/>
          <a:lstStyle/>
          <a:p>
            <a:pPr marL="0" indent="0" algn="ctr">
              <a:buNone/>
            </a:pPr>
            <a:r>
              <a:rPr lang="en-US" sz="1150" i="1" dirty="0">
                <a:solidFill>
                  <a:srgbClr val="5F6B7A"/>
                </a:solidFill>
              </a:rPr>
              <a:t>Toujours</a:t>
            </a:r>
            <a:endParaRPr lang="en-US" sz="1150" dirty="0"/>
          </a:p>
        </p:txBody>
      </p:sp>
      <p:sp>
        <p:nvSpPr>
          <p:cNvPr id="17" name="Shape 15"/>
          <p:cNvSpPr/>
          <p:nvPr/>
        </p:nvSpPr>
        <p:spPr>
          <a:xfrm>
            <a:off x="3483864" y="2514600"/>
            <a:ext cx="2377440" cy="1828800"/>
          </a:xfrm>
          <a:prstGeom prst="rect">
            <a:avLst/>
          </a:prstGeom>
          <a:solidFill>
            <a:srgbClr val="FFFFFF"/>
          </a:solidFill>
          <a:ln w="15875">
            <a:solidFill>
              <a:srgbClr val="1A2540"/>
            </a:solidFill>
            <a:prstDash val="solid"/>
          </a:ln>
        </p:spPr>
      </p:sp>
      <p:sp>
        <p:nvSpPr>
          <p:cNvPr id="18" name="Shape 16"/>
          <p:cNvSpPr/>
          <p:nvPr/>
        </p:nvSpPr>
        <p:spPr>
          <a:xfrm>
            <a:off x="3483864" y="2514600"/>
            <a:ext cx="2377440" cy="457200"/>
          </a:xfrm>
          <a:prstGeom prst="rect">
            <a:avLst/>
          </a:prstGeom>
          <a:solidFill>
            <a:srgbClr val="1A2540"/>
          </a:solidFill>
          <a:ln/>
        </p:spPr>
      </p:sp>
      <p:sp>
        <p:nvSpPr>
          <p:cNvPr id="19" name="Text 17"/>
          <p:cNvSpPr txBox="1"/>
          <p:nvPr/>
        </p:nvSpPr>
        <p:spPr>
          <a:xfrm>
            <a:off x="3575304" y="2514600"/>
            <a:ext cx="2194560" cy="457200"/>
          </a:xfrm>
          <a:prstGeom prst="rect">
            <a:avLst/>
          </a:prstGeom>
          <a:noFill/>
          <a:ln/>
        </p:spPr>
        <p:txBody>
          <a:bodyPr wrap="square" lIns="0" tIns="0" rIns="0" bIns="0" rtlCol="0" anchor="ctr"/>
          <a:lstStyle/>
          <a:p>
            <a:pPr marL="0" indent="0">
              <a:buNone/>
            </a:pPr>
            <a:r>
              <a:rPr lang="en-US" sz="1350" b="1" dirty="0">
                <a:solidFill>
                  <a:srgbClr val="FFFFFF"/>
                </a:solidFill>
              </a:rPr>
              <a:t>Réception et vérification</a:t>
            </a:r>
            <a:endParaRPr lang="en-US" sz="1350" dirty="0"/>
          </a:p>
        </p:txBody>
      </p:sp>
      <p:sp>
        <p:nvSpPr>
          <p:cNvPr id="20" name="Text 18"/>
          <p:cNvSpPr txBox="1"/>
          <p:nvPr/>
        </p:nvSpPr>
        <p:spPr>
          <a:xfrm>
            <a:off x="3593592" y="3063240"/>
            <a:ext cx="2157984" cy="914400"/>
          </a:xfrm>
          <a:prstGeom prst="rect">
            <a:avLst/>
          </a:prstGeom>
          <a:noFill/>
          <a:ln/>
        </p:spPr>
        <p:txBody>
          <a:bodyPr wrap="square" lIns="0" tIns="0" rIns="0" bIns="0" rtlCol="0" anchor="t"/>
          <a:lstStyle/>
          <a:p>
            <a:pPr marL="127000" indent="-127000">
              <a:buSzPct val="100000"/>
              <a:buChar char="•"/>
            </a:pPr>
            <a:r>
              <a:rPr lang="en-US" sz="1250" dirty="0">
                <a:solidFill>
                  <a:srgbClr val="1F2937"/>
                </a:solidFill>
              </a:rPr>
              <a:t>Vérification du stock du partenaire</a:t>
            </a:r>
            <a:endParaRPr lang="en-US" sz="1250" dirty="0"/>
          </a:p>
          <a:p>
            <a:pPr marL="127000" indent="-127000">
              <a:buSzPct val="100000"/>
              <a:buChar char="•"/>
            </a:pPr>
            <a:r>
              <a:rPr lang="en-US" sz="1250" dirty="0">
                <a:solidFill>
                  <a:srgbClr val="1F2937"/>
                </a:solidFill>
              </a:rPr>
              <a:t>Acceptation ou refus</a:t>
            </a:r>
            <a:endParaRPr lang="en-US" sz="1250" dirty="0"/>
          </a:p>
        </p:txBody>
      </p:sp>
      <p:sp>
        <p:nvSpPr>
          <p:cNvPr id="21" name="Shape 19"/>
          <p:cNvSpPr/>
          <p:nvPr/>
        </p:nvSpPr>
        <p:spPr>
          <a:xfrm>
            <a:off x="3483864" y="3995928"/>
            <a:ext cx="2377440" cy="0"/>
          </a:xfrm>
          <a:prstGeom prst="line">
            <a:avLst/>
          </a:prstGeom>
          <a:noFill/>
          <a:ln w="9525">
            <a:solidFill>
              <a:srgbClr val="CBD2DC"/>
            </a:solidFill>
            <a:prstDash val="solid"/>
          </a:ln>
        </p:spPr>
      </p:sp>
      <p:sp>
        <p:nvSpPr>
          <p:cNvPr id="22" name="Text 20"/>
          <p:cNvSpPr txBox="1"/>
          <p:nvPr/>
        </p:nvSpPr>
        <p:spPr>
          <a:xfrm>
            <a:off x="3575304" y="3995928"/>
            <a:ext cx="2194560" cy="347472"/>
          </a:xfrm>
          <a:prstGeom prst="rect">
            <a:avLst/>
          </a:prstGeom>
          <a:noFill/>
          <a:ln/>
        </p:spPr>
        <p:txBody>
          <a:bodyPr wrap="square" lIns="0" tIns="0" rIns="0" bIns="0" rtlCol="0" anchor="ctr"/>
          <a:lstStyle/>
          <a:p>
            <a:pPr marL="0" indent="0" algn="ctr">
              <a:buNone/>
            </a:pPr>
            <a:r>
              <a:rPr lang="en-US" sz="1150" i="1" dirty="0">
                <a:solidFill>
                  <a:srgbClr val="5F6B7A"/>
                </a:solidFill>
              </a:rPr>
              <a:t>Rupture | stock disponible</a:t>
            </a:r>
            <a:endParaRPr lang="en-US" sz="1150" dirty="0"/>
          </a:p>
        </p:txBody>
      </p:sp>
      <p:sp>
        <p:nvSpPr>
          <p:cNvPr id="23" name="Shape 21"/>
          <p:cNvSpPr/>
          <p:nvPr/>
        </p:nvSpPr>
        <p:spPr>
          <a:xfrm>
            <a:off x="6327648" y="2514600"/>
            <a:ext cx="2377440" cy="1828800"/>
          </a:xfrm>
          <a:prstGeom prst="rect">
            <a:avLst/>
          </a:prstGeom>
          <a:solidFill>
            <a:srgbClr val="FFFFFF"/>
          </a:solidFill>
          <a:ln w="15875">
            <a:solidFill>
              <a:srgbClr val="1A2540"/>
            </a:solidFill>
            <a:prstDash val="solid"/>
          </a:ln>
        </p:spPr>
      </p:sp>
      <p:sp>
        <p:nvSpPr>
          <p:cNvPr id="24" name="Shape 22"/>
          <p:cNvSpPr/>
          <p:nvPr/>
        </p:nvSpPr>
        <p:spPr>
          <a:xfrm>
            <a:off x="6327648" y="2514600"/>
            <a:ext cx="2377440" cy="457200"/>
          </a:xfrm>
          <a:prstGeom prst="rect">
            <a:avLst/>
          </a:prstGeom>
          <a:solidFill>
            <a:srgbClr val="1A2540"/>
          </a:solidFill>
          <a:ln/>
        </p:spPr>
      </p:sp>
      <p:sp>
        <p:nvSpPr>
          <p:cNvPr id="25" name="Text 23"/>
          <p:cNvSpPr txBox="1"/>
          <p:nvPr/>
        </p:nvSpPr>
        <p:spPr>
          <a:xfrm>
            <a:off x="6419088" y="2514600"/>
            <a:ext cx="2194560" cy="457200"/>
          </a:xfrm>
          <a:prstGeom prst="rect">
            <a:avLst/>
          </a:prstGeom>
          <a:noFill/>
          <a:ln/>
        </p:spPr>
        <p:txBody>
          <a:bodyPr wrap="square" lIns="0" tIns="0" rIns="0" bIns="0" rtlCol="0" anchor="ctr"/>
          <a:lstStyle/>
          <a:p>
            <a:pPr marL="0" indent="0">
              <a:buNone/>
            </a:pPr>
            <a:r>
              <a:rPr lang="en-US" sz="1350" b="1" dirty="0">
                <a:solidFill>
                  <a:srgbClr val="FFFFFF"/>
                </a:solidFill>
              </a:rPr>
              <a:t>Facturation</a:t>
            </a:r>
            <a:endParaRPr lang="en-US" sz="1350" dirty="0"/>
          </a:p>
        </p:txBody>
      </p:sp>
      <p:sp>
        <p:nvSpPr>
          <p:cNvPr id="26" name="Text 24"/>
          <p:cNvSpPr txBox="1"/>
          <p:nvPr/>
        </p:nvSpPr>
        <p:spPr>
          <a:xfrm>
            <a:off x="6437376" y="3063240"/>
            <a:ext cx="2157984" cy="914400"/>
          </a:xfrm>
          <a:prstGeom prst="rect">
            <a:avLst/>
          </a:prstGeom>
          <a:noFill/>
          <a:ln/>
        </p:spPr>
        <p:txBody>
          <a:bodyPr wrap="square" lIns="0" tIns="0" rIns="0" bIns="0" rtlCol="0" anchor="t"/>
          <a:lstStyle/>
          <a:p>
            <a:pPr marL="127000" indent="-127000">
              <a:buSzPct val="100000"/>
              <a:buChar char="•"/>
            </a:pPr>
            <a:r>
              <a:rPr lang="en-US" sz="1250" dirty="0">
                <a:solidFill>
                  <a:srgbClr val="1F2937"/>
                </a:solidFill>
              </a:rPr>
              <a:t>Calcul du montant</a:t>
            </a:r>
            <a:endParaRPr lang="en-US" sz="1250" dirty="0"/>
          </a:p>
          <a:p>
            <a:pPr marL="127000" indent="-127000">
              <a:buSzPct val="100000"/>
              <a:buChar char="•"/>
            </a:pPr>
            <a:r>
              <a:rPr lang="en-US" sz="1250" dirty="0">
                <a:solidFill>
                  <a:srgbClr val="1F2937"/>
                </a:solidFill>
              </a:rPr>
              <a:t>Remises négociées</a:t>
            </a:r>
            <a:endParaRPr lang="en-US" sz="1250" dirty="0"/>
          </a:p>
          <a:p>
            <a:pPr marL="127000" indent="-127000">
              <a:buSzPct val="100000"/>
              <a:buChar char="•"/>
            </a:pPr>
            <a:r>
              <a:rPr lang="en-US" sz="1250" dirty="0">
                <a:solidFill>
                  <a:srgbClr val="1F2937"/>
                </a:solidFill>
              </a:rPr>
              <a:t>Génération de la facture</a:t>
            </a:r>
            <a:endParaRPr lang="en-US" sz="1250" dirty="0"/>
          </a:p>
        </p:txBody>
      </p:sp>
      <p:sp>
        <p:nvSpPr>
          <p:cNvPr id="27" name="Shape 25"/>
          <p:cNvSpPr/>
          <p:nvPr/>
        </p:nvSpPr>
        <p:spPr>
          <a:xfrm>
            <a:off x="6327648" y="3995928"/>
            <a:ext cx="2377440" cy="0"/>
          </a:xfrm>
          <a:prstGeom prst="line">
            <a:avLst/>
          </a:prstGeom>
          <a:noFill/>
          <a:ln w="9525">
            <a:solidFill>
              <a:srgbClr val="CBD2DC"/>
            </a:solidFill>
            <a:prstDash val="solid"/>
          </a:ln>
        </p:spPr>
      </p:sp>
      <p:sp>
        <p:nvSpPr>
          <p:cNvPr id="28" name="Text 26"/>
          <p:cNvSpPr txBox="1"/>
          <p:nvPr/>
        </p:nvSpPr>
        <p:spPr>
          <a:xfrm>
            <a:off x="6419088" y="3995928"/>
            <a:ext cx="2194560" cy="347472"/>
          </a:xfrm>
          <a:prstGeom prst="rect">
            <a:avLst/>
          </a:prstGeom>
          <a:noFill/>
          <a:ln/>
        </p:spPr>
        <p:txBody>
          <a:bodyPr wrap="square" lIns="0" tIns="0" rIns="0" bIns="0" rtlCol="0" anchor="ctr"/>
          <a:lstStyle/>
          <a:p>
            <a:pPr marL="0" indent="0" algn="ctr">
              <a:buNone/>
            </a:pPr>
            <a:r>
              <a:rPr lang="en-US" sz="1150" i="1" dirty="0">
                <a:solidFill>
                  <a:srgbClr val="5F6B7A"/>
                </a:solidFill>
              </a:rPr>
              <a:t>Toujours</a:t>
            </a:r>
            <a:endParaRPr lang="en-US" sz="1150" dirty="0"/>
          </a:p>
        </p:txBody>
      </p:sp>
      <p:sp>
        <p:nvSpPr>
          <p:cNvPr id="29" name="Shape 27"/>
          <p:cNvSpPr/>
          <p:nvPr/>
        </p:nvSpPr>
        <p:spPr>
          <a:xfrm>
            <a:off x="9171432" y="2514600"/>
            <a:ext cx="2377440" cy="1828800"/>
          </a:xfrm>
          <a:prstGeom prst="rect">
            <a:avLst/>
          </a:prstGeom>
          <a:solidFill>
            <a:srgbClr val="FFFFFF"/>
          </a:solidFill>
          <a:ln w="15875">
            <a:solidFill>
              <a:srgbClr val="1A2540"/>
            </a:solidFill>
            <a:prstDash val="solid"/>
          </a:ln>
        </p:spPr>
      </p:sp>
      <p:sp>
        <p:nvSpPr>
          <p:cNvPr id="30" name="Shape 28"/>
          <p:cNvSpPr/>
          <p:nvPr/>
        </p:nvSpPr>
        <p:spPr>
          <a:xfrm>
            <a:off x="9171432" y="2514600"/>
            <a:ext cx="2377440" cy="457200"/>
          </a:xfrm>
          <a:prstGeom prst="rect">
            <a:avLst/>
          </a:prstGeom>
          <a:solidFill>
            <a:srgbClr val="1A2540"/>
          </a:solidFill>
          <a:ln/>
        </p:spPr>
      </p:sp>
      <p:sp>
        <p:nvSpPr>
          <p:cNvPr id="31" name="Text 29"/>
          <p:cNvSpPr txBox="1"/>
          <p:nvPr/>
        </p:nvSpPr>
        <p:spPr>
          <a:xfrm>
            <a:off x="9262872" y="2514600"/>
            <a:ext cx="2194560" cy="457200"/>
          </a:xfrm>
          <a:prstGeom prst="rect">
            <a:avLst/>
          </a:prstGeom>
          <a:noFill/>
          <a:ln/>
        </p:spPr>
        <p:txBody>
          <a:bodyPr wrap="square" lIns="0" tIns="0" rIns="0" bIns="0" rtlCol="0" anchor="ctr"/>
          <a:lstStyle/>
          <a:p>
            <a:pPr marL="0" indent="0">
              <a:buNone/>
            </a:pPr>
            <a:r>
              <a:rPr lang="en-US" sz="1350" b="1" dirty="0">
                <a:solidFill>
                  <a:srgbClr val="FFFFFF"/>
                </a:solidFill>
              </a:rPr>
              <a:t>Paiement</a:t>
            </a:r>
            <a:endParaRPr lang="en-US" sz="1350" dirty="0"/>
          </a:p>
        </p:txBody>
      </p:sp>
      <p:sp>
        <p:nvSpPr>
          <p:cNvPr id="32" name="Text 30"/>
          <p:cNvSpPr txBox="1"/>
          <p:nvPr/>
        </p:nvSpPr>
        <p:spPr>
          <a:xfrm>
            <a:off x="9281160" y="3063240"/>
            <a:ext cx="2157984" cy="914400"/>
          </a:xfrm>
          <a:prstGeom prst="rect">
            <a:avLst/>
          </a:prstGeom>
          <a:noFill/>
          <a:ln/>
        </p:spPr>
        <p:txBody>
          <a:bodyPr wrap="square" lIns="0" tIns="0" rIns="0" bIns="0" rtlCol="0" anchor="t"/>
          <a:lstStyle/>
          <a:p>
            <a:pPr marL="127000" indent="-127000">
              <a:buSzPct val="100000"/>
              <a:buChar char="•"/>
            </a:pPr>
            <a:r>
              <a:rPr lang="en-US" sz="1250" dirty="0">
                <a:solidFill>
                  <a:srgbClr val="1F2937"/>
                </a:solidFill>
              </a:rPr>
              <a:t>Enregistrement du règlement</a:t>
            </a:r>
            <a:endParaRPr lang="en-US" sz="1250" dirty="0"/>
          </a:p>
          <a:p>
            <a:pPr marL="127000" indent="-127000">
              <a:buSzPct val="100000"/>
              <a:buChar char="•"/>
            </a:pPr>
            <a:r>
              <a:rPr lang="en-US" sz="1250" dirty="0">
                <a:solidFill>
                  <a:srgbClr val="1F2937"/>
                </a:solidFill>
              </a:rPr>
              <a:t>Suivi de l'échéance</a:t>
            </a:r>
            <a:endParaRPr lang="en-US" sz="1250" dirty="0"/>
          </a:p>
        </p:txBody>
      </p:sp>
      <p:sp>
        <p:nvSpPr>
          <p:cNvPr id="33" name="Shape 31"/>
          <p:cNvSpPr/>
          <p:nvPr/>
        </p:nvSpPr>
        <p:spPr>
          <a:xfrm>
            <a:off x="9171432" y="3995928"/>
            <a:ext cx="2377440" cy="0"/>
          </a:xfrm>
          <a:prstGeom prst="line">
            <a:avLst/>
          </a:prstGeom>
          <a:noFill/>
          <a:ln w="9525">
            <a:solidFill>
              <a:srgbClr val="CBD2DC"/>
            </a:solidFill>
            <a:prstDash val="solid"/>
          </a:ln>
        </p:spPr>
      </p:sp>
      <p:sp>
        <p:nvSpPr>
          <p:cNvPr id="34" name="Text 32"/>
          <p:cNvSpPr txBox="1"/>
          <p:nvPr/>
        </p:nvSpPr>
        <p:spPr>
          <a:xfrm>
            <a:off x="9262872" y="3995928"/>
            <a:ext cx="2194560" cy="347472"/>
          </a:xfrm>
          <a:prstGeom prst="rect">
            <a:avLst/>
          </a:prstGeom>
          <a:noFill/>
          <a:ln/>
        </p:spPr>
        <p:txBody>
          <a:bodyPr wrap="square" lIns="0" tIns="0" rIns="0" bIns="0" rtlCol="0" anchor="ctr"/>
          <a:lstStyle/>
          <a:p>
            <a:pPr marL="0" indent="0" algn="ctr">
              <a:buNone/>
            </a:pPr>
            <a:r>
              <a:rPr lang="en-US" sz="1150" i="1" dirty="0">
                <a:solidFill>
                  <a:srgbClr val="5F6B7A"/>
                </a:solidFill>
              </a:rPr>
              <a:t>Complet | relance</a:t>
            </a:r>
            <a:endParaRPr lang="en-US" sz="1150" dirty="0"/>
          </a:p>
        </p:txBody>
      </p:sp>
      <p:sp>
        <p:nvSpPr>
          <p:cNvPr id="35" name="Shape 33"/>
          <p:cNvSpPr/>
          <p:nvPr/>
        </p:nvSpPr>
        <p:spPr>
          <a:xfrm>
            <a:off x="754380" y="4626864"/>
            <a:ext cx="2148840" cy="438912"/>
          </a:xfrm>
          <a:prstGeom prst="ellipse">
            <a:avLst/>
          </a:prstGeom>
          <a:solidFill>
            <a:srgbClr val="F2F4F8"/>
          </a:solidFill>
          <a:ln w="12700">
            <a:solidFill>
              <a:srgbClr val="5F6B7A"/>
            </a:solidFill>
            <a:prstDash val="solid"/>
          </a:ln>
        </p:spPr>
      </p:sp>
      <p:sp>
        <p:nvSpPr>
          <p:cNvPr id="36" name="Text 34"/>
          <p:cNvSpPr txBox="1"/>
          <p:nvPr/>
        </p:nvSpPr>
        <p:spPr>
          <a:xfrm>
            <a:off x="800100" y="4626864"/>
            <a:ext cx="2057400" cy="438912"/>
          </a:xfrm>
          <a:prstGeom prst="rect">
            <a:avLst/>
          </a:prstGeom>
          <a:noFill/>
          <a:ln/>
        </p:spPr>
        <p:txBody>
          <a:bodyPr wrap="square" lIns="0" tIns="0" rIns="0" bIns="0" rtlCol="0" anchor="ctr"/>
          <a:lstStyle/>
          <a:p>
            <a:pPr marL="0" indent="0" algn="ctr">
              <a:buNone/>
            </a:pPr>
            <a:r>
              <a:rPr lang="en-US" sz="1200" dirty="0">
                <a:solidFill>
                  <a:srgbClr val="1F2937"/>
                </a:solidFill>
              </a:rPr>
              <a:t>Produit ou partenaire trouvé</a:t>
            </a:r>
            <a:endParaRPr lang="en-US" sz="1200" dirty="0"/>
          </a:p>
        </p:txBody>
      </p:sp>
      <p:sp>
        <p:nvSpPr>
          <p:cNvPr id="37" name="Shape 35"/>
          <p:cNvSpPr/>
          <p:nvPr/>
        </p:nvSpPr>
        <p:spPr>
          <a:xfrm>
            <a:off x="1828800" y="4343400"/>
            <a:ext cx="0" cy="283464"/>
          </a:xfrm>
          <a:prstGeom prst="line">
            <a:avLst/>
          </a:prstGeom>
          <a:noFill/>
          <a:ln w="15875">
            <a:solidFill>
              <a:srgbClr val="5F6B7A"/>
            </a:solidFill>
            <a:prstDash val="solid"/>
            <a:tailEnd type="triangle"/>
          </a:ln>
        </p:spPr>
      </p:sp>
      <p:sp>
        <p:nvSpPr>
          <p:cNvPr id="38" name="Shape 36"/>
          <p:cNvSpPr/>
          <p:nvPr/>
        </p:nvSpPr>
        <p:spPr>
          <a:xfrm>
            <a:off x="3598164" y="4626864"/>
            <a:ext cx="2148840" cy="438912"/>
          </a:xfrm>
          <a:prstGeom prst="ellipse">
            <a:avLst/>
          </a:prstGeom>
          <a:solidFill>
            <a:srgbClr val="F2F4F8"/>
          </a:solidFill>
          <a:ln w="12700">
            <a:solidFill>
              <a:srgbClr val="5F6B7A"/>
            </a:solidFill>
            <a:prstDash val="solid"/>
          </a:ln>
        </p:spPr>
      </p:sp>
      <p:sp>
        <p:nvSpPr>
          <p:cNvPr id="39" name="Text 37"/>
          <p:cNvSpPr txBox="1"/>
          <p:nvPr/>
        </p:nvSpPr>
        <p:spPr>
          <a:xfrm>
            <a:off x="3643884" y="4626864"/>
            <a:ext cx="2057400" cy="438912"/>
          </a:xfrm>
          <a:prstGeom prst="rect">
            <a:avLst/>
          </a:prstGeom>
          <a:noFill/>
          <a:ln/>
        </p:spPr>
        <p:txBody>
          <a:bodyPr wrap="square" lIns="0" tIns="0" rIns="0" bIns="0" rtlCol="0" anchor="ctr"/>
          <a:lstStyle/>
          <a:p>
            <a:pPr marL="0" indent="0" algn="ctr">
              <a:buNone/>
            </a:pPr>
            <a:r>
              <a:rPr lang="en-US" sz="1200" dirty="0">
                <a:solidFill>
                  <a:srgbClr val="1F2937"/>
                </a:solidFill>
              </a:rPr>
              <a:t>Commande refusée</a:t>
            </a:r>
            <a:endParaRPr lang="en-US" sz="1200" dirty="0"/>
          </a:p>
        </p:txBody>
      </p:sp>
      <p:sp>
        <p:nvSpPr>
          <p:cNvPr id="40" name="Shape 38"/>
          <p:cNvSpPr/>
          <p:nvPr/>
        </p:nvSpPr>
        <p:spPr>
          <a:xfrm>
            <a:off x="4672584" y="4343400"/>
            <a:ext cx="0" cy="283464"/>
          </a:xfrm>
          <a:prstGeom prst="line">
            <a:avLst/>
          </a:prstGeom>
          <a:noFill/>
          <a:ln w="15875">
            <a:solidFill>
              <a:srgbClr val="5F6B7A"/>
            </a:solidFill>
            <a:prstDash val="solid"/>
            <a:tailEnd type="triangle"/>
          </a:ln>
        </p:spPr>
      </p:sp>
      <p:sp>
        <p:nvSpPr>
          <p:cNvPr id="41" name="Shape 39"/>
          <p:cNvSpPr/>
          <p:nvPr/>
        </p:nvSpPr>
        <p:spPr>
          <a:xfrm>
            <a:off x="3598164" y="5193792"/>
            <a:ext cx="2148840" cy="438912"/>
          </a:xfrm>
          <a:prstGeom prst="ellipse">
            <a:avLst/>
          </a:prstGeom>
          <a:solidFill>
            <a:srgbClr val="F2F4F8"/>
          </a:solidFill>
          <a:ln w="12700">
            <a:solidFill>
              <a:srgbClr val="5F6B7A"/>
            </a:solidFill>
            <a:prstDash val="solid"/>
          </a:ln>
        </p:spPr>
      </p:sp>
      <p:sp>
        <p:nvSpPr>
          <p:cNvPr id="42" name="Text 40"/>
          <p:cNvSpPr txBox="1"/>
          <p:nvPr/>
        </p:nvSpPr>
        <p:spPr>
          <a:xfrm>
            <a:off x="3643884" y="5193792"/>
            <a:ext cx="2057400" cy="438912"/>
          </a:xfrm>
          <a:prstGeom prst="rect">
            <a:avLst/>
          </a:prstGeom>
          <a:noFill/>
          <a:ln/>
        </p:spPr>
        <p:txBody>
          <a:bodyPr wrap="square" lIns="0" tIns="0" rIns="0" bIns="0" rtlCol="0" anchor="ctr"/>
          <a:lstStyle/>
          <a:p>
            <a:pPr marL="0" indent="0" algn="ctr">
              <a:buNone/>
            </a:pPr>
            <a:r>
              <a:rPr lang="en-US" sz="1200" dirty="0">
                <a:solidFill>
                  <a:srgbClr val="1F2937"/>
                </a:solidFill>
              </a:rPr>
              <a:t>Commande validée</a:t>
            </a:r>
            <a:endParaRPr lang="en-US" sz="1200" dirty="0"/>
          </a:p>
        </p:txBody>
      </p:sp>
      <p:sp>
        <p:nvSpPr>
          <p:cNvPr id="43" name="Shape 41"/>
          <p:cNvSpPr/>
          <p:nvPr/>
        </p:nvSpPr>
        <p:spPr>
          <a:xfrm>
            <a:off x="6441948" y="4626864"/>
            <a:ext cx="2148840" cy="438912"/>
          </a:xfrm>
          <a:prstGeom prst="ellipse">
            <a:avLst/>
          </a:prstGeom>
          <a:solidFill>
            <a:srgbClr val="F2F4F8"/>
          </a:solidFill>
          <a:ln w="12700">
            <a:solidFill>
              <a:srgbClr val="5F6B7A"/>
            </a:solidFill>
            <a:prstDash val="solid"/>
          </a:ln>
        </p:spPr>
      </p:sp>
      <p:sp>
        <p:nvSpPr>
          <p:cNvPr id="44" name="Text 42"/>
          <p:cNvSpPr txBox="1"/>
          <p:nvPr/>
        </p:nvSpPr>
        <p:spPr>
          <a:xfrm>
            <a:off x="6487668" y="4626864"/>
            <a:ext cx="2057400" cy="438912"/>
          </a:xfrm>
          <a:prstGeom prst="rect">
            <a:avLst/>
          </a:prstGeom>
          <a:noFill/>
          <a:ln/>
        </p:spPr>
        <p:txBody>
          <a:bodyPr wrap="square" lIns="0" tIns="0" rIns="0" bIns="0" rtlCol="0" anchor="ctr"/>
          <a:lstStyle/>
          <a:p>
            <a:pPr marL="0" indent="0" algn="ctr">
              <a:buNone/>
            </a:pPr>
            <a:r>
              <a:rPr lang="en-US" sz="1200" dirty="0">
                <a:solidFill>
                  <a:srgbClr val="1F2937"/>
                </a:solidFill>
              </a:rPr>
              <a:t>Facture émise</a:t>
            </a:r>
            <a:endParaRPr lang="en-US" sz="1200" dirty="0"/>
          </a:p>
        </p:txBody>
      </p:sp>
      <p:sp>
        <p:nvSpPr>
          <p:cNvPr id="45" name="Shape 43"/>
          <p:cNvSpPr/>
          <p:nvPr/>
        </p:nvSpPr>
        <p:spPr>
          <a:xfrm>
            <a:off x="7516368" y="4343400"/>
            <a:ext cx="0" cy="283464"/>
          </a:xfrm>
          <a:prstGeom prst="line">
            <a:avLst/>
          </a:prstGeom>
          <a:noFill/>
          <a:ln w="15875">
            <a:solidFill>
              <a:srgbClr val="5F6B7A"/>
            </a:solidFill>
            <a:prstDash val="solid"/>
            <a:tailEnd type="triangle"/>
          </a:ln>
        </p:spPr>
      </p:sp>
      <p:sp>
        <p:nvSpPr>
          <p:cNvPr id="46" name="Shape 44"/>
          <p:cNvSpPr/>
          <p:nvPr/>
        </p:nvSpPr>
        <p:spPr>
          <a:xfrm>
            <a:off x="9285732" y="4626864"/>
            <a:ext cx="2148840" cy="438912"/>
          </a:xfrm>
          <a:prstGeom prst="ellipse">
            <a:avLst/>
          </a:prstGeom>
          <a:solidFill>
            <a:srgbClr val="F2F4F8"/>
          </a:solidFill>
          <a:ln w="12700">
            <a:solidFill>
              <a:srgbClr val="5F6B7A"/>
            </a:solidFill>
            <a:prstDash val="solid"/>
          </a:ln>
        </p:spPr>
      </p:sp>
      <p:sp>
        <p:nvSpPr>
          <p:cNvPr id="47" name="Text 45"/>
          <p:cNvSpPr txBox="1"/>
          <p:nvPr/>
        </p:nvSpPr>
        <p:spPr>
          <a:xfrm>
            <a:off x="9331452" y="4626864"/>
            <a:ext cx="2057400" cy="438912"/>
          </a:xfrm>
          <a:prstGeom prst="rect">
            <a:avLst/>
          </a:prstGeom>
          <a:noFill/>
          <a:ln/>
        </p:spPr>
        <p:txBody>
          <a:bodyPr wrap="square" lIns="0" tIns="0" rIns="0" bIns="0" rtlCol="0" anchor="ctr"/>
          <a:lstStyle/>
          <a:p>
            <a:pPr marL="0" indent="0" algn="ctr">
              <a:buNone/>
            </a:pPr>
            <a:r>
              <a:rPr lang="en-US" sz="1200" dirty="0">
                <a:solidFill>
                  <a:srgbClr val="1F2937"/>
                </a:solidFill>
              </a:rPr>
              <a:t>Commande réglée</a:t>
            </a:r>
            <a:endParaRPr lang="en-US" sz="1200" dirty="0"/>
          </a:p>
        </p:txBody>
      </p:sp>
      <p:sp>
        <p:nvSpPr>
          <p:cNvPr id="48" name="Shape 46"/>
          <p:cNvSpPr/>
          <p:nvPr/>
        </p:nvSpPr>
        <p:spPr>
          <a:xfrm>
            <a:off x="10360152" y="4343400"/>
            <a:ext cx="0" cy="283464"/>
          </a:xfrm>
          <a:prstGeom prst="line">
            <a:avLst/>
          </a:prstGeom>
          <a:noFill/>
          <a:ln w="15875">
            <a:solidFill>
              <a:srgbClr val="5F6B7A"/>
            </a:solidFill>
            <a:prstDash val="solid"/>
            <a:tailEnd type="triangle"/>
          </a:ln>
        </p:spPr>
      </p:sp>
      <p:sp>
        <p:nvSpPr>
          <p:cNvPr id="49" name="Shape 47"/>
          <p:cNvSpPr/>
          <p:nvPr/>
        </p:nvSpPr>
        <p:spPr>
          <a:xfrm>
            <a:off x="9285732" y="5193792"/>
            <a:ext cx="2148840" cy="438912"/>
          </a:xfrm>
          <a:prstGeom prst="ellipse">
            <a:avLst/>
          </a:prstGeom>
          <a:solidFill>
            <a:srgbClr val="F2F4F8"/>
          </a:solidFill>
          <a:ln w="12700">
            <a:solidFill>
              <a:srgbClr val="5F6B7A"/>
            </a:solidFill>
            <a:prstDash val="solid"/>
          </a:ln>
        </p:spPr>
      </p:sp>
      <p:sp>
        <p:nvSpPr>
          <p:cNvPr id="50" name="Text 48"/>
          <p:cNvSpPr txBox="1"/>
          <p:nvPr/>
        </p:nvSpPr>
        <p:spPr>
          <a:xfrm>
            <a:off x="9331452" y="5193792"/>
            <a:ext cx="2057400" cy="438912"/>
          </a:xfrm>
          <a:prstGeom prst="rect">
            <a:avLst/>
          </a:prstGeom>
          <a:noFill/>
          <a:ln/>
        </p:spPr>
        <p:txBody>
          <a:bodyPr wrap="square" lIns="0" tIns="0" rIns="0" bIns="0" rtlCol="0" anchor="ctr"/>
          <a:lstStyle/>
          <a:p>
            <a:pPr marL="0" indent="0" algn="ctr">
              <a:buNone/>
            </a:pPr>
            <a:r>
              <a:rPr lang="en-US" sz="1200" dirty="0">
                <a:solidFill>
                  <a:srgbClr val="1F2937"/>
                </a:solidFill>
              </a:rPr>
              <a:t>Relance de paiement</a:t>
            </a:r>
            <a:endParaRPr lang="en-US" sz="1200" dirty="0"/>
          </a:p>
        </p:txBody>
      </p:sp>
      <p:sp>
        <p:nvSpPr>
          <p:cNvPr id="51" name="Shape 49"/>
          <p:cNvSpPr/>
          <p:nvPr/>
        </p:nvSpPr>
        <p:spPr>
          <a:xfrm flipV="1">
            <a:off x="2907792" y="3429000"/>
            <a:ext cx="557784" cy="1417320"/>
          </a:xfrm>
          <a:prstGeom prst="line">
            <a:avLst/>
          </a:prstGeom>
          <a:noFill/>
          <a:ln w="15875">
            <a:solidFill>
              <a:srgbClr val="3A57E0"/>
            </a:solidFill>
            <a:prstDash val="solid"/>
            <a:tailEnd type="triangle"/>
          </a:ln>
        </p:spPr>
      </p:sp>
      <p:sp>
        <p:nvSpPr>
          <p:cNvPr id="52" name="Shape 50"/>
          <p:cNvSpPr/>
          <p:nvPr/>
        </p:nvSpPr>
        <p:spPr>
          <a:xfrm flipV="1">
            <a:off x="5751576" y="3429000"/>
            <a:ext cx="557784" cy="1984248"/>
          </a:xfrm>
          <a:prstGeom prst="line">
            <a:avLst/>
          </a:prstGeom>
          <a:noFill/>
          <a:ln w="15875">
            <a:solidFill>
              <a:srgbClr val="3A57E0"/>
            </a:solidFill>
            <a:prstDash val="solid"/>
            <a:tailEnd type="triangle"/>
          </a:ln>
        </p:spPr>
      </p:sp>
      <p:sp>
        <p:nvSpPr>
          <p:cNvPr id="53" name="Shape 51"/>
          <p:cNvSpPr/>
          <p:nvPr/>
        </p:nvSpPr>
        <p:spPr>
          <a:xfrm flipV="1">
            <a:off x="8595360" y="3429000"/>
            <a:ext cx="557784" cy="1417320"/>
          </a:xfrm>
          <a:prstGeom prst="line">
            <a:avLst/>
          </a:prstGeom>
          <a:noFill/>
          <a:ln w="15875">
            <a:solidFill>
              <a:srgbClr val="3A57E0"/>
            </a:solidFill>
            <a:prstDash val="solid"/>
            <a:tailEnd type="triangle"/>
          </a:ln>
        </p:spPr>
      </p:sp>
      <p:sp>
        <p:nvSpPr>
          <p:cNvPr id="54" name="Text 52"/>
          <p:cNvSpPr txBox="1"/>
          <p:nvPr/>
        </p:nvSpPr>
        <p:spPr>
          <a:xfrm>
            <a:off x="640080" y="6053328"/>
            <a:ext cx="10881360" cy="274320"/>
          </a:xfrm>
          <a:prstGeom prst="rect">
            <a:avLst/>
          </a:prstGeom>
          <a:noFill/>
          <a:ln/>
        </p:spPr>
        <p:txBody>
          <a:bodyPr wrap="square" lIns="0" tIns="0" rIns="0" bIns="0" rtlCol="0" anchor="t"/>
          <a:lstStyle/>
          <a:p>
            <a:pPr marL="0" indent="0">
              <a:buNone/>
            </a:pPr>
            <a:r>
              <a:rPr lang="en-US" sz="1150" i="1" dirty="0">
                <a:solidFill>
                  <a:srgbClr val="5F6B7A"/>
                </a:solidFill>
              </a:rPr>
              <a:t>Figure 14 du mémoire, redessinée. Le MCT décrit ce que fait le système ; le MOT précise ensuite qui, où et quand.</a:t>
            </a:r>
            <a:endParaRPr lang="en-US" sz="1150" dirty="0"/>
          </a:p>
        </p:txBody>
      </p:sp>
      <p:sp>
        <p:nvSpPr>
          <p:cNvPr id="55" name="Slide Number Placeholder 0"/>
          <p:cNvSpPr>
            <a:spLocks noGrp="1"/>
          </p:cNvSpPr>
          <p:nvPr>
            <p:ph type="sldNum" sz="quarter" idx="4294967295"/>
          </p:nvPr>
        </p:nvSpPr>
        <p:spPr>
          <a:xfrm>
            <a:off x="1100023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defRPr>
            </a:lvl1pPr>
          </a:lstStyle>
          <a:p>
            <a:pPr algn="r"/>
            <a:fld id="{F7021451-1387-4CA6-816F-3879F97B5CBC}" type="slidenum">
              <a:rPr lang="en-US" b="0"/>
              <a:t>13</a:t>
            </a:fld>
            <a:endParaRPr lang="en-US"/>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411480"/>
            <a:ext cx="10908792" cy="274320"/>
          </a:xfrm>
          <a:prstGeom prst="rect">
            <a:avLst/>
          </a:prstGeom>
          <a:noFill/>
          <a:ln/>
        </p:spPr>
        <p:txBody>
          <a:bodyPr wrap="square" lIns="0" tIns="0" rIns="0" bIns="0" rtlCol="0" anchor="t"/>
          <a:lstStyle/>
          <a:p>
            <a:pPr marL="0" indent="0" algn="l">
              <a:buNone/>
            </a:pPr>
            <a:r>
              <a:rPr lang="en-US" sz="1200" b="1" dirty="0">
                <a:solidFill>
                  <a:srgbClr val="3A57E0"/>
                </a:solidFill>
              </a:rPr>
              <a:t>5 · Réalisation</a:t>
            </a:r>
            <a:endParaRPr lang="en-US" sz="1200" dirty="0"/>
          </a:p>
        </p:txBody>
      </p:sp>
      <p:sp>
        <p:nvSpPr>
          <p:cNvPr id="3" name="Text 1"/>
          <p:cNvSpPr>
            <a:spLocks noGrp="1"/>
          </p:cNvSpPr>
          <p:nvPr>
            <p:ph type="title" idx="102" hasCustomPrompt="1"/>
          </p:nvPr>
        </p:nvSpPr>
        <p:spPr>
          <a:xfrm>
            <a:off x="640080" y="713232"/>
            <a:ext cx="10908792" cy="640080"/>
          </a:xfrm>
          <a:prstGeom prst="rect">
            <a:avLst/>
          </a:prstGeom>
          <a:noFill/>
          <a:ln/>
        </p:spPr>
        <p:txBody>
          <a:bodyPr wrap="square" lIns="0" tIns="0" rIns="0" bIns="0" rtlCol="0" anchor="t"/>
          <a:lstStyle/>
          <a:p>
            <a:pPr marL="0" indent="0" algn="l">
              <a:buNone/>
            </a:pPr>
            <a:r>
              <a:rPr lang="en-US" sz="3000" b="1" dirty="0">
                <a:solidFill>
                  <a:srgbClr val="1A2540"/>
                </a:solidFill>
              </a:rPr>
              <a:t>Des choix techniques justifiés</a:t>
            </a:r>
            <a:endParaRPr lang="en-US" sz="3000" dirty="0"/>
          </a:p>
        </p:txBody>
      </p:sp>
      <p:sp>
        <p:nvSpPr>
          <p:cNvPr id="4" name="Text 2"/>
          <p:cNvSpPr txBox="1"/>
          <p:nvPr/>
        </p:nvSpPr>
        <p:spPr>
          <a:xfrm>
            <a:off x="1371600" y="1417320"/>
            <a:ext cx="3200400" cy="274320"/>
          </a:xfrm>
          <a:prstGeom prst="rect">
            <a:avLst/>
          </a:prstGeom>
          <a:noFill/>
          <a:ln/>
        </p:spPr>
        <p:txBody>
          <a:bodyPr wrap="square" lIns="0" tIns="0" rIns="0" bIns="0" rtlCol="0" anchor="t"/>
          <a:lstStyle/>
          <a:p>
            <a:pPr marL="0" indent="0">
              <a:buNone/>
            </a:pPr>
            <a:r>
              <a:rPr lang="en-US" sz="1250" dirty="0">
                <a:solidFill>
                  <a:srgbClr val="5F6B7A"/>
                </a:solidFill>
              </a:rPr>
              <a:t>Technologie</a:t>
            </a:r>
            <a:endParaRPr lang="en-US" sz="1250" dirty="0"/>
          </a:p>
        </p:txBody>
      </p:sp>
      <p:sp>
        <p:nvSpPr>
          <p:cNvPr id="5" name="Text 3"/>
          <p:cNvSpPr txBox="1"/>
          <p:nvPr/>
        </p:nvSpPr>
        <p:spPr>
          <a:xfrm>
            <a:off x="4846320" y="1417320"/>
            <a:ext cx="6400800" cy="274320"/>
          </a:xfrm>
          <a:prstGeom prst="rect">
            <a:avLst/>
          </a:prstGeom>
          <a:noFill/>
          <a:ln/>
        </p:spPr>
        <p:txBody>
          <a:bodyPr wrap="square" lIns="0" tIns="0" rIns="0" bIns="0" rtlCol="0" anchor="t"/>
          <a:lstStyle/>
          <a:p>
            <a:pPr marL="0" indent="0">
              <a:buNone/>
            </a:pPr>
            <a:r>
              <a:rPr lang="en-US" sz="1250" dirty="0">
                <a:solidFill>
                  <a:srgbClr val="5F6B7A"/>
                </a:solidFill>
              </a:rPr>
              <a:t>Pourquoi dans FactuPro</a:t>
            </a:r>
            <a:endParaRPr lang="en-US" sz="1250" dirty="0"/>
          </a:p>
        </p:txBody>
      </p:sp>
      <p:sp>
        <p:nvSpPr>
          <p:cNvPr id="6" name="Shape 4"/>
          <p:cNvSpPr/>
          <p:nvPr/>
        </p:nvSpPr>
        <p:spPr>
          <a:xfrm>
            <a:off x="640080" y="1737360"/>
            <a:ext cx="10908792" cy="0"/>
          </a:xfrm>
          <a:prstGeom prst="line">
            <a:avLst/>
          </a:prstGeom>
          <a:noFill/>
          <a:ln w="9525">
            <a:solidFill>
              <a:srgbClr val="CBD2DC"/>
            </a:solidFill>
            <a:prstDash val="solid"/>
          </a:ln>
        </p:spPr>
      </p:sp>
      <p:pic>
        <p:nvPicPr>
          <p:cNvPr id="7" name="Image 0" descr="preencoded.png"/>
          <p:cNvPicPr>
            <a:picLocks noChangeAspect="1"/>
          </p:cNvPicPr>
          <p:nvPr/>
        </p:nvPicPr>
        <p:blipFill>
          <a:blip r:embed="rId3"/>
          <a:stretch>
            <a:fillRect/>
          </a:stretch>
        </p:blipFill>
        <p:spPr>
          <a:xfrm>
            <a:off x="685800" y="1856232"/>
            <a:ext cx="402336" cy="402336"/>
          </a:xfrm>
          <a:prstGeom prst="rect">
            <a:avLst/>
          </a:prstGeom>
        </p:spPr>
      </p:pic>
      <p:sp>
        <p:nvSpPr>
          <p:cNvPr id="8" name="Text 5"/>
          <p:cNvSpPr txBox="1"/>
          <p:nvPr/>
        </p:nvSpPr>
        <p:spPr>
          <a:xfrm>
            <a:off x="1371600" y="1737360"/>
            <a:ext cx="3383280" cy="640080"/>
          </a:xfrm>
          <a:prstGeom prst="rect">
            <a:avLst/>
          </a:prstGeom>
          <a:noFill/>
          <a:ln/>
        </p:spPr>
        <p:txBody>
          <a:bodyPr wrap="square" lIns="0" tIns="0" rIns="0" bIns="0" rtlCol="0" anchor="ctr"/>
          <a:lstStyle/>
          <a:p>
            <a:pPr marL="0" indent="0">
              <a:buNone/>
            </a:pPr>
            <a:r>
              <a:rPr lang="en-US" sz="1800" b="1" dirty="0">
                <a:solidFill>
                  <a:srgbClr val="1A2540"/>
                </a:solidFill>
              </a:rPr>
              <a:t>PHP 8.3</a:t>
            </a:r>
            <a:endParaRPr lang="en-US" sz="1800" dirty="0"/>
          </a:p>
        </p:txBody>
      </p:sp>
      <p:sp>
        <p:nvSpPr>
          <p:cNvPr id="9" name="Text 6"/>
          <p:cNvSpPr txBox="1"/>
          <p:nvPr/>
        </p:nvSpPr>
        <p:spPr>
          <a:xfrm>
            <a:off x="4846320" y="1737360"/>
            <a:ext cx="6675120" cy="640080"/>
          </a:xfrm>
          <a:prstGeom prst="rect">
            <a:avLst/>
          </a:prstGeom>
          <a:noFill/>
          <a:ln/>
        </p:spPr>
        <p:txBody>
          <a:bodyPr wrap="square" lIns="0" tIns="0" rIns="0" bIns="0" rtlCol="0" anchor="ctr"/>
          <a:lstStyle/>
          <a:p>
            <a:pPr marL="0" indent="0">
              <a:buNone/>
            </a:pPr>
            <a:r>
              <a:rPr lang="en-US" sz="1600" dirty="0">
                <a:solidFill>
                  <a:srgbClr val="1F2937"/>
                </a:solidFill>
              </a:rPr>
              <a:t>Logique côté serveur, en PHP natif, sans framework</a:t>
            </a:r>
            <a:endParaRPr lang="en-US" sz="1600" dirty="0"/>
          </a:p>
        </p:txBody>
      </p:sp>
      <p:sp>
        <p:nvSpPr>
          <p:cNvPr id="10" name="Shape 7"/>
          <p:cNvSpPr/>
          <p:nvPr/>
        </p:nvSpPr>
        <p:spPr>
          <a:xfrm>
            <a:off x="640080" y="2377440"/>
            <a:ext cx="10908792" cy="0"/>
          </a:xfrm>
          <a:prstGeom prst="line">
            <a:avLst/>
          </a:prstGeom>
          <a:noFill/>
          <a:ln w="9525">
            <a:solidFill>
              <a:srgbClr val="CBD2DC"/>
            </a:solidFill>
            <a:prstDash val="solid"/>
          </a:ln>
        </p:spPr>
      </p:sp>
      <p:pic>
        <p:nvPicPr>
          <p:cNvPr id="11" name="Image 1" descr="preencoded.png"/>
          <p:cNvPicPr>
            <a:picLocks noChangeAspect="1"/>
          </p:cNvPicPr>
          <p:nvPr/>
        </p:nvPicPr>
        <p:blipFill>
          <a:blip r:embed="rId4"/>
          <a:stretch>
            <a:fillRect/>
          </a:stretch>
        </p:blipFill>
        <p:spPr>
          <a:xfrm>
            <a:off x="685800" y="2496312"/>
            <a:ext cx="402336" cy="402336"/>
          </a:xfrm>
          <a:prstGeom prst="rect">
            <a:avLst/>
          </a:prstGeom>
        </p:spPr>
      </p:pic>
      <p:sp>
        <p:nvSpPr>
          <p:cNvPr id="12" name="Text 8"/>
          <p:cNvSpPr txBox="1"/>
          <p:nvPr/>
        </p:nvSpPr>
        <p:spPr>
          <a:xfrm>
            <a:off x="1371600" y="2377440"/>
            <a:ext cx="3383280" cy="640080"/>
          </a:xfrm>
          <a:prstGeom prst="rect">
            <a:avLst/>
          </a:prstGeom>
          <a:noFill/>
          <a:ln/>
        </p:spPr>
        <p:txBody>
          <a:bodyPr wrap="square" lIns="0" tIns="0" rIns="0" bIns="0" rtlCol="0" anchor="ctr"/>
          <a:lstStyle/>
          <a:p>
            <a:pPr marL="0" indent="0">
              <a:buNone/>
            </a:pPr>
            <a:r>
              <a:rPr lang="en-US" sz="1800" b="1" dirty="0">
                <a:solidFill>
                  <a:srgbClr val="1A2540"/>
                </a:solidFill>
              </a:rPr>
              <a:t>MySQL 8.0</a:t>
            </a:r>
            <a:endParaRPr lang="en-US" sz="1800" dirty="0"/>
          </a:p>
        </p:txBody>
      </p:sp>
      <p:sp>
        <p:nvSpPr>
          <p:cNvPr id="13" name="Text 9"/>
          <p:cNvSpPr txBox="1"/>
          <p:nvPr/>
        </p:nvSpPr>
        <p:spPr>
          <a:xfrm>
            <a:off x="4846320" y="2377440"/>
            <a:ext cx="6675120" cy="640080"/>
          </a:xfrm>
          <a:prstGeom prst="rect">
            <a:avLst/>
          </a:prstGeom>
          <a:noFill/>
          <a:ln/>
        </p:spPr>
        <p:txBody>
          <a:bodyPr wrap="square" lIns="0" tIns="0" rIns="0" bIns="0" rtlCol="0" anchor="ctr"/>
          <a:lstStyle/>
          <a:p>
            <a:pPr marL="0" indent="0">
              <a:buNone/>
            </a:pPr>
            <a:r>
              <a:rPr lang="en-US" sz="1600" dirty="0">
                <a:solidFill>
                  <a:srgbClr val="1F2937"/>
                </a:solidFill>
              </a:rPr>
              <a:t>Données relationnelles : intégrité par clés primaires et étrangères</a:t>
            </a:r>
            <a:endParaRPr lang="en-US" sz="1600" dirty="0"/>
          </a:p>
        </p:txBody>
      </p:sp>
      <p:sp>
        <p:nvSpPr>
          <p:cNvPr id="14" name="Shape 10"/>
          <p:cNvSpPr/>
          <p:nvPr/>
        </p:nvSpPr>
        <p:spPr>
          <a:xfrm>
            <a:off x="640080" y="3017520"/>
            <a:ext cx="10908792" cy="0"/>
          </a:xfrm>
          <a:prstGeom prst="line">
            <a:avLst/>
          </a:prstGeom>
          <a:noFill/>
          <a:ln w="9525">
            <a:solidFill>
              <a:srgbClr val="CBD2DC"/>
            </a:solidFill>
            <a:prstDash val="solid"/>
          </a:ln>
        </p:spPr>
      </p:sp>
      <p:sp>
        <p:nvSpPr>
          <p:cNvPr id="15" name="Shape 11"/>
          <p:cNvSpPr/>
          <p:nvPr/>
        </p:nvSpPr>
        <p:spPr>
          <a:xfrm>
            <a:off x="685800" y="3154680"/>
            <a:ext cx="402336" cy="365760"/>
          </a:xfrm>
          <a:prstGeom prst="rect">
            <a:avLst/>
          </a:prstGeom>
          <a:solidFill>
            <a:srgbClr val="F2F4F8"/>
          </a:solidFill>
          <a:ln w="12700">
            <a:solidFill>
              <a:srgbClr val="CBD2DC"/>
            </a:solidFill>
            <a:prstDash val="solid"/>
          </a:ln>
        </p:spPr>
      </p:sp>
      <p:sp>
        <p:nvSpPr>
          <p:cNvPr id="16" name="Text 12"/>
          <p:cNvSpPr txBox="1"/>
          <p:nvPr/>
        </p:nvSpPr>
        <p:spPr>
          <a:xfrm>
            <a:off x="685800" y="3154680"/>
            <a:ext cx="402336" cy="365760"/>
          </a:xfrm>
          <a:prstGeom prst="rect">
            <a:avLst/>
          </a:prstGeom>
          <a:noFill/>
          <a:ln/>
        </p:spPr>
        <p:txBody>
          <a:bodyPr wrap="square" lIns="0" tIns="0" rIns="0" bIns="0" rtlCol="0" anchor="ctr"/>
          <a:lstStyle/>
          <a:p>
            <a:pPr marL="0" indent="0" algn="ctr">
              <a:buNone/>
            </a:pPr>
            <a:r>
              <a:rPr lang="en-US" sz="900" b="1" dirty="0">
                <a:solidFill>
                  <a:srgbClr val="1A2540"/>
                </a:solidFill>
              </a:rPr>
              <a:t>PDO</a:t>
            </a:r>
            <a:endParaRPr lang="en-US" sz="900" dirty="0"/>
          </a:p>
        </p:txBody>
      </p:sp>
      <p:sp>
        <p:nvSpPr>
          <p:cNvPr id="17" name="Text 13"/>
          <p:cNvSpPr txBox="1"/>
          <p:nvPr/>
        </p:nvSpPr>
        <p:spPr>
          <a:xfrm>
            <a:off x="1371600" y="3017520"/>
            <a:ext cx="3383280" cy="640080"/>
          </a:xfrm>
          <a:prstGeom prst="rect">
            <a:avLst/>
          </a:prstGeom>
          <a:noFill/>
          <a:ln/>
        </p:spPr>
        <p:txBody>
          <a:bodyPr wrap="square" lIns="0" tIns="0" rIns="0" bIns="0" rtlCol="0" anchor="ctr"/>
          <a:lstStyle/>
          <a:p>
            <a:pPr marL="0" indent="0">
              <a:buNone/>
            </a:pPr>
            <a:r>
              <a:rPr lang="en-US" sz="1800" b="1" dirty="0">
                <a:solidFill>
                  <a:srgbClr val="1A2540"/>
                </a:solidFill>
              </a:rPr>
              <a:t>PDO</a:t>
            </a:r>
            <a:endParaRPr lang="en-US" sz="1800" dirty="0"/>
          </a:p>
        </p:txBody>
      </p:sp>
      <p:sp>
        <p:nvSpPr>
          <p:cNvPr id="18" name="Text 14"/>
          <p:cNvSpPr txBox="1"/>
          <p:nvPr/>
        </p:nvSpPr>
        <p:spPr>
          <a:xfrm>
            <a:off x="4846320" y="3017520"/>
            <a:ext cx="6675120" cy="640080"/>
          </a:xfrm>
          <a:prstGeom prst="rect">
            <a:avLst/>
          </a:prstGeom>
          <a:noFill/>
          <a:ln/>
        </p:spPr>
        <p:txBody>
          <a:bodyPr wrap="square" lIns="0" tIns="0" rIns="0" bIns="0" rtlCol="0" anchor="ctr"/>
          <a:lstStyle/>
          <a:p>
            <a:pPr marL="0" indent="0">
              <a:buNone/>
            </a:pPr>
            <a:r>
              <a:rPr lang="en-US" sz="1600" dirty="0">
                <a:solidFill>
                  <a:srgbClr val="1F2937"/>
                </a:solidFill>
              </a:rPr>
              <a:t>Accès sécurisé à la base : requêtes préparées contre les injections SQL</a:t>
            </a:r>
            <a:endParaRPr lang="en-US" sz="1600" dirty="0"/>
          </a:p>
        </p:txBody>
      </p:sp>
      <p:sp>
        <p:nvSpPr>
          <p:cNvPr id="19" name="Shape 15"/>
          <p:cNvSpPr/>
          <p:nvPr/>
        </p:nvSpPr>
        <p:spPr>
          <a:xfrm>
            <a:off x="640080" y="3657600"/>
            <a:ext cx="10908792" cy="0"/>
          </a:xfrm>
          <a:prstGeom prst="line">
            <a:avLst/>
          </a:prstGeom>
          <a:noFill/>
          <a:ln w="9525">
            <a:solidFill>
              <a:srgbClr val="CBD2DC"/>
            </a:solidFill>
            <a:prstDash val="solid"/>
          </a:ln>
        </p:spPr>
      </p:sp>
      <p:sp>
        <p:nvSpPr>
          <p:cNvPr id="20" name="Shape 16"/>
          <p:cNvSpPr/>
          <p:nvPr/>
        </p:nvSpPr>
        <p:spPr>
          <a:xfrm>
            <a:off x="685800" y="3794760"/>
            <a:ext cx="402336" cy="365760"/>
          </a:xfrm>
          <a:prstGeom prst="rect">
            <a:avLst/>
          </a:prstGeom>
          <a:solidFill>
            <a:srgbClr val="F2F4F8"/>
          </a:solidFill>
          <a:ln w="12700">
            <a:solidFill>
              <a:srgbClr val="CBD2DC"/>
            </a:solidFill>
            <a:prstDash val="solid"/>
          </a:ln>
        </p:spPr>
      </p:sp>
      <p:sp>
        <p:nvSpPr>
          <p:cNvPr id="21" name="Text 17"/>
          <p:cNvSpPr txBox="1"/>
          <p:nvPr/>
        </p:nvSpPr>
        <p:spPr>
          <a:xfrm>
            <a:off x="685800" y="3794760"/>
            <a:ext cx="402336" cy="365760"/>
          </a:xfrm>
          <a:prstGeom prst="rect">
            <a:avLst/>
          </a:prstGeom>
          <a:noFill/>
          <a:ln/>
        </p:spPr>
        <p:txBody>
          <a:bodyPr wrap="square" lIns="0" tIns="0" rIns="0" bIns="0" rtlCol="0" anchor="ctr"/>
          <a:lstStyle/>
          <a:p>
            <a:pPr marL="0" indent="0" algn="ctr">
              <a:buNone/>
            </a:pPr>
            <a:r>
              <a:rPr lang="en-US" sz="900" b="1" dirty="0">
                <a:solidFill>
                  <a:srgbClr val="1A2540"/>
                </a:solidFill>
              </a:rPr>
              <a:t>MVC</a:t>
            </a:r>
            <a:endParaRPr lang="en-US" sz="900" dirty="0"/>
          </a:p>
        </p:txBody>
      </p:sp>
      <p:sp>
        <p:nvSpPr>
          <p:cNvPr id="22" name="Text 18"/>
          <p:cNvSpPr txBox="1"/>
          <p:nvPr/>
        </p:nvSpPr>
        <p:spPr>
          <a:xfrm>
            <a:off x="1371600" y="3657600"/>
            <a:ext cx="3383280" cy="640080"/>
          </a:xfrm>
          <a:prstGeom prst="rect">
            <a:avLst/>
          </a:prstGeom>
          <a:noFill/>
          <a:ln/>
        </p:spPr>
        <p:txBody>
          <a:bodyPr wrap="square" lIns="0" tIns="0" rIns="0" bIns="0" rtlCol="0" anchor="ctr"/>
          <a:lstStyle/>
          <a:p>
            <a:pPr marL="0" indent="0">
              <a:buNone/>
            </a:pPr>
            <a:r>
              <a:rPr lang="en-US" sz="1800" b="1" dirty="0">
                <a:solidFill>
                  <a:srgbClr val="1A2540"/>
                </a:solidFill>
              </a:rPr>
              <a:t>Architecture MVC</a:t>
            </a:r>
            <a:endParaRPr lang="en-US" sz="1800" dirty="0"/>
          </a:p>
        </p:txBody>
      </p:sp>
      <p:sp>
        <p:nvSpPr>
          <p:cNvPr id="23" name="Text 19"/>
          <p:cNvSpPr txBox="1"/>
          <p:nvPr/>
        </p:nvSpPr>
        <p:spPr>
          <a:xfrm>
            <a:off x="4846320" y="3657600"/>
            <a:ext cx="6675120" cy="640080"/>
          </a:xfrm>
          <a:prstGeom prst="rect">
            <a:avLst/>
          </a:prstGeom>
          <a:noFill/>
          <a:ln/>
        </p:spPr>
        <p:txBody>
          <a:bodyPr wrap="square" lIns="0" tIns="0" rIns="0" bIns="0" rtlCol="0" anchor="ctr"/>
          <a:lstStyle/>
          <a:p>
            <a:pPr marL="0" indent="0">
              <a:buNone/>
            </a:pPr>
            <a:r>
              <a:rPr lang="en-US" sz="1600" dirty="0">
                <a:solidFill>
                  <a:srgbClr val="1F2937"/>
                </a:solidFill>
              </a:rPr>
              <a:t>Séparation des données, des écrans et du traitement des requêtes</a:t>
            </a:r>
            <a:endParaRPr lang="en-US" sz="1600" dirty="0"/>
          </a:p>
        </p:txBody>
      </p:sp>
      <p:sp>
        <p:nvSpPr>
          <p:cNvPr id="24" name="Shape 20"/>
          <p:cNvSpPr/>
          <p:nvPr/>
        </p:nvSpPr>
        <p:spPr>
          <a:xfrm>
            <a:off x="640080" y="4297680"/>
            <a:ext cx="10908792" cy="0"/>
          </a:xfrm>
          <a:prstGeom prst="line">
            <a:avLst/>
          </a:prstGeom>
          <a:noFill/>
          <a:ln w="9525">
            <a:solidFill>
              <a:srgbClr val="CBD2DC"/>
            </a:solidFill>
            <a:prstDash val="solid"/>
          </a:ln>
        </p:spPr>
      </p:sp>
      <p:pic>
        <p:nvPicPr>
          <p:cNvPr id="25" name="Image 2" descr="preencoded.png"/>
          <p:cNvPicPr>
            <a:picLocks noChangeAspect="1"/>
          </p:cNvPicPr>
          <p:nvPr/>
        </p:nvPicPr>
        <p:blipFill>
          <a:blip r:embed="rId5"/>
          <a:stretch>
            <a:fillRect/>
          </a:stretch>
        </p:blipFill>
        <p:spPr>
          <a:xfrm>
            <a:off x="685800" y="4416552"/>
            <a:ext cx="402336" cy="402336"/>
          </a:xfrm>
          <a:prstGeom prst="rect">
            <a:avLst/>
          </a:prstGeom>
        </p:spPr>
      </p:pic>
      <p:sp>
        <p:nvSpPr>
          <p:cNvPr id="26" name="Text 21"/>
          <p:cNvSpPr txBox="1"/>
          <p:nvPr/>
        </p:nvSpPr>
        <p:spPr>
          <a:xfrm>
            <a:off x="1371600" y="4297680"/>
            <a:ext cx="3383280" cy="640080"/>
          </a:xfrm>
          <a:prstGeom prst="rect">
            <a:avLst/>
          </a:prstGeom>
          <a:noFill/>
          <a:ln/>
        </p:spPr>
        <p:txBody>
          <a:bodyPr wrap="square" lIns="0" tIns="0" rIns="0" bIns="0" rtlCol="0" anchor="ctr"/>
          <a:lstStyle/>
          <a:p>
            <a:pPr marL="0" indent="0">
              <a:buNone/>
            </a:pPr>
            <a:r>
              <a:rPr lang="en-US" sz="1800" b="1" dirty="0">
                <a:solidFill>
                  <a:srgbClr val="1A2540"/>
                </a:solidFill>
              </a:rPr>
              <a:t>Docker Compose</a:t>
            </a:r>
            <a:endParaRPr lang="en-US" sz="1800" dirty="0"/>
          </a:p>
        </p:txBody>
      </p:sp>
      <p:sp>
        <p:nvSpPr>
          <p:cNvPr id="27" name="Text 22"/>
          <p:cNvSpPr txBox="1"/>
          <p:nvPr/>
        </p:nvSpPr>
        <p:spPr>
          <a:xfrm>
            <a:off x="4846320" y="4297680"/>
            <a:ext cx="6675120" cy="640080"/>
          </a:xfrm>
          <a:prstGeom prst="rect">
            <a:avLst/>
          </a:prstGeom>
          <a:noFill/>
          <a:ln/>
        </p:spPr>
        <p:txBody>
          <a:bodyPr wrap="square" lIns="0" tIns="0" rIns="0" bIns="0" rtlCol="0" anchor="ctr"/>
          <a:lstStyle/>
          <a:p>
            <a:pPr marL="0" indent="0">
              <a:buNone/>
            </a:pPr>
            <a:r>
              <a:rPr lang="en-US" sz="1600" dirty="0">
                <a:solidFill>
                  <a:srgbClr val="1F2937"/>
                </a:solidFill>
              </a:rPr>
              <a:t>Environnement reproductible : Apache et PHP, MySQL, phpMyAdmin</a:t>
            </a:r>
            <a:endParaRPr lang="en-US" sz="1600" dirty="0"/>
          </a:p>
        </p:txBody>
      </p:sp>
      <p:sp>
        <p:nvSpPr>
          <p:cNvPr id="28" name="Shape 23"/>
          <p:cNvSpPr/>
          <p:nvPr/>
        </p:nvSpPr>
        <p:spPr>
          <a:xfrm>
            <a:off x="640080" y="4937760"/>
            <a:ext cx="10908792" cy="0"/>
          </a:xfrm>
          <a:prstGeom prst="line">
            <a:avLst/>
          </a:prstGeom>
          <a:noFill/>
          <a:ln w="9525">
            <a:solidFill>
              <a:srgbClr val="CBD2DC"/>
            </a:solidFill>
            <a:prstDash val="solid"/>
          </a:ln>
        </p:spPr>
      </p:sp>
      <p:pic>
        <p:nvPicPr>
          <p:cNvPr id="29" name="Image 3" descr="preencoded.png"/>
          <p:cNvPicPr>
            <a:picLocks noChangeAspect="1"/>
          </p:cNvPicPr>
          <p:nvPr/>
        </p:nvPicPr>
        <p:blipFill>
          <a:blip r:embed="rId6"/>
          <a:stretch>
            <a:fillRect/>
          </a:stretch>
        </p:blipFill>
        <p:spPr>
          <a:xfrm>
            <a:off x="685800" y="5056632"/>
            <a:ext cx="402336" cy="402336"/>
          </a:xfrm>
          <a:prstGeom prst="rect">
            <a:avLst/>
          </a:prstGeom>
        </p:spPr>
      </p:pic>
      <p:sp>
        <p:nvSpPr>
          <p:cNvPr id="30" name="Text 24"/>
          <p:cNvSpPr txBox="1"/>
          <p:nvPr/>
        </p:nvSpPr>
        <p:spPr>
          <a:xfrm>
            <a:off x="1371600" y="4937760"/>
            <a:ext cx="3383280" cy="640080"/>
          </a:xfrm>
          <a:prstGeom prst="rect">
            <a:avLst/>
          </a:prstGeom>
          <a:noFill/>
          <a:ln/>
        </p:spPr>
        <p:txBody>
          <a:bodyPr wrap="square" lIns="0" tIns="0" rIns="0" bIns="0" rtlCol="0" anchor="ctr"/>
          <a:lstStyle/>
          <a:p>
            <a:pPr marL="0" indent="0">
              <a:buNone/>
            </a:pPr>
            <a:r>
              <a:rPr lang="en-US" sz="1800" b="1" dirty="0">
                <a:solidFill>
                  <a:srgbClr val="1A2540"/>
                </a:solidFill>
              </a:rPr>
              <a:t>Leaflet / OpenStreetMap</a:t>
            </a:r>
            <a:endParaRPr lang="en-US" sz="1800" dirty="0"/>
          </a:p>
        </p:txBody>
      </p:sp>
      <p:sp>
        <p:nvSpPr>
          <p:cNvPr id="31" name="Text 25"/>
          <p:cNvSpPr txBox="1"/>
          <p:nvPr/>
        </p:nvSpPr>
        <p:spPr>
          <a:xfrm>
            <a:off x="4846320" y="4937760"/>
            <a:ext cx="6675120" cy="640080"/>
          </a:xfrm>
          <a:prstGeom prst="rect">
            <a:avLst/>
          </a:prstGeom>
          <a:noFill/>
          <a:ln/>
        </p:spPr>
        <p:txBody>
          <a:bodyPr wrap="square" lIns="0" tIns="0" rIns="0" bIns="0" rtlCol="0" anchor="ctr"/>
          <a:lstStyle/>
          <a:p>
            <a:pPr marL="0" indent="0">
              <a:buNone/>
            </a:pPr>
            <a:r>
              <a:rPr lang="en-US" sz="1600" dirty="0">
                <a:solidFill>
                  <a:srgbClr val="1F2937"/>
                </a:solidFill>
              </a:rPr>
              <a:t>Carte et position des entreprises, utilisées pour calculer les distances</a:t>
            </a:r>
            <a:endParaRPr lang="en-US" sz="1600" dirty="0"/>
          </a:p>
        </p:txBody>
      </p:sp>
      <p:sp>
        <p:nvSpPr>
          <p:cNvPr id="32" name="Shape 26"/>
          <p:cNvSpPr/>
          <p:nvPr/>
        </p:nvSpPr>
        <p:spPr>
          <a:xfrm>
            <a:off x="640080" y="5577840"/>
            <a:ext cx="10908792" cy="0"/>
          </a:xfrm>
          <a:prstGeom prst="line">
            <a:avLst/>
          </a:prstGeom>
          <a:noFill/>
          <a:ln w="9525">
            <a:solidFill>
              <a:srgbClr val="CBD2DC"/>
            </a:solidFill>
            <a:prstDash val="solid"/>
          </a:ln>
        </p:spPr>
      </p:sp>
      <p:sp>
        <p:nvSpPr>
          <p:cNvPr id="33" name="Text 27"/>
          <p:cNvSpPr txBox="1"/>
          <p:nvPr/>
        </p:nvSpPr>
        <p:spPr>
          <a:xfrm>
            <a:off x="640080" y="5760720"/>
            <a:ext cx="10881360" cy="365760"/>
          </a:xfrm>
          <a:prstGeom prst="rect">
            <a:avLst/>
          </a:prstGeom>
          <a:noFill/>
          <a:ln/>
        </p:spPr>
        <p:txBody>
          <a:bodyPr wrap="square" lIns="0" tIns="0" rIns="0" bIns="0" rtlCol="0" anchor="t"/>
          <a:lstStyle/>
          <a:p>
            <a:pPr marL="0" indent="0">
              <a:buNone/>
            </a:pPr>
            <a:r>
              <a:rPr lang="en-US" sz="1400" dirty="0">
                <a:solidFill>
                  <a:srgbClr val="5F6B7A"/>
                </a:solidFill>
              </a:rPr>
              <a:t>Également : HTML5, CSS et JavaScript natifs ; phpdotenv et PHPMailer via Composer ; Visual Studio Code.</a:t>
            </a:r>
            <a:endParaRPr lang="en-US" sz="1400" dirty="0"/>
          </a:p>
        </p:txBody>
      </p:sp>
      <p:sp>
        <p:nvSpPr>
          <p:cNvPr id="34" name="Slide Number Placeholder 0"/>
          <p:cNvSpPr>
            <a:spLocks noGrp="1"/>
          </p:cNvSpPr>
          <p:nvPr>
            <p:ph type="sldNum" sz="quarter" idx="4294967295"/>
          </p:nvPr>
        </p:nvSpPr>
        <p:spPr>
          <a:xfrm>
            <a:off x="1100023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defRPr>
            </a:lvl1pPr>
          </a:lstStyle>
          <a:p>
            <a:pPr algn="r"/>
            <a:fld id="{F7021451-1387-4CA6-816F-3879F97B5CBC}" type="slidenum">
              <a:rPr lang="en-US" b="0"/>
              <a:t>14</a:t>
            </a:fld>
            <a:endParaRPr lang="en-US"/>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411480"/>
            <a:ext cx="10908792" cy="274320"/>
          </a:xfrm>
          <a:prstGeom prst="rect">
            <a:avLst/>
          </a:prstGeom>
          <a:noFill/>
          <a:ln/>
        </p:spPr>
        <p:txBody>
          <a:bodyPr wrap="square" lIns="0" tIns="0" rIns="0" bIns="0" rtlCol="0" anchor="t"/>
          <a:lstStyle/>
          <a:p>
            <a:pPr marL="0" indent="0" algn="l">
              <a:buNone/>
            </a:pPr>
            <a:r>
              <a:rPr lang="en-US" sz="1200" b="1" dirty="0">
                <a:solidFill>
                  <a:srgbClr val="3A57E0"/>
                </a:solidFill>
              </a:rPr>
              <a:t>5 · Réalisation</a:t>
            </a:r>
            <a:endParaRPr lang="en-US" sz="1200" dirty="0"/>
          </a:p>
        </p:txBody>
      </p:sp>
      <p:sp>
        <p:nvSpPr>
          <p:cNvPr id="3" name="Text 1"/>
          <p:cNvSpPr>
            <a:spLocks noGrp="1"/>
          </p:cNvSpPr>
          <p:nvPr>
            <p:ph type="title" idx="102" hasCustomPrompt="1"/>
          </p:nvPr>
        </p:nvSpPr>
        <p:spPr>
          <a:xfrm>
            <a:off x="640080" y="713232"/>
            <a:ext cx="10908792" cy="640080"/>
          </a:xfrm>
          <a:prstGeom prst="rect">
            <a:avLst/>
          </a:prstGeom>
          <a:noFill/>
          <a:ln/>
        </p:spPr>
        <p:txBody>
          <a:bodyPr wrap="square" lIns="0" tIns="0" rIns="0" bIns="0" rtlCol="0" anchor="t"/>
          <a:lstStyle/>
          <a:p>
            <a:pPr marL="0" indent="0" algn="l">
              <a:buNone/>
            </a:pPr>
            <a:r>
              <a:rPr lang="en-US" sz="3000" b="1" dirty="0">
                <a:solidFill>
                  <a:srgbClr val="1A2540"/>
                </a:solidFill>
              </a:rPr>
              <a:t>Architecture de l'application</a:t>
            </a:r>
            <a:endParaRPr lang="en-US" sz="3000" dirty="0"/>
          </a:p>
        </p:txBody>
      </p:sp>
      <p:sp>
        <p:nvSpPr>
          <p:cNvPr id="4" name="Shape 2"/>
          <p:cNvSpPr/>
          <p:nvPr/>
        </p:nvSpPr>
        <p:spPr>
          <a:xfrm>
            <a:off x="914400" y="1508760"/>
            <a:ext cx="5394960" cy="502920"/>
          </a:xfrm>
          <a:prstGeom prst="rect">
            <a:avLst/>
          </a:prstGeom>
          <a:solidFill>
            <a:srgbClr val="FFFFFF"/>
          </a:solidFill>
          <a:ln w="15875">
            <a:solidFill>
              <a:srgbClr val="1A2540"/>
            </a:solidFill>
            <a:prstDash val="solid"/>
          </a:ln>
        </p:spPr>
      </p:sp>
      <p:sp>
        <p:nvSpPr>
          <p:cNvPr id="5" name="Text 3"/>
          <p:cNvSpPr txBox="1"/>
          <p:nvPr/>
        </p:nvSpPr>
        <p:spPr>
          <a:xfrm>
            <a:off x="987552" y="1508760"/>
            <a:ext cx="5248656" cy="502920"/>
          </a:xfrm>
          <a:prstGeom prst="rect">
            <a:avLst/>
          </a:prstGeom>
          <a:noFill/>
          <a:ln/>
        </p:spPr>
        <p:txBody>
          <a:bodyPr wrap="square" lIns="0" tIns="0" rIns="0" bIns="0" rtlCol="0" anchor="ctr"/>
          <a:lstStyle/>
          <a:p>
            <a:pPr marL="0" indent="0" algn="ctr">
              <a:buNone/>
            </a:pPr>
            <a:r>
              <a:rPr lang="en-US" sz="1500" b="1" dirty="0">
                <a:solidFill>
                  <a:srgbClr val="1A2540"/>
                </a:solidFill>
              </a:rPr>
              <a:t>Navigateur de l'utilisateur (HTML, CSS, JavaScript)</a:t>
            </a:r>
            <a:endParaRPr lang="en-US" sz="1500" dirty="0"/>
          </a:p>
        </p:txBody>
      </p:sp>
      <p:sp>
        <p:nvSpPr>
          <p:cNvPr id="6" name="Shape 4"/>
          <p:cNvSpPr/>
          <p:nvPr/>
        </p:nvSpPr>
        <p:spPr>
          <a:xfrm>
            <a:off x="640080" y="2377440"/>
            <a:ext cx="5943600" cy="3794760"/>
          </a:xfrm>
          <a:prstGeom prst="rect">
            <a:avLst/>
          </a:prstGeom>
          <a:ln w="12700">
            <a:solidFill>
              <a:srgbClr val="5F6B7A"/>
            </a:solidFill>
            <a:prstDash val="dash"/>
          </a:ln>
        </p:spPr>
      </p:sp>
      <p:sp>
        <p:nvSpPr>
          <p:cNvPr id="7" name="Text 5"/>
          <p:cNvSpPr txBox="1"/>
          <p:nvPr/>
        </p:nvSpPr>
        <p:spPr>
          <a:xfrm>
            <a:off x="777240" y="2432304"/>
            <a:ext cx="2743200" cy="274320"/>
          </a:xfrm>
          <a:prstGeom prst="rect">
            <a:avLst/>
          </a:prstGeom>
          <a:noFill/>
          <a:ln/>
        </p:spPr>
        <p:txBody>
          <a:bodyPr wrap="square" lIns="0" tIns="0" rIns="0" bIns="0" rtlCol="0" anchor="t"/>
          <a:lstStyle/>
          <a:p>
            <a:pPr marL="0" indent="0">
              <a:buNone/>
            </a:pPr>
            <a:r>
              <a:rPr lang="en-US" sz="1200" b="1" dirty="0">
                <a:solidFill>
                  <a:srgbClr val="5F6B7A"/>
                </a:solidFill>
              </a:rPr>
              <a:t>Docker Compose</a:t>
            </a:r>
            <a:endParaRPr lang="en-US" sz="1200" dirty="0"/>
          </a:p>
        </p:txBody>
      </p:sp>
      <p:sp>
        <p:nvSpPr>
          <p:cNvPr id="8" name="Shape 6"/>
          <p:cNvSpPr/>
          <p:nvPr/>
        </p:nvSpPr>
        <p:spPr>
          <a:xfrm>
            <a:off x="914400" y="2743200"/>
            <a:ext cx="5394960" cy="2240280"/>
          </a:xfrm>
          <a:prstGeom prst="rect">
            <a:avLst/>
          </a:prstGeom>
          <a:ln w="12700">
            <a:solidFill>
              <a:srgbClr val="CBD2DC"/>
            </a:solidFill>
            <a:prstDash val="solid"/>
          </a:ln>
        </p:spPr>
      </p:sp>
      <p:sp>
        <p:nvSpPr>
          <p:cNvPr id="9" name="Text 7"/>
          <p:cNvSpPr txBox="1"/>
          <p:nvPr/>
        </p:nvSpPr>
        <p:spPr>
          <a:xfrm>
            <a:off x="1024128" y="2779776"/>
            <a:ext cx="2743200" cy="274320"/>
          </a:xfrm>
          <a:prstGeom prst="rect">
            <a:avLst/>
          </a:prstGeom>
          <a:noFill/>
          <a:ln/>
        </p:spPr>
        <p:txBody>
          <a:bodyPr wrap="square" lIns="0" tIns="0" rIns="0" bIns="0" rtlCol="0" anchor="t"/>
          <a:lstStyle/>
          <a:p>
            <a:pPr marL="0" indent="0">
              <a:buNone/>
            </a:pPr>
            <a:r>
              <a:rPr lang="en-US" sz="1200" b="1" dirty="0">
                <a:solidFill>
                  <a:srgbClr val="5F6B7A"/>
                </a:solidFill>
              </a:rPr>
              <a:t>Apache + PHP 8.3</a:t>
            </a:r>
            <a:endParaRPr lang="en-US" sz="1200" dirty="0"/>
          </a:p>
        </p:txBody>
      </p:sp>
      <p:sp>
        <p:nvSpPr>
          <p:cNvPr id="10" name="Shape 8"/>
          <p:cNvSpPr/>
          <p:nvPr/>
        </p:nvSpPr>
        <p:spPr>
          <a:xfrm>
            <a:off x="1188720" y="3108960"/>
            <a:ext cx="2194560" cy="457200"/>
          </a:xfrm>
          <a:prstGeom prst="rect">
            <a:avLst/>
          </a:prstGeom>
          <a:solidFill>
            <a:srgbClr val="FFFFFF"/>
          </a:solidFill>
          <a:ln w="15875">
            <a:solidFill>
              <a:srgbClr val="1A2540"/>
            </a:solidFill>
            <a:prstDash val="solid"/>
          </a:ln>
        </p:spPr>
      </p:sp>
      <p:sp>
        <p:nvSpPr>
          <p:cNvPr id="11" name="Text 9"/>
          <p:cNvSpPr txBox="1"/>
          <p:nvPr/>
        </p:nvSpPr>
        <p:spPr>
          <a:xfrm>
            <a:off x="1261872" y="3108960"/>
            <a:ext cx="2048256" cy="457200"/>
          </a:xfrm>
          <a:prstGeom prst="rect">
            <a:avLst/>
          </a:prstGeom>
          <a:noFill/>
          <a:ln/>
        </p:spPr>
        <p:txBody>
          <a:bodyPr wrap="square" lIns="0" tIns="0" rIns="0" bIns="0" rtlCol="0" anchor="ctr"/>
          <a:lstStyle/>
          <a:p>
            <a:pPr marL="0" indent="0" algn="ctr">
              <a:buNone/>
            </a:pPr>
            <a:r>
              <a:rPr lang="en-US" sz="1500" b="1" dirty="0">
                <a:solidFill>
                  <a:srgbClr val="1A2540"/>
                </a:solidFill>
              </a:rPr>
              <a:t>Contrôleur</a:t>
            </a:r>
            <a:endParaRPr lang="en-US" sz="1500" dirty="0"/>
          </a:p>
        </p:txBody>
      </p:sp>
      <p:sp>
        <p:nvSpPr>
          <p:cNvPr id="12" name="Shape 10"/>
          <p:cNvSpPr/>
          <p:nvPr/>
        </p:nvSpPr>
        <p:spPr>
          <a:xfrm>
            <a:off x="3931920" y="3108960"/>
            <a:ext cx="2194560" cy="457200"/>
          </a:xfrm>
          <a:prstGeom prst="rect">
            <a:avLst/>
          </a:prstGeom>
          <a:solidFill>
            <a:srgbClr val="FFFFFF"/>
          </a:solidFill>
          <a:ln w="15875">
            <a:solidFill>
              <a:srgbClr val="1A2540"/>
            </a:solidFill>
            <a:prstDash val="solid"/>
          </a:ln>
        </p:spPr>
      </p:sp>
      <p:sp>
        <p:nvSpPr>
          <p:cNvPr id="13" name="Text 11"/>
          <p:cNvSpPr txBox="1"/>
          <p:nvPr/>
        </p:nvSpPr>
        <p:spPr>
          <a:xfrm>
            <a:off x="4005072" y="3108960"/>
            <a:ext cx="2048256" cy="457200"/>
          </a:xfrm>
          <a:prstGeom prst="rect">
            <a:avLst/>
          </a:prstGeom>
          <a:noFill/>
          <a:ln/>
        </p:spPr>
        <p:txBody>
          <a:bodyPr wrap="square" lIns="0" tIns="0" rIns="0" bIns="0" rtlCol="0" anchor="ctr"/>
          <a:lstStyle/>
          <a:p>
            <a:pPr marL="0" indent="0" algn="ctr">
              <a:buNone/>
            </a:pPr>
            <a:r>
              <a:rPr lang="en-US" sz="1500" b="1" dirty="0">
                <a:solidFill>
                  <a:srgbClr val="1A2540"/>
                </a:solidFill>
              </a:rPr>
              <a:t>Vue</a:t>
            </a:r>
            <a:endParaRPr lang="en-US" sz="1500" dirty="0"/>
          </a:p>
        </p:txBody>
      </p:sp>
      <p:sp>
        <p:nvSpPr>
          <p:cNvPr id="14" name="Shape 12"/>
          <p:cNvSpPr/>
          <p:nvPr/>
        </p:nvSpPr>
        <p:spPr>
          <a:xfrm>
            <a:off x="1188720" y="3767328"/>
            <a:ext cx="2194560" cy="457200"/>
          </a:xfrm>
          <a:prstGeom prst="rect">
            <a:avLst/>
          </a:prstGeom>
          <a:solidFill>
            <a:srgbClr val="FFFFFF"/>
          </a:solidFill>
          <a:ln w="15875">
            <a:solidFill>
              <a:srgbClr val="1A2540"/>
            </a:solidFill>
            <a:prstDash val="solid"/>
          </a:ln>
        </p:spPr>
      </p:sp>
      <p:sp>
        <p:nvSpPr>
          <p:cNvPr id="15" name="Text 13"/>
          <p:cNvSpPr txBox="1"/>
          <p:nvPr/>
        </p:nvSpPr>
        <p:spPr>
          <a:xfrm>
            <a:off x="1261872" y="3767328"/>
            <a:ext cx="2048256" cy="457200"/>
          </a:xfrm>
          <a:prstGeom prst="rect">
            <a:avLst/>
          </a:prstGeom>
          <a:noFill/>
          <a:ln/>
        </p:spPr>
        <p:txBody>
          <a:bodyPr wrap="square" lIns="0" tIns="0" rIns="0" bIns="0" rtlCol="0" anchor="ctr"/>
          <a:lstStyle/>
          <a:p>
            <a:pPr marL="0" indent="0" algn="ctr">
              <a:buNone/>
            </a:pPr>
            <a:r>
              <a:rPr lang="en-US" sz="1400" b="1" dirty="0">
                <a:solidFill>
                  <a:srgbClr val="1A2540"/>
                </a:solidFill>
              </a:rPr>
              <a:t>Modèle / logique métier</a:t>
            </a:r>
            <a:endParaRPr lang="en-US" sz="1400" dirty="0"/>
          </a:p>
        </p:txBody>
      </p:sp>
      <p:sp>
        <p:nvSpPr>
          <p:cNvPr id="16" name="Shape 14"/>
          <p:cNvSpPr/>
          <p:nvPr/>
        </p:nvSpPr>
        <p:spPr>
          <a:xfrm>
            <a:off x="1188720" y="4425696"/>
            <a:ext cx="2194560" cy="411480"/>
          </a:xfrm>
          <a:prstGeom prst="rect">
            <a:avLst/>
          </a:prstGeom>
          <a:solidFill>
            <a:srgbClr val="FFFFFF"/>
          </a:solidFill>
          <a:ln w="15875">
            <a:solidFill>
              <a:srgbClr val="1A2540"/>
            </a:solidFill>
            <a:prstDash val="solid"/>
          </a:ln>
        </p:spPr>
      </p:sp>
      <p:sp>
        <p:nvSpPr>
          <p:cNvPr id="17" name="Text 15"/>
          <p:cNvSpPr txBox="1"/>
          <p:nvPr/>
        </p:nvSpPr>
        <p:spPr>
          <a:xfrm>
            <a:off x="1261872" y="4425696"/>
            <a:ext cx="2048256" cy="411480"/>
          </a:xfrm>
          <a:prstGeom prst="rect">
            <a:avLst/>
          </a:prstGeom>
          <a:noFill/>
          <a:ln/>
        </p:spPr>
        <p:txBody>
          <a:bodyPr wrap="square" lIns="0" tIns="0" rIns="0" bIns="0" rtlCol="0" anchor="ctr"/>
          <a:lstStyle/>
          <a:p>
            <a:pPr marL="0" indent="0" algn="ctr">
              <a:buNone/>
            </a:pPr>
            <a:r>
              <a:rPr lang="en-US" sz="1400" b="1" dirty="0">
                <a:solidFill>
                  <a:srgbClr val="1A2540"/>
                </a:solidFill>
              </a:rPr>
              <a:t>PDO</a:t>
            </a:r>
            <a:endParaRPr lang="en-US" sz="1400" dirty="0"/>
          </a:p>
        </p:txBody>
      </p:sp>
      <p:sp>
        <p:nvSpPr>
          <p:cNvPr id="18" name="Shape 16"/>
          <p:cNvSpPr/>
          <p:nvPr/>
        </p:nvSpPr>
        <p:spPr>
          <a:xfrm>
            <a:off x="1188720" y="5303520"/>
            <a:ext cx="2194560" cy="457200"/>
          </a:xfrm>
          <a:prstGeom prst="rect">
            <a:avLst/>
          </a:prstGeom>
          <a:solidFill>
            <a:srgbClr val="1A2540"/>
          </a:solidFill>
          <a:ln w="15875">
            <a:solidFill>
              <a:srgbClr val="1A2540"/>
            </a:solidFill>
            <a:prstDash val="solid"/>
          </a:ln>
        </p:spPr>
      </p:sp>
      <p:sp>
        <p:nvSpPr>
          <p:cNvPr id="19" name="Text 17"/>
          <p:cNvSpPr txBox="1"/>
          <p:nvPr/>
        </p:nvSpPr>
        <p:spPr>
          <a:xfrm>
            <a:off x="1261872" y="5303520"/>
            <a:ext cx="2048256" cy="457200"/>
          </a:xfrm>
          <a:prstGeom prst="rect">
            <a:avLst/>
          </a:prstGeom>
          <a:noFill/>
          <a:ln/>
        </p:spPr>
        <p:txBody>
          <a:bodyPr wrap="square" lIns="0" tIns="0" rIns="0" bIns="0" rtlCol="0" anchor="ctr"/>
          <a:lstStyle/>
          <a:p>
            <a:pPr marL="0" indent="0" algn="ctr">
              <a:buNone/>
            </a:pPr>
            <a:r>
              <a:rPr lang="en-US" sz="1500" b="1" dirty="0">
                <a:solidFill>
                  <a:srgbClr val="FFFFFF"/>
                </a:solidFill>
              </a:rPr>
              <a:t>MySQL 8.0</a:t>
            </a:r>
            <a:endParaRPr lang="en-US" sz="1500" dirty="0"/>
          </a:p>
        </p:txBody>
      </p:sp>
      <p:sp>
        <p:nvSpPr>
          <p:cNvPr id="20" name="Shape 18"/>
          <p:cNvSpPr/>
          <p:nvPr/>
        </p:nvSpPr>
        <p:spPr>
          <a:xfrm>
            <a:off x="3931920" y="5303520"/>
            <a:ext cx="2194560" cy="457200"/>
          </a:xfrm>
          <a:prstGeom prst="rect">
            <a:avLst/>
          </a:prstGeom>
          <a:solidFill>
            <a:srgbClr val="FFFFFF"/>
          </a:solidFill>
          <a:ln w="15875">
            <a:solidFill>
              <a:srgbClr val="CBD2DC"/>
            </a:solidFill>
            <a:prstDash val="solid"/>
          </a:ln>
        </p:spPr>
      </p:sp>
      <p:sp>
        <p:nvSpPr>
          <p:cNvPr id="21" name="Text 19"/>
          <p:cNvSpPr txBox="1"/>
          <p:nvPr/>
        </p:nvSpPr>
        <p:spPr>
          <a:xfrm>
            <a:off x="4005072" y="5303520"/>
            <a:ext cx="2048256" cy="457200"/>
          </a:xfrm>
          <a:prstGeom prst="rect">
            <a:avLst/>
          </a:prstGeom>
          <a:noFill/>
          <a:ln/>
        </p:spPr>
        <p:txBody>
          <a:bodyPr wrap="square" lIns="0" tIns="0" rIns="0" bIns="0" rtlCol="0" anchor="ctr"/>
          <a:lstStyle/>
          <a:p>
            <a:pPr marL="0" indent="0" algn="ctr">
              <a:buNone/>
            </a:pPr>
            <a:r>
              <a:rPr lang="en-US" sz="1400" b="1" dirty="0">
                <a:solidFill>
                  <a:srgbClr val="5F6B7A"/>
                </a:solidFill>
              </a:rPr>
              <a:t>phpMyAdmin</a:t>
            </a:r>
            <a:endParaRPr lang="en-US" sz="1400" dirty="0"/>
          </a:p>
        </p:txBody>
      </p:sp>
      <p:sp>
        <p:nvSpPr>
          <p:cNvPr id="22" name="Shape 20"/>
          <p:cNvSpPr/>
          <p:nvPr/>
        </p:nvSpPr>
        <p:spPr>
          <a:xfrm>
            <a:off x="2286000" y="2011680"/>
            <a:ext cx="0" cy="1097280"/>
          </a:xfrm>
          <a:prstGeom prst="line">
            <a:avLst/>
          </a:prstGeom>
          <a:noFill/>
          <a:ln w="15875">
            <a:solidFill>
              <a:srgbClr val="1A2540"/>
            </a:solidFill>
            <a:prstDash val="solid"/>
            <a:tailEnd type="triangle"/>
          </a:ln>
        </p:spPr>
      </p:sp>
      <p:sp>
        <p:nvSpPr>
          <p:cNvPr id="23" name="Text 21"/>
          <p:cNvSpPr txBox="1"/>
          <p:nvPr/>
        </p:nvSpPr>
        <p:spPr>
          <a:xfrm>
            <a:off x="2377440" y="2057400"/>
            <a:ext cx="1463040" cy="274320"/>
          </a:xfrm>
          <a:prstGeom prst="rect">
            <a:avLst/>
          </a:prstGeom>
          <a:noFill/>
          <a:ln/>
        </p:spPr>
        <p:txBody>
          <a:bodyPr wrap="square" lIns="0" tIns="0" rIns="0" bIns="0" rtlCol="0" anchor="t"/>
          <a:lstStyle/>
          <a:p>
            <a:pPr marL="0" indent="0">
              <a:buNone/>
            </a:pPr>
            <a:r>
              <a:rPr lang="en-US" sz="1150" i="1" dirty="0">
                <a:solidFill>
                  <a:srgbClr val="5F6B7A"/>
                </a:solidFill>
              </a:rPr>
              <a:t>requête HTTP</a:t>
            </a:r>
            <a:endParaRPr lang="en-US" sz="1150" dirty="0"/>
          </a:p>
        </p:txBody>
      </p:sp>
      <p:sp>
        <p:nvSpPr>
          <p:cNvPr id="24" name="Shape 22"/>
          <p:cNvSpPr/>
          <p:nvPr/>
        </p:nvSpPr>
        <p:spPr>
          <a:xfrm flipV="1">
            <a:off x="5029200" y="2011680"/>
            <a:ext cx="0" cy="1097280"/>
          </a:xfrm>
          <a:prstGeom prst="line">
            <a:avLst/>
          </a:prstGeom>
          <a:noFill/>
          <a:ln w="15875">
            <a:solidFill>
              <a:srgbClr val="1A2540"/>
            </a:solidFill>
            <a:prstDash val="solid"/>
            <a:tailEnd type="triangle"/>
          </a:ln>
        </p:spPr>
      </p:sp>
      <p:sp>
        <p:nvSpPr>
          <p:cNvPr id="25" name="Text 23"/>
          <p:cNvSpPr txBox="1"/>
          <p:nvPr/>
        </p:nvSpPr>
        <p:spPr>
          <a:xfrm>
            <a:off x="5120640" y="2057400"/>
            <a:ext cx="1188720" cy="274320"/>
          </a:xfrm>
          <a:prstGeom prst="rect">
            <a:avLst/>
          </a:prstGeom>
          <a:noFill/>
          <a:ln/>
        </p:spPr>
        <p:txBody>
          <a:bodyPr wrap="square" lIns="0" tIns="0" rIns="0" bIns="0" rtlCol="0" anchor="t"/>
          <a:lstStyle/>
          <a:p>
            <a:pPr marL="0" indent="0">
              <a:buNone/>
            </a:pPr>
            <a:r>
              <a:rPr lang="en-US" sz="1150" i="1" dirty="0">
                <a:solidFill>
                  <a:srgbClr val="5F6B7A"/>
                </a:solidFill>
              </a:rPr>
              <a:t>page HTML</a:t>
            </a:r>
            <a:endParaRPr lang="en-US" sz="1150" dirty="0"/>
          </a:p>
        </p:txBody>
      </p:sp>
      <p:sp>
        <p:nvSpPr>
          <p:cNvPr id="26" name="Shape 24"/>
          <p:cNvSpPr/>
          <p:nvPr/>
        </p:nvSpPr>
        <p:spPr>
          <a:xfrm>
            <a:off x="3383280" y="3337560"/>
            <a:ext cx="548640" cy="0"/>
          </a:xfrm>
          <a:prstGeom prst="line">
            <a:avLst/>
          </a:prstGeom>
          <a:noFill/>
          <a:ln w="15875">
            <a:solidFill>
              <a:srgbClr val="1A2540"/>
            </a:solidFill>
            <a:prstDash val="solid"/>
            <a:tailEnd type="triangle"/>
          </a:ln>
        </p:spPr>
      </p:sp>
      <p:sp>
        <p:nvSpPr>
          <p:cNvPr id="27" name="Shape 25"/>
          <p:cNvSpPr/>
          <p:nvPr/>
        </p:nvSpPr>
        <p:spPr>
          <a:xfrm>
            <a:off x="2286000" y="3566160"/>
            <a:ext cx="0" cy="201168"/>
          </a:xfrm>
          <a:prstGeom prst="line">
            <a:avLst/>
          </a:prstGeom>
          <a:noFill/>
          <a:ln w="15875">
            <a:solidFill>
              <a:srgbClr val="1A2540"/>
            </a:solidFill>
            <a:prstDash val="solid"/>
            <a:headEnd type="triangle"/>
            <a:tailEnd type="triangle"/>
          </a:ln>
        </p:spPr>
      </p:sp>
      <p:sp>
        <p:nvSpPr>
          <p:cNvPr id="28" name="Shape 26"/>
          <p:cNvSpPr/>
          <p:nvPr/>
        </p:nvSpPr>
        <p:spPr>
          <a:xfrm>
            <a:off x="2286000" y="4224528"/>
            <a:ext cx="0" cy="201168"/>
          </a:xfrm>
          <a:prstGeom prst="line">
            <a:avLst/>
          </a:prstGeom>
          <a:noFill/>
          <a:ln w="15875">
            <a:solidFill>
              <a:srgbClr val="1A2540"/>
            </a:solidFill>
            <a:prstDash val="solid"/>
            <a:headEnd type="triangle"/>
            <a:tailEnd type="triangle"/>
          </a:ln>
        </p:spPr>
      </p:sp>
      <p:sp>
        <p:nvSpPr>
          <p:cNvPr id="29" name="Shape 27"/>
          <p:cNvSpPr/>
          <p:nvPr/>
        </p:nvSpPr>
        <p:spPr>
          <a:xfrm>
            <a:off x="2286000" y="4837176"/>
            <a:ext cx="0" cy="466344"/>
          </a:xfrm>
          <a:prstGeom prst="line">
            <a:avLst/>
          </a:prstGeom>
          <a:noFill/>
          <a:ln w="15875">
            <a:solidFill>
              <a:srgbClr val="1A2540"/>
            </a:solidFill>
            <a:prstDash val="solid"/>
            <a:headEnd type="triangle"/>
            <a:tailEnd type="triangle"/>
          </a:ln>
        </p:spPr>
      </p:sp>
      <p:sp>
        <p:nvSpPr>
          <p:cNvPr id="30" name="Shape 28"/>
          <p:cNvSpPr/>
          <p:nvPr/>
        </p:nvSpPr>
        <p:spPr>
          <a:xfrm>
            <a:off x="3383280" y="5532120"/>
            <a:ext cx="548640" cy="0"/>
          </a:xfrm>
          <a:prstGeom prst="line">
            <a:avLst/>
          </a:prstGeom>
          <a:noFill/>
          <a:ln w="15875">
            <a:solidFill>
              <a:srgbClr val="CBD2DC"/>
            </a:solidFill>
            <a:prstDash val="solid"/>
          </a:ln>
        </p:spPr>
      </p:sp>
      <p:sp>
        <p:nvSpPr>
          <p:cNvPr id="31" name="Shape 29"/>
          <p:cNvSpPr/>
          <p:nvPr/>
        </p:nvSpPr>
        <p:spPr>
          <a:xfrm>
            <a:off x="7132320" y="1508760"/>
            <a:ext cx="4416552" cy="0"/>
          </a:xfrm>
          <a:prstGeom prst="line">
            <a:avLst/>
          </a:prstGeom>
          <a:noFill/>
          <a:ln w="9525">
            <a:solidFill>
              <a:srgbClr val="CBD2DC"/>
            </a:solidFill>
            <a:prstDash val="solid"/>
          </a:ln>
        </p:spPr>
      </p:sp>
      <p:sp>
        <p:nvSpPr>
          <p:cNvPr id="32" name="Text 30"/>
          <p:cNvSpPr txBox="1"/>
          <p:nvPr/>
        </p:nvSpPr>
        <p:spPr>
          <a:xfrm>
            <a:off x="7132320" y="1600200"/>
            <a:ext cx="4416552" cy="320040"/>
          </a:xfrm>
          <a:prstGeom prst="rect">
            <a:avLst/>
          </a:prstGeom>
          <a:noFill/>
          <a:ln/>
        </p:spPr>
        <p:txBody>
          <a:bodyPr wrap="square" lIns="0" tIns="0" rIns="0" bIns="0" rtlCol="0" anchor="t"/>
          <a:lstStyle/>
          <a:p>
            <a:pPr marL="0" indent="0">
              <a:buNone/>
            </a:pPr>
            <a:r>
              <a:rPr lang="en-US" sz="1550" b="1" dirty="0">
                <a:solidFill>
                  <a:srgbClr val="1A2540"/>
                </a:solidFill>
              </a:rPr>
              <a:t>Interrogation périodique (JavaScript)</a:t>
            </a:r>
            <a:endParaRPr lang="en-US" sz="1550" dirty="0"/>
          </a:p>
        </p:txBody>
      </p:sp>
      <p:sp>
        <p:nvSpPr>
          <p:cNvPr id="33" name="Text 31"/>
          <p:cNvSpPr txBox="1"/>
          <p:nvPr/>
        </p:nvSpPr>
        <p:spPr>
          <a:xfrm>
            <a:off x="7132320" y="1920240"/>
            <a:ext cx="4416552" cy="457200"/>
          </a:xfrm>
          <a:prstGeom prst="rect">
            <a:avLst/>
          </a:prstGeom>
          <a:noFill/>
          <a:ln/>
        </p:spPr>
        <p:txBody>
          <a:bodyPr wrap="square" lIns="0" tIns="0" rIns="0" bIns="0" rtlCol="0" anchor="t"/>
          <a:lstStyle/>
          <a:p>
            <a:pPr marL="0" indent="0">
              <a:buNone/>
            </a:pPr>
            <a:r>
              <a:rPr lang="en-US" sz="1350" dirty="0">
                <a:solidFill>
                  <a:srgbClr val="5F6B7A"/>
                </a:solidFill>
              </a:rPr>
              <a:t>Messages et notifications B2B rafraîchis à intervalles réguliers</a:t>
            </a:r>
            <a:endParaRPr lang="en-US" sz="1350" dirty="0"/>
          </a:p>
        </p:txBody>
      </p:sp>
      <p:sp>
        <p:nvSpPr>
          <p:cNvPr id="34" name="Shape 32"/>
          <p:cNvSpPr/>
          <p:nvPr/>
        </p:nvSpPr>
        <p:spPr>
          <a:xfrm>
            <a:off x="7132320" y="2441448"/>
            <a:ext cx="4416552" cy="0"/>
          </a:xfrm>
          <a:prstGeom prst="line">
            <a:avLst/>
          </a:prstGeom>
          <a:noFill/>
          <a:ln w="9525">
            <a:solidFill>
              <a:srgbClr val="CBD2DC"/>
            </a:solidFill>
            <a:prstDash val="solid"/>
          </a:ln>
        </p:spPr>
      </p:sp>
      <p:sp>
        <p:nvSpPr>
          <p:cNvPr id="35" name="Text 33"/>
          <p:cNvSpPr txBox="1"/>
          <p:nvPr/>
        </p:nvSpPr>
        <p:spPr>
          <a:xfrm>
            <a:off x="7132320" y="2532888"/>
            <a:ext cx="4416552" cy="320040"/>
          </a:xfrm>
          <a:prstGeom prst="rect">
            <a:avLst/>
          </a:prstGeom>
          <a:noFill/>
          <a:ln/>
        </p:spPr>
        <p:txBody>
          <a:bodyPr wrap="square" lIns="0" tIns="0" rIns="0" bIns="0" rtlCol="0" anchor="t"/>
          <a:lstStyle/>
          <a:p>
            <a:pPr marL="0" indent="0">
              <a:buNone/>
            </a:pPr>
            <a:r>
              <a:rPr lang="en-US" sz="1550" b="1" dirty="0">
                <a:solidFill>
                  <a:srgbClr val="1A2540"/>
                </a:solidFill>
              </a:rPr>
              <a:t>Leaflet / OpenStreetMap</a:t>
            </a:r>
            <a:endParaRPr lang="en-US" sz="1550" dirty="0"/>
          </a:p>
        </p:txBody>
      </p:sp>
      <p:sp>
        <p:nvSpPr>
          <p:cNvPr id="36" name="Text 34"/>
          <p:cNvSpPr txBox="1"/>
          <p:nvPr/>
        </p:nvSpPr>
        <p:spPr>
          <a:xfrm>
            <a:off x="7132320" y="2852928"/>
            <a:ext cx="4416552" cy="457200"/>
          </a:xfrm>
          <a:prstGeom prst="rect">
            <a:avLst/>
          </a:prstGeom>
          <a:noFill/>
          <a:ln/>
        </p:spPr>
        <p:txBody>
          <a:bodyPr wrap="square" lIns="0" tIns="0" rIns="0" bIns="0" rtlCol="0" anchor="t"/>
          <a:lstStyle/>
          <a:p>
            <a:pPr marL="0" indent="0">
              <a:buNone/>
            </a:pPr>
            <a:r>
              <a:rPr lang="en-US" sz="1350" dirty="0">
                <a:solidFill>
                  <a:srgbClr val="5F6B7A"/>
                </a:solidFill>
              </a:rPr>
              <a:t>Carte et position des entreprises, dans le navigateur</a:t>
            </a:r>
            <a:endParaRPr lang="en-US" sz="1350" dirty="0"/>
          </a:p>
        </p:txBody>
      </p:sp>
      <p:sp>
        <p:nvSpPr>
          <p:cNvPr id="37" name="Shape 35"/>
          <p:cNvSpPr/>
          <p:nvPr/>
        </p:nvSpPr>
        <p:spPr>
          <a:xfrm>
            <a:off x="7132320" y="3374136"/>
            <a:ext cx="4416552" cy="0"/>
          </a:xfrm>
          <a:prstGeom prst="line">
            <a:avLst/>
          </a:prstGeom>
          <a:noFill/>
          <a:ln w="9525">
            <a:solidFill>
              <a:srgbClr val="CBD2DC"/>
            </a:solidFill>
            <a:prstDash val="solid"/>
          </a:ln>
        </p:spPr>
      </p:sp>
      <p:sp>
        <p:nvSpPr>
          <p:cNvPr id="38" name="Text 36"/>
          <p:cNvSpPr txBox="1"/>
          <p:nvPr/>
        </p:nvSpPr>
        <p:spPr>
          <a:xfrm>
            <a:off x="7132320" y="3465576"/>
            <a:ext cx="4416552" cy="320040"/>
          </a:xfrm>
          <a:prstGeom prst="rect">
            <a:avLst/>
          </a:prstGeom>
          <a:noFill/>
          <a:ln/>
        </p:spPr>
        <p:txBody>
          <a:bodyPr wrap="square" lIns="0" tIns="0" rIns="0" bIns="0" rtlCol="0" anchor="t"/>
          <a:lstStyle/>
          <a:p>
            <a:pPr marL="0" indent="0">
              <a:buNone/>
            </a:pPr>
            <a:r>
              <a:rPr lang="en-US" sz="1550" b="1" dirty="0">
                <a:solidFill>
                  <a:srgbClr val="1A2540"/>
                </a:solidFill>
              </a:rPr>
              <a:t>PHPMailer</a:t>
            </a:r>
            <a:endParaRPr lang="en-US" sz="1550" dirty="0"/>
          </a:p>
        </p:txBody>
      </p:sp>
      <p:sp>
        <p:nvSpPr>
          <p:cNvPr id="39" name="Text 37"/>
          <p:cNvSpPr txBox="1"/>
          <p:nvPr/>
        </p:nvSpPr>
        <p:spPr>
          <a:xfrm>
            <a:off x="7132320" y="3785616"/>
            <a:ext cx="4416552" cy="457200"/>
          </a:xfrm>
          <a:prstGeom prst="rect">
            <a:avLst/>
          </a:prstGeom>
          <a:noFill/>
          <a:ln/>
        </p:spPr>
        <p:txBody>
          <a:bodyPr wrap="square" lIns="0" tIns="0" rIns="0" bIns="0" rtlCol="0" anchor="t"/>
          <a:lstStyle/>
          <a:p>
            <a:pPr marL="0" indent="0">
              <a:buNone/>
            </a:pPr>
            <a:r>
              <a:rPr lang="en-US" sz="1350" dirty="0">
                <a:solidFill>
                  <a:srgbClr val="5F6B7A"/>
                </a:solidFill>
              </a:rPr>
              <a:t>Envoi d'e-mails, notamment pour le mot de passe oublié</a:t>
            </a:r>
            <a:endParaRPr lang="en-US" sz="1350" dirty="0"/>
          </a:p>
        </p:txBody>
      </p:sp>
      <p:sp>
        <p:nvSpPr>
          <p:cNvPr id="40" name="Shape 38"/>
          <p:cNvSpPr/>
          <p:nvPr/>
        </p:nvSpPr>
        <p:spPr>
          <a:xfrm>
            <a:off x="7132320" y="4306824"/>
            <a:ext cx="4416552" cy="0"/>
          </a:xfrm>
          <a:prstGeom prst="line">
            <a:avLst/>
          </a:prstGeom>
          <a:noFill/>
          <a:ln w="9525">
            <a:solidFill>
              <a:srgbClr val="CBD2DC"/>
            </a:solidFill>
            <a:prstDash val="solid"/>
          </a:ln>
        </p:spPr>
      </p:sp>
      <p:sp>
        <p:nvSpPr>
          <p:cNvPr id="41" name="Text 39"/>
          <p:cNvSpPr txBox="1"/>
          <p:nvPr/>
        </p:nvSpPr>
        <p:spPr>
          <a:xfrm>
            <a:off x="7132320" y="4398264"/>
            <a:ext cx="4416552" cy="320040"/>
          </a:xfrm>
          <a:prstGeom prst="rect">
            <a:avLst/>
          </a:prstGeom>
          <a:noFill/>
          <a:ln/>
        </p:spPr>
        <p:txBody>
          <a:bodyPr wrap="square" lIns="0" tIns="0" rIns="0" bIns="0" rtlCol="0" anchor="t"/>
          <a:lstStyle/>
          <a:p>
            <a:pPr marL="0" indent="0">
              <a:buNone/>
            </a:pPr>
            <a:r>
              <a:rPr lang="en-US" sz="1550" b="1" dirty="0">
                <a:solidFill>
                  <a:srgbClr val="1A2540"/>
                </a:solidFill>
              </a:rPr>
              <a:t>phpdotenv</a:t>
            </a:r>
            <a:endParaRPr lang="en-US" sz="1550" dirty="0"/>
          </a:p>
        </p:txBody>
      </p:sp>
      <p:sp>
        <p:nvSpPr>
          <p:cNvPr id="42" name="Text 40"/>
          <p:cNvSpPr txBox="1"/>
          <p:nvPr/>
        </p:nvSpPr>
        <p:spPr>
          <a:xfrm>
            <a:off x="7132320" y="4718304"/>
            <a:ext cx="4416552" cy="457200"/>
          </a:xfrm>
          <a:prstGeom prst="rect">
            <a:avLst/>
          </a:prstGeom>
          <a:noFill/>
          <a:ln/>
        </p:spPr>
        <p:txBody>
          <a:bodyPr wrap="square" lIns="0" tIns="0" rIns="0" bIns="0" rtlCol="0" anchor="t"/>
          <a:lstStyle/>
          <a:p>
            <a:pPr marL="0" indent="0">
              <a:buNone/>
            </a:pPr>
            <a:r>
              <a:rPr lang="en-US" sz="1350" dirty="0">
                <a:solidFill>
                  <a:srgbClr val="5F6B7A"/>
                </a:solidFill>
              </a:rPr>
              <a:t>Paramètres sensibles stockés dans le fichier .env</a:t>
            </a:r>
            <a:endParaRPr lang="en-US" sz="1350" dirty="0"/>
          </a:p>
        </p:txBody>
      </p:sp>
      <p:sp>
        <p:nvSpPr>
          <p:cNvPr id="43" name="Shape 41"/>
          <p:cNvSpPr/>
          <p:nvPr/>
        </p:nvSpPr>
        <p:spPr>
          <a:xfrm>
            <a:off x="7132320" y="5239512"/>
            <a:ext cx="4416552" cy="0"/>
          </a:xfrm>
          <a:prstGeom prst="line">
            <a:avLst/>
          </a:prstGeom>
          <a:noFill/>
          <a:ln w="9525">
            <a:solidFill>
              <a:srgbClr val="CBD2DC"/>
            </a:solidFill>
            <a:prstDash val="solid"/>
          </a:ln>
        </p:spPr>
      </p:sp>
      <p:sp>
        <p:nvSpPr>
          <p:cNvPr id="44" name="Text 42"/>
          <p:cNvSpPr txBox="1"/>
          <p:nvPr/>
        </p:nvSpPr>
        <p:spPr>
          <a:xfrm>
            <a:off x="7132320" y="5330952"/>
            <a:ext cx="4416552" cy="320040"/>
          </a:xfrm>
          <a:prstGeom prst="rect">
            <a:avLst/>
          </a:prstGeom>
          <a:noFill/>
          <a:ln/>
        </p:spPr>
        <p:txBody>
          <a:bodyPr wrap="square" lIns="0" tIns="0" rIns="0" bIns="0" rtlCol="0" anchor="t"/>
          <a:lstStyle/>
          <a:p>
            <a:pPr marL="0" indent="0">
              <a:buNone/>
            </a:pPr>
            <a:r>
              <a:rPr lang="en-US" sz="1550" b="1" dirty="0">
                <a:solidFill>
                  <a:srgbClr val="1A2540"/>
                </a:solidFill>
              </a:rPr>
              <a:t>Factures PDF</a:t>
            </a:r>
            <a:endParaRPr lang="en-US" sz="1550" dirty="0"/>
          </a:p>
        </p:txBody>
      </p:sp>
      <p:sp>
        <p:nvSpPr>
          <p:cNvPr id="45" name="Text 43"/>
          <p:cNvSpPr txBox="1"/>
          <p:nvPr/>
        </p:nvSpPr>
        <p:spPr>
          <a:xfrm>
            <a:off x="7132320" y="5650992"/>
            <a:ext cx="4416552" cy="457200"/>
          </a:xfrm>
          <a:prstGeom prst="rect">
            <a:avLst/>
          </a:prstGeom>
          <a:noFill/>
          <a:ln/>
        </p:spPr>
        <p:txBody>
          <a:bodyPr wrap="square" lIns="0" tIns="0" rIns="0" bIns="0" rtlCol="0" anchor="t"/>
          <a:lstStyle/>
          <a:p>
            <a:pPr marL="0" indent="0">
              <a:buNone/>
            </a:pPr>
            <a:r>
              <a:rPr lang="en-US" sz="1350" dirty="0">
                <a:solidFill>
                  <a:srgbClr val="5F6B7A"/>
                </a:solidFill>
              </a:rPr>
              <a:t>Impression de la facture par le navigateur, sans bibliothèque serveur</a:t>
            </a:r>
            <a:endParaRPr lang="en-US" sz="1350" dirty="0"/>
          </a:p>
        </p:txBody>
      </p:sp>
      <p:sp>
        <p:nvSpPr>
          <p:cNvPr id="46" name="Slide Number Placeholder 0"/>
          <p:cNvSpPr>
            <a:spLocks noGrp="1"/>
          </p:cNvSpPr>
          <p:nvPr>
            <p:ph type="sldNum" sz="quarter" idx="4294967295"/>
          </p:nvPr>
        </p:nvSpPr>
        <p:spPr>
          <a:xfrm>
            <a:off x="1100023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defRPr>
            </a:lvl1pPr>
          </a:lstStyle>
          <a:p>
            <a:pPr algn="r"/>
            <a:fld id="{F7021451-1387-4CA6-816F-3879F97B5CBC}" type="slidenum">
              <a:rPr lang="en-US" b="0"/>
              <a:t>15</a:t>
            </a:fld>
            <a:endParaRPr lang="en-US"/>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411480"/>
            <a:ext cx="10908792" cy="274320"/>
          </a:xfrm>
          <a:prstGeom prst="rect">
            <a:avLst/>
          </a:prstGeom>
          <a:noFill/>
          <a:ln/>
        </p:spPr>
        <p:txBody>
          <a:bodyPr wrap="square" lIns="0" tIns="0" rIns="0" bIns="0" rtlCol="0" anchor="t"/>
          <a:lstStyle/>
          <a:p>
            <a:pPr marL="0" indent="0" algn="l">
              <a:buNone/>
            </a:pPr>
            <a:r>
              <a:rPr lang="en-US" sz="1200" b="1" dirty="0">
                <a:solidFill>
                  <a:srgbClr val="93A8F7"/>
                </a:solidFill>
              </a:rPr>
              <a:t>5 · Démonstration</a:t>
            </a:r>
            <a:endParaRPr lang="en-US" sz="1200" dirty="0"/>
          </a:p>
        </p:txBody>
      </p:sp>
      <p:sp>
        <p:nvSpPr>
          <p:cNvPr id="3" name="Text 1"/>
          <p:cNvSpPr>
            <a:spLocks noGrp="1"/>
          </p:cNvSpPr>
          <p:nvPr>
            <p:ph type="title" idx="102" hasCustomPrompt="1"/>
          </p:nvPr>
        </p:nvSpPr>
        <p:spPr>
          <a:xfrm>
            <a:off x="640080" y="713232"/>
            <a:ext cx="10908792" cy="640080"/>
          </a:xfrm>
          <a:prstGeom prst="rect">
            <a:avLst/>
          </a:prstGeom>
          <a:noFill/>
          <a:ln/>
        </p:spPr>
        <p:txBody>
          <a:bodyPr wrap="square" lIns="0" tIns="0" rIns="0" bIns="0" rtlCol="0" anchor="t"/>
          <a:lstStyle/>
          <a:p>
            <a:pPr marL="0" indent="0" algn="l">
              <a:buNone/>
            </a:pPr>
            <a:r>
              <a:rPr lang="en-US" sz="3000" b="1" dirty="0">
                <a:solidFill>
                  <a:srgbClr val="FFFFFF"/>
                </a:solidFill>
              </a:rPr>
              <a:t>Un approvisionnement B2B de bout en bout</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800" dirty="0">
                <a:solidFill>
                  <a:srgbClr val="AEB8CC"/>
                </a:solidFill>
              </a:rPr>
              <a:t>Parcours montré en direct dans FactuPro</a:t>
            </a:r>
            <a:endParaRPr lang="en-US" sz="1800" dirty="0"/>
          </a:p>
        </p:txBody>
      </p:sp>
      <p:sp>
        <p:nvSpPr>
          <p:cNvPr id="5" name="Shape 3"/>
          <p:cNvSpPr/>
          <p:nvPr/>
        </p:nvSpPr>
        <p:spPr>
          <a:xfrm>
            <a:off x="640080" y="2057400"/>
            <a:ext cx="10908792" cy="0"/>
          </a:xfrm>
          <a:prstGeom prst="line">
            <a:avLst/>
          </a:prstGeom>
          <a:noFill/>
          <a:ln w="9525">
            <a:solidFill>
              <a:srgbClr val="3A4663"/>
            </a:solidFill>
            <a:prstDash val="solid"/>
          </a:ln>
        </p:spPr>
      </p:sp>
      <p:sp>
        <p:nvSpPr>
          <p:cNvPr id="6" name="Shape 4"/>
          <p:cNvSpPr/>
          <p:nvPr/>
        </p:nvSpPr>
        <p:spPr>
          <a:xfrm>
            <a:off x="640080" y="3749040"/>
            <a:ext cx="10908792" cy="0"/>
          </a:xfrm>
          <a:prstGeom prst="line">
            <a:avLst/>
          </a:prstGeom>
          <a:noFill/>
          <a:ln w="9525">
            <a:solidFill>
              <a:srgbClr val="3A4663"/>
            </a:solidFill>
            <a:prstDash val="solid"/>
          </a:ln>
        </p:spPr>
      </p:sp>
      <p:sp>
        <p:nvSpPr>
          <p:cNvPr id="7" name="Shape 5"/>
          <p:cNvSpPr/>
          <p:nvPr/>
        </p:nvSpPr>
        <p:spPr>
          <a:xfrm>
            <a:off x="640080" y="5440680"/>
            <a:ext cx="10908792" cy="0"/>
          </a:xfrm>
          <a:prstGeom prst="line">
            <a:avLst/>
          </a:prstGeom>
          <a:noFill/>
          <a:ln w="9525">
            <a:solidFill>
              <a:srgbClr val="3A4663"/>
            </a:solidFill>
            <a:prstDash val="solid"/>
          </a:ln>
        </p:spPr>
      </p:sp>
      <p:sp>
        <p:nvSpPr>
          <p:cNvPr id="8" name="Text 6"/>
          <p:cNvSpPr txBox="1"/>
          <p:nvPr/>
        </p:nvSpPr>
        <p:spPr>
          <a:xfrm>
            <a:off x="640080" y="2057400"/>
            <a:ext cx="2011680" cy="1691640"/>
          </a:xfrm>
          <a:prstGeom prst="rect">
            <a:avLst/>
          </a:prstGeom>
          <a:noFill/>
          <a:ln/>
        </p:spPr>
        <p:txBody>
          <a:bodyPr wrap="square" lIns="0" tIns="0" rIns="0" bIns="0" rtlCol="0" anchor="ctr"/>
          <a:lstStyle/>
          <a:p>
            <a:pPr marL="0" indent="0">
              <a:buNone/>
            </a:pPr>
            <a:r>
              <a:rPr lang="en-US" sz="1700" b="1" dirty="0">
                <a:solidFill>
                  <a:srgbClr val="93A8F7"/>
                </a:solidFill>
              </a:rPr>
              <a:t>Entreprise acheteuse</a:t>
            </a:r>
            <a:endParaRPr lang="en-US" sz="1700" dirty="0"/>
          </a:p>
        </p:txBody>
      </p:sp>
      <p:sp>
        <p:nvSpPr>
          <p:cNvPr id="9" name="Text 7"/>
          <p:cNvSpPr txBox="1"/>
          <p:nvPr/>
        </p:nvSpPr>
        <p:spPr>
          <a:xfrm>
            <a:off x="640080" y="3749040"/>
            <a:ext cx="2011680" cy="1691640"/>
          </a:xfrm>
          <a:prstGeom prst="rect">
            <a:avLst/>
          </a:prstGeom>
          <a:noFill/>
          <a:ln/>
        </p:spPr>
        <p:txBody>
          <a:bodyPr wrap="square" lIns="0" tIns="0" rIns="0" bIns="0" rtlCol="0" anchor="ctr"/>
          <a:lstStyle/>
          <a:p>
            <a:pPr marL="0" indent="0">
              <a:buNone/>
            </a:pPr>
            <a:r>
              <a:rPr lang="en-US" sz="1700" b="1" dirty="0">
                <a:solidFill>
                  <a:srgbClr val="93A8F7"/>
                </a:solidFill>
              </a:rPr>
              <a:t>Entreprise vendeuse</a:t>
            </a:r>
            <a:endParaRPr lang="en-US" sz="1700" dirty="0"/>
          </a:p>
        </p:txBody>
      </p:sp>
      <p:sp>
        <p:nvSpPr>
          <p:cNvPr id="10" name="Shape 8"/>
          <p:cNvSpPr/>
          <p:nvPr/>
        </p:nvSpPr>
        <p:spPr>
          <a:xfrm>
            <a:off x="2834640" y="2423160"/>
            <a:ext cx="1920240" cy="960120"/>
          </a:xfrm>
          <a:prstGeom prst="rect">
            <a:avLst/>
          </a:prstGeom>
          <a:ln w="15875">
            <a:solidFill>
              <a:srgbClr val="5A6788"/>
            </a:solidFill>
            <a:prstDash val="solid"/>
          </a:ln>
        </p:spPr>
      </p:sp>
      <p:sp>
        <p:nvSpPr>
          <p:cNvPr id="11" name="Text 9"/>
          <p:cNvSpPr txBox="1"/>
          <p:nvPr/>
        </p:nvSpPr>
        <p:spPr>
          <a:xfrm>
            <a:off x="2971800" y="2514600"/>
            <a:ext cx="365760" cy="274320"/>
          </a:xfrm>
          <a:prstGeom prst="rect">
            <a:avLst/>
          </a:prstGeom>
          <a:noFill/>
          <a:ln/>
        </p:spPr>
        <p:txBody>
          <a:bodyPr wrap="square" lIns="0" tIns="0" rIns="0" bIns="0" rtlCol="0" anchor="t"/>
          <a:lstStyle/>
          <a:p>
            <a:pPr marL="0" indent="0">
              <a:buNone/>
            </a:pPr>
            <a:r>
              <a:rPr lang="en-US" sz="1300" b="1" dirty="0">
                <a:solidFill>
                  <a:srgbClr val="93A8F7"/>
                </a:solidFill>
              </a:rPr>
              <a:t>1</a:t>
            </a:r>
            <a:endParaRPr lang="en-US" sz="1300" dirty="0"/>
          </a:p>
        </p:txBody>
      </p:sp>
      <p:sp>
        <p:nvSpPr>
          <p:cNvPr id="12" name="Text 10"/>
          <p:cNvSpPr txBox="1"/>
          <p:nvPr/>
        </p:nvSpPr>
        <p:spPr>
          <a:xfrm>
            <a:off x="2971800" y="2770632"/>
            <a:ext cx="1645920" cy="548640"/>
          </a:xfrm>
          <a:prstGeom prst="rect">
            <a:avLst/>
          </a:prstGeom>
          <a:noFill/>
          <a:ln/>
        </p:spPr>
        <p:txBody>
          <a:bodyPr wrap="square" lIns="0" tIns="0" rIns="0" bIns="0" rtlCol="0" anchor="t"/>
          <a:lstStyle/>
          <a:p>
            <a:pPr marL="0" indent="0">
              <a:buNone/>
            </a:pPr>
            <a:r>
              <a:rPr lang="en-US" sz="1500" b="1" dirty="0">
                <a:solidFill>
                  <a:srgbClr val="FFFFFF"/>
                </a:solidFill>
              </a:rPr>
              <a:t>Rechercher une offre</a:t>
            </a:r>
            <a:endParaRPr lang="en-US" sz="1500" dirty="0"/>
          </a:p>
        </p:txBody>
      </p:sp>
      <p:sp>
        <p:nvSpPr>
          <p:cNvPr id="13" name="Shape 11"/>
          <p:cNvSpPr/>
          <p:nvPr/>
        </p:nvSpPr>
        <p:spPr>
          <a:xfrm>
            <a:off x="5074920" y="2423160"/>
            <a:ext cx="1920240" cy="960120"/>
          </a:xfrm>
          <a:prstGeom prst="rect">
            <a:avLst/>
          </a:prstGeom>
          <a:ln w="15875">
            <a:solidFill>
              <a:srgbClr val="5A6788"/>
            </a:solidFill>
            <a:prstDash val="solid"/>
          </a:ln>
        </p:spPr>
      </p:sp>
      <p:sp>
        <p:nvSpPr>
          <p:cNvPr id="14" name="Text 12"/>
          <p:cNvSpPr txBox="1"/>
          <p:nvPr/>
        </p:nvSpPr>
        <p:spPr>
          <a:xfrm>
            <a:off x="5212080" y="2514600"/>
            <a:ext cx="365760" cy="274320"/>
          </a:xfrm>
          <a:prstGeom prst="rect">
            <a:avLst/>
          </a:prstGeom>
          <a:noFill/>
          <a:ln/>
        </p:spPr>
        <p:txBody>
          <a:bodyPr wrap="square" lIns="0" tIns="0" rIns="0" bIns="0" rtlCol="0" anchor="t"/>
          <a:lstStyle/>
          <a:p>
            <a:pPr marL="0" indent="0">
              <a:buNone/>
            </a:pPr>
            <a:r>
              <a:rPr lang="en-US" sz="1300" b="1" dirty="0">
                <a:solidFill>
                  <a:srgbClr val="93A8F7"/>
                </a:solidFill>
              </a:rPr>
              <a:t>2</a:t>
            </a:r>
            <a:endParaRPr lang="en-US" sz="1300" dirty="0"/>
          </a:p>
        </p:txBody>
      </p:sp>
      <p:sp>
        <p:nvSpPr>
          <p:cNvPr id="15" name="Text 13"/>
          <p:cNvSpPr txBox="1"/>
          <p:nvPr/>
        </p:nvSpPr>
        <p:spPr>
          <a:xfrm>
            <a:off x="5212080" y="2770632"/>
            <a:ext cx="1645920" cy="548640"/>
          </a:xfrm>
          <a:prstGeom prst="rect">
            <a:avLst/>
          </a:prstGeom>
          <a:noFill/>
          <a:ln/>
        </p:spPr>
        <p:txBody>
          <a:bodyPr wrap="square" lIns="0" tIns="0" rIns="0" bIns="0" rtlCol="0" anchor="t"/>
          <a:lstStyle/>
          <a:p>
            <a:pPr marL="0" indent="0">
              <a:buNone/>
            </a:pPr>
            <a:r>
              <a:rPr lang="en-US" sz="1500" b="1" dirty="0">
                <a:solidFill>
                  <a:srgbClr val="FFFFFF"/>
                </a:solidFill>
              </a:rPr>
              <a:t>Consulter le fournisseur</a:t>
            </a:r>
            <a:endParaRPr lang="en-US" sz="1500" dirty="0"/>
          </a:p>
        </p:txBody>
      </p:sp>
      <p:sp>
        <p:nvSpPr>
          <p:cNvPr id="16" name="Shape 14"/>
          <p:cNvSpPr/>
          <p:nvPr/>
        </p:nvSpPr>
        <p:spPr>
          <a:xfrm>
            <a:off x="7315200" y="2423160"/>
            <a:ext cx="1920240" cy="960120"/>
          </a:xfrm>
          <a:prstGeom prst="rect">
            <a:avLst/>
          </a:prstGeom>
          <a:solidFill>
            <a:srgbClr val="3A57E0"/>
          </a:solidFill>
          <a:ln w="15875">
            <a:solidFill>
              <a:srgbClr val="93A8F7"/>
            </a:solidFill>
            <a:prstDash val="solid"/>
          </a:ln>
        </p:spPr>
      </p:sp>
      <p:sp>
        <p:nvSpPr>
          <p:cNvPr id="17" name="Text 15"/>
          <p:cNvSpPr txBox="1"/>
          <p:nvPr/>
        </p:nvSpPr>
        <p:spPr>
          <a:xfrm>
            <a:off x="7452360" y="2514600"/>
            <a:ext cx="365760" cy="274320"/>
          </a:xfrm>
          <a:prstGeom prst="rect">
            <a:avLst/>
          </a:prstGeom>
          <a:noFill/>
          <a:ln/>
        </p:spPr>
        <p:txBody>
          <a:bodyPr wrap="square" lIns="0" tIns="0" rIns="0" bIns="0" rtlCol="0" anchor="t"/>
          <a:lstStyle/>
          <a:p>
            <a:pPr marL="0" indent="0">
              <a:buNone/>
            </a:pPr>
            <a:r>
              <a:rPr lang="en-US" sz="1300" b="1" dirty="0">
                <a:solidFill>
                  <a:srgbClr val="FFFFFF"/>
                </a:solidFill>
              </a:rPr>
              <a:t>3</a:t>
            </a:r>
            <a:endParaRPr lang="en-US" sz="1300" dirty="0"/>
          </a:p>
        </p:txBody>
      </p:sp>
      <p:sp>
        <p:nvSpPr>
          <p:cNvPr id="18" name="Text 16"/>
          <p:cNvSpPr txBox="1"/>
          <p:nvPr/>
        </p:nvSpPr>
        <p:spPr>
          <a:xfrm>
            <a:off x="7452360" y="2770632"/>
            <a:ext cx="1645920" cy="548640"/>
          </a:xfrm>
          <a:prstGeom prst="rect">
            <a:avLst/>
          </a:prstGeom>
          <a:noFill/>
          <a:ln/>
        </p:spPr>
        <p:txBody>
          <a:bodyPr wrap="square" lIns="0" tIns="0" rIns="0" bIns="0" rtlCol="0" anchor="t"/>
          <a:lstStyle/>
          <a:p>
            <a:pPr marL="0" indent="0">
              <a:buNone/>
            </a:pPr>
            <a:r>
              <a:rPr lang="en-US" sz="1500" b="1" dirty="0">
                <a:solidFill>
                  <a:srgbClr val="FFFFFF"/>
                </a:solidFill>
              </a:rPr>
              <a:t>Passer la commande B2B</a:t>
            </a:r>
            <a:endParaRPr lang="en-US" sz="1500" dirty="0"/>
          </a:p>
        </p:txBody>
      </p:sp>
      <p:sp>
        <p:nvSpPr>
          <p:cNvPr id="19" name="Shape 17"/>
          <p:cNvSpPr/>
          <p:nvPr/>
        </p:nvSpPr>
        <p:spPr>
          <a:xfrm>
            <a:off x="7315200" y="4114800"/>
            <a:ext cx="1920240" cy="960120"/>
          </a:xfrm>
          <a:prstGeom prst="rect">
            <a:avLst/>
          </a:prstGeom>
          <a:ln w="15875">
            <a:solidFill>
              <a:srgbClr val="93A8F7"/>
            </a:solidFill>
            <a:prstDash val="solid"/>
          </a:ln>
        </p:spPr>
      </p:sp>
      <p:sp>
        <p:nvSpPr>
          <p:cNvPr id="20" name="Text 18"/>
          <p:cNvSpPr txBox="1"/>
          <p:nvPr/>
        </p:nvSpPr>
        <p:spPr>
          <a:xfrm>
            <a:off x="7452360" y="4206240"/>
            <a:ext cx="365760" cy="274320"/>
          </a:xfrm>
          <a:prstGeom prst="rect">
            <a:avLst/>
          </a:prstGeom>
          <a:noFill/>
          <a:ln/>
        </p:spPr>
        <p:txBody>
          <a:bodyPr wrap="square" lIns="0" tIns="0" rIns="0" bIns="0" rtlCol="0" anchor="t"/>
          <a:lstStyle/>
          <a:p>
            <a:pPr marL="0" indent="0">
              <a:buNone/>
            </a:pPr>
            <a:r>
              <a:rPr lang="en-US" sz="1300" b="1" dirty="0">
                <a:solidFill>
                  <a:srgbClr val="93A8F7"/>
                </a:solidFill>
              </a:rPr>
              <a:t>4</a:t>
            </a:r>
            <a:endParaRPr lang="en-US" sz="1300" dirty="0"/>
          </a:p>
        </p:txBody>
      </p:sp>
      <p:sp>
        <p:nvSpPr>
          <p:cNvPr id="21" name="Text 19"/>
          <p:cNvSpPr txBox="1"/>
          <p:nvPr/>
        </p:nvSpPr>
        <p:spPr>
          <a:xfrm>
            <a:off x="7452360" y="4462272"/>
            <a:ext cx="1645920" cy="548640"/>
          </a:xfrm>
          <a:prstGeom prst="rect">
            <a:avLst/>
          </a:prstGeom>
          <a:noFill/>
          <a:ln/>
        </p:spPr>
        <p:txBody>
          <a:bodyPr wrap="square" lIns="0" tIns="0" rIns="0" bIns="0" rtlCol="0" anchor="t"/>
          <a:lstStyle/>
          <a:p>
            <a:pPr marL="0" indent="0">
              <a:buNone/>
            </a:pPr>
            <a:r>
              <a:rPr lang="en-US" sz="1500" b="1" dirty="0">
                <a:solidFill>
                  <a:srgbClr val="FFFFFF"/>
                </a:solidFill>
              </a:rPr>
              <a:t>Recevoir la commande</a:t>
            </a:r>
            <a:endParaRPr lang="en-US" sz="1500" dirty="0"/>
          </a:p>
        </p:txBody>
      </p:sp>
      <p:sp>
        <p:nvSpPr>
          <p:cNvPr id="22" name="Shape 20"/>
          <p:cNvSpPr/>
          <p:nvPr/>
        </p:nvSpPr>
        <p:spPr>
          <a:xfrm>
            <a:off x="9555480" y="4114800"/>
            <a:ext cx="1993392" cy="960120"/>
          </a:xfrm>
          <a:prstGeom prst="rect">
            <a:avLst/>
          </a:prstGeom>
          <a:ln w="15875">
            <a:solidFill>
              <a:srgbClr val="93A8F7"/>
            </a:solidFill>
            <a:prstDash val="solid"/>
          </a:ln>
        </p:spPr>
      </p:sp>
      <p:sp>
        <p:nvSpPr>
          <p:cNvPr id="23" name="Text 21"/>
          <p:cNvSpPr txBox="1"/>
          <p:nvPr/>
        </p:nvSpPr>
        <p:spPr>
          <a:xfrm>
            <a:off x="9692640" y="4206240"/>
            <a:ext cx="365760" cy="274320"/>
          </a:xfrm>
          <a:prstGeom prst="rect">
            <a:avLst/>
          </a:prstGeom>
          <a:noFill/>
          <a:ln/>
        </p:spPr>
        <p:txBody>
          <a:bodyPr wrap="square" lIns="0" tIns="0" rIns="0" bIns="0" rtlCol="0" anchor="t"/>
          <a:lstStyle/>
          <a:p>
            <a:pPr marL="0" indent="0">
              <a:buNone/>
            </a:pPr>
            <a:r>
              <a:rPr lang="en-US" sz="1300" b="1" dirty="0">
                <a:solidFill>
                  <a:srgbClr val="93A8F7"/>
                </a:solidFill>
              </a:rPr>
              <a:t>5</a:t>
            </a:r>
            <a:endParaRPr lang="en-US" sz="1300" dirty="0"/>
          </a:p>
        </p:txBody>
      </p:sp>
      <p:sp>
        <p:nvSpPr>
          <p:cNvPr id="24" name="Text 22"/>
          <p:cNvSpPr txBox="1"/>
          <p:nvPr/>
        </p:nvSpPr>
        <p:spPr>
          <a:xfrm>
            <a:off x="9692640" y="4462272"/>
            <a:ext cx="1719072" cy="548640"/>
          </a:xfrm>
          <a:prstGeom prst="rect">
            <a:avLst/>
          </a:prstGeom>
          <a:noFill/>
          <a:ln/>
        </p:spPr>
        <p:txBody>
          <a:bodyPr wrap="square" lIns="0" tIns="0" rIns="0" bIns="0" rtlCol="0" anchor="t"/>
          <a:lstStyle/>
          <a:p>
            <a:pPr marL="0" indent="0">
              <a:buNone/>
            </a:pPr>
            <a:r>
              <a:rPr lang="en-US" sz="1500" b="1" dirty="0">
                <a:solidFill>
                  <a:srgbClr val="FFFFFF"/>
                </a:solidFill>
              </a:rPr>
              <a:t>Vérifier le stock, accepter ou refuser</a:t>
            </a:r>
            <a:endParaRPr lang="en-US" sz="1500" dirty="0"/>
          </a:p>
        </p:txBody>
      </p:sp>
      <p:sp>
        <p:nvSpPr>
          <p:cNvPr id="25" name="Shape 23"/>
          <p:cNvSpPr/>
          <p:nvPr/>
        </p:nvSpPr>
        <p:spPr>
          <a:xfrm>
            <a:off x="4754880" y="2898648"/>
            <a:ext cx="320040" cy="0"/>
          </a:xfrm>
          <a:prstGeom prst="line">
            <a:avLst/>
          </a:prstGeom>
          <a:noFill/>
          <a:ln w="15875">
            <a:solidFill>
              <a:srgbClr val="AEB8CC"/>
            </a:solidFill>
            <a:prstDash val="solid"/>
            <a:tailEnd type="triangle"/>
          </a:ln>
        </p:spPr>
      </p:sp>
      <p:sp>
        <p:nvSpPr>
          <p:cNvPr id="26" name="Shape 24"/>
          <p:cNvSpPr/>
          <p:nvPr/>
        </p:nvSpPr>
        <p:spPr>
          <a:xfrm>
            <a:off x="6995160" y="2898648"/>
            <a:ext cx="320040" cy="0"/>
          </a:xfrm>
          <a:prstGeom prst="line">
            <a:avLst/>
          </a:prstGeom>
          <a:noFill/>
          <a:ln w="15875">
            <a:solidFill>
              <a:srgbClr val="AEB8CC"/>
            </a:solidFill>
            <a:prstDash val="solid"/>
            <a:tailEnd type="triangle"/>
          </a:ln>
        </p:spPr>
      </p:sp>
      <p:sp>
        <p:nvSpPr>
          <p:cNvPr id="27" name="Shape 25"/>
          <p:cNvSpPr/>
          <p:nvPr/>
        </p:nvSpPr>
        <p:spPr>
          <a:xfrm>
            <a:off x="8275320" y="3383280"/>
            <a:ext cx="0" cy="731520"/>
          </a:xfrm>
          <a:prstGeom prst="line">
            <a:avLst/>
          </a:prstGeom>
          <a:noFill/>
          <a:ln w="15875">
            <a:solidFill>
              <a:srgbClr val="AEB8CC"/>
            </a:solidFill>
            <a:prstDash val="solid"/>
            <a:tailEnd type="triangle"/>
          </a:ln>
        </p:spPr>
      </p:sp>
      <p:sp>
        <p:nvSpPr>
          <p:cNvPr id="28" name="Shape 26"/>
          <p:cNvSpPr/>
          <p:nvPr/>
        </p:nvSpPr>
        <p:spPr>
          <a:xfrm>
            <a:off x="9235440" y="4590288"/>
            <a:ext cx="320040" cy="0"/>
          </a:xfrm>
          <a:prstGeom prst="line">
            <a:avLst/>
          </a:prstGeom>
          <a:noFill/>
          <a:ln w="15875">
            <a:solidFill>
              <a:srgbClr val="AEB8CC"/>
            </a:solidFill>
            <a:prstDash val="solid"/>
            <a:tailEnd type="triangle"/>
          </a:ln>
        </p:spPr>
      </p:sp>
      <p:sp>
        <p:nvSpPr>
          <p:cNvPr id="29" name="Text 27"/>
          <p:cNvSpPr txBox="1"/>
          <p:nvPr/>
        </p:nvSpPr>
        <p:spPr>
          <a:xfrm>
            <a:off x="640080" y="5715000"/>
            <a:ext cx="10881360" cy="365760"/>
          </a:xfrm>
          <a:prstGeom prst="rect">
            <a:avLst/>
          </a:prstGeom>
          <a:noFill/>
          <a:ln/>
        </p:spPr>
        <p:txBody>
          <a:bodyPr wrap="square" lIns="0" tIns="0" rIns="0" bIns="0" rtlCol="0" anchor="t"/>
          <a:lstStyle/>
          <a:p>
            <a:pPr marL="0" indent="0">
              <a:buNone/>
            </a:pPr>
            <a:r>
              <a:rPr lang="en-US" sz="1400" dirty="0">
                <a:solidFill>
                  <a:srgbClr val="AEB8CC"/>
                </a:solidFill>
              </a:rPr>
              <a:t>Vente au comptoir et facturation : aperçu rapide à la fin.</a:t>
            </a:r>
            <a:endParaRPr lang="en-US" sz="1400" dirty="0"/>
          </a:p>
        </p:txBody>
      </p:sp>
      <p:sp>
        <p:nvSpPr>
          <p:cNvPr id="30" name="Slide Number Placeholder 0"/>
          <p:cNvSpPr>
            <a:spLocks noGrp="1"/>
          </p:cNvSpPr>
          <p:nvPr>
            <p:ph type="sldNum" sz="quarter" idx="4294967295"/>
          </p:nvPr>
        </p:nvSpPr>
        <p:spPr>
          <a:xfrm>
            <a:off x="1100023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7C88A3"/>
                </a:solidFill>
              </a:defRPr>
            </a:lvl1pPr>
          </a:lstStyle>
          <a:p>
            <a:pPr algn="r"/>
            <a:fld id="{F7021451-1387-4CA6-816F-3879F97B5CBC}" type="slidenum">
              <a:rPr lang="en-US" b="0"/>
              <a:t>16</a:t>
            </a:fld>
            <a:endParaRPr lang="en-US"/>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411480"/>
            <a:ext cx="10908792" cy="274320"/>
          </a:xfrm>
          <a:prstGeom prst="rect">
            <a:avLst/>
          </a:prstGeom>
          <a:noFill/>
          <a:ln/>
        </p:spPr>
        <p:txBody>
          <a:bodyPr wrap="square" lIns="0" tIns="0" rIns="0" bIns="0" rtlCol="0" anchor="t"/>
          <a:lstStyle/>
          <a:p>
            <a:pPr marL="0" indent="0" algn="l">
              <a:buNone/>
            </a:pPr>
            <a:r>
              <a:rPr lang="en-US" sz="1200" b="1" dirty="0">
                <a:solidFill>
                  <a:srgbClr val="3A57E0"/>
                </a:solidFill>
              </a:rPr>
              <a:t>6 · Bilan</a:t>
            </a:r>
            <a:endParaRPr lang="en-US" sz="1200" dirty="0"/>
          </a:p>
        </p:txBody>
      </p:sp>
      <p:sp>
        <p:nvSpPr>
          <p:cNvPr id="3" name="Text 1"/>
          <p:cNvSpPr>
            <a:spLocks noGrp="1"/>
          </p:cNvSpPr>
          <p:nvPr>
            <p:ph type="title" idx="102" hasCustomPrompt="1"/>
          </p:nvPr>
        </p:nvSpPr>
        <p:spPr>
          <a:xfrm>
            <a:off x="640080" y="713232"/>
            <a:ext cx="10908792" cy="640080"/>
          </a:xfrm>
          <a:prstGeom prst="rect">
            <a:avLst/>
          </a:prstGeom>
          <a:noFill/>
          <a:ln/>
        </p:spPr>
        <p:txBody>
          <a:bodyPr wrap="square" lIns="0" tIns="0" rIns="0" bIns="0" rtlCol="0" anchor="t"/>
          <a:lstStyle/>
          <a:p>
            <a:pPr marL="0" indent="0" algn="l">
              <a:buNone/>
            </a:pPr>
            <a:r>
              <a:rPr lang="en-US" sz="3000" b="1" dirty="0">
                <a:solidFill>
                  <a:srgbClr val="1A2540"/>
                </a:solidFill>
              </a:rPr>
              <a:t>Difficultés rencontrées et solutions</a:t>
            </a:r>
            <a:endParaRPr lang="en-US" sz="3000" dirty="0"/>
          </a:p>
        </p:txBody>
      </p:sp>
      <p:sp>
        <p:nvSpPr>
          <p:cNvPr id="4" name="Text 2"/>
          <p:cNvSpPr txBox="1"/>
          <p:nvPr/>
        </p:nvSpPr>
        <p:spPr>
          <a:xfrm>
            <a:off x="640080" y="1463040"/>
            <a:ext cx="2606040" cy="274320"/>
          </a:xfrm>
          <a:prstGeom prst="rect">
            <a:avLst/>
          </a:prstGeom>
          <a:noFill/>
          <a:ln/>
        </p:spPr>
        <p:txBody>
          <a:bodyPr wrap="square" lIns="0" tIns="0" rIns="0" bIns="0" rtlCol="0" anchor="t"/>
          <a:lstStyle/>
          <a:p>
            <a:pPr marL="0" indent="0">
              <a:buNone/>
            </a:pPr>
            <a:r>
              <a:rPr lang="en-US" sz="1300" b="1" dirty="0">
                <a:solidFill>
                  <a:srgbClr val="3A57E0"/>
                </a:solidFill>
              </a:rPr>
              <a:t>Difficulté</a:t>
            </a:r>
            <a:endParaRPr lang="en-US" sz="1300" dirty="0"/>
          </a:p>
        </p:txBody>
      </p:sp>
      <p:sp>
        <p:nvSpPr>
          <p:cNvPr id="5" name="Text 3"/>
          <p:cNvSpPr txBox="1"/>
          <p:nvPr/>
        </p:nvSpPr>
        <p:spPr>
          <a:xfrm>
            <a:off x="3429000" y="1463040"/>
            <a:ext cx="3657600" cy="274320"/>
          </a:xfrm>
          <a:prstGeom prst="rect">
            <a:avLst/>
          </a:prstGeom>
          <a:noFill/>
          <a:ln/>
        </p:spPr>
        <p:txBody>
          <a:bodyPr wrap="square" lIns="0" tIns="0" rIns="0" bIns="0" rtlCol="0" anchor="t"/>
          <a:lstStyle/>
          <a:p>
            <a:pPr marL="0" indent="0">
              <a:buNone/>
            </a:pPr>
            <a:r>
              <a:rPr lang="en-US" sz="1300" b="1" dirty="0">
                <a:solidFill>
                  <a:srgbClr val="3A57E0"/>
                </a:solidFill>
              </a:rPr>
              <a:t>Problème</a:t>
            </a:r>
            <a:endParaRPr lang="en-US" sz="1300" dirty="0"/>
          </a:p>
        </p:txBody>
      </p:sp>
      <p:sp>
        <p:nvSpPr>
          <p:cNvPr id="6" name="Text 4"/>
          <p:cNvSpPr txBox="1"/>
          <p:nvPr/>
        </p:nvSpPr>
        <p:spPr>
          <a:xfrm>
            <a:off x="7269480" y="1463040"/>
            <a:ext cx="4279392" cy="274320"/>
          </a:xfrm>
          <a:prstGeom prst="rect">
            <a:avLst/>
          </a:prstGeom>
          <a:noFill/>
          <a:ln/>
        </p:spPr>
        <p:txBody>
          <a:bodyPr wrap="square" lIns="0" tIns="0" rIns="0" bIns="0" rtlCol="0" anchor="t"/>
          <a:lstStyle/>
          <a:p>
            <a:pPr marL="0" indent="0">
              <a:buNone/>
            </a:pPr>
            <a:r>
              <a:rPr lang="en-US" sz="1300" b="1" dirty="0">
                <a:solidFill>
                  <a:srgbClr val="3A57E0"/>
                </a:solidFill>
              </a:rPr>
              <a:t>Solution</a:t>
            </a:r>
            <a:endParaRPr lang="en-US" sz="1300" dirty="0"/>
          </a:p>
        </p:txBody>
      </p:sp>
      <p:sp>
        <p:nvSpPr>
          <p:cNvPr id="7" name="Shape 5"/>
          <p:cNvSpPr/>
          <p:nvPr/>
        </p:nvSpPr>
        <p:spPr>
          <a:xfrm>
            <a:off x="640080" y="1828800"/>
            <a:ext cx="10908792" cy="0"/>
          </a:xfrm>
          <a:prstGeom prst="line">
            <a:avLst/>
          </a:prstGeom>
          <a:noFill/>
          <a:ln w="9525">
            <a:solidFill>
              <a:srgbClr val="CBD2DC"/>
            </a:solidFill>
            <a:prstDash val="solid"/>
          </a:ln>
        </p:spPr>
      </p:sp>
      <p:sp>
        <p:nvSpPr>
          <p:cNvPr id="8" name="Text 6"/>
          <p:cNvSpPr txBox="1"/>
          <p:nvPr/>
        </p:nvSpPr>
        <p:spPr>
          <a:xfrm>
            <a:off x="640080" y="1965960"/>
            <a:ext cx="2606040" cy="1097280"/>
          </a:xfrm>
          <a:prstGeom prst="rect">
            <a:avLst/>
          </a:prstGeom>
          <a:noFill/>
          <a:ln/>
        </p:spPr>
        <p:txBody>
          <a:bodyPr wrap="square" lIns="0" tIns="0" rIns="0" bIns="0" rtlCol="0" anchor="t"/>
          <a:lstStyle/>
          <a:p>
            <a:pPr marL="0" indent="0">
              <a:buNone/>
            </a:pPr>
            <a:r>
              <a:rPr lang="en-US" sz="1800" b="1" dirty="0">
                <a:solidFill>
                  <a:srgbClr val="1A2540"/>
                </a:solidFill>
              </a:rPr>
              <a:t>Modélisation MERISE</a:t>
            </a:r>
            <a:endParaRPr lang="en-US" sz="1800" dirty="0"/>
          </a:p>
        </p:txBody>
      </p:sp>
      <p:sp>
        <p:nvSpPr>
          <p:cNvPr id="9" name="Text 7"/>
          <p:cNvSpPr txBox="1"/>
          <p:nvPr/>
        </p:nvSpPr>
        <p:spPr>
          <a:xfrm>
            <a:off x="3429000" y="1965960"/>
            <a:ext cx="3657600" cy="1143000"/>
          </a:xfrm>
          <a:prstGeom prst="rect">
            <a:avLst/>
          </a:prstGeom>
          <a:noFill/>
          <a:ln/>
        </p:spPr>
        <p:txBody>
          <a:bodyPr wrap="square" lIns="0" tIns="0" rIns="0" bIns="0" rtlCol="0" anchor="t"/>
          <a:lstStyle/>
          <a:p>
            <a:pPr marL="0" indent="0">
              <a:buNone/>
            </a:pPr>
            <a:r>
              <a:rPr lang="en-US" sz="1500" dirty="0">
                <a:solidFill>
                  <a:srgbClr val="5F6B7A"/>
                </a:solidFill>
              </a:rPr>
              <a:t>Associations complexes : cardinalités multiples et règles de gestion strictes</a:t>
            </a:r>
            <a:endParaRPr lang="en-US" sz="1500" dirty="0"/>
          </a:p>
        </p:txBody>
      </p:sp>
      <p:sp>
        <p:nvSpPr>
          <p:cNvPr id="10" name="Text 8"/>
          <p:cNvSpPr txBox="1"/>
          <p:nvPr/>
        </p:nvSpPr>
        <p:spPr>
          <a:xfrm>
            <a:off x="7269480" y="1965960"/>
            <a:ext cx="4279392" cy="1143000"/>
          </a:xfrm>
          <a:prstGeom prst="rect">
            <a:avLst/>
          </a:prstGeom>
          <a:noFill/>
          <a:ln/>
        </p:spPr>
        <p:txBody>
          <a:bodyPr wrap="square" lIns="0" tIns="0" rIns="0" bIns="0" rtlCol="0" anchor="t"/>
          <a:lstStyle/>
          <a:p>
            <a:pPr marL="0" indent="0">
              <a:buNone/>
            </a:pPr>
            <a:r>
              <a:rPr lang="en-US" sz="1500" dirty="0">
                <a:solidFill>
                  <a:srgbClr val="1F2937"/>
                </a:solidFill>
              </a:rPr>
              <a:t>Travail itératif avec le directeur de mémoire : chaque version du modèle reprise jusqu'à une structure cohérente et normalisée</a:t>
            </a:r>
            <a:endParaRPr lang="en-US" sz="1500" dirty="0"/>
          </a:p>
        </p:txBody>
      </p:sp>
      <p:sp>
        <p:nvSpPr>
          <p:cNvPr id="11" name="Shape 9"/>
          <p:cNvSpPr/>
          <p:nvPr/>
        </p:nvSpPr>
        <p:spPr>
          <a:xfrm>
            <a:off x="640080" y="3200400"/>
            <a:ext cx="10908792" cy="0"/>
          </a:xfrm>
          <a:prstGeom prst="line">
            <a:avLst/>
          </a:prstGeom>
          <a:noFill/>
          <a:ln w="9525">
            <a:solidFill>
              <a:srgbClr val="CBD2DC"/>
            </a:solidFill>
            <a:prstDash val="solid"/>
          </a:ln>
        </p:spPr>
      </p:sp>
      <p:sp>
        <p:nvSpPr>
          <p:cNvPr id="12" name="Text 10"/>
          <p:cNvSpPr txBox="1"/>
          <p:nvPr/>
        </p:nvSpPr>
        <p:spPr>
          <a:xfrm>
            <a:off x="640080" y="3337560"/>
            <a:ext cx="2606040" cy="1097280"/>
          </a:xfrm>
          <a:prstGeom prst="rect">
            <a:avLst/>
          </a:prstGeom>
          <a:noFill/>
          <a:ln/>
        </p:spPr>
        <p:txBody>
          <a:bodyPr wrap="square" lIns="0" tIns="0" rIns="0" bIns="0" rtlCol="0" anchor="t"/>
          <a:lstStyle/>
          <a:p>
            <a:pPr marL="0" indent="0">
              <a:buNone/>
            </a:pPr>
            <a:r>
              <a:rPr lang="en-US" sz="1800" b="1" dirty="0">
                <a:solidFill>
                  <a:srgbClr val="1A2540"/>
                </a:solidFill>
              </a:rPr>
              <a:t>Gestion du temps</a:t>
            </a:r>
            <a:endParaRPr lang="en-US" sz="1800" dirty="0"/>
          </a:p>
        </p:txBody>
      </p:sp>
      <p:sp>
        <p:nvSpPr>
          <p:cNvPr id="13" name="Text 11"/>
          <p:cNvSpPr txBox="1"/>
          <p:nvPr/>
        </p:nvSpPr>
        <p:spPr>
          <a:xfrm>
            <a:off x="3429000" y="3337560"/>
            <a:ext cx="3657600" cy="1143000"/>
          </a:xfrm>
          <a:prstGeom prst="rect">
            <a:avLst/>
          </a:prstGeom>
          <a:noFill/>
          <a:ln/>
        </p:spPr>
        <p:txBody>
          <a:bodyPr wrap="square" lIns="0" tIns="0" rIns="0" bIns="0" rtlCol="0" anchor="t"/>
          <a:lstStyle/>
          <a:p>
            <a:pPr marL="0" indent="0">
              <a:buNone/>
            </a:pPr>
            <a:r>
              <a:rPr lang="en-US" sz="1500" dirty="0">
                <a:solidFill>
                  <a:srgbClr val="5F6B7A"/>
                </a:solidFill>
              </a:rPr>
              <a:t>Projet mené en parallèle du stage et des obligations académiques</a:t>
            </a:r>
            <a:endParaRPr lang="en-US" sz="1500" dirty="0"/>
          </a:p>
        </p:txBody>
      </p:sp>
      <p:sp>
        <p:nvSpPr>
          <p:cNvPr id="14" name="Text 12"/>
          <p:cNvSpPr txBox="1"/>
          <p:nvPr/>
        </p:nvSpPr>
        <p:spPr>
          <a:xfrm>
            <a:off x="7269480" y="3337560"/>
            <a:ext cx="4279392" cy="1143000"/>
          </a:xfrm>
          <a:prstGeom prst="rect">
            <a:avLst/>
          </a:prstGeom>
          <a:noFill/>
          <a:ln/>
        </p:spPr>
        <p:txBody>
          <a:bodyPr wrap="square" lIns="0" tIns="0" rIns="0" bIns="0" rtlCol="0" anchor="t"/>
          <a:lstStyle/>
          <a:p>
            <a:pPr marL="0" indent="0">
              <a:buNone/>
            </a:pPr>
            <a:r>
              <a:rPr lang="en-US" sz="1500" dirty="0">
                <a:solidFill>
                  <a:srgbClr val="1F2937"/>
                </a:solidFill>
              </a:rPr>
              <a:t>Travail découpé en étapes, validées section par section</a:t>
            </a:r>
            <a:endParaRPr lang="en-US" sz="1500" dirty="0"/>
          </a:p>
        </p:txBody>
      </p:sp>
      <p:sp>
        <p:nvSpPr>
          <p:cNvPr id="15" name="Shape 13"/>
          <p:cNvSpPr/>
          <p:nvPr/>
        </p:nvSpPr>
        <p:spPr>
          <a:xfrm>
            <a:off x="640080" y="4572000"/>
            <a:ext cx="10908792" cy="0"/>
          </a:xfrm>
          <a:prstGeom prst="line">
            <a:avLst/>
          </a:prstGeom>
          <a:noFill/>
          <a:ln w="9525">
            <a:solidFill>
              <a:srgbClr val="CBD2DC"/>
            </a:solidFill>
            <a:prstDash val="solid"/>
          </a:ln>
        </p:spPr>
      </p:sp>
      <p:sp>
        <p:nvSpPr>
          <p:cNvPr id="16" name="Text 14"/>
          <p:cNvSpPr txBox="1"/>
          <p:nvPr/>
        </p:nvSpPr>
        <p:spPr>
          <a:xfrm>
            <a:off x="640080" y="4709160"/>
            <a:ext cx="2606040" cy="1097280"/>
          </a:xfrm>
          <a:prstGeom prst="rect">
            <a:avLst/>
          </a:prstGeom>
          <a:noFill/>
          <a:ln/>
        </p:spPr>
        <p:txBody>
          <a:bodyPr wrap="square" lIns="0" tIns="0" rIns="0" bIns="0" rtlCol="0" anchor="t"/>
          <a:lstStyle/>
          <a:p>
            <a:pPr marL="0" indent="0">
              <a:buNone/>
            </a:pPr>
            <a:r>
              <a:rPr lang="en-US" sz="1800" b="1" dirty="0">
                <a:solidFill>
                  <a:srgbClr val="1A2540"/>
                </a:solidFill>
              </a:rPr>
              <a:t>Échanges B2B et notifications</a:t>
            </a:r>
            <a:endParaRPr lang="en-US" sz="1800" dirty="0"/>
          </a:p>
        </p:txBody>
      </p:sp>
      <p:sp>
        <p:nvSpPr>
          <p:cNvPr id="17" name="Text 15"/>
          <p:cNvSpPr txBox="1"/>
          <p:nvPr/>
        </p:nvSpPr>
        <p:spPr>
          <a:xfrm>
            <a:off x="3429000" y="4709160"/>
            <a:ext cx="3657600" cy="1143000"/>
          </a:xfrm>
          <a:prstGeom prst="rect">
            <a:avLst/>
          </a:prstGeom>
          <a:noFill/>
          <a:ln/>
        </p:spPr>
        <p:txBody>
          <a:bodyPr wrap="square" lIns="0" tIns="0" rIns="0" bIns="0" rtlCol="0" anchor="t"/>
          <a:lstStyle/>
          <a:p>
            <a:pPr marL="0" indent="0">
              <a:buNone/>
            </a:pPr>
            <a:r>
              <a:rPr lang="en-US" sz="1500" dirty="0">
                <a:solidFill>
                  <a:srgbClr val="5F6B7A"/>
                </a:solidFill>
              </a:rPr>
              <a:t>Un temps d'apprentissage technique supplémentaire</a:t>
            </a:r>
            <a:endParaRPr lang="en-US" sz="1500" dirty="0"/>
          </a:p>
        </p:txBody>
      </p:sp>
      <p:sp>
        <p:nvSpPr>
          <p:cNvPr id="18" name="Text 16"/>
          <p:cNvSpPr txBox="1"/>
          <p:nvPr/>
        </p:nvSpPr>
        <p:spPr>
          <a:xfrm>
            <a:off x="7269480" y="4709160"/>
            <a:ext cx="4279392" cy="1143000"/>
          </a:xfrm>
          <a:prstGeom prst="rect">
            <a:avLst/>
          </a:prstGeom>
          <a:noFill/>
          <a:ln/>
        </p:spPr>
        <p:txBody>
          <a:bodyPr wrap="square" lIns="0" tIns="0" rIns="0" bIns="0" rtlCol="0" anchor="t"/>
          <a:lstStyle/>
          <a:p>
            <a:pPr marL="0" indent="0">
              <a:buNone/>
            </a:pPr>
            <a:r>
              <a:rPr lang="en-US" sz="1500" dirty="0">
                <a:solidFill>
                  <a:srgbClr val="1F2937"/>
                </a:solidFill>
              </a:rPr>
              <a:t>Recherche documentaire ciblée, accompagnement de l'équipe technique de TAD Dev ; interrogation périodique du serveur retenue</a:t>
            </a:r>
            <a:endParaRPr lang="en-US" sz="1500" dirty="0"/>
          </a:p>
        </p:txBody>
      </p:sp>
      <p:sp>
        <p:nvSpPr>
          <p:cNvPr id="19" name="Shape 17"/>
          <p:cNvSpPr/>
          <p:nvPr/>
        </p:nvSpPr>
        <p:spPr>
          <a:xfrm>
            <a:off x="640080" y="5943600"/>
            <a:ext cx="10908792" cy="0"/>
          </a:xfrm>
          <a:prstGeom prst="line">
            <a:avLst/>
          </a:prstGeom>
          <a:noFill/>
          <a:ln w="9525">
            <a:solidFill>
              <a:srgbClr val="CBD2DC"/>
            </a:solidFill>
            <a:prstDash val="solid"/>
          </a:ln>
        </p:spPr>
      </p:sp>
      <p:sp>
        <p:nvSpPr>
          <p:cNvPr id="25" name="Slide Number Placeholder 0"/>
          <p:cNvSpPr>
            <a:spLocks noGrp="1"/>
          </p:cNvSpPr>
          <p:nvPr>
            <p:ph type="sldNum" sz="quarter" idx="4294967295"/>
          </p:nvPr>
        </p:nvSpPr>
        <p:spPr>
          <a:xfrm>
            <a:off x="1100023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defRPr>
            </a:lvl1pPr>
          </a:lstStyle>
          <a:p>
            <a:pPr algn="r"/>
            <a:fld id="{F7021451-1387-4CA6-816F-3879F97B5CBC}" type="slidenum">
              <a:rPr lang="en-US" b="0"/>
              <a:t>17</a:t>
            </a:fld>
            <a:endParaRPr lang="en-US"/>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411480"/>
            <a:ext cx="10908792" cy="274320"/>
          </a:xfrm>
          <a:prstGeom prst="rect">
            <a:avLst/>
          </a:prstGeom>
          <a:noFill/>
          <a:ln/>
        </p:spPr>
        <p:txBody>
          <a:bodyPr wrap="square" lIns="0" tIns="0" rIns="0" bIns="0" rtlCol="0" anchor="t"/>
          <a:lstStyle/>
          <a:p>
            <a:pPr marL="0" indent="0" algn="l">
              <a:buNone/>
            </a:pPr>
            <a:r>
              <a:rPr lang="en-US" sz="1200" b="1" dirty="0">
                <a:solidFill>
                  <a:srgbClr val="3A57E0"/>
                </a:solidFill>
              </a:rPr>
              <a:t>6 · Perspectives</a:t>
            </a:r>
            <a:endParaRPr lang="en-US" sz="1200" dirty="0"/>
          </a:p>
        </p:txBody>
      </p:sp>
      <p:sp>
        <p:nvSpPr>
          <p:cNvPr id="3" name="Text 1"/>
          <p:cNvSpPr>
            <a:spLocks noGrp="1"/>
          </p:cNvSpPr>
          <p:nvPr>
            <p:ph type="title" idx="102" hasCustomPrompt="1"/>
          </p:nvPr>
        </p:nvSpPr>
        <p:spPr>
          <a:xfrm>
            <a:off x="640080" y="713232"/>
            <a:ext cx="10908792" cy="640080"/>
          </a:xfrm>
          <a:prstGeom prst="rect">
            <a:avLst/>
          </a:prstGeom>
          <a:noFill/>
          <a:ln/>
        </p:spPr>
        <p:txBody>
          <a:bodyPr wrap="square" lIns="0" tIns="0" rIns="0" bIns="0" rtlCol="0" anchor="t"/>
          <a:lstStyle/>
          <a:p>
            <a:pPr marL="0" indent="0" algn="l">
              <a:buNone/>
            </a:pPr>
            <a:r>
              <a:rPr lang="en-US" sz="3000" b="1" dirty="0">
                <a:solidFill>
                  <a:srgbClr val="1A2540"/>
                </a:solidFill>
              </a:rPr>
              <a:t>Évolutions envisagées</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600" dirty="0">
                <a:solidFill>
                  <a:srgbClr val="5F6B7A"/>
                </a:solidFill>
              </a:rPr>
              <a:t>Ces fonctionnalités ne sont pas encore disponibles dans FactuPro.</a:t>
            </a:r>
            <a:endParaRPr lang="en-US" sz="1600" dirty="0"/>
          </a:p>
        </p:txBody>
      </p:sp>
      <p:sp>
        <p:nvSpPr>
          <p:cNvPr id="5" name="Shape 3"/>
          <p:cNvSpPr/>
          <p:nvPr/>
        </p:nvSpPr>
        <p:spPr>
          <a:xfrm>
            <a:off x="640080" y="2011680"/>
            <a:ext cx="10908792" cy="0"/>
          </a:xfrm>
          <a:prstGeom prst="line">
            <a:avLst/>
          </a:prstGeom>
          <a:noFill/>
          <a:ln w="9525">
            <a:solidFill>
              <a:srgbClr val="CBD2DC"/>
            </a:solidFill>
            <a:prstDash val="solid"/>
          </a:ln>
        </p:spPr>
      </p:sp>
      <p:sp>
        <p:nvSpPr>
          <p:cNvPr id="6" name="Text 4"/>
          <p:cNvSpPr txBox="1"/>
          <p:nvPr/>
        </p:nvSpPr>
        <p:spPr>
          <a:xfrm>
            <a:off x="640080" y="2011680"/>
            <a:ext cx="3566160" cy="960120"/>
          </a:xfrm>
          <a:prstGeom prst="rect">
            <a:avLst/>
          </a:prstGeom>
          <a:noFill/>
          <a:ln/>
        </p:spPr>
        <p:txBody>
          <a:bodyPr wrap="square" lIns="0" tIns="0" rIns="0" bIns="0" rtlCol="0" anchor="ctr"/>
          <a:lstStyle/>
          <a:p>
            <a:pPr marL="0" indent="0">
              <a:buNone/>
            </a:pPr>
            <a:r>
              <a:rPr lang="en-US" sz="2000" b="1" dirty="0">
                <a:solidFill>
                  <a:srgbClr val="1A2540"/>
                </a:solidFill>
              </a:rPr>
              <a:t>Paiement mobile</a:t>
            </a:r>
            <a:endParaRPr lang="en-US" sz="2000" dirty="0"/>
          </a:p>
        </p:txBody>
      </p:sp>
      <p:sp>
        <p:nvSpPr>
          <p:cNvPr id="7" name="Text 5"/>
          <p:cNvSpPr txBox="1"/>
          <p:nvPr/>
        </p:nvSpPr>
        <p:spPr>
          <a:xfrm>
            <a:off x="4389120" y="2011680"/>
            <a:ext cx="7132320" cy="960120"/>
          </a:xfrm>
          <a:prstGeom prst="rect">
            <a:avLst/>
          </a:prstGeom>
          <a:noFill/>
          <a:ln/>
        </p:spPr>
        <p:txBody>
          <a:bodyPr wrap="square" lIns="0" tIns="0" rIns="0" bIns="0" rtlCol="0" anchor="ctr"/>
          <a:lstStyle/>
          <a:p>
            <a:pPr marL="0" indent="0">
              <a:buNone/>
            </a:pPr>
            <a:r>
              <a:rPr lang="en-US" sz="1650" dirty="0">
                <a:solidFill>
                  <a:srgbClr val="1F2937"/>
                </a:solidFill>
              </a:rPr>
              <a:t>Intégrer Flooz et T-Money, très répandus au Togo, pour régler les transactions, notamment en B2B.</a:t>
            </a:r>
            <a:endParaRPr lang="en-US" sz="1650" dirty="0"/>
          </a:p>
        </p:txBody>
      </p:sp>
      <p:sp>
        <p:nvSpPr>
          <p:cNvPr id="8" name="Shape 6"/>
          <p:cNvSpPr/>
          <p:nvPr/>
        </p:nvSpPr>
        <p:spPr>
          <a:xfrm>
            <a:off x="640080" y="2971800"/>
            <a:ext cx="10908792" cy="0"/>
          </a:xfrm>
          <a:prstGeom prst="line">
            <a:avLst/>
          </a:prstGeom>
          <a:noFill/>
          <a:ln w="9525">
            <a:solidFill>
              <a:srgbClr val="CBD2DC"/>
            </a:solidFill>
            <a:prstDash val="solid"/>
          </a:ln>
        </p:spPr>
      </p:sp>
      <p:sp>
        <p:nvSpPr>
          <p:cNvPr id="9" name="Text 7"/>
          <p:cNvSpPr txBox="1"/>
          <p:nvPr/>
        </p:nvSpPr>
        <p:spPr>
          <a:xfrm>
            <a:off x="640080" y="2971800"/>
            <a:ext cx="3566160" cy="960120"/>
          </a:xfrm>
          <a:prstGeom prst="rect">
            <a:avLst/>
          </a:prstGeom>
          <a:noFill/>
          <a:ln/>
        </p:spPr>
        <p:txBody>
          <a:bodyPr wrap="square" lIns="0" tIns="0" rIns="0" bIns="0" rtlCol="0" anchor="ctr"/>
          <a:lstStyle/>
          <a:p>
            <a:pPr marL="0" indent="0">
              <a:buNone/>
            </a:pPr>
            <a:r>
              <a:rPr lang="en-US" sz="2000" b="1" dirty="0">
                <a:solidFill>
                  <a:srgbClr val="1A2540"/>
                </a:solidFill>
              </a:rPr>
              <a:t>Application mobile</a:t>
            </a:r>
            <a:endParaRPr lang="en-US" sz="2000" dirty="0"/>
          </a:p>
        </p:txBody>
      </p:sp>
      <p:sp>
        <p:nvSpPr>
          <p:cNvPr id="10" name="Text 8"/>
          <p:cNvSpPr txBox="1"/>
          <p:nvPr/>
        </p:nvSpPr>
        <p:spPr>
          <a:xfrm>
            <a:off x="4389120" y="2971800"/>
            <a:ext cx="7132320" cy="960120"/>
          </a:xfrm>
          <a:prstGeom prst="rect">
            <a:avLst/>
          </a:prstGeom>
          <a:noFill/>
          <a:ln/>
        </p:spPr>
        <p:txBody>
          <a:bodyPr wrap="square" lIns="0" tIns="0" rIns="0" bIns="0" rtlCol="0" anchor="ctr"/>
          <a:lstStyle/>
          <a:p>
            <a:pPr marL="0" indent="0">
              <a:buNone/>
            </a:pPr>
            <a:r>
              <a:rPr lang="en-US" sz="1650" dirty="0">
                <a:solidFill>
                  <a:srgbClr val="1F2937"/>
                </a:solidFill>
              </a:rPr>
              <a:t>Suivre les ventes, les stocks et les commandes en tout lieu, sans ordinateur.</a:t>
            </a:r>
            <a:endParaRPr lang="en-US" sz="1650" dirty="0"/>
          </a:p>
        </p:txBody>
      </p:sp>
      <p:sp>
        <p:nvSpPr>
          <p:cNvPr id="11" name="Shape 9"/>
          <p:cNvSpPr/>
          <p:nvPr/>
        </p:nvSpPr>
        <p:spPr>
          <a:xfrm>
            <a:off x="640080" y="3931920"/>
            <a:ext cx="10908792" cy="0"/>
          </a:xfrm>
          <a:prstGeom prst="line">
            <a:avLst/>
          </a:prstGeom>
          <a:noFill/>
          <a:ln w="9525">
            <a:solidFill>
              <a:srgbClr val="CBD2DC"/>
            </a:solidFill>
            <a:prstDash val="solid"/>
          </a:ln>
        </p:spPr>
      </p:sp>
      <p:sp>
        <p:nvSpPr>
          <p:cNvPr id="12" name="Text 10"/>
          <p:cNvSpPr txBox="1"/>
          <p:nvPr/>
        </p:nvSpPr>
        <p:spPr>
          <a:xfrm>
            <a:off x="640080" y="3931920"/>
            <a:ext cx="3566160" cy="960120"/>
          </a:xfrm>
          <a:prstGeom prst="rect">
            <a:avLst/>
          </a:prstGeom>
          <a:noFill/>
          <a:ln/>
        </p:spPr>
        <p:txBody>
          <a:bodyPr wrap="square" lIns="0" tIns="0" rIns="0" bIns="0" rtlCol="0" anchor="ctr"/>
          <a:lstStyle/>
          <a:p>
            <a:pPr marL="0" indent="0">
              <a:buNone/>
            </a:pPr>
            <a:r>
              <a:rPr lang="en-US" sz="2000" b="1" dirty="0">
                <a:solidFill>
                  <a:srgbClr val="1A2540"/>
                </a:solidFill>
              </a:rPr>
              <a:t>Statistiques avancées</a:t>
            </a:r>
            <a:endParaRPr lang="en-US" sz="2000" dirty="0"/>
          </a:p>
        </p:txBody>
      </p:sp>
      <p:sp>
        <p:nvSpPr>
          <p:cNvPr id="13" name="Text 11"/>
          <p:cNvSpPr txBox="1"/>
          <p:nvPr/>
        </p:nvSpPr>
        <p:spPr>
          <a:xfrm>
            <a:off x="4389120" y="3931920"/>
            <a:ext cx="7132320" cy="960120"/>
          </a:xfrm>
          <a:prstGeom prst="rect">
            <a:avLst/>
          </a:prstGeom>
          <a:noFill/>
          <a:ln/>
        </p:spPr>
        <p:txBody>
          <a:bodyPr wrap="square" lIns="0" tIns="0" rIns="0" bIns="0" rtlCol="0" anchor="ctr"/>
          <a:lstStyle/>
          <a:p>
            <a:pPr marL="0" indent="0">
              <a:buNone/>
            </a:pPr>
            <a:r>
              <a:rPr lang="en-US" sz="1650" dirty="0">
                <a:solidFill>
                  <a:srgbClr val="1F2937"/>
                </a:solidFill>
              </a:rPr>
              <a:t>Des indicateurs de performance commerciale et des prévisions de vente.</a:t>
            </a:r>
            <a:endParaRPr lang="en-US" sz="1650" dirty="0"/>
          </a:p>
        </p:txBody>
      </p:sp>
      <p:sp>
        <p:nvSpPr>
          <p:cNvPr id="14" name="Shape 12"/>
          <p:cNvSpPr/>
          <p:nvPr/>
        </p:nvSpPr>
        <p:spPr>
          <a:xfrm>
            <a:off x="640080" y="4892040"/>
            <a:ext cx="10908792" cy="0"/>
          </a:xfrm>
          <a:prstGeom prst="line">
            <a:avLst/>
          </a:prstGeom>
          <a:noFill/>
          <a:ln w="9525">
            <a:solidFill>
              <a:srgbClr val="CBD2DC"/>
            </a:solidFill>
            <a:prstDash val="solid"/>
          </a:ln>
        </p:spPr>
      </p:sp>
      <p:sp>
        <p:nvSpPr>
          <p:cNvPr id="15" name="Text 13"/>
          <p:cNvSpPr txBox="1"/>
          <p:nvPr/>
        </p:nvSpPr>
        <p:spPr>
          <a:xfrm>
            <a:off x="640080" y="4892040"/>
            <a:ext cx="3566160" cy="960120"/>
          </a:xfrm>
          <a:prstGeom prst="rect">
            <a:avLst/>
          </a:prstGeom>
          <a:noFill/>
          <a:ln/>
        </p:spPr>
        <p:txBody>
          <a:bodyPr wrap="square" lIns="0" tIns="0" rIns="0" bIns="0" rtlCol="0" anchor="ctr"/>
          <a:lstStyle/>
          <a:p>
            <a:pPr marL="0" indent="0">
              <a:buNone/>
            </a:pPr>
            <a:r>
              <a:rPr lang="en-US" sz="2000" b="1" dirty="0">
                <a:solidFill>
                  <a:srgbClr val="1A2540"/>
                </a:solidFill>
              </a:rPr>
              <a:t>Notation entre entreprises</a:t>
            </a:r>
            <a:endParaRPr lang="en-US" sz="2000" dirty="0"/>
          </a:p>
        </p:txBody>
      </p:sp>
      <p:sp>
        <p:nvSpPr>
          <p:cNvPr id="16" name="Text 14"/>
          <p:cNvSpPr txBox="1"/>
          <p:nvPr/>
        </p:nvSpPr>
        <p:spPr>
          <a:xfrm>
            <a:off x="4389120" y="4892040"/>
            <a:ext cx="7132320" cy="960120"/>
          </a:xfrm>
          <a:prstGeom prst="rect">
            <a:avLst/>
          </a:prstGeom>
          <a:noFill/>
          <a:ln/>
        </p:spPr>
        <p:txBody>
          <a:bodyPr wrap="square" lIns="0" tIns="0" rIns="0" bIns="0" rtlCol="0" anchor="ctr"/>
          <a:lstStyle/>
          <a:p>
            <a:pPr marL="0" indent="0">
              <a:buNone/>
            </a:pPr>
            <a:r>
              <a:rPr lang="en-US" sz="1650" dirty="0">
                <a:solidFill>
                  <a:srgbClr val="1F2937"/>
                </a:solidFill>
              </a:rPr>
              <a:t>Des avis mutuels pour enrichir le score de fiabilité déjà présent dans le modèle de données.</a:t>
            </a:r>
            <a:endParaRPr lang="en-US" sz="1650" dirty="0"/>
          </a:p>
        </p:txBody>
      </p:sp>
      <p:sp>
        <p:nvSpPr>
          <p:cNvPr id="17" name="Shape 15"/>
          <p:cNvSpPr/>
          <p:nvPr/>
        </p:nvSpPr>
        <p:spPr>
          <a:xfrm>
            <a:off x="640080" y="5852160"/>
            <a:ext cx="10908792" cy="0"/>
          </a:xfrm>
          <a:prstGeom prst="line">
            <a:avLst/>
          </a:prstGeom>
          <a:noFill/>
          <a:ln w="9525">
            <a:solidFill>
              <a:srgbClr val="CBD2DC"/>
            </a:solidFill>
            <a:prstDash val="solid"/>
          </a:ln>
        </p:spPr>
      </p:sp>
      <p:sp>
        <p:nvSpPr>
          <p:cNvPr id="25" name="Slide Number Placeholder 0"/>
          <p:cNvSpPr>
            <a:spLocks noGrp="1"/>
          </p:cNvSpPr>
          <p:nvPr>
            <p:ph type="sldNum" sz="quarter" idx="4294967295"/>
          </p:nvPr>
        </p:nvSpPr>
        <p:spPr>
          <a:xfrm>
            <a:off x="1100023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defRPr>
            </a:lvl1pPr>
          </a:lstStyle>
          <a:p>
            <a:pPr algn="r"/>
            <a:fld id="{F7021451-1387-4CA6-816F-3879F97B5CBC}" type="slidenum">
              <a:rPr lang="en-US" b="0"/>
              <a:t>18</a:t>
            </a:fld>
            <a:endParaRPr lang="en-US"/>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411480"/>
            <a:ext cx="10908792" cy="274320"/>
          </a:xfrm>
          <a:prstGeom prst="rect">
            <a:avLst/>
          </a:prstGeom>
          <a:noFill/>
          <a:ln/>
        </p:spPr>
        <p:txBody>
          <a:bodyPr wrap="square" lIns="0" tIns="0" rIns="0" bIns="0" rtlCol="0" anchor="t"/>
          <a:lstStyle/>
          <a:p>
            <a:pPr marL="0" indent="0" algn="l">
              <a:buNone/>
            </a:pPr>
            <a:r>
              <a:rPr lang="en-US" sz="1200" b="1" dirty="0">
                <a:solidFill>
                  <a:srgbClr val="3A57E0"/>
                </a:solidFill>
              </a:rPr>
              <a:t>Conclusion</a:t>
            </a:r>
            <a:endParaRPr lang="en-US" sz="1200" dirty="0"/>
          </a:p>
        </p:txBody>
      </p:sp>
      <p:sp>
        <p:nvSpPr>
          <p:cNvPr id="3" name="Text 1"/>
          <p:cNvSpPr>
            <a:spLocks noGrp="1"/>
          </p:cNvSpPr>
          <p:nvPr>
            <p:ph type="title" idx="102" hasCustomPrompt="1"/>
          </p:nvPr>
        </p:nvSpPr>
        <p:spPr>
          <a:xfrm>
            <a:off x="640080" y="713232"/>
            <a:ext cx="10908792" cy="640080"/>
          </a:xfrm>
          <a:prstGeom prst="rect">
            <a:avLst/>
          </a:prstGeom>
          <a:noFill/>
          <a:ln/>
        </p:spPr>
        <p:txBody>
          <a:bodyPr wrap="square" lIns="0" tIns="0" rIns="0" bIns="0" rtlCol="0" anchor="t"/>
          <a:lstStyle/>
          <a:p>
            <a:pPr marL="0" indent="0" algn="l">
              <a:buNone/>
            </a:pPr>
            <a:r>
              <a:rPr lang="en-US" sz="3000" b="1" dirty="0">
                <a:solidFill>
                  <a:srgbClr val="1A2540"/>
                </a:solidFill>
              </a:rPr>
              <a:t>Retour au problème de départ</a:t>
            </a:r>
            <a:endParaRPr lang="en-US" sz="3000" dirty="0"/>
          </a:p>
        </p:txBody>
      </p:sp>
      <p:sp>
        <p:nvSpPr>
          <p:cNvPr id="4" name="Text 2"/>
          <p:cNvSpPr txBox="1"/>
          <p:nvPr/>
        </p:nvSpPr>
        <p:spPr>
          <a:xfrm>
            <a:off x="640080" y="1554480"/>
            <a:ext cx="2011680" cy="685800"/>
          </a:xfrm>
          <a:prstGeom prst="rect">
            <a:avLst/>
          </a:prstGeom>
          <a:noFill/>
          <a:ln/>
        </p:spPr>
        <p:txBody>
          <a:bodyPr wrap="square" lIns="0" tIns="0" rIns="0" bIns="0" rtlCol="0" anchor="ctr"/>
          <a:lstStyle/>
          <a:p>
            <a:pPr marL="0" indent="0">
              <a:buNone/>
            </a:pPr>
            <a:r>
              <a:rPr lang="en-US" sz="2000" b="1" dirty="0">
                <a:solidFill>
                  <a:srgbClr val="3A57E0"/>
                </a:solidFill>
              </a:rPr>
              <a:t>Problème</a:t>
            </a:r>
            <a:endParaRPr lang="en-US" sz="2000" dirty="0"/>
          </a:p>
        </p:txBody>
      </p:sp>
      <p:sp>
        <p:nvSpPr>
          <p:cNvPr id="5" name="Text 3"/>
          <p:cNvSpPr txBox="1"/>
          <p:nvPr/>
        </p:nvSpPr>
        <p:spPr>
          <a:xfrm>
            <a:off x="2743200" y="1554480"/>
            <a:ext cx="8778240" cy="685800"/>
          </a:xfrm>
          <a:prstGeom prst="rect">
            <a:avLst/>
          </a:prstGeom>
          <a:noFill/>
          <a:ln/>
        </p:spPr>
        <p:txBody>
          <a:bodyPr wrap="square" lIns="0" tIns="0" rIns="0" bIns="0" rtlCol="0" anchor="ctr"/>
          <a:lstStyle/>
          <a:p>
            <a:pPr marL="0" indent="0">
              <a:buNone/>
            </a:pPr>
            <a:r>
              <a:rPr lang="en-US" sz="2000" dirty="0">
                <a:solidFill>
                  <a:srgbClr val="1A2540"/>
                </a:solidFill>
              </a:rPr>
              <a:t>Trouver rapidement un fournisseur reste difficile pour une PME en situation d'urgence.</a:t>
            </a:r>
            <a:endParaRPr lang="en-US" sz="2000" dirty="0"/>
          </a:p>
        </p:txBody>
      </p:sp>
      <p:sp>
        <p:nvSpPr>
          <p:cNvPr id="6" name="Shape 4"/>
          <p:cNvSpPr/>
          <p:nvPr/>
        </p:nvSpPr>
        <p:spPr>
          <a:xfrm>
            <a:off x="1097280" y="2249424"/>
            <a:ext cx="0" cy="182880"/>
          </a:xfrm>
          <a:prstGeom prst="line">
            <a:avLst/>
          </a:prstGeom>
          <a:noFill/>
          <a:ln w="15875">
            <a:solidFill>
              <a:srgbClr val="5F6B7A"/>
            </a:solidFill>
            <a:prstDash val="solid"/>
            <a:tailEnd type="triangle"/>
          </a:ln>
        </p:spPr>
      </p:sp>
      <p:sp>
        <p:nvSpPr>
          <p:cNvPr id="7" name="Text 5"/>
          <p:cNvSpPr txBox="1"/>
          <p:nvPr/>
        </p:nvSpPr>
        <p:spPr>
          <a:xfrm>
            <a:off x="640080" y="2450592"/>
            <a:ext cx="2011680" cy="685800"/>
          </a:xfrm>
          <a:prstGeom prst="rect">
            <a:avLst/>
          </a:prstGeom>
          <a:noFill/>
          <a:ln/>
        </p:spPr>
        <p:txBody>
          <a:bodyPr wrap="square" lIns="0" tIns="0" rIns="0" bIns="0" rtlCol="0" anchor="ctr"/>
          <a:lstStyle/>
          <a:p>
            <a:pPr marL="0" indent="0">
              <a:buNone/>
            </a:pPr>
            <a:r>
              <a:rPr lang="en-US" sz="2000" b="1" dirty="0">
                <a:solidFill>
                  <a:srgbClr val="3A57E0"/>
                </a:solidFill>
              </a:rPr>
              <a:t>Solution</a:t>
            </a:r>
            <a:endParaRPr lang="en-US" sz="2000" dirty="0"/>
          </a:p>
        </p:txBody>
      </p:sp>
      <p:sp>
        <p:nvSpPr>
          <p:cNvPr id="8" name="Text 6"/>
          <p:cNvSpPr txBox="1"/>
          <p:nvPr/>
        </p:nvSpPr>
        <p:spPr>
          <a:xfrm>
            <a:off x="2743200" y="2450592"/>
            <a:ext cx="8778240" cy="685800"/>
          </a:xfrm>
          <a:prstGeom prst="rect">
            <a:avLst/>
          </a:prstGeom>
          <a:noFill/>
          <a:ln/>
        </p:spPr>
        <p:txBody>
          <a:bodyPr wrap="square" lIns="0" tIns="0" rIns="0" bIns="0" rtlCol="0" anchor="ctr"/>
          <a:lstStyle/>
          <a:p>
            <a:pPr marL="0" indent="0">
              <a:buNone/>
            </a:pPr>
            <a:r>
              <a:rPr lang="en-US" sz="2000" dirty="0">
                <a:solidFill>
                  <a:srgbClr val="1A2540"/>
                </a:solidFill>
              </a:rPr>
              <a:t>FactuPro, une plateforme web de gestion de boutiques et d'intégration B2B.</a:t>
            </a:r>
            <a:endParaRPr lang="en-US" sz="2000" dirty="0"/>
          </a:p>
        </p:txBody>
      </p:sp>
      <p:sp>
        <p:nvSpPr>
          <p:cNvPr id="9" name="Shape 7"/>
          <p:cNvSpPr/>
          <p:nvPr/>
        </p:nvSpPr>
        <p:spPr>
          <a:xfrm>
            <a:off x="1097280" y="3145536"/>
            <a:ext cx="0" cy="182880"/>
          </a:xfrm>
          <a:prstGeom prst="line">
            <a:avLst/>
          </a:prstGeom>
          <a:noFill/>
          <a:ln w="15875">
            <a:solidFill>
              <a:srgbClr val="5F6B7A"/>
            </a:solidFill>
            <a:prstDash val="solid"/>
            <a:tailEnd type="triangle"/>
          </a:ln>
        </p:spPr>
      </p:sp>
      <p:sp>
        <p:nvSpPr>
          <p:cNvPr id="10" name="Text 8"/>
          <p:cNvSpPr txBox="1"/>
          <p:nvPr/>
        </p:nvSpPr>
        <p:spPr>
          <a:xfrm>
            <a:off x="640080" y="3346704"/>
            <a:ext cx="2011680" cy="685800"/>
          </a:xfrm>
          <a:prstGeom prst="rect">
            <a:avLst/>
          </a:prstGeom>
          <a:noFill/>
          <a:ln/>
        </p:spPr>
        <p:txBody>
          <a:bodyPr wrap="square" lIns="0" tIns="0" rIns="0" bIns="0" rtlCol="0" anchor="ctr"/>
          <a:lstStyle/>
          <a:p>
            <a:pPr marL="0" indent="0">
              <a:buNone/>
            </a:pPr>
            <a:r>
              <a:rPr lang="en-US" sz="2000" b="1" dirty="0">
                <a:solidFill>
                  <a:srgbClr val="3A57E0"/>
                </a:solidFill>
              </a:rPr>
              <a:t>Réponse</a:t>
            </a:r>
            <a:endParaRPr lang="en-US" sz="2000" dirty="0"/>
          </a:p>
        </p:txBody>
      </p:sp>
      <p:sp>
        <p:nvSpPr>
          <p:cNvPr id="11" name="Text 9"/>
          <p:cNvSpPr txBox="1"/>
          <p:nvPr/>
        </p:nvSpPr>
        <p:spPr>
          <a:xfrm>
            <a:off x="2743200" y="3346704"/>
            <a:ext cx="8778240" cy="685800"/>
          </a:xfrm>
          <a:prstGeom prst="rect">
            <a:avLst/>
          </a:prstGeom>
          <a:noFill/>
          <a:ln/>
        </p:spPr>
        <p:txBody>
          <a:bodyPr wrap="square" lIns="0" tIns="0" rIns="0" bIns="0" rtlCol="0" anchor="ctr"/>
          <a:lstStyle/>
          <a:p>
            <a:pPr marL="0" indent="0">
              <a:buNone/>
            </a:pPr>
            <a:r>
              <a:rPr lang="en-US" sz="2000" dirty="0">
                <a:solidFill>
                  <a:srgbClr val="1A2540"/>
                </a:solidFill>
              </a:rPr>
              <a:t>La gestion commerciale et le réseau B2B réunis dans la même application.</a:t>
            </a:r>
            <a:endParaRPr lang="en-US" sz="2000" dirty="0"/>
          </a:p>
        </p:txBody>
      </p:sp>
      <p:sp>
        <p:nvSpPr>
          <p:cNvPr id="12" name="Shape 10"/>
          <p:cNvSpPr/>
          <p:nvPr/>
        </p:nvSpPr>
        <p:spPr>
          <a:xfrm>
            <a:off x="1097280" y="4041648"/>
            <a:ext cx="0" cy="182880"/>
          </a:xfrm>
          <a:prstGeom prst="line">
            <a:avLst/>
          </a:prstGeom>
          <a:noFill/>
          <a:ln w="15875">
            <a:solidFill>
              <a:srgbClr val="5F6B7A"/>
            </a:solidFill>
            <a:prstDash val="solid"/>
            <a:tailEnd type="triangle"/>
          </a:ln>
        </p:spPr>
      </p:sp>
      <p:sp>
        <p:nvSpPr>
          <p:cNvPr id="13" name="Text 11"/>
          <p:cNvSpPr txBox="1"/>
          <p:nvPr/>
        </p:nvSpPr>
        <p:spPr>
          <a:xfrm>
            <a:off x="640080" y="4242816"/>
            <a:ext cx="2011680" cy="685800"/>
          </a:xfrm>
          <a:prstGeom prst="rect">
            <a:avLst/>
          </a:prstGeom>
          <a:noFill/>
          <a:ln/>
        </p:spPr>
        <p:txBody>
          <a:bodyPr wrap="square" lIns="0" tIns="0" rIns="0" bIns="0" rtlCol="0" anchor="ctr"/>
          <a:lstStyle/>
          <a:p>
            <a:pPr marL="0" indent="0">
              <a:buNone/>
            </a:pPr>
            <a:r>
              <a:rPr lang="en-US" sz="2000" b="1" dirty="0">
                <a:solidFill>
                  <a:srgbClr val="3A57E0"/>
                </a:solidFill>
              </a:rPr>
              <a:t>Apport</a:t>
            </a:r>
            <a:endParaRPr lang="en-US" sz="2000" dirty="0"/>
          </a:p>
        </p:txBody>
      </p:sp>
      <p:sp>
        <p:nvSpPr>
          <p:cNvPr id="14" name="Text 12"/>
          <p:cNvSpPr txBox="1"/>
          <p:nvPr/>
        </p:nvSpPr>
        <p:spPr>
          <a:xfrm>
            <a:off x="2743200" y="4242816"/>
            <a:ext cx="8778240" cy="685800"/>
          </a:xfrm>
          <a:prstGeom prst="rect">
            <a:avLst/>
          </a:prstGeom>
          <a:noFill/>
          <a:ln/>
        </p:spPr>
        <p:txBody>
          <a:bodyPr wrap="square" lIns="0" tIns="0" rIns="0" bIns="0" rtlCol="0" anchor="ctr"/>
          <a:lstStyle/>
          <a:p>
            <a:pPr marL="0" indent="0">
              <a:buNone/>
            </a:pPr>
            <a:r>
              <a:rPr lang="en-US" sz="2000" dirty="0">
                <a:solidFill>
                  <a:srgbClr val="1A2540"/>
                </a:solidFill>
              </a:rPr>
              <a:t>Centralisation des données, traçabilité des transactions et échanges facilités entre entreprises.</a:t>
            </a:r>
            <a:endParaRPr lang="en-US" sz="2000" dirty="0"/>
          </a:p>
        </p:txBody>
      </p:sp>
      <p:sp>
        <p:nvSpPr>
          <p:cNvPr id="15" name="Shape 13"/>
          <p:cNvSpPr/>
          <p:nvPr/>
        </p:nvSpPr>
        <p:spPr>
          <a:xfrm>
            <a:off x="640080" y="5303520"/>
            <a:ext cx="10908792" cy="777240"/>
          </a:xfrm>
          <a:prstGeom prst="rect">
            <a:avLst/>
          </a:prstGeom>
          <a:solidFill>
            <a:srgbClr val="1A2540"/>
          </a:solidFill>
          <a:ln/>
        </p:spPr>
      </p:sp>
      <p:sp>
        <p:nvSpPr>
          <p:cNvPr id="16" name="Text 14"/>
          <p:cNvSpPr txBox="1"/>
          <p:nvPr/>
        </p:nvSpPr>
        <p:spPr>
          <a:xfrm>
            <a:off x="914400" y="5303520"/>
            <a:ext cx="10424160" cy="777240"/>
          </a:xfrm>
          <a:prstGeom prst="rect">
            <a:avLst/>
          </a:prstGeom>
          <a:noFill/>
          <a:ln/>
        </p:spPr>
        <p:txBody>
          <a:bodyPr wrap="square" lIns="0" tIns="0" rIns="0" bIns="0" rtlCol="0" anchor="ctr"/>
          <a:lstStyle/>
          <a:p>
            <a:pPr marL="0" indent="0">
              <a:buNone/>
            </a:pPr>
            <a:r>
              <a:rPr lang="en-US" sz="1900" b="1" dirty="0">
                <a:solidFill>
                  <a:srgbClr val="FFFFFF"/>
                </a:solidFill>
              </a:rPr>
              <a:t>Un projet mené de bout en bout, de l'analyse du besoin jusqu'à la réalisation technique.</a:t>
            </a:r>
            <a:endParaRPr lang="en-US" sz="1900" dirty="0"/>
          </a:p>
        </p:txBody>
      </p:sp>
      <p:sp>
        <p:nvSpPr>
          <p:cNvPr id="25" name="Slide Number Placeholder 0"/>
          <p:cNvSpPr>
            <a:spLocks noGrp="1"/>
          </p:cNvSpPr>
          <p:nvPr>
            <p:ph type="sldNum" sz="quarter" idx="4294967295"/>
          </p:nvPr>
        </p:nvSpPr>
        <p:spPr>
          <a:xfrm>
            <a:off x="1100023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defRPr>
            </a:lvl1pPr>
          </a:lstStyle>
          <a:p>
            <a:pPr algn="r"/>
            <a:fld id="{F7021451-1387-4CA6-816F-3879F97B5CBC}" type="slidenum">
              <a:rPr lang="en-US" b="0"/>
              <a:t>19</a:t>
            </a:fld>
            <a:endParaRPr lang="en-US"/>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822960" y="1737360"/>
            <a:ext cx="10424160" cy="1463040"/>
          </a:xfrm>
          <a:prstGeom prst="rect">
            <a:avLst/>
          </a:prstGeom>
          <a:noFill/>
          <a:ln/>
        </p:spPr>
        <p:txBody>
          <a:bodyPr wrap="square" lIns="0" tIns="0" rIns="0" bIns="0" rtlCol="0" anchor="b"/>
          <a:lstStyle/>
          <a:p>
            <a:pPr marL="0" indent="0">
              <a:buNone/>
            </a:pPr>
            <a:r>
              <a:rPr lang="en-US" sz="3800" b="1" dirty="0">
                <a:solidFill>
                  <a:srgbClr val="FFFFFF"/>
                </a:solidFill>
              </a:rPr>
              <a:t>FactuPro : gérer son activité, trouver ses partenaires, échanger.</a:t>
            </a:r>
            <a:endParaRPr lang="en-US" sz="3800" dirty="0"/>
          </a:p>
        </p:txBody>
      </p:sp>
      <p:sp>
        <p:nvSpPr>
          <p:cNvPr id="3" name="Text 1"/>
          <p:cNvSpPr txBox="1"/>
          <p:nvPr/>
        </p:nvSpPr>
        <p:spPr>
          <a:xfrm>
            <a:off x="822960" y="3749040"/>
            <a:ext cx="10058400" cy="457200"/>
          </a:xfrm>
          <a:prstGeom prst="rect">
            <a:avLst/>
          </a:prstGeom>
          <a:noFill/>
          <a:ln/>
        </p:spPr>
        <p:txBody>
          <a:bodyPr wrap="square" lIns="0" tIns="0" rIns="0" bIns="0" rtlCol="0" anchor="t"/>
          <a:lstStyle/>
          <a:p>
            <a:pPr marL="0" indent="0">
              <a:buNone/>
            </a:pPr>
            <a:r>
              <a:rPr lang="en-US" sz="2400" dirty="0">
                <a:solidFill>
                  <a:srgbClr val="FFFFFF"/>
                </a:solidFill>
              </a:rPr>
              <a:t>Merci pour votre attention.</a:t>
            </a:r>
            <a:endParaRPr lang="en-US" sz="2400" dirty="0"/>
          </a:p>
        </p:txBody>
      </p:sp>
      <p:sp>
        <p:nvSpPr>
          <p:cNvPr id="4" name="Text 2"/>
          <p:cNvSpPr txBox="1"/>
          <p:nvPr/>
        </p:nvSpPr>
        <p:spPr>
          <a:xfrm>
            <a:off x="822960" y="4251960"/>
            <a:ext cx="10058400" cy="457200"/>
          </a:xfrm>
          <a:prstGeom prst="rect">
            <a:avLst/>
          </a:prstGeom>
          <a:noFill/>
          <a:ln/>
        </p:spPr>
        <p:txBody>
          <a:bodyPr wrap="square" lIns="0" tIns="0" rIns="0" bIns="0" rtlCol="0" anchor="t"/>
          <a:lstStyle/>
          <a:p>
            <a:pPr marL="0" indent="0">
              <a:buNone/>
            </a:pPr>
            <a:r>
              <a:rPr lang="en-US" sz="2000" dirty="0">
                <a:solidFill>
                  <a:srgbClr val="AEB8CC"/>
                </a:solidFill>
              </a:rPr>
              <a:t>Je suis à votre disposition pour vos questions.</a:t>
            </a:r>
            <a:endParaRPr lang="en-US" sz="2000" dirty="0"/>
          </a:p>
        </p:txBody>
      </p:sp>
      <p:sp>
        <p:nvSpPr>
          <p:cNvPr id="5" name="Text 3"/>
          <p:cNvSpPr txBox="1"/>
          <p:nvPr/>
        </p:nvSpPr>
        <p:spPr>
          <a:xfrm>
            <a:off x="822960" y="6035040"/>
            <a:ext cx="10515600" cy="320040"/>
          </a:xfrm>
          <a:prstGeom prst="rect">
            <a:avLst/>
          </a:prstGeom>
          <a:noFill/>
          <a:ln/>
        </p:spPr>
        <p:txBody>
          <a:bodyPr wrap="square" lIns="0" tIns="0" rIns="0" bIns="0" rtlCol="0" anchor="t"/>
          <a:lstStyle/>
          <a:p>
            <a:pPr marL="0" indent="0">
              <a:buNone/>
            </a:pPr>
            <a:r>
              <a:rPr lang="en-US" sz="1200" dirty="0">
                <a:solidFill>
                  <a:srgbClr val="AEB8CC"/>
                </a:solidFill>
              </a:rPr>
              <a:t>AYANOU Tété Yao Alexandre · BTS Informatique de Gestion · Institut Polytechnique DEFITECH, promotion 2023-2025</a:t>
            </a:r>
            <a:endParaRPr lang="en-US" sz="12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411480"/>
            <a:ext cx="10908792" cy="274320"/>
          </a:xfrm>
          <a:prstGeom prst="rect">
            <a:avLst/>
          </a:prstGeom>
          <a:noFill/>
          <a:ln/>
        </p:spPr>
        <p:txBody>
          <a:bodyPr wrap="square" lIns="0" tIns="0" rIns="0" bIns="0" rtlCol="0" anchor="t"/>
          <a:lstStyle/>
          <a:p>
            <a:pPr marL="0" indent="0" algn="l">
              <a:buNone/>
            </a:pPr>
            <a:r>
              <a:rPr lang="en-US" sz="1200" b="1" dirty="0">
                <a:solidFill>
                  <a:srgbClr val="3A57E0"/>
                </a:solidFill>
              </a:rPr>
              <a:t>Diapositive de réserve</a:t>
            </a:r>
            <a:endParaRPr lang="en-US" sz="1200" dirty="0"/>
          </a:p>
        </p:txBody>
      </p:sp>
      <p:sp>
        <p:nvSpPr>
          <p:cNvPr id="3" name="Text 1"/>
          <p:cNvSpPr>
            <a:spLocks noGrp="1"/>
          </p:cNvSpPr>
          <p:nvPr>
            <p:ph type="title" idx="102" hasCustomPrompt="1"/>
          </p:nvPr>
        </p:nvSpPr>
        <p:spPr>
          <a:xfrm>
            <a:off x="640080" y="713232"/>
            <a:ext cx="10908792" cy="640080"/>
          </a:xfrm>
          <a:prstGeom prst="rect">
            <a:avLst/>
          </a:prstGeom>
          <a:noFill/>
          <a:ln/>
        </p:spPr>
        <p:txBody>
          <a:bodyPr wrap="square" lIns="0" tIns="0" rIns="0" bIns="0" rtlCol="0" anchor="t"/>
          <a:lstStyle/>
          <a:p>
            <a:pPr marL="0" indent="0" algn="l">
              <a:buNone/>
            </a:pPr>
            <a:r>
              <a:rPr lang="en-US" sz="3000" b="1" dirty="0">
                <a:solidFill>
                  <a:srgbClr val="1A2540"/>
                </a:solidFill>
              </a:rPr>
              <a:t>Coût estimé de la solution</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marL="0" indent="0">
              <a:buNone/>
            </a:pPr>
            <a:r>
              <a:rPr lang="en-US" sz="1600" dirty="0">
                <a:solidFill>
                  <a:srgbClr val="5F6B7A"/>
                </a:solidFill>
              </a:rPr>
              <a:t>Tableau récapitulatif présenté en annexe du mémoire.</a:t>
            </a:r>
            <a:endParaRPr lang="en-US" sz="1600" dirty="0"/>
          </a:p>
        </p:txBody>
      </p:sp>
      <p:sp>
        <p:nvSpPr>
          <p:cNvPr id="5" name="Text 3"/>
          <p:cNvSpPr txBox="1"/>
          <p:nvPr/>
        </p:nvSpPr>
        <p:spPr>
          <a:xfrm>
            <a:off x="640080" y="2011680"/>
            <a:ext cx="3383280" cy="320040"/>
          </a:xfrm>
          <a:prstGeom prst="rect">
            <a:avLst/>
          </a:prstGeom>
          <a:noFill/>
          <a:ln/>
        </p:spPr>
        <p:txBody>
          <a:bodyPr wrap="square" lIns="0" tIns="0" rIns="0" bIns="0" rtlCol="0" anchor="t"/>
          <a:lstStyle/>
          <a:p>
            <a:pPr marL="0" indent="0">
              <a:buNone/>
            </a:pPr>
            <a:r>
              <a:rPr lang="en-US" sz="1500" b="1" dirty="0">
                <a:solidFill>
                  <a:srgbClr val="3A57E0"/>
                </a:solidFill>
              </a:rPr>
              <a:t>Acquisition</a:t>
            </a:r>
            <a:endParaRPr lang="en-US" sz="1500" dirty="0"/>
          </a:p>
        </p:txBody>
      </p:sp>
      <p:sp>
        <p:nvSpPr>
          <p:cNvPr id="6" name="Text 4"/>
          <p:cNvSpPr txBox="1"/>
          <p:nvPr/>
        </p:nvSpPr>
        <p:spPr>
          <a:xfrm>
            <a:off x="640080" y="2377440"/>
            <a:ext cx="3474720" cy="640080"/>
          </a:xfrm>
          <a:prstGeom prst="rect">
            <a:avLst/>
          </a:prstGeom>
          <a:noFill/>
          <a:ln/>
        </p:spPr>
        <p:txBody>
          <a:bodyPr wrap="square" lIns="0" tIns="0" rIns="0" bIns="0" rtlCol="0" anchor="t"/>
          <a:lstStyle/>
          <a:p>
            <a:pPr marL="0" indent="0">
              <a:buNone/>
            </a:pPr>
            <a:r>
              <a:rPr lang="en-US" sz="3200" b="1" dirty="0">
                <a:solidFill>
                  <a:srgbClr val="1A2540"/>
                </a:solidFill>
              </a:rPr>
              <a:t>850 000 FCFA</a:t>
            </a:r>
            <a:endParaRPr lang="en-US" sz="3200" dirty="0"/>
          </a:p>
        </p:txBody>
      </p:sp>
      <p:sp>
        <p:nvSpPr>
          <p:cNvPr id="7" name="Text 5"/>
          <p:cNvSpPr txBox="1"/>
          <p:nvPr/>
        </p:nvSpPr>
        <p:spPr>
          <a:xfrm>
            <a:off x="640080" y="3017520"/>
            <a:ext cx="3383280" cy="320040"/>
          </a:xfrm>
          <a:prstGeom prst="rect">
            <a:avLst/>
          </a:prstGeom>
          <a:noFill/>
          <a:ln/>
        </p:spPr>
        <p:txBody>
          <a:bodyPr wrap="square" lIns="0" tIns="0" rIns="0" bIns="0" rtlCol="0" anchor="t"/>
          <a:lstStyle/>
          <a:p>
            <a:pPr marL="0" indent="0">
              <a:buNone/>
            </a:pPr>
            <a:r>
              <a:rPr lang="en-US" sz="1350" dirty="0">
                <a:solidFill>
                  <a:srgbClr val="5F6B7A"/>
                </a:solidFill>
              </a:rPr>
              <a:t>Paiement unique</a:t>
            </a:r>
            <a:endParaRPr lang="en-US" sz="1350" dirty="0"/>
          </a:p>
        </p:txBody>
      </p:sp>
      <p:sp>
        <p:nvSpPr>
          <p:cNvPr id="8" name="Text 6"/>
          <p:cNvSpPr txBox="1"/>
          <p:nvPr/>
        </p:nvSpPr>
        <p:spPr>
          <a:xfrm>
            <a:off x="640080" y="3566160"/>
            <a:ext cx="3383280" cy="2286000"/>
          </a:xfrm>
          <a:prstGeom prst="rect">
            <a:avLst/>
          </a:prstGeom>
          <a:noFill/>
          <a:ln/>
        </p:spPr>
        <p:txBody>
          <a:bodyPr wrap="square" lIns="0" tIns="0" rIns="0" bIns="0" rtlCol="0" anchor="t"/>
          <a:lstStyle/>
          <a:p>
            <a:pPr marL="0" indent="0">
              <a:spcAft>
                <a:spcPts val="500"/>
              </a:spcAft>
              <a:buNone/>
            </a:pPr>
            <a:r>
              <a:rPr lang="en-US" sz="1400" dirty="0">
                <a:solidFill>
                  <a:srgbClr val="1F2937"/>
                </a:solidFill>
              </a:rPr>
              <a:t>Licence d'utilisation : 600 000</a:t>
            </a:r>
            <a:endParaRPr lang="en-US" sz="1400" dirty="0"/>
          </a:p>
          <a:p>
            <a:pPr marL="0" indent="0">
              <a:spcAft>
                <a:spcPts val="500"/>
              </a:spcAft>
              <a:buNone/>
            </a:pPr>
            <a:r>
              <a:rPr lang="en-US" sz="1400" dirty="0">
                <a:solidFill>
                  <a:srgbClr val="1F2937"/>
                </a:solidFill>
              </a:rPr>
              <a:t>Installation et déploiement : 50 000</a:t>
            </a:r>
            <a:endParaRPr lang="en-US" sz="1400" dirty="0"/>
          </a:p>
          <a:p>
            <a:pPr marL="0" indent="0">
              <a:spcAft>
                <a:spcPts val="500"/>
              </a:spcAft>
              <a:buNone/>
            </a:pPr>
            <a:r>
              <a:rPr lang="en-US" sz="1400" dirty="0">
                <a:solidFill>
                  <a:srgbClr val="1F2937"/>
                </a:solidFill>
              </a:rPr>
              <a:t>Paramétrage : 100 000</a:t>
            </a:r>
            <a:endParaRPr lang="en-US" sz="1400" dirty="0"/>
          </a:p>
          <a:p>
            <a:pPr marL="0" indent="0">
              <a:spcAft>
                <a:spcPts val="500"/>
              </a:spcAft>
              <a:buNone/>
            </a:pPr>
            <a:r>
              <a:rPr lang="en-US" sz="1400" dirty="0">
                <a:solidFill>
                  <a:srgbClr val="1F2937"/>
                </a:solidFill>
              </a:rPr>
              <a:t>Formation des utilisateurs : 100 000</a:t>
            </a:r>
            <a:endParaRPr lang="en-US" sz="1400" dirty="0"/>
          </a:p>
        </p:txBody>
      </p:sp>
      <p:sp>
        <p:nvSpPr>
          <p:cNvPr id="9" name="Shape 7"/>
          <p:cNvSpPr/>
          <p:nvPr/>
        </p:nvSpPr>
        <p:spPr>
          <a:xfrm>
            <a:off x="4206240" y="2011680"/>
            <a:ext cx="0" cy="3931920"/>
          </a:xfrm>
          <a:prstGeom prst="line">
            <a:avLst/>
          </a:prstGeom>
          <a:noFill/>
          <a:ln w="9525">
            <a:solidFill>
              <a:srgbClr val="CBD2DC"/>
            </a:solidFill>
            <a:prstDash val="solid"/>
          </a:ln>
        </p:spPr>
      </p:sp>
      <p:sp>
        <p:nvSpPr>
          <p:cNvPr id="10" name="Text 8"/>
          <p:cNvSpPr txBox="1"/>
          <p:nvPr/>
        </p:nvSpPr>
        <p:spPr>
          <a:xfrm>
            <a:off x="4389120" y="2011680"/>
            <a:ext cx="3383280" cy="320040"/>
          </a:xfrm>
          <a:prstGeom prst="rect">
            <a:avLst/>
          </a:prstGeom>
          <a:noFill/>
          <a:ln/>
        </p:spPr>
        <p:txBody>
          <a:bodyPr wrap="square" lIns="0" tIns="0" rIns="0" bIns="0" rtlCol="0" anchor="t"/>
          <a:lstStyle/>
          <a:p>
            <a:pPr marL="0" indent="0">
              <a:buNone/>
            </a:pPr>
            <a:r>
              <a:rPr lang="en-US" sz="1500" b="1" dirty="0">
                <a:solidFill>
                  <a:srgbClr val="3A57E0"/>
                </a:solidFill>
              </a:rPr>
              <a:t>Services annuels</a:t>
            </a:r>
            <a:endParaRPr lang="en-US" sz="1500" dirty="0"/>
          </a:p>
        </p:txBody>
      </p:sp>
      <p:sp>
        <p:nvSpPr>
          <p:cNvPr id="11" name="Text 9"/>
          <p:cNvSpPr txBox="1"/>
          <p:nvPr/>
        </p:nvSpPr>
        <p:spPr>
          <a:xfrm>
            <a:off x="4389120" y="2377440"/>
            <a:ext cx="3474720" cy="640080"/>
          </a:xfrm>
          <a:prstGeom prst="rect">
            <a:avLst/>
          </a:prstGeom>
          <a:noFill/>
          <a:ln/>
        </p:spPr>
        <p:txBody>
          <a:bodyPr wrap="square" lIns="0" tIns="0" rIns="0" bIns="0" rtlCol="0" anchor="t"/>
          <a:lstStyle/>
          <a:p>
            <a:pPr marL="0" indent="0">
              <a:buNone/>
            </a:pPr>
            <a:r>
              <a:rPr lang="en-US" sz="3200" b="1" dirty="0">
                <a:solidFill>
                  <a:srgbClr val="1A2540"/>
                </a:solidFill>
              </a:rPr>
              <a:t>517 000 FCFA</a:t>
            </a:r>
            <a:endParaRPr lang="en-US" sz="3200" dirty="0"/>
          </a:p>
        </p:txBody>
      </p:sp>
      <p:sp>
        <p:nvSpPr>
          <p:cNvPr id="12" name="Text 10"/>
          <p:cNvSpPr txBox="1"/>
          <p:nvPr/>
        </p:nvSpPr>
        <p:spPr>
          <a:xfrm>
            <a:off x="4389120" y="3017520"/>
            <a:ext cx="3383280" cy="320040"/>
          </a:xfrm>
          <a:prstGeom prst="rect">
            <a:avLst/>
          </a:prstGeom>
          <a:noFill/>
          <a:ln/>
        </p:spPr>
        <p:txBody>
          <a:bodyPr wrap="square" lIns="0" tIns="0" rIns="0" bIns="0" rtlCol="0" anchor="t"/>
          <a:lstStyle/>
          <a:p>
            <a:pPr marL="0" indent="0">
              <a:buNone/>
            </a:pPr>
            <a:r>
              <a:rPr lang="en-US" sz="1350" dirty="0">
                <a:solidFill>
                  <a:srgbClr val="5F6B7A"/>
                </a:solidFill>
              </a:rPr>
              <a:t>Paiement récurrent, par an</a:t>
            </a:r>
            <a:endParaRPr lang="en-US" sz="1350" dirty="0"/>
          </a:p>
        </p:txBody>
      </p:sp>
      <p:sp>
        <p:nvSpPr>
          <p:cNvPr id="13" name="Text 11"/>
          <p:cNvSpPr txBox="1"/>
          <p:nvPr/>
        </p:nvSpPr>
        <p:spPr>
          <a:xfrm>
            <a:off x="4389120" y="3566160"/>
            <a:ext cx="3383280" cy="2286000"/>
          </a:xfrm>
          <a:prstGeom prst="rect">
            <a:avLst/>
          </a:prstGeom>
          <a:noFill/>
          <a:ln/>
        </p:spPr>
        <p:txBody>
          <a:bodyPr wrap="square" lIns="0" tIns="0" rIns="0" bIns="0" rtlCol="0" anchor="t"/>
          <a:lstStyle/>
          <a:p>
            <a:pPr marL="0" indent="0">
              <a:spcAft>
                <a:spcPts val="500"/>
              </a:spcAft>
              <a:buNone/>
            </a:pPr>
            <a:r>
              <a:rPr lang="en-US" sz="1400" dirty="0">
                <a:solidFill>
                  <a:srgbClr val="1F2937"/>
                </a:solidFill>
              </a:rPr>
              <a:t>Hébergement VPS : 78 000</a:t>
            </a:r>
            <a:endParaRPr lang="en-US" sz="1400" dirty="0"/>
          </a:p>
          <a:p>
            <a:pPr marL="0" indent="0">
              <a:spcAft>
                <a:spcPts val="500"/>
              </a:spcAft>
              <a:buNone/>
            </a:pPr>
            <a:r>
              <a:rPr lang="en-US" sz="1400" dirty="0">
                <a:solidFill>
                  <a:srgbClr val="1F2937"/>
                </a:solidFill>
              </a:rPr>
              <a:t>Nom de domaine : 15 000</a:t>
            </a:r>
            <a:endParaRPr lang="en-US" sz="1400" dirty="0"/>
          </a:p>
          <a:p>
            <a:pPr marL="0" indent="0">
              <a:spcAft>
                <a:spcPts val="500"/>
              </a:spcAft>
              <a:buNone/>
            </a:pPr>
            <a:r>
              <a:rPr lang="en-US" sz="1400" dirty="0">
                <a:solidFill>
                  <a:srgbClr val="1F2937"/>
                </a:solidFill>
              </a:rPr>
              <a:t>Sauvegarde des données : 24 000</a:t>
            </a:r>
            <a:endParaRPr lang="en-US" sz="1400" dirty="0"/>
          </a:p>
          <a:p>
            <a:pPr marL="0" indent="0">
              <a:spcAft>
                <a:spcPts val="500"/>
              </a:spcAft>
              <a:buNone/>
            </a:pPr>
            <a:r>
              <a:rPr lang="en-US" sz="1400" dirty="0">
                <a:solidFill>
                  <a:srgbClr val="1F2937"/>
                </a:solidFill>
              </a:rPr>
              <a:t>Maintenance préventive : 180 000</a:t>
            </a:r>
            <a:endParaRPr lang="en-US" sz="1400" dirty="0"/>
          </a:p>
          <a:p>
            <a:pPr marL="0" indent="0">
              <a:spcAft>
                <a:spcPts val="500"/>
              </a:spcAft>
              <a:buNone/>
            </a:pPr>
            <a:r>
              <a:rPr lang="en-US" sz="1400" dirty="0">
                <a:solidFill>
                  <a:srgbClr val="1F2937"/>
                </a:solidFill>
              </a:rPr>
              <a:t>Maintenance corrective : 100 000</a:t>
            </a:r>
            <a:endParaRPr lang="en-US" sz="1400" dirty="0"/>
          </a:p>
          <a:p>
            <a:pPr marL="0" indent="0">
              <a:spcAft>
                <a:spcPts val="500"/>
              </a:spcAft>
              <a:buNone/>
            </a:pPr>
            <a:r>
              <a:rPr lang="en-US" sz="1400" dirty="0">
                <a:solidFill>
                  <a:srgbClr val="1F2937"/>
                </a:solidFill>
              </a:rPr>
              <a:t>Support technique : 120 000</a:t>
            </a:r>
            <a:endParaRPr lang="en-US" sz="1400" dirty="0"/>
          </a:p>
        </p:txBody>
      </p:sp>
      <p:sp>
        <p:nvSpPr>
          <p:cNvPr id="14" name="Shape 12"/>
          <p:cNvSpPr/>
          <p:nvPr/>
        </p:nvSpPr>
        <p:spPr>
          <a:xfrm>
            <a:off x="7955280" y="2011680"/>
            <a:ext cx="0" cy="3931920"/>
          </a:xfrm>
          <a:prstGeom prst="line">
            <a:avLst/>
          </a:prstGeom>
          <a:noFill/>
          <a:ln w="9525">
            <a:solidFill>
              <a:srgbClr val="CBD2DC"/>
            </a:solidFill>
            <a:prstDash val="solid"/>
          </a:ln>
        </p:spPr>
      </p:sp>
      <p:sp>
        <p:nvSpPr>
          <p:cNvPr id="15" name="Text 13"/>
          <p:cNvSpPr txBox="1"/>
          <p:nvPr/>
        </p:nvSpPr>
        <p:spPr>
          <a:xfrm>
            <a:off x="8138160" y="2011680"/>
            <a:ext cx="3383280" cy="320040"/>
          </a:xfrm>
          <a:prstGeom prst="rect">
            <a:avLst/>
          </a:prstGeom>
          <a:noFill/>
          <a:ln/>
        </p:spPr>
        <p:txBody>
          <a:bodyPr wrap="square" lIns="0" tIns="0" rIns="0" bIns="0" rtlCol="0" anchor="t"/>
          <a:lstStyle/>
          <a:p>
            <a:pPr marL="0" indent="0">
              <a:buNone/>
            </a:pPr>
            <a:r>
              <a:rPr lang="en-US" sz="1500" b="1" dirty="0">
                <a:solidFill>
                  <a:srgbClr val="3A57E0"/>
                </a:solidFill>
              </a:rPr>
              <a:t>Première année</a:t>
            </a:r>
            <a:endParaRPr lang="en-US" sz="1500" dirty="0"/>
          </a:p>
        </p:txBody>
      </p:sp>
      <p:sp>
        <p:nvSpPr>
          <p:cNvPr id="16" name="Text 14"/>
          <p:cNvSpPr txBox="1"/>
          <p:nvPr/>
        </p:nvSpPr>
        <p:spPr>
          <a:xfrm>
            <a:off x="8138160" y="2377440"/>
            <a:ext cx="3474720" cy="640080"/>
          </a:xfrm>
          <a:prstGeom prst="rect">
            <a:avLst/>
          </a:prstGeom>
          <a:noFill/>
          <a:ln/>
        </p:spPr>
        <p:txBody>
          <a:bodyPr wrap="square" lIns="0" tIns="0" rIns="0" bIns="0" rtlCol="0" anchor="t"/>
          <a:lstStyle/>
          <a:p>
            <a:pPr marL="0" indent="0">
              <a:buNone/>
            </a:pPr>
            <a:r>
              <a:rPr lang="en-US" sz="3200" b="1" dirty="0">
                <a:solidFill>
                  <a:srgbClr val="1A2540"/>
                </a:solidFill>
              </a:rPr>
              <a:t>1 367 000 FCFA</a:t>
            </a:r>
            <a:endParaRPr lang="en-US" sz="3200" dirty="0"/>
          </a:p>
        </p:txBody>
      </p:sp>
      <p:sp>
        <p:nvSpPr>
          <p:cNvPr id="17" name="Text 15"/>
          <p:cNvSpPr txBox="1"/>
          <p:nvPr/>
        </p:nvSpPr>
        <p:spPr>
          <a:xfrm>
            <a:off x="8138160" y="3017520"/>
            <a:ext cx="3383280" cy="320040"/>
          </a:xfrm>
          <a:prstGeom prst="rect">
            <a:avLst/>
          </a:prstGeom>
          <a:noFill/>
          <a:ln/>
        </p:spPr>
        <p:txBody>
          <a:bodyPr wrap="square" lIns="0" tIns="0" rIns="0" bIns="0" rtlCol="0" anchor="t"/>
          <a:lstStyle/>
          <a:p>
            <a:pPr marL="0" indent="0">
              <a:buNone/>
            </a:pPr>
            <a:r>
              <a:rPr lang="en-US" sz="1350" dirty="0">
                <a:solidFill>
                  <a:srgbClr val="5F6B7A"/>
                </a:solidFill>
              </a:rPr>
              <a:t>Acquisition et services annuels</a:t>
            </a:r>
            <a:endParaRPr lang="en-US" sz="1350" dirty="0"/>
          </a:p>
        </p:txBody>
      </p:sp>
      <p:sp>
        <p:nvSpPr>
          <p:cNvPr id="18" name="Shape 16"/>
          <p:cNvSpPr/>
          <p:nvPr/>
        </p:nvSpPr>
        <p:spPr>
          <a:xfrm>
            <a:off x="8138160" y="3703320"/>
            <a:ext cx="3291840" cy="0"/>
          </a:xfrm>
          <a:prstGeom prst="line">
            <a:avLst/>
          </a:prstGeom>
          <a:noFill/>
          <a:ln w="9525">
            <a:solidFill>
              <a:srgbClr val="CBD2DC"/>
            </a:solidFill>
            <a:prstDash val="solid"/>
          </a:ln>
        </p:spPr>
      </p:sp>
      <p:sp>
        <p:nvSpPr>
          <p:cNvPr id="19" name="Text 17"/>
          <p:cNvSpPr txBox="1"/>
          <p:nvPr/>
        </p:nvSpPr>
        <p:spPr>
          <a:xfrm>
            <a:off x="8138160" y="3886200"/>
            <a:ext cx="3383280" cy="320040"/>
          </a:xfrm>
          <a:prstGeom prst="rect">
            <a:avLst/>
          </a:prstGeom>
          <a:noFill/>
          <a:ln/>
        </p:spPr>
        <p:txBody>
          <a:bodyPr wrap="square" lIns="0" tIns="0" rIns="0" bIns="0" rtlCol="0" anchor="t"/>
          <a:lstStyle/>
          <a:p>
            <a:pPr marL="0" indent="0">
              <a:buNone/>
            </a:pPr>
            <a:r>
              <a:rPr lang="en-US" sz="1400" dirty="0">
                <a:solidFill>
                  <a:srgbClr val="5F6B7A"/>
                </a:solidFill>
              </a:rPr>
              <a:t>Coût moyen d'exploitation</a:t>
            </a:r>
            <a:endParaRPr lang="en-US" sz="1400" dirty="0"/>
          </a:p>
        </p:txBody>
      </p:sp>
      <p:sp>
        <p:nvSpPr>
          <p:cNvPr id="20" name="Text 18"/>
          <p:cNvSpPr txBox="1"/>
          <p:nvPr/>
        </p:nvSpPr>
        <p:spPr>
          <a:xfrm>
            <a:off x="8138160" y="4206240"/>
            <a:ext cx="3474720" cy="457200"/>
          </a:xfrm>
          <a:prstGeom prst="rect">
            <a:avLst/>
          </a:prstGeom>
          <a:noFill/>
          <a:ln/>
        </p:spPr>
        <p:txBody>
          <a:bodyPr wrap="square" lIns="0" tIns="0" rIns="0" bIns="0" rtlCol="0" anchor="t"/>
          <a:lstStyle/>
          <a:p>
            <a:pPr marL="0" indent="0">
              <a:buNone/>
            </a:pPr>
            <a:r>
              <a:rPr lang="en-US" sz="2000" b="1" dirty="0">
                <a:solidFill>
                  <a:srgbClr val="1A2540"/>
                </a:solidFill>
              </a:rPr>
              <a:t>environ 43 000 FCFA par mois</a:t>
            </a:r>
            <a:endParaRPr lang="en-US" sz="2000" dirty="0"/>
          </a:p>
        </p:txBody>
      </p:sp>
      <p:sp>
        <p:nvSpPr>
          <p:cNvPr id="25" name="Slide Number Placeholder 0"/>
          <p:cNvSpPr>
            <a:spLocks noGrp="1"/>
          </p:cNvSpPr>
          <p:nvPr>
            <p:ph type="sldNum" sz="quarter" idx="4294967295"/>
          </p:nvPr>
        </p:nvSpPr>
        <p:spPr>
          <a:xfrm>
            <a:off x="11000232" y="6419088"/>
            <a:ext cx="548640" cy="256032"/>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8A94A6"/>
                </a:solidFill>
              </a:defRPr>
            </a:lvl1pPr>
          </a:lstStyle>
          <a:p>
            <a:pPr algn="r"/>
            <a:fld id="{F7021451-1387-4CA6-816F-3879F97B5CBC}" type="slidenum">
              <a:rPr lang="en-US" b="0"/>
              <a:t>21</a:t>
            </a:fld>
            <a:endParaRPr lang="en-US"/>
          </a:p>
        </p:txBody>
      </p:sp>
    </p:spTree>
  </p:cSld>
  <p:clrMapOvr>
    <a:masterClrMapping/>
  </p:clrMapOvr>
  <p:transition spd="med">
    <p:fade/>
  </p:transition>
</p:sld>
</file>

<file path=ppt/theme/theme1.xml><?xml version="1.0" encoding="utf-8"?>
<a:theme xmlns:a="http://schemas.openxmlformats.org/drawingml/2006/main" name="Soutenance FactuPro">
  <a:themeElements>
    <a:clrScheme name="Soutenance FactuPro">
      <a:dk1>
        <a:srgbClr val="1F2937"/>
      </a:dk1>
      <a:lt1>
        <a:srgbClr val="FFFFFF"/>
      </a:lt1>
      <a:dk2>
        <a:srgbClr val="1A2540"/>
      </a:dk2>
      <a:lt2>
        <a:srgbClr val="F2F4F8"/>
      </a:lt2>
      <a:accent1>
        <a:srgbClr val="3A57E0"/>
      </a:accent1>
      <a:accent2>
        <a:srgbClr val="2D3F7A"/>
      </a:accent2>
      <a:accent3>
        <a:srgbClr val="5F6B7A"/>
      </a:accent3>
      <a:accent4>
        <a:srgbClr val="93A8F7"/>
      </a:accent4>
      <a:accent5>
        <a:srgbClr val="E7ECFC"/>
      </a:accent5>
      <a:accent6>
        <a:srgbClr val="8A94A6"/>
      </a:accent6>
      <a:hlink>
        <a:srgbClr val="3A57E0"/>
      </a:hlink>
      <a:folHlink>
        <a:srgbClr val="2D3F7A"/>
      </a:folHlink>
    </a:clrScheme>
    <a:fontScheme name="Soutenance FactuP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TotalTime>
  <Words>3183</Words>
  <Application>Microsoft Office PowerPoint</Application>
  <PresentationFormat>Grand écran</PresentationFormat>
  <Paragraphs>390</Paragraphs>
  <Slides>21</Slides>
  <Notes>21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21</vt:i4>
      </vt:variant>
    </vt:vector>
  </HeadingPairs>
  <TitlesOfParts>
    <vt:vector size="25" baseType="lpstr">
      <vt:lpstr>Arial</vt:lpstr>
      <vt:lpstr>Calibri</vt:lpstr>
      <vt:lpstr>Times New Roman</vt:lpstr>
      <vt:lpstr>Soutenance FactuPro</vt:lpstr>
      <vt:lpstr>Présentation PowerPoint</vt:lpstr>
      <vt:lpstr>Déroulement de la présentation</vt:lpstr>
      <vt:lpstr>Présentation PowerPoint</vt:lpstr>
      <vt:lpstr>Un projet né pendant le stage</vt:lpstr>
      <vt:lpstr>Vendre n'est qu'une partie du travail</vt:lpstr>
      <vt:lpstr>Quand le réapprovisionnement devient urgent</vt:lpstr>
      <vt:lpstr>L'existant : deux pratiques observées</vt:lpstr>
      <vt:lpstr>Critique de l'existant</vt:lpstr>
      <vt:lpstr>FactuPro</vt:lpstr>
      <vt:lpstr>Deux espaces dans une même application</vt:lpstr>
      <vt:lpstr>La démarche MERISE</vt:lpstr>
      <vt:lpstr>Extrait du MCD : la commande B2B</vt:lpstr>
      <vt:lpstr>MCT du module réseautage B2B</vt:lpstr>
      <vt:lpstr>Des choix techniques justifiés</vt:lpstr>
      <vt:lpstr>Architecture de l'application</vt:lpstr>
      <vt:lpstr>Un approvisionnement B2B de bout en bout</vt:lpstr>
      <vt:lpstr>Difficultés rencontrées et solutions</vt:lpstr>
      <vt:lpstr>Évolutions envisagées</vt:lpstr>
      <vt:lpstr>Retour au problème de départ</vt:lpstr>
      <vt:lpstr>Présentation PowerPoint</vt:lpstr>
      <vt:lpstr>Coût estimé de la solution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FactuPro : système de gestion de boutiques et d'intégration B2B</dc:title>
  <dc:subject>Soutenance de BTS, Informatique de Gestion</dc:subject>
  <dc:creator>AYANOU Tété Yao Alexandre</dc:creator>
  <cp:lastModifiedBy>Reine KOTOKOU</cp:lastModifiedBy>
  <cp:revision>3</cp:revision>
  <dcterms:created xsi:type="dcterms:W3CDTF">2026-10-07T02:31:50Z</dcterms:created>
  <dcterms:modified xsi:type="dcterms:W3CDTF">2026-10-07T03:42:47Z</dcterms:modified>
</cp:coreProperties>
</file>