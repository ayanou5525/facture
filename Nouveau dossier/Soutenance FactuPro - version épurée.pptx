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3" r:id="rId6"/>
    <p:sldId id="264" r:id="rId7"/>
    <p:sldId id="265" r:id="rId8"/>
    <p:sldId id="266" r:id="rId9"/>
    <p:sldId id="269" r:id="rId10"/>
    <p:sldId id="268" r:id="rId11"/>
    <p:sldId id="270" r:id="rId12"/>
    <p:sldId id="271" r:id="rId13"/>
    <p:sldId id="272" r:id="rId14"/>
    <p:sldId id="274" r:id="rId15"/>
    <p:sldId id="275" r:id="rId16"/>
    <p:sldId id="276" r:id="rId17"/>
    <p:sldId id="277" r:id="rId18"/>
    <p:sldId id="278" r:id="rId19"/>
    <p:sldId id="279"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8" d="100"/>
          <a:sy n="128" d="100"/>
        </p:scale>
        <p:origin x="22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197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aux membres du jury. Je m'appelle AYANOU Tété Yao Alexandre. Je vais vous présenter mon mémoire : un système de gestion de boutiques et d'intégration B2B, réalisé sous la forme de l'application FactuPro, pendant mon stage chez TAD IT Consulting.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présentation suit huit parties, de l'introduction jusqu'au bilan.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si je vous disais que le principal problème d'une boutique n'est pas de vendre ? Vendre, c'est une partie du travail. Il faut aussi suivre le stock, savoir quoi réapprovisionner, retrouver l'information… et surtout, quand il faut s'approvisionner en urgence, trouver rapidement une autre entreprise.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stage s'est déroulé chez TAD IT Consulting, dans sa branche TAD Dev. J'ai d'abord participé aux interfaces de deux applications, puis la dernière phase du stage a été entièrement consacrée à FactuPro.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ma problématique : comment centraliser la gestion commerciale des PME et fluidifier leurs échanges B2B, notamment en situation d'urgence ? L'objectif est triple : réduire les coûts, éliminer les délais d'attente des partenaires et optimiser la gestion des stocks.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comptoir, le client exprime son besoin, le vendeur annonce le prix, calcule le total, encaisse et remet un reçu. La vente est notée dans un registre, qui sert ensuite à l'inventaire et à la gestion des stocks.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B2B, tout part d'un besoin de commande. L'entreprise repère des annonces, prend contact, surtout par WhatsApp d'après l'enquête, et négocie. Si un partenaire convient, elle passe commande, attend la confirmation puis paie. Sinon, la démarche s'arrête.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pratiques ont des limites. Côté boutique : le stock est difficile à suivre, l'inventaire oblige à parcourir le registre feuille par feuille, et la fidélisation est difficile. Côté B2B : il faut dénicher les offres, la recherche de partenaire coûte cher, les offres sont difficiles à comparer, la négociation est bloquée si l'interlocuteur ne répond pas, et l'urgence entraîne la surfacturation.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 dans la liste des produits, une case à cocher met un produit en déstockage B2B. Les entreprises publient des annonces, appels d'offres ou partenariats. Et le réseau affiche, pour chaque entreprise, sa distance, sa fiabilité et sa réactivité.</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FactuPro repose sur six fonctionnalités. Côté gestion interne : centraliser les informations commerciales, gérer les produits et les stocks, réaliser et suivre les ventes. Côté réseau B2B : mettre les entreprises en relation, diffuser et consulter les offres, et gérer les commandes entre entreprises.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utilisé la méthode MERISE. Le MCD décrit les données, le MCT les traitements, le MLD traduit les données en tables, et le MOT précise qui exécute chaque traitement, où et quand. L'étude a produit 13 règles de gestion, un MLD de 17 relations, et un MCT en deux modules. Les acteurs externes sont l'administrateur, le client au comptant et les entreprises, vendeuses ou acheteuses.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extrait du MCD, figure 7 du mémoire, centré sur la commande B2B. Une entreprise acheteuse passe une commande, qui est validée par une entreprise vendeuse : c'est la même entité Entreprise, avec deux rôles. La commande se compose de lignes, chacune concernant un seul produit. Autour se rattachent les notifications et la facture.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MCT du module B2B suit la vie d'une commande : lancement, avec la recherche du partenaire et du produit ; réception et vérification du stock par le vendeur, qui valide ou refuse ; facturation ; et enfin paiement, réglé ou relancé.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navigateur envoie une requête HTTP au contrôleur. Le contrôleur fait appel au modèle, qui contient la logique métier et accède à MySQL par PDO, avec des requêtes préparées, puis il transmet les données à la vue, qui renvoie la page HTML. Le tout tourne dans Docker Compose. Les messages et notifications B2B sont rafraîchis par interrogation périodique.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présenté la conception et les principaux choix techniques, je vais maintenant passer à la partie la plus concrète de mon travail : la démonstration de FactuPro.
L'application couvre plusieurs fonctionnalités, notamment la gestion des produits et des stocks, la vente, la facturation et les échanges B2B.
Pour cette démonstration, je vais me concentrer sur la partie qui fait davantage la particularité de FactuPro : le réseautage B2B.
Imaginons une boutique qui cherche à s'approvisionner. Plutôt que de rechercher un fournisseur dans ses contacts ou par messagerie, elle peut directement consulter des offres d'autres entreprises, leurs informations, puis passer une commande depuis la plateforme.
Je vais donc vous montrer ce parcours, de l'entreprise qui recherche une offre jusqu'à celle qui reçoit et traite la commande.
L'objectif est de vous montrer concrètement comment le problème identifié au départ est traduit dans l'application.
Je vais commencer du côté de l'entreprise acheteuse.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difficultés : la modélisation, surmontée par un travail itératif avec mon directeur de mémoire ; le temps, géré par un découpage en étapes validées ; et les échanges B2B avec les notifications, qui ont demandé un apprentissage supplémentaire, avec l'appui de l'équipe technique de TAD Dev.</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suite, plusieurs évolutions sont envisagées : le paiement par Flooz et T-Money, une application mobile, des statistiques avancées, et un système de notation entre entreprises.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FactuPro couvre le cycle commercial des PME, de l'entrée des produits jusqu'à la facturation, et facilite les échanges entre entreprises. Ce projet m'a permis de mener un travail de bout en bout, de l'analyse du besoin jusqu'à la réalisation technique.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Je suis à votre disposition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31520" y="6355080"/>
            <a:ext cx="10725912" cy="0"/>
          </a:xfrm>
          <a:prstGeom prst="line">
            <a:avLst/>
          </a:prstGeom>
          <a:noFill/>
          <a:ln w="9525">
            <a:solidFill>
              <a:srgbClr val="D5D9E2"/>
            </a:solidFill>
            <a:prstDash val="solid"/>
          </a:ln>
        </p:spPr>
      </p:sp>
      <p:sp>
        <p:nvSpPr>
          <p:cNvPr id="3" name="Text 1"/>
          <p:cNvSpPr/>
          <p:nvPr/>
        </p:nvSpPr>
        <p:spPr>
          <a:xfrm>
            <a:off x="731520" y="6419088"/>
            <a:ext cx="6400800" cy="256032"/>
          </a:xfrm>
          <a:prstGeom prst="rect">
            <a:avLst/>
          </a:prstGeom>
          <a:noFill/>
          <a:ln/>
        </p:spPr>
        <p:txBody>
          <a:bodyPr wrap="square" lIns="0" tIns="0" rIns="0" bIns="0"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FactuPro · Soutenance de BTS · Promotion 2023-2025</a:t>
            </a:r>
            <a:endParaRPr lang="en-US" sz="90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F2A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laragon\www\facturation\Nouveau dossier\Logo Defitech.jpg"/>
          <p:cNvPicPr>
            <a:picLocks noChangeAspect="1"/>
          </p:cNvPicPr>
          <p:nvPr/>
        </p:nvPicPr>
        <p:blipFill>
          <a:blip r:embed="rId3"/>
          <a:stretch>
            <a:fillRect/>
          </a:stretch>
        </p:blipFill>
        <p:spPr>
          <a:xfrm>
            <a:off x="731520" y="365760"/>
            <a:ext cx="914400" cy="914400"/>
          </a:xfrm>
          <a:prstGeom prst="rect">
            <a:avLst/>
          </a:prstGeom>
        </p:spPr>
      </p:pic>
      <p:pic>
        <p:nvPicPr>
          <p:cNvPr id="3" name="Image 1" descr="C:\Users\ALEX\AppData\Local\Temp\claude\C--laragon-www-facturation\62a43aad-6d46-45af-979c-6c158c66b0c3\scratchpad\ppt3\use\p1_1.png"/>
          <p:cNvPicPr>
            <a:picLocks noChangeAspect="1"/>
          </p:cNvPicPr>
          <p:nvPr/>
        </p:nvPicPr>
        <p:blipFill>
          <a:blip r:embed="rId4"/>
          <a:stretch>
            <a:fillRect/>
          </a:stretch>
        </p:blipFill>
        <p:spPr>
          <a:xfrm>
            <a:off x="5456111" y="228600"/>
            <a:ext cx="1285875" cy="1280160"/>
          </a:xfrm>
          <a:prstGeom prst="rect">
            <a:avLst/>
          </a:prstGeom>
        </p:spPr>
      </p:pic>
      <p:pic>
        <p:nvPicPr>
          <p:cNvPr id="4" name="Image 2" descr="C:\laragon\www\facturation\Nouveau dossier\logo-tad-it-light.png"/>
          <p:cNvPicPr>
            <a:picLocks noChangeAspect="1"/>
          </p:cNvPicPr>
          <p:nvPr/>
        </p:nvPicPr>
        <p:blipFill>
          <a:blip r:embed="rId5"/>
          <a:stretch>
            <a:fillRect/>
          </a:stretch>
        </p:blipFill>
        <p:spPr>
          <a:xfrm>
            <a:off x="10012680" y="384048"/>
            <a:ext cx="1433779" cy="896112"/>
          </a:xfrm>
          <a:prstGeom prst="rect">
            <a:avLst/>
          </a:prstGeom>
        </p:spPr>
      </p:pic>
      <p:sp>
        <p:nvSpPr>
          <p:cNvPr id="6" name="Text 1"/>
          <p:cNvSpPr txBox="1"/>
          <p:nvPr/>
        </p:nvSpPr>
        <p:spPr>
          <a:xfrm>
            <a:off x="1308250" y="2999233"/>
            <a:ext cx="9811512" cy="1188720"/>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lstStyle/>
          <a:p>
            <a:pPr marL="0" indent="0" algn="ctr">
              <a:buNone/>
            </a:pPr>
            <a:r>
              <a:rPr lang="en-US" sz="2700" b="1" dirty="0">
                <a:solidFill>
                  <a:schemeClr val="bg1"/>
                </a:solidFill>
                <a:latin typeface="Segoe UI" pitchFamily="34" charset="0"/>
                <a:ea typeface="Segoe UI" pitchFamily="34" charset="-122"/>
                <a:cs typeface="Segoe UI" pitchFamily="34" charset="-120"/>
              </a:rPr>
              <a:t>Système de gestion de boutiques et d'intégration B2B : suivi des opérations commerciales des PME</a:t>
            </a:r>
            <a:endParaRPr lang="en-US" sz="2700" dirty="0">
              <a:solidFill>
                <a:schemeClr val="bg1"/>
              </a:solidFill>
            </a:endParaRPr>
          </a:p>
        </p:txBody>
      </p:sp>
      <p:sp>
        <p:nvSpPr>
          <p:cNvPr id="9" name="Shape 4"/>
          <p:cNvSpPr/>
          <p:nvPr/>
        </p:nvSpPr>
        <p:spPr>
          <a:xfrm>
            <a:off x="731520" y="4553712"/>
            <a:ext cx="10725912" cy="0"/>
          </a:xfrm>
          <a:prstGeom prst="line">
            <a:avLst/>
          </a:prstGeom>
          <a:noFill/>
          <a:ln w="9525">
            <a:solidFill>
              <a:srgbClr val="D5D9E2"/>
            </a:solidFill>
            <a:prstDash val="solid"/>
          </a:ln>
        </p:spPr>
      </p:sp>
      <p:sp>
        <p:nvSpPr>
          <p:cNvPr id="10" name="Text 5"/>
          <p:cNvSpPr txBox="1"/>
          <p:nvPr/>
        </p:nvSpPr>
        <p:spPr>
          <a:xfrm>
            <a:off x="4453128" y="4709160"/>
            <a:ext cx="3502152" cy="274320"/>
          </a:xfrm>
          <a:prstGeom prst="rect">
            <a:avLst/>
          </a:prstGeom>
          <a:noFill/>
          <a:ln/>
        </p:spPr>
        <p:txBody>
          <a:bodyPr wrap="square" lIns="0" tIns="0" rIns="0" bIns="0" rtlCol="0" anchor="t"/>
          <a:lstStyle/>
          <a:p>
            <a:pPr marL="0" indent="0" algn="ctr">
              <a:buNone/>
            </a:pPr>
            <a:r>
              <a:rPr lang="en-US" sz="1200" u="sng" dirty="0">
                <a:solidFill>
                  <a:schemeClr val="bg2">
                    <a:lumMod val="10000"/>
                  </a:schemeClr>
                </a:solidFill>
                <a:latin typeface="Times New Roman" panose="02020603050405020304" pitchFamily="18" charset="0"/>
                <a:ea typeface="Segoe UI" pitchFamily="34" charset="-122"/>
                <a:cs typeface="Times New Roman" panose="02020603050405020304" pitchFamily="18" charset="0"/>
              </a:rPr>
              <a:t>Présenté par</a:t>
            </a:r>
            <a:endParaRPr lang="en-US" sz="1200" u="sng"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1" name="Text 6"/>
          <p:cNvSpPr txBox="1"/>
          <p:nvPr/>
        </p:nvSpPr>
        <p:spPr>
          <a:xfrm>
            <a:off x="4453128" y="4983480"/>
            <a:ext cx="3502152" cy="594360"/>
          </a:xfrm>
          <a:prstGeom prst="rect">
            <a:avLst/>
          </a:prstGeom>
          <a:noFill/>
          <a:ln/>
        </p:spPr>
        <p:txBody>
          <a:bodyPr wrap="square" lIns="0" tIns="0" rIns="0" bIns="0" rtlCol="0" anchor="t"/>
          <a:lstStyle/>
          <a:p>
            <a:pPr marL="0" indent="0" algn="ctr">
              <a:buNone/>
            </a:pPr>
            <a:r>
              <a:rPr lang="en-US" sz="1500" b="1" dirty="0">
                <a:solidFill>
                  <a:srgbClr val="1F2A5C"/>
                </a:solidFill>
                <a:latin typeface="Segoe UI" pitchFamily="34" charset="0"/>
                <a:ea typeface="Segoe UI" pitchFamily="34" charset="-122"/>
                <a:cs typeface="Segoe UI" pitchFamily="34" charset="-120"/>
              </a:rPr>
              <a:t>AYANOU Tété Yao Alexandre</a:t>
            </a:r>
            <a:endParaRPr lang="en-US" sz="1500" dirty="0"/>
          </a:p>
        </p:txBody>
      </p:sp>
      <p:sp>
        <p:nvSpPr>
          <p:cNvPr id="14" name="Text 9"/>
          <p:cNvSpPr txBox="1"/>
          <p:nvPr/>
        </p:nvSpPr>
        <p:spPr>
          <a:xfrm>
            <a:off x="7955280" y="4709160"/>
            <a:ext cx="3502152" cy="274320"/>
          </a:xfrm>
          <a:prstGeom prst="rect">
            <a:avLst/>
          </a:prstGeom>
          <a:noFill/>
          <a:ln/>
        </p:spPr>
        <p:txBody>
          <a:bodyPr wrap="square" lIns="0" tIns="0" rIns="0" bIns="0" rtlCol="0" anchor="t"/>
          <a:lstStyle/>
          <a:p>
            <a:pPr marL="0" indent="0" algn="ctr">
              <a:buNone/>
            </a:pPr>
            <a:r>
              <a:rPr lang="en-US" sz="1200" u="sng" dirty="0">
                <a:solidFill>
                  <a:schemeClr val="bg2">
                    <a:lumMod val="10000"/>
                  </a:schemeClr>
                </a:solidFill>
                <a:latin typeface="Times New Roman" panose="02020603050405020304" pitchFamily="18" charset="0"/>
                <a:ea typeface="Segoe UI" pitchFamily="34" charset="-122"/>
                <a:cs typeface="Times New Roman" panose="02020603050405020304" pitchFamily="18" charset="0"/>
              </a:rPr>
              <a:t>Maître de stage</a:t>
            </a:r>
            <a:endParaRPr lang="en-US" sz="1200" u="sng"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5" name="Text 10"/>
          <p:cNvSpPr txBox="1"/>
          <p:nvPr/>
        </p:nvSpPr>
        <p:spPr>
          <a:xfrm>
            <a:off x="7955280" y="4983480"/>
            <a:ext cx="3502152" cy="594360"/>
          </a:xfrm>
          <a:prstGeom prst="rect">
            <a:avLst/>
          </a:prstGeom>
          <a:noFill/>
          <a:ln/>
        </p:spPr>
        <p:txBody>
          <a:bodyPr wrap="square" lIns="0" tIns="0" rIns="0" bIns="0" rtlCol="0" anchor="t"/>
          <a:lstStyle/>
          <a:p>
            <a:pPr marL="0" indent="0" algn="ctr">
              <a:buNone/>
            </a:pPr>
            <a:r>
              <a:rPr lang="en-US" sz="1500" b="1" dirty="0">
                <a:solidFill>
                  <a:srgbClr val="1F2A5C"/>
                </a:solidFill>
                <a:latin typeface="Segoe UI" pitchFamily="34" charset="0"/>
                <a:ea typeface="Segoe UI" pitchFamily="34" charset="-122"/>
                <a:cs typeface="Segoe UI" pitchFamily="34" charset="-120"/>
              </a:rPr>
              <a:t>M. AKOUNDA Komi Crépin</a:t>
            </a:r>
            <a:endParaRPr lang="en-US" sz="1500" dirty="0"/>
          </a:p>
        </p:txBody>
      </p:sp>
      <p:sp>
        <p:nvSpPr>
          <p:cNvPr id="16" name="Text 11"/>
          <p:cNvSpPr txBox="1"/>
          <p:nvPr/>
        </p:nvSpPr>
        <p:spPr>
          <a:xfrm>
            <a:off x="731520" y="6035040"/>
            <a:ext cx="10725912" cy="274320"/>
          </a:xfrm>
          <a:prstGeom prst="rect">
            <a:avLst/>
          </a:prstGeom>
          <a:noFill/>
          <a:ln/>
        </p:spPr>
        <p:txBody>
          <a:bodyPr wrap="square" lIns="0" tIns="0" rIns="0" bIns="0" rtlCol="0" anchor="t"/>
          <a:lstStyle/>
          <a:p>
            <a:pPr marL="0" indent="0" algn="ctr">
              <a:buNone/>
            </a:pPr>
            <a:r>
              <a:rPr lang="en-US" sz="1200" dirty="0">
                <a:solidFill>
                  <a:srgbClr val="5B6478"/>
                </a:solidFill>
                <a:latin typeface="Segoe UI" pitchFamily="34" charset="0"/>
                <a:ea typeface="Segoe UI" pitchFamily="34" charset="-122"/>
                <a:cs typeface="Segoe UI" pitchFamily="34" charset="-120"/>
              </a:rPr>
              <a:t>Promotion 2023-2025</a:t>
            </a:r>
            <a:endParaRPr lang="en-US" sz="1200" dirty="0"/>
          </a:p>
        </p:txBody>
      </p:sp>
      <p:sp>
        <p:nvSpPr>
          <p:cNvPr id="18" name="Text 7">
            <a:extLst>
              <a:ext uri="{FF2B5EF4-FFF2-40B4-BE49-F238E27FC236}">
                <a16:creationId xmlns:a16="http://schemas.microsoft.com/office/drawing/2014/main" id="{B544AEB1-C6C0-B7B0-3DEA-76B88583B751}"/>
              </a:ext>
            </a:extLst>
          </p:cNvPr>
          <p:cNvSpPr txBox="1"/>
          <p:nvPr/>
        </p:nvSpPr>
        <p:spPr>
          <a:xfrm>
            <a:off x="841248" y="4709160"/>
            <a:ext cx="3502152" cy="274320"/>
          </a:xfrm>
          <a:prstGeom prst="rect">
            <a:avLst/>
          </a:prstGeom>
          <a:noFill/>
          <a:ln/>
        </p:spPr>
        <p:txBody>
          <a:bodyPr wrap="square" lIns="0" tIns="0" rIns="0" bIns="0" rtlCol="0" anchor="t"/>
          <a:lstStyle/>
          <a:p>
            <a:pPr marL="0" indent="0" algn="ctr">
              <a:buNone/>
            </a:pPr>
            <a:r>
              <a:rPr lang="en-US" sz="1200" u="sng" dirty="0">
                <a:solidFill>
                  <a:schemeClr val="bg2">
                    <a:lumMod val="10000"/>
                  </a:schemeClr>
                </a:solidFill>
                <a:latin typeface="Times New Roman" panose="02020603050405020304" pitchFamily="18" charset="0"/>
                <a:ea typeface="Segoe UI" pitchFamily="34" charset="-122"/>
                <a:cs typeface="Times New Roman" panose="02020603050405020304" pitchFamily="18" charset="0"/>
              </a:rPr>
              <a:t>Directeur de mémoire</a:t>
            </a:r>
            <a:endParaRPr lang="en-US" sz="1200" u="sng"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20" name="Text 8">
            <a:extLst>
              <a:ext uri="{FF2B5EF4-FFF2-40B4-BE49-F238E27FC236}">
                <a16:creationId xmlns:a16="http://schemas.microsoft.com/office/drawing/2014/main" id="{A0E0488F-F79C-C7BD-CF28-4116C14FB27F}"/>
              </a:ext>
            </a:extLst>
          </p:cNvPr>
          <p:cNvSpPr txBox="1"/>
          <p:nvPr/>
        </p:nvSpPr>
        <p:spPr>
          <a:xfrm>
            <a:off x="841248" y="4983480"/>
            <a:ext cx="3502152" cy="594360"/>
          </a:xfrm>
          <a:prstGeom prst="rect">
            <a:avLst/>
          </a:prstGeom>
          <a:noFill/>
          <a:ln/>
        </p:spPr>
        <p:txBody>
          <a:bodyPr wrap="square" lIns="0" tIns="0" rIns="0" bIns="0" rtlCol="0" anchor="t"/>
          <a:lstStyle/>
          <a:p>
            <a:pPr marL="0" indent="0" algn="ctr">
              <a:buNone/>
            </a:pPr>
            <a:r>
              <a:rPr lang="en-US" sz="1500" b="1" dirty="0">
                <a:solidFill>
                  <a:srgbClr val="1F2A5C"/>
                </a:solidFill>
                <a:latin typeface="Segoe UI" pitchFamily="34" charset="0"/>
                <a:ea typeface="Segoe UI" pitchFamily="34" charset="-122"/>
                <a:cs typeface="Segoe UI" pitchFamily="34" charset="-120"/>
              </a:rPr>
              <a:t>M. Assiongbon Arthur de Rodrigue FIOKLOU-TOULAN</a:t>
            </a:r>
            <a:endParaRPr lang="en-US" sz="1500" dirty="0"/>
          </a:p>
        </p:txBody>
      </p:sp>
      <p:sp>
        <p:nvSpPr>
          <p:cNvPr id="22" name="Text 3">
            <a:extLst>
              <a:ext uri="{FF2B5EF4-FFF2-40B4-BE49-F238E27FC236}">
                <a16:creationId xmlns:a16="http://schemas.microsoft.com/office/drawing/2014/main" id="{DA3941C5-4513-D7C5-3375-35CEEEFF58C6}"/>
              </a:ext>
            </a:extLst>
          </p:cNvPr>
          <p:cNvSpPr txBox="1"/>
          <p:nvPr/>
        </p:nvSpPr>
        <p:spPr>
          <a:xfrm>
            <a:off x="1481328" y="1988852"/>
            <a:ext cx="9445752" cy="320040"/>
          </a:xfrm>
          <a:prstGeom prst="rect">
            <a:avLst/>
          </a:prstGeom>
          <a:noFill/>
          <a:ln/>
        </p:spPr>
        <p:txBody>
          <a:bodyPr wrap="square" lIns="0" tIns="0" rIns="0" bIns="0" rtlCol="0" anchor="t"/>
          <a:lstStyle/>
          <a:p>
            <a:pPr marL="0" indent="0" algn="ctr">
              <a:buNone/>
            </a:pPr>
            <a:r>
              <a:rPr lang="en-US" sz="1300" b="1" dirty="0">
                <a:solidFill>
                  <a:srgbClr val="1F2A5C"/>
                </a:solidFill>
                <a:latin typeface="Segoe UI" pitchFamily="34" charset="0"/>
                <a:ea typeface="Segoe UI" pitchFamily="34" charset="-122"/>
                <a:cs typeface="Segoe UI" pitchFamily="34" charset="-120"/>
              </a:rPr>
              <a:t>MÉMOIRE DE FIN DE FORMATION POUR L'OBTENTION DU BREVET DE TECHNICIEN SUPÉRIEUR (BTS)</a:t>
            </a:r>
            <a:endParaRPr lang="en-US" sz="1300" dirty="0"/>
          </a:p>
        </p:txBody>
      </p:sp>
      <p:sp>
        <p:nvSpPr>
          <p:cNvPr id="24" name="Text 4">
            <a:extLst>
              <a:ext uri="{FF2B5EF4-FFF2-40B4-BE49-F238E27FC236}">
                <a16:creationId xmlns:a16="http://schemas.microsoft.com/office/drawing/2014/main" id="{0ACCDA57-379F-E475-8441-34F30A75E32A}"/>
              </a:ext>
            </a:extLst>
          </p:cNvPr>
          <p:cNvSpPr txBox="1"/>
          <p:nvPr/>
        </p:nvSpPr>
        <p:spPr>
          <a:xfrm>
            <a:off x="1481328" y="2308892"/>
            <a:ext cx="9445752" cy="274320"/>
          </a:xfrm>
          <a:prstGeom prst="rect">
            <a:avLst/>
          </a:prstGeom>
          <a:noFill/>
          <a:ln/>
        </p:spPr>
        <p:txBody>
          <a:bodyPr wrap="square" lIns="0" tIns="0" rIns="0" bIns="0" rtlCol="0" anchor="t"/>
          <a:lstStyle/>
          <a:p>
            <a:pPr marL="0" indent="0" algn="ctr">
              <a:buNone/>
            </a:pPr>
            <a:r>
              <a:rPr lang="en-US" sz="1200" dirty="0">
                <a:solidFill>
                  <a:srgbClr val="5B6478"/>
                </a:solidFill>
                <a:latin typeface="Segoe UI" pitchFamily="34" charset="0"/>
                <a:ea typeface="Segoe UI" pitchFamily="34" charset="-122"/>
                <a:cs typeface="Segoe UI" pitchFamily="34" charset="-120"/>
              </a:rPr>
              <a:t>Filière : Informatique de Gestion · Option : Développeur d'applications</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PLAN</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Déroulement de la présentation</a:t>
            </a:r>
            <a:endParaRPr lang="en-US" sz="2800" dirty="0"/>
          </a:p>
        </p:txBody>
      </p:sp>
      <p:sp>
        <p:nvSpPr>
          <p:cNvPr id="4" name="Shape 2"/>
          <p:cNvSpPr/>
          <p:nvPr/>
        </p:nvSpPr>
        <p:spPr>
          <a:xfrm>
            <a:off x="731520" y="1783080"/>
            <a:ext cx="640080" cy="640080"/>
          </a:xfrm>
          <a:prstGeom prst="roundRect">
            <a:avLst>
              <a:gd name="adj" fmla="val 11429"/>
            </a:avLst>
          </a:prstGeom>
          <a:solidFill>
            <a:srgbClr val="F2A93B"/>
          </a:solidFill>
          <a:ln/>
        </p:spPr>
      </p:sp>
      <p:sp>
        <p:nvSpPr>
          <p:cNvPr id="5" name="Text 3"/>
          <p:cNvSpPr txBox="1"/>
          <p:nvPr/>
        </p:nvSpPr>
        <p:spPr>
          <a:xfrm>
            <a:off x="731520" y="1783080"/>
            <a:ext cx="640080" cy="64008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01</a:t>
            </a:r>
            <a:endParaRPr lang="en-US" sz="1800" dirty="0"/>
          </a:p>
        </p:txBody>
      </p:sp>
      <p:sp>
        <p:nvSpPr>
          <p:cNvPr id="6" name="Text 4"/>
          <p:cNvSpPr txBox="1"/>
          <p:nvPr/>
        </p:nvSpPr>
        <p:spPr>
          <a:xfrm>
            <a:off x="1600200" y="1783080"/>
            <a:ext cx="4389120" cy="640080"/>
          </a:xfrm>
          <a:prstGeom prst="rect">
            <a:avLst/>
          </a:prstGeom>
          <a:noFill/>
          <a:ln/>
        </p:spPr>
        <p:txBody>
          <a:bodyPr wrap="square" lIns="0" tIns="0" rIns="0" bIns="0" rtlCol="0" anchor="ctr"/>
          <a:lstStyle/>
          <a:p>
            <a:pPr marL="0" indent="0">
              <a:buNone/>
            </a:pPr>
            <a:r>
              <a:rPr lang="en-US" sz="2000" dirty="0">
                <a:solidFill>
                  <a:srgbClr val="1F2A5C"/>
                </a:solidFill>
                <a:latin typeface="Segoe UI" pitchFamily="34" charset="0"/>
                <a:ea typeface="Segoe UI" pitchFamily="34" charset="-122"/>
                <a:cs typeface="Segoe UI" pitchFamily="34" charset="-120"/>
              </a:rPr>
              <a:t>Introduction</a:t>
            </a:r>
            <a:endParaRPr lang="en-US" sz="2000" dirty="0"/>
          </a:p>
        </p:txBody>
      </p:sp>
      <p:sp>
        <p:nvSpPr>
          <p:cNvPr id="7" name="Shape 5"/>
          <p:cNvSpPr/>
          <p:nvPr/>
        </p:nvSpPr>
        <p:spPr>
          <a:xfrm>
            <a:off x="731520" y="2834640"/>
            <a:ext cx="640080" cy="640080"/>
          </a:xfrm>
          <a:prstGeom prst="roundRect">
            <a:avLst>
              <a:gd name="adj" fmla="val 11429"/>
            </a:avLst>
          </a:prstGeom>
          <a:solidFill>
            <a:srgbClr val="F2A93B"/>
          </a:solidFill>
          <a:ln/>
        </p:spPr>
      </p:sp>
      <p:sp>
        <p:nvSpPr>
          <p:cNvPr id="8" name="Text 6"/>
          <p:cNvSpPr txBox="1"/>
          <p:nvPr/>
        </p:nvSpPr>
        <p:spPr>
          <a:xfrm>
            <a:off x="731520" y="2834640"/>
            <a:ext cx="640080" cy="64008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02</a:t>
            </a:r>
            <a:endParaRPr lang="en-US" sz="1800" dirty="0"/>
          </a:p>
        </p:txBody>
      </p:sp>
      <p:sp>
        <p:nvSpPr>
          <p:cNvPr id="9" name="Text 7"/>
          <p:cNvSpPr txBox="1"/>
          <p:nvPr/>
        </p:nvSpPr>
        <p:spPr>
          <a:xfrm>
            <a:off x="1600200" y="2834640"/>
            <a:ext cx="4389120" cy="640080"/>
          </a:xfrm>
          <a:prstGeom prst="rect">
            <a:avLst/>
          </a:prstGeom>
          <a:noFill/>
          <a:ln/>
        </p:spPr>
        <p:txBody>
          <a:bodyPr wrap="square" lIns="0" tIns="0" rIns="0" bIns="0" rtlCol="0" anchor="ctr"/>
          <a:lstStyle/>
          <a:p>
            <a:pPr marL="0" indent="0">
              <a:buNone/>
            </a:pPr>
            <a:r>
              <a:rPr lang="en-US" sz="2000" dirty="0">
                <a:solidFill>
                  <a:srgbClr val="1F2A5C"/>
                </a:solidFill>
                <a:latin typeface="Segoe UI" pitchFamily="34" charset="0"/>
                <a:ea typeface="Segoe UI" pitchFamily="34" charset="-122"/>
                <a:cs typeface="Segoe UI" pitchFamily="34" charset="-120"/>
              </a:rPr>
              <a:t>Problématique</a:t>
            </a:r>
            <a:endParaRPr lang="en-US" sz="2000" dirty="0"/>
          </a:p>
        </p:txBody>
      </p:sp>
      <p:sp>
        <p:nvSpPr>
          <p:cNvPr id="10" name="Shape 8"/>
          <p:cNvSpPr/>
          <p:nvPr/>
        </p:nvSpPr>
        <p:spPr>
          <a:xfrm>
            <a:off x="731520" y="3886200"/>
            <a:ext cx="640080" cy="640080"/>
          </a:xfrm>
          <a:prstGeom prst="roundRect">
            <a:avLst>
              <a:gd name="adj" fmla="val 11429"/>
            </a:avLst>
          </a:prstGeom>
          <a:solidFill>
            <a:srgbClr val="F2A93B"/>
          </a:solidFill>
          <a:ln/>
        </p:spPr>
      </p:sp>
      <p:sp>
        <p:nvSpPr>
          <p:cNvPr id="11" name="Text 9"/>
          <p:cNvSpPr txBox="1"/>
          <p:nvPr/>
        </p:nvSpPr>
        <p:spPr>
          <a:xfrm>
            <a:off x="731520" y="3886200"/>
            <a:ext cx="640080" cy="64008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03</a:t>
            </a:r>
            <a:endParaRPr lang="en-US" sz="1800" dirty="0"/>
          </a:p>
        </p:txBody>
      </p:sp>
      <p:sp>
        <p:nvSpPr>
          <p:cNvPr id="12" name="Text 10"/>
          <p:cNvSpPr txBox="1"/>
          <p:nvPr/>
        </p:nvSpPr>
        <p:spPr>
          <a:xfrm>
            <a:off x="1600200" y="3886200"/>
            <a:ext cx="4389120" cy="640080"/>
          </a:xfrm>
          <a:prstGeom prst="rect">
            <a:avLst/>
          </a:prstGeom>
          <a:noFill/>
          <a:ln/>
        </p:spPr>
        <p:txBody>
          <a:bodyPr wrap="square" lIns="0" tIns="0" rIns="0" bIns="0" rtlCol="0" anchor="ctr"/>
          <a:lstStyle/>
          <a:p>
            <a:pPr marL="0" indent="0">
              <a:buNone/>
            </a:pPr>
            <a:r>
              <a:rPr lang="en-US" sz="2000" dirty="0">
                <a:solidFill>
                  <a:srgbClr val="1F2A5C"/>
                </a:solidFill>
                <a:latin typeface="Segoe UI" pitchFamily="34" charset="0"/>
                <a:ea typeface="Segoe UI" pitchFamily="34" charset="-122"/>
                <a:cs typeface="Segoe UI" pitchFamily="34" charset="-120"/>
              </a:rPr>
              <a:t>Étude et critique de l'existant</a:t>
            </a:r>
            <a:endParaRPr lang="en-US" sz="2000" dirty="0"/>
          </a:p>
        </p:txBody>
      </p:sp>
      <p:sp>
        <p:nvSpPr>
          <p:cNvPr id="13" name="Shape 11"/>
          <p:cNvSpPr/>
          <p:nvPr/>
        </p:nvSpPr>
        <p:spPr>
          <a:xfrm>
            <a:off x="731520" y="4937760"/>
            <a:ext cx="640080" cy="640080"/>
          </a:xfrm>
          <a:prstGeom prst="roundRect">
            <a:avLst>
              <a:gd name="adj" fmla="val 11429"/>
            </a:avLst>
          </a:prstGeom>
          <a:solidFill>
            <a:srgbClr val="F2A93B"/>
          </a:solidFill>
          <a:ln/>
        </p:spPr>
      </p:sp>
      <p:sp>
        <p:nvSpPr>
          <p:cNvPr id="14" name="Text 12"/>
          <p:cNvSpPr txBox="1"/>
          <p:nvPr/>
        </p:nvSpPr>
        <p:spPr>
          <a:xfrm>
            <a:off x="731520" y="4937760"/>
            <a:ext cx="640080" cy="64008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04</a:t>
            </a:r>
            <a:endParaRPr lang="en-US" sz="1800" dirty="0"/>
          </a:p>
        </p:txBody>
      </p:sp>
      <p:sp>
        <p:nvSpPr>
          <p:cNvPr id="15" name="Text 13"/>
          <p:cNvSpPr txBox="1"/>
          <p:nvPr/>
        </p:nvSpPr>
        <p:spPr>
          <a:xfrm>
            <a:off x="1600200" y="4937760"/>
            <a:ext cx="4389120" cy="640080"/>
          </a:xfrm>
          <a:prstGeom prst="rect">
            <a:avLst/>
          </a:prstGeom>
          <a:noFill/>
          <a:ln/>
        </p:spPr>
        <p:txBody>
          <a:bodyPr wrap="square" lIns="0" tIns="0" rIns="0" bIns="0" rtlCol="0" anchor="ctr"/>
          <a:lstStyle/>
          <a:p>
            <a:pPr marL="0" indent="0">
              <a:buNone/>
            </a:pPr>
            <a:r>
              <a:rPr lang="en-US" sz="2000" dirty="0">
                <a:solidFill>
                  <a:srgbClr val="1F2A5C"/>
                </a:solidFill>
                <a:latin typeface="Segoe UI" pitchFamily="34" charset="0"/>
                <a:ea typeface="Segoe UI" pitchFamily="34" charset="-122"/>
                <a:cs typeface="Segoe UI" pitchFamily="34" charset="-120"/>
              </a:rPr>
              <a:t>Proposition de la solution</a:t>
            </a:r>
            <a:endParaRPr lang="en-US" sz="2000" dirty="0"/>
          </a:p>
        </p:txBody>
      </p:sp>
      <p:sp>
        <p:nvSpPr>
          <p:cNvPr id="16" name="Shape 14"/>
          <p:cNvSpPr/>
          <p:nvPr/>
        </p:nvSpPr>
        <p:spPr>
          <a:xfrm>
            <a:off x="6309360" y="1783080"/>
            <a:ext cx="640080" cy="640080"/>
          </a:xfrm>
          <a:prstGeom prst="roundRect">
            <a:avLst>
              <a:gd name="adj" fmla="val 11429"/>
            </a:avLst>
          </a:prstGeom>
          <a:solidFill>
            <a:srgbClr val="F2A93B"/>
          </a:solidFill>
          <a:ln/>
        </p:spPr>
      </p:sp>
      <p:sp>
        <p:nvSpPr>
          <p:cNvPr id="17" name="Text 15"/>
          <p:cNvSpPr txBox="1"/>
          <p:nvPr/>
        </p:nvSpPr>
        <p:spPr>
          <a:xfrm>
            <a:off x="6309360" y="1783080"/>
            <a:ext cx="640080" cy="64008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05</a:t>
            </a:r>
            <a:endParaRPr lang="en-US" sz="1800" dirty="0"/>
          </a:p>
        </p:txBody>
      </p:sp>
      <p:sp>
        <p:nvSpPr>
          <p:cNvPr id="18" name="Text 16"/>
          <p:cNvSpPr txBox="1"/>
          <p:nvPr/>
        </p:nvSpPr>
        <p:spPr>
          <a:xfrm>
            <a:off x="7178040" y="1783080"/>
            <a:ext cx="4389120" cy="640080"/>
          </a:xfrm>
          <a:prstGeom prst="rect">
            <a:avLst/>
          </a:prstGeom>
          <a:noFill/>
          <a:ln/>
        </p:spPr>
        <p:txBody>
          <a:bodyPr wrap="square" lIns="0" tIns="0" rIns="0" bIns="0" rtlCol="0" anchor="ctr"/>
          <a:lstStyle/>
          <a:p>
            <a:pPr marL="0" indent="0">
              <a:buNone/>
            </a:pPr>
            <a:r>
              <a:rPr lang="en-US" sz="2000" dirty="0">
                <a:solidFill>
                  <a:srgbClr val="1F2A5C"/>
                </a:solidFill>
                <a:latin typeface="Segoe UI" pitchFamily="34" charset="0"/>
                <a:ea typeface="Segoe UI" pitchFamily="34" charset="-122"/>
                <a:cs typeface="Segoe UI" pitchFamily="34" charset="-120"/>
              </a:rPr>
              <a:t>Analyse et conception</a:t>
            </a:r>
            <a:endParaRPr lang="en-US" sz="2000" dirty="0"/>
          </a:p>
        </p:txBody>
      </p:sp>
      <p:sp>
        <p:nvSpPr>
          <p:cNvPr id="19" name="Shape 17"/>
          <p:cNvSpPr/>
          <p:nvPr/>
        </p:nvSpPr>
        <p:spPr>
          <a:xfrm>
            <a:off x="6309360" y="2834640"/>
            <a:ext cx="640080" cy="640080"/>
          </a:xfrm>
          <a:prstGeom prst="roundRect">
            <a:avLst>
              <a:gd name="adj" fmla="val 11429"/>
            </a:avLst>
          </a:prstGeom>
          <a:solidFill>
            <a:srgbClr val="F2A93B"/>
          </a:solidFill>
          <a:ln/>
        </p:spPr>
      </p:sp>
      <p:sp>
        <p:nvSpPr>
          <p:cNvPr id="20" name="Text 18"/>
          <p:cNvSpPr txBox="1"/>
          <p:nvPr/>
        </p:nvSpPr>
        <p:spPr>
          <a:xfrm>
            <a:off x="6309360" y="2834640"/>
            <a:ext cx="640080" cy="64008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06</a:t>
            </a:r>
            <a:endParaRPr lang="en-US" sz="1800" dirty="0"/>
          </a:p>
        </p:txBody>
      </p:sp>
      <p:sp>
        <p:nvSpPr>
          <p:cNvPr id="21" name="Text 19"/>
          <p:cNvSpPr txBox="1"/>
          <p:nvPr/>
        </p:nvSpPr>
        <p:spPr>
          <a:xfrm>
            <a:off x="7178040" y="2834640"/>
            <a:ext cx="4389120" cy="640080"/>
          </a:xfrm>
          <a:prstGeom prst="rect">
            <a:avLst/>
          </a:prstGeom>
          <a:noFill/>
          <a:ln/>
        </p:spPr>
        <p:txBody>
          <a:bodyPr wrap="square" lIns="0" tIns="0" rIns="0" bIns="0" rtlCol="0" anchor="ctr"/>
          <a:lstStyle/>
          <a:p>
            <a:pPr marL="0" indent="0">
              <a:buNone/>
            </a:pPr>
            <a:r>
              <a:rPr lang="en-US" sz="2000" dirty="0">
                <a:solidFill>
                  <a:srgbClr val="1F2A5C"/>
                </a:solidFill>
                <a:latin typeface="Segoe UI" pitchFamily="34" charset="0"/>
                <a:ea typeface="Segoe UI" pitchFamily="34" charset="-122"/>
                <a:cs typeface="Segoe UI" pitchFamily="34" charset="-120"/>
              </a:rPr>
              <a:t>Mise en œuvre</a:t>
            </a:r>
            <a:endParaRPr lang="en-US" sz="2000" dirty="0"/>
          </a:p>
        </p:txBody>
      </p:sp>
      <p:sp>
        <p:nvSpPr>
          <p:cNvPr id="22" name="Shape 20"/>
          <p:cNvSpPr/>
          <p:nvPr/>
        </p:nvSpPr>
        <p:spPr>
          <a:xfrm>
            <a:off x="6309360" y="3886200"/>
            <a:ext cx="640080" cy="640080"/>
          </a:xfrm>
          <a:prstGeom prst="roundRect">
            <a:avLst>
              <a:gd name="adj" fmla="val 11429"/>
            </a:avLst>
          </a:prstGeom>
          <a:solidFill>
            <a:srgbClr val="F2A93B"/>
          </a:solidFill>
          <a:ln/>
        </p:spPr>
      </p:sp>
      <p:sp>
        <p:nvSpPr>
          <p:cNvPr id="23" name="Text 21"/>
          <p:cNvSpPr txBox="1"/>
          <p:nvPr/>
        </p:nvSpPr>
        <p:spPr>
          <a:xfrm>
            <a:off x="6309360" y="3886200"/>
            <a:ext cx="640080" cy="64008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07</a:t>
            </a:r>
            <a:endParaRPr lang="en-US" sz="1800" dirty="0"/>
          </a:p>
        </p:txBody>
      </p:sp>
      <p:sp>
        <p:nvSpPr>
          <p:cNvPr id="24" name="Text 22"/>
          <p:cNvSpPr txBox="1"/>
          <p:nvPr/>
        </p:nvSpPr>
        <p:spPr>
          <a:xfrm>
            <a:off x="7178040" y="3886200"/>
            <a:ext cx="4389120" cy="640080"/>
          </a:xfrm>
          <a:prstGeom prst="rect">
            <a:avLst/>
          </a:prstGeom>
          <a:noFill/>
          <a:ln/>
        </p:spPr>
        <p:txBody>
          <a:bodyPr wrap="square" lIns="0" tIns="0" rIns="0" bIns="0" rtlCol="0" anchor="ctr"/>
          <a:lstStyle/>
          <a:p>
            <a:pPr marL="0" indent="0">
              <a:buNone/>
            </a:pPr>
            <a:r>
              <a:rPr lang="en-US" sz="2000" dirty="0">
                <a:solidFill>
                  <a:srgbClr val="1F2A5C"/>
                </a:solidFill>
                <a:latin typeface="Segoe UI" pitchFamily="34" charset="0"/>
                <a:ea typeface="Segoe UI" pitchFamily="34" charset="-122"/>
                <a:cs typeface="Segoe UI" pitchFamily="34" charset="-120"/>
              </a:rPr>
              <a:t>Démonstration</a:t>
            </a:r>
            <a:endParaRPr lang="en-US" sz="2000" dirty="0"/>
          </a:p>
        </p:txBody>
      </p:sp>
      <p:sp>
        <p:nvSpPr>
          <p:cNvPr id="25" name="Shape 23"/>
          <p:cNvSpPr/>
          <p:nvPr/>
        </p:nvSpPr>
        <p:spPr>
          <a:xfrm>
            <a:off x="6309360" y="4937760"/>
            <a:ext cx="640080" cy="640080"/>
          </a:xfrm>
          <a:prstGeom prst="roundRect">
            <a:avLst>
              <a:gd name="adj" fmla="val 11429"/>
            </a:avLst>
          </a:prstGeom>
          <a:solidFill>
            <a:srgbClr val="F2A93B"/>
          </a:solidFill>
          <a:ln/>
        </p:spPr>
      </p:sp>
      <p:sp>
        <p:nvSpPr>
          <p:cNvPr id="26" name="Text 24"/>
          <p:cNvSpPr txBox="1"/>
          <p:nvPr/>
        </p:nvSpPr>
        <p:spPr>
          <a:xfrm>
            <a:off x="6309360" y="4937760"/>
            <a:ext cx="640080" cy="64008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08</a:t>
            </a:r>
            <a:endParaRPr lang="en-US" sz="1800" dirty="0"/>
          </a:p>
        </p:txBody>
      </p:sp>
      <p:sp>
        <p:nvSpPr>
          <p:cNvPr id="27" name="Text 25"/>
          <p:cNvSpPr txBox="1"/>
          <p:nvPr/>
        </p:nvSpPr>
        <p:spPr>
          <a:xfrm>
            <a:off x="7178040" y="4937760"/>
            <a:ext cx="4389120" cy="640080"/>
          </a:xfrm>
          <a:prstGeom prst="rect">
            <a:avLst/>
          </a:prstGeom>
          <a:noFill/>
          <a:ln/>
        </p:spPr>
        <p:txBody>
          <a:bodyPr wrap="square" lIns="0" tIns="0" rIns="0" bIns="0" rtlCol="0" anchor="ctr"/>
          <a:lstStyle/>
          <a:p>
            <a:pPr marL="0" indent="0">
              <a:buNone/>
            </a:pPr>
            <a:r>
              <a:rPr lang="en-US" sz="2000" dirty="0">
                <a:solidFill>
                  <a:srgbClr val="1F2A5C"/>
                </a:solidFill>
                <a:latin typeface="Segoe UI" pitchFamily="34" charset="0"/>
                <a:ea typeface="Segoe UI" pitchFamily="34" charset="-122"/>
                <a:cs typeface="Segoe UI" pitchFamily="34" charset="-120"/>
              </a:rPr>
              <a:t>Bilan et conclusion</a:t>
            </a:r>
            <a:endParaRPr lang="en-US" sz="2000" dirty="0"/>
          </a:p>
        </p:txBody>
      </p:sp>
      <p:sp>
        <p:nvSpPr>
          <p:cNvPr id="28"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31520" y="1874520"/>
            <a:ext cx="109728" cy="1828800"/>
          </a:xfrm>
          <a:prstGeom prst="rect">
            <a:avLst/>
          </a:prstGeom>
          <a:solidFill>
            <a:srgbClr val="F2A93B"/>
          </a:solidFill>
          <a:ln/>
        </p:spPr>
      </p:sp>
      <p:sp>
        <p:nvSpPr>
          <p:cNvPr id="3" name="Text 1"/>
          <p:cNvSpPr txBox="1"/>
          <p:nvPr/>
        </p:nvSpPr>
        <p:spPr>
          <a:xfrm>
            <a:off x="1143000" y="1737360"/>
            <a:ext cx="9875520" cy="2103120"/>
          </a:xfrm>
          <a:prstGeom prst="rect">
            <a:avLst/>
          </a:prstGeom>
          <a:noFill/>
          <a:ln/>
        </p:spPr>
        <p:txBody>
          <a:bodyPr wrap="square" lIns="0" tIns="0" rIns="0" bIns="0" rtlCol="0" anchor="ctr"/>
          <a:lstStyle/>
          <a:p>
            <a:pPr marL="0" indent="0">
              <a:buNone/>
            </a:pPr>
            <a:r>
              <a:rPr lang="en-US" sz="4200" b="1" dirty="0">
                <a:solidFill>
                  <a:srgbClr val="FFFFFF"/>
                </a:solidFill>
                <a:latin typeface="Segoe UI" pitchFamily="34" charset="0"/>
                <a:ea typeface="Segoe UI" pitchFamily="34" charset="-122"/>
                <a:cs typeface="Segoe UI" pitchFamily="34" charset="-120"/>
              </a:rPr>
              <a:t>Et si le principal problème d'une boutique n'était pas de vendre ?</a:t>
            </a:r>
            <a:endParaRPr lang="en-US" sz="4200" dirty="0"/>
          </a:p>
        </p:txBody>
      </p:sp>
      <p:sp>
        <p:nvSpPr>
          <p:cNvPr id="4" name="Text 2"/>
          <p:cNvSpPr txBox="1"/>
          <p:nvPr/>
        </p:nvSpPr>
        <p:spPr>
          <a:xfrm>
            <a:off x="1143000" y="4114800"/>
            <a:ext cx="9418320" cy="914400"/>
          </a:xfrm>
          <a:prstGeom prst="rect">
            <a:avLst/>
          </a:prstGeom>
          <a:noFill/>
          <a:ln/>
        </p:spPr>
        <p:txBody>
          <a:bodyPr wrap="square" lIns="0" tIns="0" rIns="0" bIns="0" rtlCol="0" anchor="t"/>
          <a:lstStyle/>
          <a:p>
            <a:pPr marL="0" indent="0">
              <a:buNone/>
            </a:pPr>
            <a:r>
              <a:rPr lang="en-US" sz="2100" dirty="0">
                <a:solidFill>
                  <a:srgbClr val="C9D0E6"/>
                </a:solidFill>
                <a:latin typeface="Segoe UI" pitchFamily="34" charset="0"/>
                <a:ea typeface="Segoe UI" pitchFamily="34" charset="-122"/>
                <a:cs typeface="Segoe UI" pitchFamily="34" charset="-120"/>
              </a:rPr>
              <a:t>Le vrai défi commence quand il faut retrouver l'information… et trouver rapidement un fournisseur.</a:t>
            </a:r>
            <a:endParaRPr lang="en-US" sz="21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01 · INTRODUCTION</a:t>
            </a:r>
            <a:endParaRPr lang="en-US" sz="120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4</a:t>
            </a:fld>
            <a:endParaRPr lang="en-US"/>
          </a:p>
        </p:txBody>
      </p:sp>
      <p:sp>
        <p:nvSpPr>
          <p:cNvPr id="69" name="Text 1">
            <a:extLst>
              <a:ext uri="{FF2B5EF4-FFF2-40B4-BE49-F238E27FC236}">
                <a16:creationId xmlns:a16="http://schemas.microsoft.com/office/drawing/2014/main" id="{CD0BF9AA-C57F-216B-A8E9-4AA1B43F61CE}"/>
              </a:ext>
            </a:extLst>
          </p:cNvPr>
          <p:cNvSpPr/>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Cadre de formation et de stage</a:t>
            </a:r>
            <a:endParaRPr lang="en-US" sz="3000" dirty="0"/>
          </a:p>
        </p:txBody>
      </p:sp>
      <p:sp>
        <p:nvSpPr>
          <p:cNvPr id="70" name="Shape 2">
            <a:extLst>
              <a:ext uri="{FF2B5EF4-FFF2-40B4-BE49-F238E27FC236}">
                <a16:creationId xmlns:a16="http://schemas.microsoft.com/office/drawing/2014/main" id="{A279B2BF-8104-7312-D4E7-E3A4AAC0EC5D}"/>
              </a:ext>
            </a:extLst>
          </p:cNvPr>
          <p:cNvSpPr/>
          <p:nvPr/>
        </p:nvSpPr>
        <p:spPr>
          <a:xfrm>
            <a:off x="552932" y="1723465"/>
            <a:ext cx="5232292" cy="1705536"/>
          </a:xfrm>
          <a:prstGeom prst="roundRect">
            <a:avLst>
              <a:gd name="adj" fmla="val 1758"/>
            </a:avLst>
          </a:prstGeom>
          <a:solidFill>
            <a:srgbClr val="EEF2FF"/>
          </a:solidFill>
          <a:ln/>
        </p:spPr>
        <p:txBody>
          <a:bodyPr/>
          <a:lstStyle/>
          <a:p>
            <a:endParaRPr lang="fr-FR"/>
          </a:p>
        </p:txBody>
      </p:sp>
      <p:sp>
        <p:nvSpPr>
          <p:cNvPr id="71" name="Text 3">
            <a:extLst>
              <a:ext uri="{FF2B5EF4-FFF2-40B4-BE49-F238E27FC236}">
                <a16:creationId xmlns:a16="http://schemas.microsoft.com/office/drawing/2014/main" id="{4333BBD4-2189-CCE7-778E-BA2DC62B9FC6}"/>
              </a:ext>
            </a:extLst>
          </p:cNvPr>
          <p:cNvSpPr/>
          <p:nvPr/>
        </p:nvSpPr>
        <p:spPr>
          <a:xfrm>
            <a:off x="760112" y="2011680"/>
            <a:ext cx="4617720" cy="502920"/>
          </a:xfrm>
          <a:prstGeom prst="rect">
            <a:avLst/>
          </a:prstGeom>
          <a:noFill/>
          <a:ln/>
        </p:spPr>
        <p:txBody>
          <a:bodyPr wrap="square" lIns="0" tIns="0" rIns="0" bIns="0" rtlCol="0" anchor="ctr"/>
          <a:lstStyle/>
          <a:p>
            <a:pPr marL="0" indent="0">
              <a:buNone/>
            </a:pPr>
            <a:r>
              <a:rPr lang="en-US" sz="1700" b="1" dirty="0">
                <a:solidFill>
                  <a:srgbClr val="3730A3"/>
                </a:solidFill>
                <a:latin typeface="Cambria" pitchFamily="34" charset="0"/>
                <a:ea typeface="Cambria" pitchFamily="34" charset="-122"/>
                <a:cs typeface="Cambria" pitchFamily="34" charset="-120"/>
              </a:rPr>
              <a:t>Institut Polytechnique DEFITECH (IPD)</a:t>
            </a:r>
            <a:endParaRPr lang="en-US" sz="1700" dirty="0"/>
          </a:p>
        </p:txBody>
      </p:sp>
      <p:sp>
        <p:nvSpPr>
          <p:cNvPr id="72" name="Text 4">
            <a:extLst>
              <a:ext uri="{FF2B5EF4-FFF2-40B4-BE49-F238E27FC236}">
                <a16:creationId xmlns:a16="http://schemas.microsoft.com/office/drawing/2014/main" id="{8F6728CE-10AB-D069-C18B-128E11B9BFD9}"/>
              </a:ext>
            </a:extLst>
          </p:cNvPr>
          <p:cNvSpPr/>
          <p:nvPr/>
        </p:nvSpPr>
        <p:spPr>
          <a:xfrm>
            <a:off x="868680" y="2606040"/>
            <a:ext cx="4160520" cy="692972"/>
          </a:xfrm>
          <a:prstGeom prst="rect">
            <a:avLst/>
          </a:prstGeom>
          <a:noFill/>
          <a:ln/>
        </p:spPr>
        <p:txBody>
          <a:bodyPr wrap="square" lIns="0" tIns="0" rIns="0" bIns="0" rtlCol="0" anchor="t"/>
          <a:lstStyle/>
          <a:p>
            <a:pPr marL="285750" indent="-285750">
              <a:lnSpc>
                <a:spcPct val="120000"/>
              </a:lnSpc>
              <a:buFont typeface="Arial" panose="020B0604020202020204" pitchFamily="34" charset="0"/>
              <a:buChar char="•"/>
            </a:pPr>
            <a:r>
              <a:rPr lang="en-US" sz="1450" dirty="0">
                <a:solidFill>
                  <a:srgbClr val="1F2937"/>
                </a:solidFill>
                <a:latin typeface="Calibri" pitchFamily="34" charset="0"/>
                <a:ea typeface="Calibri" pitchFamily="34" charset="-122"/>
                <a:cs typeface="Calibri" pitchFamily="34" charset="-120"/>
              </a:rPr>
              <a:t>Formations : BTS, Licence Pro, Web@cademy
</a:t>
            </a:r>
            <a:r>
              <a:rPr lang="en-US" sz="1450" dirty="0" err="1">
                <a:solidFill>
                  <a:srgbClr val="1F2937"/>
                </a:solidFill>
                <a:latin typeface="Calibri" pitchFamily="34" charset="0"/>
                <a:ea typeface="Calibri" pitchFamily="34" charset="-122"/>
                <a:cs typeface="Calibri" pitchFamily="34" charset="-120"/>
              </a:rPr>
              <a:t>Filières</a:t>
            </a:r>
            <a:r>
              <a:rPr lang="en-US" sz="1450" dirty="0">
                <a:solidFill>
                  <a:srgbClr val="1F2937"/>
                </a:solidFill>
                <a:latin typeface="Calibri" pitchFamily="34" charset="0"/>
                <a:ea typeface="Calibri" pitchFamily="34" charset="-122"/>
                <a:cs typeface="Calibri" pitchFamily="34" charset="-120"/>
              </a:rPr>
              <a:t> : informatique, télécoms, gestion, RH</a:t>
            </a:r>
            <a:endParaRPr lang="en-US" sz="1450" dirty="0"/>
          </a:p>
        </p:txBody>
      </p:sp>
      <p:sp>
        <p:nvSpPr>
          <p:cNvPr id="73" name="Shape 5">
            <a:extLst>
              <a:ext uri="{FF2B5EF4-FFF2-40B4-BE49-F238E27FC236}">
                <a16:creationId xmlns:a16="http://schemas.microsoft.com/office/drawing/2014/main" id="{ED01D696-357D-FC4C-80A6-2B0C2486AAFB}"/>
              </a:ext>
            </a:extLst>
          </p:cNvPr>
          <p:cNvSpPr/>
          <p:nvPr/>
        </p:nvSpPr>
        <p:spPr>
          <a:xfrm>
            <a:off x="6315038" y="1723465"/>
            <a:ext cx="5419457" cy="1699410"/>
          </a:xfrm>
          <a:prstGeom prst="roundRect">
            <a:avLst>
              <a:gd name="adj" fmla="val 1758"/>
            </a:avLst>
          </a:prstGeom>
          <a:solidFill>
            <a:srgbClr val="1E1B4B"/>
          </a:solidFill>
          <a:ln/>
        </p:spPr>
        <p:txBody>
          <a:bodyPr/>
          <a:lstStyle/>
          <a:p>
            <a:endParaRPr lang="fr-FR" dirty="0"/>
          </a:p>
        </p:txBody>
      </p:sp>
      <p:sp>
        <p:nvSpPr>
          <p:cNvPr id="74" name="Text 6">
            <a:extLst>
              <a:ext uri="{FF2B5EF4-FFF2-40B4-BE49-F238E27FC236}">
                <a16:creationId xmlns:a16="http://schemas.microsoft.com/office/drawing/2014/main" id="{9850E4B6-A24A-7BA4-6FAA-65A7A78C0EDD}"/>
              </a:ext>
            </a:extLst>
          </p:cNvPr>
          <p:cNvSpPr/>
          <p:nvPr/>
        </p:nvSpPr>
        <p:spPr>
          <a:xfrm>
            <a:off x="6449394" y="2011680"/>
            <a:ext cx="4617720" cy="50292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TAD IT Consulting — TAD Dev</a:t>
            </a:r>
            <a:endParaRPr lang="en-US" sz="1700" dirty="0"/>
          </a:p>
        </p:txBody>
      </p:sp>
      <p:sp>
        <p:nvSpPr>
          <p:cNvPr id="75" name="Text 7">
            <a:extLst>
              <a:ext uri="{FF2B5EF4-FFF2-40B4-BE49-F238E27FC236}">
                <a16:creationId xmlns:a16="http://schemas.microsoft.com/office/drawing/2014/main" id="{5987250A-CF3E-8C40-07EA-C37D9D4ADACB}"/>
              </a:ext>
            </a:extLst>
          </p:cNvPr>
          <p:cNvSpPr/>
          <p:nvPr/>
        </p:nvSpPr>
        <p:spPr>
          <a:xfrm>
            <a:off x="6616736" y="2514600"/>
            <a:ext cx="4039312" cy="676835"/>
          </a:xfrm>
          <a:prstGeom prst="rect">
            <a:avLst/>
          </a:prstGeom>
          <a:noFill/>
          <a:ln/>
        </p:spPr>
        <p:txBody>
          <a:bodyPr wrap="square" lIns="0" tIns="0" rIns="0" bIns="0" rtlCol="0" anchor="t"/>
          <a:lstStyle/>
          <a:p>
            <a:pPr marL="285750" indent="-285750">
              <a:lnSpc>
                <a:spcPct val="120000"/>
              </a:lnSpc>
              <a:buFont typeface="Arial" panose="020B0604020202020204" pitchFamily="34" charset="0"/>
              <a:buChar char="•"/>
            </a:pPr>
            <a:r>
              <a:rPr lang="en-US" sz="1450" dirty="0">
                <a:solidFill>
                  <a:srgbClr val="E0E7FF"/>
                </a:solidFill>
                <a:latin typeface="Calibri" pitchFamily="34" charset="0"/>
                <a:ea typeface="Calibri" pitchFamily="34" charset="-122"/>
                <a:cs typeface="Calibri" pitchFamily="34" charset="-120"/>
              </a:rPr>
              <a:t>Solutions numériques sur mesure
Dev logiciel, DevOps, sécurité, IA</a:t>
            </a:r>
            <a:endParaRPr lang="en-US" sz="1450" dirty="0"/>
          </a:p>
        </p:txBody>
      </p:sp>
      <p:pic>
        <p:nvPicPr>
          <p:cNvPr id="76" name="Image 0" descr="C:\laragon\www\facturation\Nouveau dossier\Logo Defitech.jpg">
            <a:extLst>
              <a:ext uri="{FF2B5EF4-FFF2-40B4-BE49-F238E27FC236}">
                <a16:creationId xmlns:a16="http://schemas.microsoft.com/office/drawing/2014/main" id="{A10A8D44-8560-BED8-D618-DCCBE38A48C8}"/>
              </a:ext>
            </a:extLst>
          </p:cNvPr>
          <p:cNvPicPr>
            <a:picLocks noChangeAspect="1"/>
          </p:cNvPicPr>
          <p:nvPr/>
        </p:nvPicPr>
        <p:blipFill>
          <a:blip r:embed="rId3"/>
          <a:stretch>
            <a:fillRect/>
          </a:stretch>
        </p:blipFill>
        <p:spPr>
          <a:xfrm>
            <a:off x="4774059" y="2263140"/>
            <a:ext cx="868680" cy="868680"/>
          </a:xfrm>
          <a:prstGeom prst="rect">
            <a:avLst/>
          </a:prstGeom>
        </p:spPr>
      </p:pic>
      <p:pic>
        <p:nvPicPr>
          <p:cNvPr id="77" name="Image 1" descr="C:\laragon\www\facturation\Nouveau dossier\logo-tad-it-light.png">
            <a:extLst>
              <a:ext uri="{FF2B5EF4-FFF2-40B4-BE49-F238E27FC236}">
                <a16:creationId xmlns:a16="http://schemas.microsoft.com/office/drawing/2014/main" id="{70ACE68A-76C6-7DE3-D1FD-5615AEC8088F}"/>
              </a:ext>
            </a:extLst>
          </p:cNvPr>
          <p:cNvPicPr>
            <a:picLocks noChangeAspect="1"/>
          </p:cNvPicPr>
          <p:nvPr/>
        </p:nvPicPr>
        <p:blipFill>
          <a:blip r:embed="rId4"/>
          <a:stretch>
            <a:fillRect/>
          </a:stretch>
        </p:blipFill>
        <p:spPr>
          <a:xfrm>
            <a:off x="10225716" y="2176272"/>
            <a:ext cx="1345997" cy="841248"/>
          </a:xfrm>
          <a:prstGeom prst="rect">
            <a:avLst/>
          </a:prstGeom>
        </p:spPr>
      </p:pic>
      <p:sp>
        <p:nvSpPr>
          <p:cNvPr id="80" name="Text 2">
            <a:extLst>
              <a:ext uri="{FF2B5EF4-FFF2-40B4-BE49-F238E27FC236}">
                <a16:creationId xmlns:a16="http://schemas.microsoft.com/office/drawing/2014/main" id="{3C212689-9A9C-AC22-A82F-8A7EDD4526AE}"/>
              </a:ext>
            </a:extLst>
          </p:cNvPr>
          <p:cNvSpPr/>
          <p:nvPr/>
        </p:nvSpPr>
        <p:spPr>
          <a:xfrm>
            <a:off x="563880" y="3711688"/>
            <a:ext cx="11064240" cy="548640"/>
          </a:xfrm>
          <a:prstGeom prst="rect">
            <a:avLst/>
          </a:prstGeom>
          <a:noFill/>
          <a:ln/>
        </p:spPr>
        <p:txBody>
          <a:bodyPr wrap="square" lIns="0" tIns="0" rIns="0" bIns="0" rtlCol="0" anchor="ctr"/>
          <a:lstStyle/>
          <a:p>
            <a:pPr marL="0" indent="0">
              <a:lnSpc>
                <a:spcPct val="120000"/>
              </a:lnSpc>
              <a:buNone/>
            </a:pPr>
            <a:r>
              <a:rPr lang="en-US" sz="1600" dirty="0">
                <a:solidFill>
                  <a:srgbClr val="1F2937"/>
                </a:solidFill>
                <a:latin typeface="Calibri" pitchFamily="34" charset="0"/>
                <a:ea typeface="Calibri" pitchFamily="34" charset="-122"/>
                <a:cs typeface="Calibri" pitchFamily="34" charset="-120"/>
              </a:rPr>
              <a:t>Gestion des boutiques et de l'approvisionnement des PME : vente au comptoir et échanges B2B.</a:t>
            </a:r>
            <a:endParaRPr lang="en-US" sz="1600" dirty="0"/>
          </a:p>
        </p:txBody>
      </p:sp>
      <p:sp>
        <p:nvSpPr>
          <p:cNvPr id="81" name="Shape 3">
            <a:extLst>
              <a:ext uri="{FF2B5EF4-FFF2-40B4-BE49-F238E27FC236}">
                <a16:creationId xmlns:a16="http://schemas.microsoft.com/office/drawing/2014/main" id="{C85C1894-65E3-2305-A592-7383AAB0C2EC}"/>
              </a:ext>
            </a:extLst>
          </p:cNvPr>
          <p:cNvSpPr/>
          <p:nvPr/>
        </p:nvSpPr>
        <p:spPr>
          <a:xfrm>
            <a:off x="563880" y="4443208"/>
            <a:ext cx="11064240" cy="1417320"/>
          </a:xfrm>
          <a:prstGeom prst="roundRect">
            <a:avLst>
              <a:gd name="adj" fmla="val 5161"/>
            </a:avLst>
          </a:prstGeom>
          <a:solidFill>
            <a:srgbClr val="FFF7ED"/>
          </a:solidFill>
          <a:ln/>
        </p:spPr>
        <p:txBody>
          <a:bodyPr/>
          <a:lstStyle/>
          <a:p>
            <a:endParaRPr lang="fr-FR"/>
          </a:p>
        </p:txBody>
      </p:sp>
      <p:sp>
        <p:nvSpPr>
          <p:cNvPr id="82" name="Shape 4">
            <a:extLst>
              <a:ext uri="{FF2B5EF4-FFF2-40B4-BE49-F238E27FC236}">
                <a16:creationId xmlns:a16="http://schemas.microsoft.com/office/drawing/2014/main" id="{A04DF081-83A3-7EEF-7845-96285C40AF17}"/>
              </a:ext>
            </a:extLst>
          </p:cNvPr>
          <p:cNvSpPr/>
          <p:nvPr/>
        </p:nvSpPr>
        <p:spPr>
          <a:xfrm>
            <a:off x="883920" y="4699240"/>
            <a:ext cx="548640" cy="548640"/>
          </a:xfrm>
          <a:prstGeom prst="ellipse">
            <a:avLst/>
          </a:prstGeom>
          <a:solidFill>
            <a:srgbClr val="F59E0B"/>
          </a:solidFill>
          <a:ln/>
        </p:spPr>
        <p:txBody>
          <a:bodyPr/>
          <a:lstStyle/>
          <a:p>
            <a:endParaRPr lang="fr-FR"/>
          </a:p>
        </p:txBody>
      </p:sp>
      <p:sp>
        <p:nvSpPr>
          <p:cNvPr id="83" name="Text 5">
            <a:extLst>
              <a:ext uri="{FF2B5EF4-FFF2-40B4-BE49-F238E27FC236}">
                <a16:creationId xmlns:a16="http://schemas.microsoft.com/office/drawing/2014/main" id="{27907074-744B-1417-7087-4D76B2623FC4}"/>
              </a:ext>
            </a:extLst>
          </p:cNvPr>
          <p:cNvSpPr/>
          <p:nvPr/>
        </p:nvSpPr>
        <p:spPr>
          <a:xfrm>
            <a:off x="883920" y="4680952"/>
            <a:ext cx="548640" cy="548640"/>
          </a:xfrm>
          <a:prstGeom prst="rect">
            <a:avLst/>
          </a:prstGeom>
          <a:noFill/>
          <a:ln/>
        </p:spPr>
        <p:txBody>
          <a:bodyPr wrap="square" lIns="0" tIns="0" rIns="0" bIns="0"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a:t>
            </a:r>
            <a:endParaRPr lang="en-US" sz="1560" dirty="0"/>
          </a:p>
        </p:txBody>
      </p:sp>
      <p:sp>
        <p:nvSpPr>
          <p:cNvPr id="84" name="Text 6">
            <a:extLst>
              <a:ext uri="{FF2B5EF4-FFF2-40B4-BE49-F238E27FC236}">
                <a16:creationId xmlns:a16="http://schemas.microsoft.com/office/drawing/2014/main" id="{35E5B7AE-7330-64BC-9AF5-8BCD075478A5}"/>
              </a:ext>
            </a:extLst>
          </p:cNvPr>
          <p:cNvSpPr/>
          <p:nvPr/>
        </p:nvSpPr>
        <p:spPr>
          <a:xfrm>
            <a:off x="1615440" y="4626088"/>
            <a:ext cx="9784080" cy="1097280"/>
          </a:xfrm>
          <a:prstGeom prst="rect">
            <a:avLst/>
          </a:prstGeom>
          <a:noFill/>
          <a:ln/>
        </p:spPr>
        <p:txBody>
          <a:bodyPr wrap="square" lIns="0" tIns="0" rIns="0" bIns="0" rtlCol="0" anchor="t"/>
          <a:lstStyle/>
          <a:p>
            <a:pPr marL="0" indent="0">
              <a:lnSpc>
                <a:spcPct val="130000"/>
              </a:lnSpc>
              <a:buNone/>
            </a:pPr>
            <a:r>
              <a:rPr lang="en-US" sz="1500" b="1" dirty="0">
                <a:solidFill>
                  <a:srgbClr val="92400E"/>
                </a:solidFill>
                <a:latin typeface="Calibri" pitchFamily="34" charset="0"/>
                <a:ea typeface="Calibri" pitchFamily="34" charset="-122"/>
                <a:cs typeface="Calibri" pitchFamily="34" charset="-120"/>
              </a:rPr>
              <a:t>Le constat : </a:t>
            </a:r>
            <a:r>
              <a:rPr lang="en-US" sz="1500" dirty="0">
                <a:solidFill>
                  <a:srgbClr val="78350F"/>
                </a:solidFill>
                <a:latin typeface="Calibri" pitchFamily="34" charset="0"/>
                <a:ea typeface="Calibri" pitchFamily="34" charset="-122"/>
                <a:cs typeface="Calibri" pitchFamily="34" charset="-120"/>
              </a:rPr>
              <a:t>réseautage B2B basé sur les réseaux sociaux et le bouche-à-oreille.
</a:t>
            </a:r>
            <a:r>
              <a:rPr lang="en-US" sz="1500" b="1" dirty="0">
                <a:solidFill>
                  <a:srgbClr val="78350F"/>
                </a:solidFill>
                <a:latin typeface="Calibri" pitchFamily="34" charset="0"/>
                <a:ea typeface="Calibri" pitchFamily="34" charset="-122"/>
                <a:cs typeface="Calibri" pitchFamily="34" charset="-120"/>
              </a:rPr>
              <a:t>En urgence : surfacturation… ou perte de temps et de clients.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73"/>
                                        </p:tgtEl>
                                        <p:attrNameLst>
                                          <p:attrName>style.visibility</p:attrName>
                                        </p:attrNameLst>
                                      </p:cBhvr>
                                      <p:to>
                                        <p:strVal val="visible"/>
                                      </p:to>
                                    </p:set>
                                    <p:anim calcmode="lin" valueType="num">
                                      <p:cBhvr>
                                        <p:cTn id="15" dur="500" fill="hold"/>
                                        <p:tgtEl>
                                          <p:spTgt spid="73"/>
                                        </p:tgtEl>
                                        <p:attrNameLst>
                                          <p:attrName>ppt_w</p:attrName>
                                        </p:attrNameLst>
                                      </p:cBhvr>
                                      <p:tavLst>
                                        <p:tav tm="0">
                                          <p:val>
                                            <p:fltVal val="0"/>
                                          </p:val>
                                        </p:tav>
                                        <p:tav tm="100000">
                                          <p:val>
                                            <p:strVal val="#ppt_w"/>
                                          </p:val>
                                        </p:tav>
                                      </p:tavLst>
                                    </p:anim>
                                    <p:anim calcmode="lin" valueType="num">
                                      <p:cBhvr>
                                        <p:cTn id="16" dur="500" fill="hold"/>
                                        <p:tgtEl>
                                          <p:spTgt spid="73"/>
                                        </p:tgtEl>
                                        <p:attrNameLst>
                                          <p:attrName>ppt_h</p:attrName>
                                        </p:attrNameLst>
                                      </p:cBhvr>
                                      <p:tavLst>
                                        <p:tav tm="0">
                                          <p:val>
                                            <p:fltVal val="0"/>
                                          </p:val>
                                        </p:tav>
                                        <p:tav tm="100000">
                                          <p:val>
                                            <p:strVal val="#ppt_h"/>
                                          </p:val>
                                        </p:tav>
                                      </p:tavLst>
                                    </p:anim>
                                    <p:animEffect transition="in" filter="fade">
                                      <p:cBhvr>
                                        <p:cTn id="17" dur="500"/>
                                        <p:tgtEl>
                                          <p:spTgt spid="73"/>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74"/>
                                        </p:tgtEl>
                                        <p:attrNameLst>
                                          <p:attrName>style.visibility</p:attrName>
                                        </p:attrNameLst>
                                      </p:cBhvr>
                                      <p:to>
                                        <p:strVal val="visible"/>
                                      </p:to>
                                    </p:set>
                                    <p:anim calcmode="lin" valueType="num">
                                      <p:cBhvr>
                                        <p:cTn id="20" dur="500" fill="hold"/>
                                        <p:tgtEl>
                                          <p:spTgt spid="74"/>
                                        </p:tgtEl>
                                        <p:attrNameLst>
                                          <p:attrName>ppt_w</p:attrName>
                                        </p:attrNameLst>
                                      </p:cBhvr>
                                      <p:tavLst>
                                        <p:tav tm="0">
                                          <p:val>
                                            <p:fltVal val="0"/>
                                          </p:val>
                                        </p:tav>
                                        <p:tav tm="100000">
                                          <p:val>
                                            <p:strVal val="#ppt_w"/>
                                          </p:val>
                                        </p:tav>
                                      </p:tavLst>
                                    </p:anim>
                                    <p:anim calcmode="lin" valueType="num">
                                      <p:cBhvr>
                                        <p:cTn id="21" dur="500" fill="hold"/>
                                        <p:tgtEl>
                                          <p:spTgt spid="74"/>
                                        </p:tgtEl>
                                        <p:attrNameLst>
                                          <p:attrName>ppt_h</p:attrName>
                                        </p:attrNameLst>
                                      </p:cBhvr>
                                      <p:tavLst>
                                        <p:tav tm="0">
                                          <p:val>
                                            <p:fltVal val="0"/>
                                          </p:val>
                                        </p:tav>
                                        <p:tav tm="100000">
                                          <p:val>
                                            <p:strVal val="#ppt_h"/>
                                          </p:val>
                                        </p:tav>
                                      </p:tavLst>
                                    </p:anim>
                                    <p:animEffect transition="in" filter="fade">
                                      <p:cBhvr>
                                        <p:cTn id="22" dur="500"/>
                                        <p:tgtEl>
                                          <p:spTgt spid="74"/>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75"/>
                                        </p:tgtEl>
                                        <p:attrNameLst>
                                          <p:attrName>style.visibility</p:attrName>
                                        </p:attrNameLst>
                                      </p:cBhvr>
                                      <p:to>
                                        <p:strVal val="visible"/>
                                      </p:to>
                                    </p:set>
                                    <p:anim calcmode="lin" valueType="num">
                                      <p:cBhvr>
                                        <p:cTn id="25" dur="500" fill="hold"/>
                                        <p:tgtEl>
                                          <p:spTgt spid="75"/>
                                        </p:tgtEl>
                                        <p:attrNameLst>
                                          <p:attrName>ppt_w</p:attrName>
                                        </p:attrNameLst>
                                      </p:cBhvr>
                                      <p:tavLst>
                                        <p:tav tm="0">
                                          <p:val>
                                            <p:fltVal val="0"/>
                                          </p:val>
                                        </p:tav>
                                        <p:tav tm="100000">
                                          <p:val>
                                            <p:strVal val="#ppt_w"/>
                                          </p:val>
                                        </p:tav>
                                      </p:tavLst>
                                    </p:anim>
                                    <p:anim calcmode="lin" valueType="num">
                                      <p:cBhvr>
                                        <p:cTn id="26" dur="500" fill="hold"/>
                                        <p:tgtEl>
                                          <p:spTgt spid="75"/>
                                        </p:tgtEl>
                                        <p:attrNameLst>
                                          <p:attrName>ppt_h</p:attrName>
                                        </p:attrNameLst>
                                      </p:cBhvr>
                                      <p:tavLst>
                                        <p:tav tm="0">
                                          <p:val>
                                            <p:fltVal val="0"/>
                                          </p:val>
                                        </p:tav>
                                        <p:tav tm="100000">
                                          <p:val>
                                            <p:strVal val="#ppt_h"/>
                                          </p:val>
                                        </p:tav>
                                      </p:tavLst>
                                    </p:anim>
                                    <p:animEffect transition="in" filter="fade">
                                      <p:cBhvr>
                                        <p:cTn id="27" dur="500"/>
                                        <p:tgtEl>
                                          <p:spTgt spid="75"/>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81"/>
                                        </p:tgtEl>
                                        <p:attrNameLst>
                                          <p:attrName>style.visibility</p:attrName>
                                        </p:attrNameLst>
                                      </p:cBhvr>
                                      <p:to>
                                        <p:strVal val="visible"/>
                                      </p:to>
                                    </p:set>
                                    <p:anim calcmode="lin" valueType="num">
                                      <p:cBhvr>
                                        <p:cTn id="32" dur="500" fill="hold"/>
                                        <p:tgtEl>
                                          <p:spTgt spid="81"/>
                                        </p:tgtEl>
                                        <p:attrNameLst>
                                          <p:attrName>ppt_w</p:attrName>
                                        </p:attrNameLst>
                                      </p:cBhvr>
                                      <p:tavLst>
                                        <p:tav tm="0">
                                          <p:val>
                                            <p:fltVal val="0"/>
                                          </p:val>
                                        </p:tav>
                                        <p:tav tm="100000">
                                          <p:val>
                                            <p:strVal val="#ppt_w"/>
                                          </p:val>
                                        </p:tav>
                                      </p:tavLst>
                                    </p:anim>
                                    <p:anim calcmode="lin" valueType="num">
                                      <p:cBhvr>
                                        <p:cTn id="33" dur="500" fill="hold"/>
                                        <p:tgtEl>
                                          <p:spTgt spid="81"/>
                                        </p:tgtEl>
                                        <p:attrNameLst>
                                          <p:attrName>ppt_h</p:attrName>
                                        </p:attrNameLst>
                                      </p:cBhvr>
                                      <p:tavLst>
                                        <p:tav tm="0">
                                          <p:val>
                                            <p:fltVal val="0"/>
                                          </p:val>
                                        </p:tav>
                                        <p:tav tm="100000">
                                          <p:val>
                                            <p:strVal val="#ppt_h"/>
                                          </p:val>
                                        </p:tav>
                                      </p:tavLst>
                                    </p:anim>
                                    <p:animEffect transition="in" filter="fade">
                                      <p:cBhvr>
                                        <p:cTn id="34" dur="500"/>
                                        <p:tgtEl>
                                          <p:spTgt spid="81"/>
                                        </p:tgtEl>
                                      </p:cBhvr>
                                    </p:animEffect>
                                  </p:childTnLst>
                                </p:cTn>
                              </p:par>
                              <p:par>
                                <p:cTn id="35" presetID="53" presetClass="entr" presetSubtype="16" fill="hold" nodeType="withEffect">
                                  <p:stCondLst>
                                    <p:cond delay="0"/>
                                  </p:stCondLst>
                                  <p:childTnLst>
                                    <p:set>
                                      <p:cBhvr>
                                        <p:cTn id="36" dur="1" fill="hold">
                                          <p:stCondLst>
                                            <p:cond delay="0"/>
                                          </p:stCondLst>
                                        </p:cTn>
                                        <p:tgtEl>
                                          <p:spTgt spid="82"/>
                                        </p:tgtEl>
                                        <p:attrNameLst>
                                          <p:attrName>style.visibility</p:attrName>
                                        </p:attrNameLst>
                                      </p:cBhvr>
                                      <p:to>
                                        <p:strVal val="visible"/>
                                      </p:to>
                                    </p:set>
                                    <p:anim calcmode="lin" valueType="num">
                                      <p:cBhvr>
                                        <p:cTn id="37" dur="500" fill="hold"/>
                                        <p:tgtEl>
                                          <p:spTgt spid="82"/>
                                        </p:tgtEl>
                                        <p:attrNameLst>
                                          <p:attrName>ppt_w</p:attrName>
                                        </p:attrNameLst>
                                      </p:cBhvr>
                                      <p:tavLst>
                                        <p:tav tm="0">
                                          <p:val>
                                            <p:fltVal val="0"/>
                                          </p:val>
                                        </p:tav>
                                        <p:tav tm="100000">
                                          <p:val>
                                            <p:strVal val="#ppt_w"/>
                                          </p:val>
                                        </p:tav>
                                      </p:tavLst>
                                    </p:anim>
                                    <p:anim calcmode="lin" valueType="num">
                                      <p:cBhvr>
                                        <p:cTn id="38" dur="500" fill="hold"/>
                                        <p:tgtEl>
                                          <p:spTgt spid="82"/>
                                        </p:tgtEl>
                                        <p:attrNameLst>
                                          <p:attrName>ppt_h</p:attrName>
                                        </p:attrNameLst>
                                      </p:cBhvr>
                                      <p:tavLst>
                                        <p:tav tm="0">
                                          <p:val>
                                            <p:fltVal val="0"/>
                                          </p:val>
                                        </p:tav>
                                        <p:tav tm="100000">
                                          <p:val>
                                            <p:strVal val="#ppt_h"/>
                                          </p:val>
                                        </p:tav>
                                      </p:tavLst>
                                    </p:anim>
                                    <p:animEffect transition="in" filter="fade">
                                      <p:cBhvr>
                                        <p:cTn id="39" dur="500"/>
                                        <p:tgtEl>
                                          <p:spTgt spid="8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3"/>
                                        </p:tgtEl>
                                        <p:attrNameLst>
                                          <p:attrName>style.visibility</p:attrName>
                                        </p:attrNameLst>
                                      </p:cBhvr>
                                      <p:to>
                                        <p:strVal val="visible"/>
                                      </p:to>
                                    </p:set>
                                    <p:anim calcmode="lin" valueType="num">
                                      <p:cBhvr>
                                        <p:cTn id="42" dur="500" fill="hold"/>
                                        <p:tgtEl>
                                          <p:spTgt spid="83"/>
                                        </p:tgtEl>
                                        <p:attrNameLst>
                                          <p:attrName>ppt_w</p:attrName>
                                        </p:attrNameLst>
                                      </p:cBhvr>
                                      <p:tavLst>
                                        <p:tav tm="0">
                                          <p:val>
                                            <p:fltVal val="0"/>
                                          </p:val>
                                        </p:tav>
                                        <p:tav tm="100000">
                                          <p:val>
                                            <p:strVal val="#ppt_w"/>
                                          </p:val>
                                        </p:tav>
                                      </p:tavLst>
                                    </p:anim>
                                    <p:anim calcmode="lin" valueType="num">
                                      <p:cBhvr>
                                        <p:cTn id="43" dur="500" fill="hold"/>
                                        <p:tgtEl>
                                          <p:spTgt spid="83"/>
                                        </p:tgtEl>
                                        <p:attrNameLst>
                                          <p:attrName>ppt_h</p:attrName>
                                        </p:attrNameLst>
                                      </p:cBhvr>
                                      <p:tavLst>
                                        <p:tav tm="0">
                                          <p:val>
                                            <p:fltVal val="0"/>
                                          </p:val>
                                        </p:tav>
                                        <p:tav tm="100000">
                                          <p:val>
                                            <p:strVal val="#ppt_h"/>
                                          </p:val>
                                        </p:tav>
                                      </p:tavLst>
                                    </p:anim>
                                    <p:animEffect transition="in" filter="fade">
                                      <p:cBhvr>
                                        <p:cTn id="44" dur="500"/>
                                        <p:tgtEl>
                                          <p:spTgt spid="8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84"/>
                                        </p:tgtEl>
                                        <p:attrNameLst>
                                          <p:attrName>style.visibility</p:attrName>
                                        </p:attrNameLst>
                                      </p:cBhvr>
                                      <p:to>
                                        <p:strVal val="visible"/>
                                      </p:to>
                                    </p:set>
                                    <p:anim calcmode="lin" valueType="num">
                                      <p:cBhvr>
                                        <p:cTn id="47" dur="500" fill="hold"/>
                                        <p:tgtEl>
                                          <p:spTgt spid="84"/>
                                        </p:tgtEl>
                                        <p:attrNameLst>
                                          <p:attrName>ppt_w</p:attrName>
                                        </p:attrNameLst>
                                      </p:cBhvr>
                                      <p:tavLst>
                                        <p:tav tm="0">
                                          <p:val>
                                            <p:fltVal val="0"/>
                                          </p:val>
                                        </p:tav>
                                        <p:tav tm="100000">
                                          <p:val>
                                            <p:strVal val="#ppt_w"/>
                                          </p:val>
                                        </p:tav>
                                      </p:tavLst>
                                    </p:anim>
                                    <p:anim calcmode="lin" valueType="num">
                                      <p:cBhvr>
                                        <p:cTn id="48" dur="500" fill="hold"/>
                                        <p:tgtEl>
                                          <p:spTgt spid="84"/>
                                        </p:tgtEl>
                                        <p:attrNameLst>
                                          <p:attrName>ppt_h</p:attrName>
                                        </p:attrNameLst>
                                      </p:cBhvr>
                                      <p:tavLst>
                                        <p:tav tm="0">
                                          <p:val>
                                            <p:fltVal val="0"/>
                                          </p:val>
                                        </p:tav>
                                        <p:tav tm="100000">
                                          <p:val>
                                            <p:strVal val="#ppt_h"/>
                                          </p:val>
                                        </p:tav>
                                      </p:tavLst>
                                    </p:anim>
                                    <p:animEffect transition="in" filter="fade">
                                      <p:cBhvr>
                                        <p:cTn id="49"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animBg="1"/>
      <p:bldP spid="74" grpId="0" animBg="1"/>
      <p:bldP spid="75" grpId="0" animBg="1"/>
      <p:bldP spid="83" grpId="0" animBg="1"/>
      <p:bldP spid="8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02 · PROBLÉMATIQUE</a:t>
            </a:r>
            <a:endParaRPr lang="en-US" sz="120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5</a:t>
            </a:fld>
            <a:endParaRPr lang="en-US"/>
          </a:p>
        </p:txBody>
      </p:sp>
      <p:sp>
        <p:nvSpPr>
          <p:cNvPr id="15" name="Text 1">
            <a:extLst>
              <a:ext uri="{FF2B5EF4-FFF2-40B4-BE49-F238E27FC236}">
                <a16:creationId xmlns:a16="http://schemas.microsoft.com/office/drawing/2014/main" id="{6F3F3C3F-6FA7-D371-FC2A-2586C02E179C}"/>
              </a:ext>
            </a:extLst>
          </p:cNvPr>
          <p:cNvSpPr/>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Problématique</a:t>
            </a:r>
            <a:endParaRPr lang="en-US" sz="3000" dirty="0"/>
          </a:p>
        </p:txBody>
      </p:sp>
      <p:sp>
        <p:nvSpPr>
          <p:cNvPr id="21" name="Text 7">
            <a:extLst>
              <a:ext uri="{FF2B5EF4-FFF2-40B4-BE49-F238E27FC236}">
                <a16:creationId xmlns:a16="http://schemas.microsoft.com/office/drawing/2014/main" id="{22AB4A08-9CB5-0535-4BA1-F208BEB920AD}"/>
              </a:ext>
            </a:extLst>
          </p:cNvPr>
          <p:cNvSpPr/>
          <p:nvPr/>
        </p:nvSpPr>
        <p:spPr>
          <a:xfrm>
            <a:off x="557784" y="3599331"/>
            <a:ext cx="731520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Un objectif triple :</a:t>
            </a:r>
            <a:endParaRPr lang="en-US" sz="1600" dirty="0"/>
          </a:p>
        </p:txBody>
      </p:sp>
      <p:sp>
        <p:nvSpPr>
          <p:cNvPr id="22" name="Shape 8">
            <a:extLst>
              <a:ext uri="{FF2B5EF4-FFF2-40B4-BE49-F238E27FC236}">
                <a16:creationId xmlns:a16="http://schemas.microsoft.com/office/drawing/2014/main" id="{20CBF21F-8D99-F84F-935C-3DB53B7C431C}"/>
              </a:ext>
            </a:extLst>
          </p:cNvPr>
          <p:cNvSpPr/>
          <p:nvPr/>
        </p:nvSpPr>
        <p:spPr>
          <a:xfrm>
            <a:off x="557784" y="4056531"/>
            <a:ext cx="3538728" cy="1600200"/>
          </a:xfrm>
          <a:prstGeom prst="roundRect">
            <a:avLst>
              <a:gd name="adj" fmla="val 4571"/>
            </a:avLst>
          </a:prstGeom>
          <a:solidFill>
            <a:srgbClr val="EEF2FF"/>
          </a:solidFill>
          <a:ln/>
        </p:spPr>
        <p:txBody>
          <a:bodyPr/>
          <a:lstStyle/>
          <a:p>
            <a:endParaRPr lang="fr-FR"/>
          </a:p>
        </p:txBody>
      </p:sp>
      <p:sp>
        <p:nvSpPr>
          <p:cNvPr id="23" name="Text 9">
            <a:extLst>
              <a:ext uri="{FF2B5EF4-FFF2-40B4-BE49-F238E27FC236}">
                <a16:creationId xmlns:a16="http://schemas.microsoft.com/office/drawing/2014/main" id="{3112D5E8-7B1D-B5FB-DEEC-D4731AC688AD}"/>
              </a:ext>
            </a:extLst>
          </p:cNvPr>
          <p:cNvSpPr/>
          <p:nvPr/>
        </p:nvSpPr>
        <p:spPr>
          <a:xfrm>
            <a:off x="786384" y="4376571"/>
            <a:ext cx="3081528" cy="457200"/>
          </a:xfrm>
          <a:prstGeom prst="rect">
            <a:avLst/>
          </a:prstGeom>
          <a:noFill/>
          <a:ln/>
        </p:spPr>
        <p:txBody>
          <a:bodyPr wrap="square" lIns="0" tIns="0" rIns="0" bIns="0" rtlCol="0" anchor="ctr"/>
          <a:lstStyle/>
          <a:p>
            <a:pPr marL="0" indent="0">
              <a:buNone/>
            </a:pPr>
            <a:r>
              <a:rPr lang="en-US" sz="1600" b="1" dirty="0">
                <a:solidFill>
                  <a:srgbClr val="3730A3"/>
                </a:solidFill>
                <a:latin typeface="Calibri" pitchFamily="34" charset="0"/>
                <a:ea typeface="Calibri" pitchFamily="34" charset="-122"/>
                <a:cs typeface="Calibri" pitchFamily="34" charset="-120"/>
              </a:rPr>
              <a:t>Réduire les coûts</a:t>
            </a:r>
            <a:endParaRPr lang="en-US" sz="1600" dirty="0"/>
          </a:p>
        </p:txBody>
      </p:sp>
      <p:sp>
        <p:nvSpPr>
          <p:cNvPr id="24" name="Text 10">
            <a:extLst>
              <a:ext uri="{FF2B5EF4-FFF2-40B4-BE49-F238E27FC236}">
                <a16:creationId xmlns:a16="http://schemas.microsoft.com/office/drawing/2014/main" id="{7C2ADDCC-F42A-8E1D-BD1F-44FF3D34DE6F}"/>
              </a:ext>
            </a:extLst>
          </p:cNvPr>
          <p:cNvSpPr/>
          <p:nvPr/>
        </p:nvSpPr>
        <p:spPr>
          <a:xfrm>
            <a:off x="786384" y="4925211"/>
            <a:ext cx="3081528" cy="548640"/>
          </a:xfrm>
          <a:prstGeom prst="rect">
            <a:avLst/>
          </a:prstGeom>
          <a:noFill/>
          <a:ln/>
        </p:spPr>
        <p:txBody>
          <a:bodyPr wrap="square" lIns="0" tIns="0" rIns="0" bIns="0" rtlCol="0" anchor="t"/>
          <a:lstStyle/>
          <a:p>
            <a:pPr marL="0" indent="0">
              <a:lnSpc>
                <a:spcPct val="115000"/>
              </a:lnSpc>
              <a:buNone/>
            </a:pPr>
            <a:r>
              <a:rPr lang="en-US" sz="1250" dirty="0">
                <a:solidFill>
                  <a:srgbClr val="1F2937"/>
                </a:solidFill>
                <a:latin typeface="Calibri" pitchFamily="34" charset="0"/>
                <a:ea typeface="Calibri" pitchFamily="34" charset="-122"/>
                <a:cs typeface="Calibri" pitchFamily="34" charset="-120"/>
              </a:rPr>
              <a:t>Recherche de partenaires, surfacturation</a:t>
            </a:r>
            <a:endParaRPr lang="en-US" sz="1250" dirty="0"/>
          </a:p>
        </p:txBody>
      </p:sp>
      <p:sp>
        <p:nvSpPr>
          <p:cNvPr id="26" name="Shape 11">
            <a:extLst>
              <a:ext uri="{FF2B5EF4-FFF2-40B4-BE49-F238E27FC236}">
                <a16:creationId xmlns:a16="http://schemas.microsoft.com/office/drawing/2014/main" id="{FC1613E3-A2C6-15B2-5119-E9C53F8B50D6}"/>
              </a:ext>
            </a:extLst>
          </p:cNvPr>
          <p:cNvSpPr/>
          <p:nvPr/>
        </p:nvSpPr>
        <p:spPr>
          <a:xfrm>
            <a:off x="4315968" y="4056531"/>
            <a:ext cx="3538728" cy="1600200"/>
          </a:xfrm>
          <a:prstGeom prst="roundRect">
            <a:avLst>
              <a:gd name="adj" fmla="val 4571"/>
            </a:avLst>
          </a:prstGeom>
          <a:solidFill>
            <a:srgbClr val="EEF2FF"/>
          </a:solidFill>
          <a:ln/>
        </p:spPr>
        <p:txBody>
          <a:bodyPr/>
          <a:lstStyle/>
          <a:p>
            <a:endParaRPr lang="fr-FR"/>
          </a:p>
        </p:txBody>
      </p:sp>
      <p:sp>
        <p:nvSpPr>
          <p:cNvPr id="27" name="Text 12">
            <a:extLst>
              <a:ext uri="{FF2B5EF4-FFF2-40B4-BE49-F238E27FC236}">
                <a16:creationId xmlns:a16="http://schemas.microsoft.com/office/drawing/2014/main" id="{F4003F38-5992-79FC-FC30-27E295F8A3AF}"/>
              </a:ext>
            </a:extLst>
          </p:cNvPr>
          <p:cNvSpPr/>
          <p:nvPr/>
        </p:nvSpPr>
        <p:spPr>
          <a:xfrm>
            <a:off x="4544568" y="4376571"/>
            <a:ext cx="3081528" cy="457200"/>
          </a:xfrm>
          <a:prstGeom prst="rect">
            <a:avLst/>
          </a:prstGeom>
          <a:noFill/>
          <a:ln/>
        </p:spPr>
        <p:txBody>
          <a:bodyPr wrap="square" lIns="0" tIns="0" rIns="0" bIns="0" rtlCol="0" anchor="ctr"/>
          <a:lstStyle/>
          <a:p>
            <a:pPr marL="0" indent="0">
              <a:buNone/>
            </a:pPr>
            <a:r>
              <a:rPr lang="en-US" sz="1600" b="1" dirty="0">
                <a:solidFill>
                  <a:srgbClr val="3730A3"/>
                </a:solidFill>
                <a:latin typeface="Calibri" pitchFamily="34" charset="0"/>
                <a:ea typeface="Calibri" pitchFamily="34" charset="-122"/>
                <a:cs typeface="Calibri" pitchFamily="34" charset="-120"/>
              </a:rPr>
              <a:t>Éliminer les délais</a:t>
            </a:r>
            <a:endParaRPr lang="en-US" sz="1600" dirty="0"/>
          </a:p>
        </p:txBody>
      </p:sp>
      <p:sp>
        <p:nvSpPr>
          <p:cNvPr id="28" name="Text 13">
            <a:extLst>
              <a:ext uri="{FF2B5EF4-FFF2-40B4-BE49-F238E27FC236}">
                <a16:creationId xmlns:a16="http://schemas.microsoft.com/office/drawing/2014/main" id="{C62F87B0-6482-4393-7DBE-6AEE747971FD}"/>
              </a:ext>
            </a:extLst>
          </p:cNvPr>
          <p:cNvSpPr/>
          <p:nvPr/>
        </p:nvSpPr>
        <p:spPr>
          <a:xfrm>
            <a:off x="4544568" y="4925211"/>
            <a:ext cx="3081528" cy="548640"/>
          </a:xfrm>
          <a:prstGeom prst="rect">
            <a:avLst/>
          </a:prstGeom>
          <a:noFill/>
          <a:ln/>
        </p:spPr>
        <p:txBody>
          <a:bodyPr wrap="square" lIns="0" tIns="0" rIns="0" bIns="0" rtlCol="0" anchor="t"/>
          <a:lstStyle/>
          <a:p>
            <a:pPr marL="0" indent="0">
              <a:lnSpc>
                <a:spcPct val="115000"/>
              </a:lnSpc>
              <a:buNone/>
            </a:pPr>
            <a:r>
              <a:rPr lang="en-US" sz="1250" dirty="0">
                <a:solidFill>
                  <a:srgbClr val="1F2937"/>
                </a:solidFill>
                <a:latin typeface="Calibri" pitchFamily="34" charset="0"/>
                <a:ea typeface="Calibri" pitchFamily="34" charset="-122"/>
                <a:cs typeface="Calibri" pitchFamily="34" charset="-120"/>
              </a:rPr>
              <a:t>Dépendance à la disponibilité</a:t>
            </a:r>
            <a:endParaRPr lang="en-US" sz="1250" dirty="0"/>
          </a:p>
        </p:txBody>
      </p:sp>
      <p:sp>
        <p:nvSpPr>
          <p:cNvPr id="29" name="Shape 14">
            <a:extLst>
              <a:ext uri="{FF2B5EF4-FFF2-40B4-BE49-F238E27FC236}">
                <a16:creationId xmlns:a16="http://schemas.microsoft.com/office/drawing/2014/main" id="{E8B5663E-DE54-47B8-6BDF-13F297B9D96F}"/>
              </a:ext>
            </a:extLst>
          </p:cNvPr>
          <p:cNvSpPr/>
          <p:nvPr/>
        </p:nvSpPr>
        <p:spPr>
          <a:xfrm>
            <a:off x="8074152" y="4056531"/>
            <a:ext cx="3538728" cy="1600200"/>
          </a:xfrm>
          <a:prstGeom prst="roundRect">
            <a:avLst>
              <a:gd name="adj" fmla="val 4571"/>
            </a:avLst>
          </a:prstGeom>
          <a:solidFill>
            <a:srgbClr val="EEF2FF"/>
          </a:solidFill>
          <a:ln/>
        </p:spPr>
        <p:txBody>
          <a:bodyPr/>
          <a:lstStyle/>
          <a:p>
            <a:endParaRPr lang="fr-FR"/>
          </a:p>
        </p:txBody>
      </p:sp>
      <p:sp>
        <p:nvSpPr>
          <p:cNvPr id="30" name="Text 15">
            <a:extLst>
              <a:ext uri="{FF2B5EF4-FFF2-40B4-BE49-F238E27FC236}">
                <a16:creationId xmlns:a16="http://schemas.microsoft.com/office/drawing/2014/main" id="{34650B62-26F9-2456-0C93-BFA85331C26D}"/>
              </a:ext>
            </a:extLst>
          </p:cNvPr>
          <p:cNvSpPr/>
          <p:nvPr/>
        </p:nvSpPr>
        <p:spPr>
          <a:xfrm>
            <a:off x="8302752" y="4376571"/>
            <a:ext cx="3081528" cy="457200"/>
          </a:xfrm>
          <a:prstGeom prst="rect">
            <a:avLst/>
          </a:prstGeom>
          <a:noFill/>
          <a:ln/>
        </p:spPr>
        <p:txBody>
          <a:bodyPr wrap="square" lIns="0" tIns="0" rIns="0" bIns="0" rtlCol="0" anchor="ctr"/>
          <a:lstStyle/>
          <a:p>
            <a:pPr marL="0" indent="0">
              <a:buNone/>
            </a:pPr>
            <a:r>
              <a:rPr lang="en-US" sz="1600" b="1" dirty="0">
                <a:solidFill>
                  <a:srgbClr val="3730A3"/>
                </a:solidFill>
                <a:latin typeface="Calibri" pitchFamily="34" charset="0"/>
                <a:ea typeface="Calibri" pitchFamily="34" charset="-122"/>
                <a:cs typeface="Calibri" pitchFamily="34" charset="-120"/>
              </a:rPr>
              <a:t>Optimiser les stocks</a:t>
            </a:r>
            <a:endParaRPr lang="en-US" sz="1600" dirty="0"/>
          </a:p>
        </p:txBody>
      </p:sp>
      <p:sp>
        <p:nvSpPr>
          <p:cNvPr id="31" name="Text 16">
            <a:extLst>
              <a:ext uri="{FF2B5EF4-FFF2-40B4-BE49-F238E27FC236}">
                <a16:creationId xmlns:a16="http://schemas.microsoft.com/office/drawing/2014/main" id="{1C2FDAC7-4FB1-A73A-3667-CFD68087655A}"/>
              </a:ext>
            </a:extLst>
          </p:cNvPr>
          <p:cNvSpPr/>
          <p:nvPr/>
        </p:nvSpPr>
        <p:spPr>
          <a:xfrm>
            <a:off x="8302752" y="4925211"/>
            <a:ext cx="3081528" cy="548640"/>
          </a:xfrm>
          <a:prstGeom prst="rect">
            <a:avLst/>
          </a:prstGeom>
          <a:noFill/>
          <a:ln/>
        </p:spPr>
        <p:txBody>
          <a:bodyPr wrap="square" lIns="0" tIns="0" rIns="0" bIns="0" rtlCol="0" anchor="t"/>
          <a:lstStyle/>
          <a:p>
            <a:pPr marL="0" indent="0">
              <a:lnSpc>
                <a:spcPct val="115000"/>
              </a:lnSpc>
              <a:buNone/>
            </a:pPr>
            <a:r>
              <a:rPr lang="en-US" sz="1250" dirty="0">
                <a:solidFill>
                  <a:srgbClr val="1F2937"/>
                </a:solidFill>
                <a:latin typeface="Calibri" pitchFamily="34" charset="0"/>
                <a:ea typeface="Calibri" pitchFamily="34" charset="-122"/>
                <a:cs typeface="Calibri" pitchFamily="34" charset="-120"/>
              </a:rPr>
              <a:t>Suivi centralisé et fiable</a:t>
            </a:r>
            <a:endParaRPr lang="en-US" sz="1250" dirty="0"/>
          </a:p>
        </p:txBody>
      </p:sp>
      <p:sp>
        <p:nvSpPr>
          <p:cNvPr id="33" name="Text 3">
            <a:extLst>
              <a:ext uri="{FF2B5EF4-FFF2-40B4-BE49-F238E27FC236}">
                <a16:creationId xmlns:a16="http://schemas.microsoft.com/office/drawing/2014/main" id="{D4477A28-281D-BF64-D627-8F9BC1542E1E}"/>
              </a:ext>
            </a:extLst>
          </p:cNvPr>
          <p:cNvSpPr txBox="1"/>
          <p:nvPr/>
        </p:nvSpPr>
        <p:spPr>
          <a:xfrm>
            <a:off x="548640" y="2001370"/>
            <a:ext cx="10766313" cy="1074420"/>
          </a:xfrm>
          <a:prstGeom prst="rect">
            <a:avLst/>
          </a:prstGeom>
          <a:noFill/>
          <a:ln/>
        </p:spPr>
        <p:txBody>
          <a:bodyPr wrap="square" lIns="0" tIns="0" rIns="0" bIns="0" rtlCol="0" anchor="t"/>
          <a:lstStyle/>
          <a:p>
            <a:pPr marL="0" indent="0">
              <a:buNone/>
            </a:pPr>
            <a:r>
              <a:rPr lang="en-US" sz="2400" dirty="0">
                <a:solidFill>
                  <a:schemeClr val="bg2">
                    <a:lumMod val="10000"/>
                  </a:schemeClr>
                </a:solidFill>
                <a:latin typeface="Times New Roman" panose="02020603050405020304" pitchFamily="18" charset="0"/>
                <a:ea typeface="Segoe UI" pitchFamily="34" charset="-122"/>
                <a:cs typeface="Times New Roman" panose="02020603050405020304" pitchFamily="18" charset="0"/>
              </a:rPr>
              <a:t>Comment centraliser la gestion commerciale des PME et fluidifier leurs échanges B2B, notamment en situation d'urgence ?</a:t>
            </a:r>
            <a:endParaRPr lang="en-US" sz="2400" dirty="0">
              <a:solidFill>
                <a:schemeClr val="bg2">
                  <a:lumMod val="1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p:cTn id="11" dur="500" fill="hold"/>
                                        <p:tgtEl>
                                          <p:spTgt spid="22"/>
                                        </p:tgtEl>
                                        <p:attrNameLst>
                                          <p:attrName>ppt_w</p:attrName>
                                        </p:attrNameLst>
                                      </p:cBhvr>
                                      <p:tavLst>
                                        <p:tav tm="0">
                                          <p:val>
                                            <p:fltVal val="0"/>
                                          </p:val>
                                        </p:tav>
                                        <p:tav tm="100000">
                                          <p:val>
                                            <p:strVal val="#ppt_w"/>
                                          </p:val>
                                        </p:tav>
                                      </p:tavLst>
                                    </p:anim>
                                    <p:anim calcmode="lin" valueType="num">
                                      <p:cBhvr>
                                        <p:cTn id="12" dur="500" fill="hold"/>
                                        <p:tgtEl>
                                          <p:spTgt spid="22"/>
                                        </p:tgtEl>
                                        <p:attrNameLst>
                                          <p:attrName>ppt_h</p:attrName>
                                        </p:attrNameLst>
                                      </p:cBhvr>
                                      <p:tavLst>
                                        <p:tav tm="0">
                                          <p:val>
                                            <p:fltVal val="0"/>
                                          </p:val>
                                        </p:tav>
                                        <p:tav tm="100000">
                                          <p:val>
                                            <p:strVal val="#ppt_h"/>
                                          </p:val>
                                        </p:tav>
                                      </p:tavLst>
                                    </p:anim>
                                    <p:animEffect transition="in" filter="fade">
                                      <p:cBhvr>
                                        <p:cTn id="13" dur="500"/>
                                        <p:tgtEl>
                                          <p:spTgt spid="22"/>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 calcmode="lin" valueType="num">
                                      <p:cBhvr>
                                        <p:cTn id="16" dur="500" fill="hold"/>
                                        <p:tgtEl>
                                          <p:spTgt spid="23"/>
                                        </p:tgtEl>
                                        <p:attrNameLst>
                                          <p:attrName>ppt_w</p:attrName>
                                        </p:attrNameLst>
                                      </p:cBhvr>
                                      <p:tavLst>
                                        <p:tav tm="0">
                                          <p:val>
                                            <p:fltVal val="0"/>
                                          </p:val>
                                        </p:tav>
                                        <p:tav tm="100000">
                                          <p:val>
                                            <p:strVal val="#ppt_w"/>
                                          </p:val>
                                        </p:tav>
                                      </p:tavLst>
                                    </p:anim>
                                    <p:anim calcmode="lin" valueType="num">
                                      <p:cBhvr>
                                        <p:cTn id="17" dur="500" fill="hold"/>
                                        <p:tgtEl>
                                          <p:spTgt spid="23"/>
                                        </p:tgtEl>
                                        <p:attrNameLst>
                                          <p:attrName>ppt_h</p:attrName>
                                        </p:attrNameLst>
                                      </p:cBhvr>
                                      <p:tavLst>
                                        <p:tav tm="0">
                                          <p:val>
                                            <p:fltVal val="0"/>
                                          </p:val>
                                        </p:tav>
                                        <p:tav tm="100000">
                                          <p:val>
                                            <p:strVal val="#ppt_h"/>
                                          </p:val>
                                        </p:tav>
                                      </p:tavLst>
                                    </p:anim>
                                    <p:animEffect transition="in" filter="fade">
                                      <p:cBhvr>
                                        <p:cTn id="18" dur="500"/>
                                        <p:tgtEl>
                                          <p:spTgt spid="23"/>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p:cTn id="21" dur="500" fill="hold"/>
                                        <p:tgtEl>
                                          <p:spTgt spid="24"/>
                                        </p:tgtEl>
                                        <p:attrNameLst>
                                          <p:attrName>ppt_w</p:attrName>
                                        </p:attrNameLst>
                                      </p:cBhvr>
                                      <p:tavLst>
                                        <p:tav tm="0">
                                          <p:val>
                                            <p:fltVal val="0"/>
                                          </p:val>
                                        </p:tav>
                                        <p:tav tm="100000">
                                          <p:val>
                                            <p:strVal val="#ppt_w"/>
                                          </p:val>
                                        </p:tav>
                                      </p:tavLst>
                                    </p:anim>
                                    <p:anim calcmode="lin" valueType="num">
                                      <p:cBhvr>
                                        <p:cTn id="22" dur="500" fill="hold"/>
                                        <p:tgtEl>
                                          <p:spTgt spid="24"/>
                                        </p:tgtEl>
                                        <p:attrNameLst>
                                          <p:attrName>ppt_h</p:attrName>
                                        </p:attrNameLst>
                                      </p:cBhvr>
                                      <p:tavLst>
                                        <p:tav tm="0">
                                          <p:val>
                                            <p:fltVal val="0"/>
                                          </p:val>
                                        </p:tav>
                                        <p:tav tm="100000">
                                          <p:val>
                                            <p:strVal val="#ppt_h"/>
                                          </p:val>
                                        </p:tav>
                                      </p:tavLst>
                                    </p:anim>
                                    <p:animEffect transition="in" filter="fade">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p:cTn id="28" dur="500" fill="hold"/>
                                        <p:tgtEl>
                                          <p:spTgt spid="26"/>
                                        </p:tgtEl>
                                        <p:attrNameLst>
                                          <p:attrName>ppt_w</p:attrName>
                                        </p:attrNameLst>
                                      </p:cBhvr>
                                      <p:tavLst>
                                        <p:tav tm="0">
                                          <p:val>
                                            <p:fltVal val="0"/>
                                          </p:val>
                                        </p:tav>
                                        <p:tav tm="100000">
                                          <p:val>
                                            <p:strVal val="#ppt_w"/>
                                          </p:val>
                                        </p:tav>
                                      </p:tavLst>
                                    </p:anim>
                                    <p:anim calcmode="lin" valueType="num">
                                      <p:cBhvr>
                                        <p:cTn id="29" dur="500" fill="hold"/>
                                        <p:tgtEl>
                                          <p:spTgt spid="26"/>
                                        </p:tgtEl>
                                        <p:attrNameLst>
                                          <p:attrName>ppt_h</p:attrName>
                                        </p:attrNameLst>
                                      </p:cBhvr>
                                      <p:tavLst>
                                        <p:tav tm="0">
                                          <p:val>
                                            <p:fltVal val="0"/>
                                          </p:val>
                                        </p:tav>
                                        <p:tav tm="100000">
                                          <p:val>
                                            <p:strVal val="#ppt_h"/>
                                          </p:val>
                                        </p:tav>
                                      </p:tavLst>
                                    </p:anim>
                                    <p:animEffect transition="in" filter="fade">
                                      <p:cBhvr>
                                        <p:cTn id="30" dur="500"/>
                                        <p:tgtEl>
                                          <p:spTgt spid="26"/>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p:cTn id="33" dur="500" fill="hold"/>
                                        <p:tgtEl>
                                          <p:spTgt spid="27"/>
                                        </p:tgtEl>
                                        <p:attrNameLst>
                                          <p:attrName>ppt_w</p:attrName>
                                        </p:attrNameLst>
                                      </p:cBhvr>
                                      <p:tavLst>
                                        <p:tav tm="0">
                                          <p:val>
                                            <p:fltVal val="0"/>
                                          </p:val>
                                        </p:tav>
                                        <p:tav tm="100000">
                                          <p:val>
                                            <p:strVal val="#ppt_w"/>
                                          </p:val>
                                        </p:tav>
                                      </p:tavLst>
                                    </p:anim>
                                    <p:anim calcmode="lin" valueType="num">
                                      <p:cBhvr>
                                        <p:cTn id="34" dur="500" fill="hold"/>
                                        <p:tgtEl>
                                          <p:spTgt spid="27"/>
                                        </p:tgtEl>
                                        <p:attrNameLst>
                                          <p:attrName>ppt_h</p:attrName>
                                        </p:attrNameLst>
                                      </p:cBhvr>
                                      <p:tavLst>
                                        <p:tav tm="0">
                                          <p:val>
                                            <p:fltVal val="0"/>
                                          </p:val>
                                        </p:tav>
                                        <p:tav tm="100000">
                                          <p:val>
                                            <p:strVal val="#ppt_h"/>
                                          </p:val>
                                        </p:tav>
                                      </p:tavLst>
                                    </p:anim>
                                    <p:animEffect transition="in" filter="fade">
                                      <p:cBhvr>
                                        <p:cTn id="35" dur="500"/>
                                        <p:tgtEl>
                                          <p:spTgt spid="27"/>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 calcmode="lin" valueType="num">
                                      <p:cBhvr>
                                        <p:cTn id="38" dur="500" fill="hold"/>
                                        <p:tgtEl>
                                          <p:spTgt spid="28"/>
                                        </p:tgtEl>
                                        <p:attrNameLst>
                                          <p:attrName>ppt_w</p:attrName>
                                        </p:attrNameLst>
                                      </p:cBhvr>
                                      <p:tavLst>
                                        <p:tav tm="0">
                                          <p:val>
                                            <p:fltVal val="0"/>
                                          </p:val>
                                        </p:tav>
                                        <p:tav tm="100000">
                                          <p:val>
                                            <p:strVal val="#ppt_w"/>
                                          </p:val>
                                        </p:tav>
                                      </p:tavLst>
                                    </p:anim>
                                    <p:anim calcmode="lin" valueType="num">
                                      <p:cBhvr>
                                        <p:cTn id="39" dur="500" fill="hold"/>
                                        <p:tgtEl>
                                          <p:spTgt spid="28"/>
                                        </p:tgtEl>
                                        <p:attrNameLst>
                                          <p:attrName>ppt_h</p:attrName>
                                        </p:attrNameLst>
                                      </p:cBhvr>
                                      <p:tavLst>
                                        <p:tav tm="0">
                                          <p:val>
                                            <p:fltVal val="0"/>
                                          </p:val>
                                        </p:tav>
                                        <p:tav tm="100000">
                                          <p:val>
                                            <p:strVal val="#ppt_h"/>
                                          </p:val>
                                        </p:tav>
                                      </p:tavLst>
                                    </p:anim>
                                    <p:animEffect transition="in" filter="fade">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 calcmode="lin" valueType="num">
                                      <p:cBhvr>
                                        <p:cTn id="45" dur="500" fill="hold"/>
                                        <p:tgtEl>
                                          <p:spTgt spid="29"/>
                                        </p:tgtEl>
                                        <p:attrNameLst>
                                          <p:attrName>ppt_w</p:attrName>
                                        </p:attrNameLst>
                                      </p:cBhvr>
                                      <p:tavLst>
                                        <p:tav tm="0">
                                          <p:val>
                                            <p:fltVal val="0"/>
                                          </p:val>
                                        </p:tav>
                                        <p:tav tm="100000">
                                          <p:val>
                                            <p:strVal val="#ppt_w"/>
                                          </p:val>
                                        </p:tav>
                                      </p:tavLst>
                                    </p:anim>
                                    <p:anim calcmode="lin" valueType="num">
                                      <p:cBhvr>
                                        <p:cTn id="46" dur="500" fill="hold"/>
                                        <p:tgtEl>
                                          <p:spTgt spid="29"/>
                                        </p:tgtEl>
                                        <p:attrNameLst>
                                          <p:attrName>ppt_h</p:attrName>
                                        </p:attrNameLst>
                                      </p:cBhvr>
                                      <p:tavLst>
                                        <p:tav tm="0">
                                          <p:val>
                                            <p:fltVal val="0"/>
                                          </p:val>
                                        </p:tav>
                                        <p:tav tm="100000">
                                          <p:val>
                                            <p:strVal val="#ppt_h"/>
                                          </p:val>
                                        </p:tav>
                                      </p:tavLst>
                                    </p:anim>
                                    <p:animEffect transition="in" filter="fade">
                                      <p:cBhvr>
                                        <p:cTn id="47" dur="500"/>
                                        <p:tgtEl>
                                          <p:spTgt spid="29"/>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fltVal val="0"/>
                                          </p:val>
                                        </p:tav>
                                        <p:tav tm="100000">
                                          <p:val>
                                            <p:strVal val="#ppt_w"/>
                                          </p:val>
                                        </p:tav>
                                      </p:tavLst>
                                    </p:anim>
                                    <p:anim calcmode="lin" valueType="num">
                                      <p:cBhvr>
                                        <p:cTn id="51" dur="500" fill="hold"/>
                                        <p:tgtEl>
                                          <p:spTgt spid="30"/>
                                        </p:tgtEl>
                                        <p:attrNameLst>
                                          <p:attrName>ppt_h</p:attrName>
                                        </p:attrNameLst>
                                      </p:cBhvr>
                                      <p:tavLst>
                                        <p:tav tm="0">
                                          <p:val>
                                            <p:fltVal val="0"/>
                                          </p:val>
                                        </p:tav>
                                        <p:tav tm="100000">
                                          <p:val>
                                            <p:strVal val="#ppt_h"/>
                                          </p:val>
                                        </p:tav>
                                      </p:tavLst>
                                    </p:anim>
                                    <p:animEffect transition="in" filter="fade">
                                      <p:cBhvr>
                                        <p:cTn id="52" dur="500"/>
                                        <p:tgtEl>
                                          <p:spTgt spid="30"/>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 calcmode="lin" valueType="num">
                                      <p:cBhvr>
                                        <p:cTn id="55" dur="500" fill="hold"/>
                                        <p:tgtEl>
                                          <p:spTgt spid="31"/>
                                        </p:tgtEl>
                                        <p:attrNameLst>
                                          <p:attrName>ppt_w</p:attrName>
                                        </p:attrNameLst>
                                      </p:cBhvr>
                                      <p:tavLst>
                                        <p:tav tm="0">
                                          <p:val>
                                            <p:fltVal val="0"/>
                                          </p:val>
                                        </p:tav>
                                        <p:tav tm="100000">
                                          <p:val>
                                            <p:strVal val="#ppt_w"/>
                                          </p:val>
                                        </p:tav>
                                      </p:tavLst>
                                    </p:anim>
                                    <p:anim calcmode="lin" valueType="num">
                                      <p:cBhvr>
                                        <p:cTn id="56" dur="500" fill="hold"/>
                                        <p:tgtEl>
                                          <p:spTgt spid="31"/>
                                        </p:tgtEl>
                                        <p:attrNameLst>
                                          <p:attrName>ppt_h</p:attrName>
                                        </p:attrNameLst>
                                      </p:cBhvr>
                                      <p:tavLst>
                                        <p:tav tm="0">
                                          <p:val>
                                            <p:fltVal val="0"/>
                                          </p:val>
                                        </p:tav>
                                        <p:tav tm="100000">
                                          <p:val>
                                            <p:strVal val="#ppt_h"/>
                                          </p:val>
                                        </p:tav>
                                      </p:tavLst>
                                    </p:anim>
                                    <p:animEffect transition="in" filter="fade">
                                      <p:cBhvr>
                                        <p:cTn id="5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03 · ÉTUDE DE L'EXISTANT</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La vente au comptoir</a:t>
            </a:r>
            <a:endParaRPr lang="en-US" sz="2800" dirty="0"/>
          </a:p>
        </p:txBody>
      </p:sp>
      <p:sp>
        <p:nvSpPr>
          <p:cNvPr id="4" name="Shape 2"/>
          <p:cNvSpPr/>
          <p:nvPr/>
        </p:nvSpPr>
        <p:spPr>
          <a:xfrm>
            <a:off x="1463040" y="2743200"/>
            <a:ext cx="9281160" cy="0"/>
          </a:xfrm>
          <a:prstGeom prst="line">
            <a:avLst/>
          </a:prstGeom>
          <a:noFill/>
          <a:ln w="38100">
            <a:solidFill>
              <a:srgbClr val="D5D9E2"/>
            </a:solidFill>
            <a:prstDash val="solid"/>
          </a:ln>
        </p:spPr>
      </p:sp>
      <p:sp>
        <p:nvSpPr>
          <p:cNvPr id="5" name="Shape 3"/>
          <p:cNvSpPr/>
          <p:nvPr/>
        </p:nvSpPr>
        <p:spPr>
          <a:xfrm>
            <a:off x="1078992" y="2359152"/>
            <a:ext cx="768096" cy="768096"/>
          </a:xfrm>
          <a:prstGeom prst="ellipse">
            <a:avLst/>
          </a:prstGeom>
          <a:solidFill>
            <a:srgbClr val="1F2A5C"/>
          </a:solidFill>
          <a:ln w="38100">
            <a:solidFill>
              <a:srgbClr val="FFFFFF"/>
            </a:solidFill>
            <a:prstDash val="solid"/>
          </a:ln>
        </p:spPr>
      </p:sp>
      <p:sp>
        <p:nvSpPr>
          <p:cNvPr id="6" name="Text 4"/>
          <p:cNvSpPr txBox="1"/>
          <p:nvPr/>
        </p:nvSpPr>
        <p:spPr>
          <a:xfrm>
            <a:off x="1078992" y="2359152"/>
            <a:ext cx="768096" cy="768096"/>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7" name="Text 5"/>
          <p:cNvSpPr txBox="1"/>
          <p:nvPr/>
        </p:nvSpPr>
        <p:spPr>
          <a:xfrm>
            <a:off x="365760" y="3337560"/>
            <a:ext cx="2194560" cy="914400"/>
          </a:xfrm>
          <a:prstGeom prst="rect">
            <a:avLst/>
          </a:prstGeom>
          <a:noFill/>
          <a:ln/>
        </p:spPr>
        <p:txBody>
          <a:bodyPr wrap="square" lIns="0" tIns="0" rIns="0" bIns="0" rtlCol="0" anchor="t"/>
          <a:lstStyle/>
          <a:p>
            <a:pPr marL="0" indent="0" algn="ctr">
              <a:buNone/>
            </a:pPr>
            <a:r>
              <a:rPr lang="en-US" sz="1600" b="1" dirty="0">
                <a:solidFill>
                  <a:srgbClr val="1F2A5C"/>
                </a:solidFill>
                <a:latin typeface="Segoe UI" pitchFamily="34" charset="0"/>
                <a:ea typeface="Segoe UI" pitchFamily="34" charset="-122"/>
                <a:cs typeface="Segoe UI" pitchFamily="34" charset="-120"/>
              </a:rPr>
              <a:t>Le client exprime son besoin</a:t>
            </a:r>
            <a:endParaRPr lang="en-US" sz="1600" dirty="0"/>
          </a:p>
        </p:txBody>
      </p:sp>
      <p:sp>
        <p:nvSpPr>
          <p:cNvPr id="8" name="Shape 6"/>
          <p:cNvSpPr/>
          <p:nvPr/>
        </p:nvSpPr>
        <p:spPr>
          <a:xfrm>
            <a:off x="3399282" y="2359152"/>
            <a:ext cx="768096" cy="768096"/>
          </a:xfrm>
          <a:prstGeom prst="ellipse">
            <a:avLst/>
          </a:prstGeom>
          <a:solidFill>
            <a:srgbClr val="1F2A5C"/>
          </a:solidFill>
          <a:ln w="38100">
            <a:solidFill>
              <a:srgbClr val="FFFFFF"/>
            </a:solidFill>
            <a:prstDash val="solid"/>
          </a:ln>
        </p:spPr>
      </p:sp>
      <p:sp>
        <p:nvSpPr>
          <p:cNvPr id="9" name="Text 7"/>
          <p:cNvSpPr txBox="1"/>
          <p:nvPr/>
        </p:nvSpPr>
        <p:spPr>
          <a:xfrm>
            <a:off x="3399282" y="2359152"/>
            <a:ext cx="768096" cy="768096"/>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0" name="Text 8"/>
          <p:cNvSpPr txBox="1"/>
          <p:nvPr/>
        </p:nvSpPr>
        <p:spPr>
          <a:xfrm>
            <a:off x="2686050" y="3337560"/>
            <a:ext cx="2194560" cy="914400"/>
          </a:xfrm>
          <a:prstGeom prst="rect">
            <a:avLst/>
          </a:prstGeom>
          <a:noFill/>
          <a:ln/>
        </p:spPr>
        <p:txBody>
          <a:bodyPr wrap="square" lIns="0" tIns="0" rIns="0" bIns="0" rtlCol="0" anchor="t"/>
          <a:lstStyle/>
          <a:p>
            <a:pPr marL="0" indent="0" algn="ctr">
              <a:buNone/>
            </a:pPr>
            <a:r>
              <a:rPr lang="en-US" sz="1600" b="1" dirty="0">
                <a:solidFill>
                  <a:srgbClr val="1F2A5C"/>
                </a:solidFill>
                <a:latin typeface="Segoe UI" pitchFamily="34" charset="0"/>
                <a:ea typeface="Segoe UI" pitchFamily="34" charset="-122"/>
                <a:cs typeface="Segoe UI" pitchFamily="34" charset="-120"/>
              </a:rPr>
              <a:t>Le vendeur annonce le prix</a:t>
            </a:r>
            <a:endParaRPr lang="en-US" sz="1600" dirty="0"/>
          </a:p>
        </p:txBody>
      </p:sp>
      <p:sp>
        <p:nvSpPr>
          <p:cNvPr id="11" name="Shape 9"/>
          <p:cNvSpPr/>
          <p:nvPr/>
        </p:nvSpPr>
        <p:spPr>
          <a:xfrm>
            <a:off x="5719572" y="2359152"/>
            <a:ext cx="768096" cy="768096"/>
          </a:xfrm>
          <a:prstGeom prst="ellipse">
            <a:avLst/>
          </a:prstGeom>
          <a:solidFill>
            <a:srgbClr val="1F2A5C"/>
          </a:solidFill>
          <a:ln w="38100">
            <a:solidFill>
              <a:srgbClr val="FFFFFF"/>
            </a:solidFill>
            <a:prstDash val="solid"/>
          </a:ln>
        </p:spPr>
      </p:sp>
      <p:sp>
        <p:nvSpPr>
          <p:cNvPr id="12" name="Text 10"/>
          <p:cNvSpPr txBox="1"/>
          <p:nvPr/>
        </p:nvSpPr>
        <p:spPr>
          <a:xfrm>
            <a:off x="5719572" y="2359152"/>
            <a:ext cx="768096" cy="768096"/>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3" name="Text 11"/>
          <p:cNvSpPr txBox="1"/>
          <p:nvPr/>
        </p:nvSpPr>
        <p:spPr>
          <a:xfrm>
            <a:off x="5006340" y="3337560"/>
            <a:ext cx="2194560" cy="914400"/>
          </a:xfrm>
          <a:prstGeom prst="rect">
            <a:avLst/>
          </a:prstGeom>
          <a:noFill/>
          <a:ln/>
        </p:spPr>
        <p:txBody>
          <a:bodyPr wrap="square" lIns="0" tIns="0" rIns="0" bIns="0" rtlCol="0" anchor="t"/>
          <a:lstStyle/>
          <a:p>
            <a:pPr marL="0" indent="0" algn="ctr">
              <a:buNone/>
            </a:pPr>
            <a:r>
              <a:rPr lang="en-US" sz="1600" b="1" dirty="0">
                <a:solidFill>
                  <a:srgbClr val="1F2A5C"/>
                </a:solidFill>
                <a:latin typeface="Segoe UI" pitchFamily="34" charset="0"/>
                <a:ea typeface="Segoe UI" pitchFamily="34" charset="-122"/>
                <a:cs typeface="Segoe UI" pitchFamily="34" charset="-120"/>
              </a:rPr>
              <a:t>Calcul du montant total</a:t>
            </a:r>
            <a:endParaRPr lang="en-US" sz="1600" dirty="0"/>
          </a:p>
        </p:txBody>
      </p:sp>
      <p:sp>
        <p:nvSpPr>
          <p:cNvPr id="14" name="Shape 12"/>
          <p:cNvSpPr/>
          <p:nvPr/>
        </p:nvSpPr>
        <p:spPr>
          <a:xfrm>
            <a:off x="8039862" y="2359152"/>
            <a:ext cx="768096" cy="768096"/>
          </a:xfrm>
          <a:prstGeom prst="ellipse">
            <a:avLst/>
          </a:prstGeom>
          <a:solidFill>
            <a:srgbClr val="1F2A5C"/>
          </a:solidFill>
          <a:ln w="38100">
            <a:solidFill>
              <a:srgbClr val="FFFFFF"/>
            </a:solidFill>
            <a:prstDash val="solid"/>
          </a:ln>
        </p:spPr>
      </p:sp>
      <p:sp>
        <p:nvSpPr>
          <p:cNvPr id="15" name="Text 13"/>
          <p:cNvSpPr txBox="1"/>
          <p:nvPr/>
        </p:nvSpPr>
        <p:spPr>
          <a:xfrm>
            <a:off x="8039862" y="2359152"/>
            <a:ext cx="768096" cy="768096"/>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16" name="Text 14"/>
          <p:cNvSpPr txBox="1"/>
          <p:nvPr/>
        </p:nvSpPr>
        <p:spPr>
          <a:xfrm>
            <a:off x="7326630" y="3337560"/>
            <a:ext cx="2194560" cy="914400"/>
          </a:xfrm>
          <a:prstGeom prst="rect">
            <a:avLst/>
          </a:prstGeom>
          <a:noFill/>
          <a:ln/>
        </p:spPr>
        <p:txBody>
          <a:bodyPr wrap="square" lIns="0" tIns="0" rIns="0" bIns="0" rtlCol="0" anchor="t"/>
          <a:lstStyle/>
          <a:p>
            <a:pPr marL="0" indent="0" algn="ctr">
              <a:buNone/>
            </a:pPr>
            <a:r>
              <a:rPr lang="en-US" sz="1600" b="1" dirty="0">
                <a:solidFill>
                  <a:srgbClr val="1F2A5C"/>
                </a:solidFill>
                <a:latin typeface="Segoe UI" pitchFamily="34" charset="0"/>
                <a:ea typeface="Segoe UI" pitchFamily="34" charset="-122"/>
                <a:cs typeface="Segoe UI" pitchFamily="34" charset="-120"/>
              </a:rPr>
              <a:t>Paiement et remise d'un reçu</a:t>
            </a:r>
            <a:endParaRPr lang="en-US" sz="1600" dirty="0"/>
          </a:p>
        </p:txBody>
      </p:sp>
      <p:sp>
        <p:nvSpPr>
          <p:cNvPr id="17" name="Shape 15"/>
          <p:cNvSpPr/>
          <p:nvPr/>
        </p:nvSpPr>
        <p:spPr>
          <a:xfrm>
            <a:off x="10360152" y="2359152"/>
            <a:ext cx="768096" cy="768096"/>
          </a:xfrm>
          <a:prstGeom prst="ellipse">
            <a:avLst/>
          </a:prstGeom>
          <a:solidFill>
            <a:srgbClr val="F2A93B"/>
          </a:solidFill>
          <a:ln w="38100">
            <a:solidFill>
              <a:srgbClr val="FFFFFF"/>
            </a:solidFill>
            <a:prstDash val="solid"/>
          </a:ln>
        </p:spPr>
      </p:sp>
      <p:sp>
        <p:nvSpPr>
          <p:cNvPr id="18" name="Text 16"/>
          <p:cNvSpPr txBox="1"/>
          <p:nvPr/>
        </p:nvSpPr>
        <p:spPr>
          <a:xfrm>
            <a:off x="10360152" y="2359152"/>
            <a:ext cx="768096" cy="768096"/>
          </a:xfrm>
          <a:prstGeom prst="rect">
            <a:avLst/>
          </a:prstGeom>
          <a:noFill/>
          <a:ln/>
        </p:spPr>
        <p:txBody>
          <a:bodyPr wrap="square" lIns="0" tIns="0" rIns="0" bIns="0" rtlCol="0" anchor="ctr"/>
          <a:lstStyle/>
          <a:p>
            <a:pPr marL="0" indent="0" algn="ctr">
              <a:buNone/>
            </a:pPr>
            <a:r>
              <a:rPr lang="en-US" sz="2000" b="1" dirty="0">
                <a:solidFill>
                  <a:srgbClr val="1F2A5C"/>
                </a:solidFill>
                <a:latin typeface="Segoe UI" pitchFamily="34" charset="0"/>
                <a:ea typeface="Segoe UI" pitchFamily="34" charset="-122"/>
                <a:cs typeface="Segoe UI" pitchFamily="34" charset="-120"/>
              </a:rPr>
              <a:t>5</a:t>
            </a:r>
            <a:endParaRPr lang="en-US" sz="2000" dirty="0"/>
          </a:p>
        </p:txBody>
      </p:sp>
      <p:sp>
        <p:nvSpPr>
          <p:cNvPr id="19" name="Text 17"/>
          <p:cNvSpPr txBox="1"/>
          <p:nvPr/>
        </p:nvSpPr>
        <p:spPr>
          <a:xfrm>
            <a:off x="9646920" y="3337560"/>
            <a:ext cx="2194560" cy="914400"/>
          </a:xfrm>
          <a:prstGeom prst="rect">
            <a:avLst/>
          </a:prstGeom>
          <a:noFill/>
          <a:ln/>
        </p:spPr>
        <p:txBody>
          <a:bodyPr wrap="square" lIns="0" tIns="0" rIns="0" bIns="0" rtlCol="0" anchor="t"/>
          <a:lstStyle/>
          <a:p>
            <a:pPr marL="0" indent="0" algn="ctr">
              <a:buNone/>
            </a:pPr>
            <a:r>
              <a:rPr lang="en-US" sz="1600" b="1" dirty="0">
                <a:solidFill>
                  <a:srgbClr val="1F2A5C"/>
                </a:solidFill>
                <a:latin typeface="Segoe UI" pitchFamily="34" charset="0"/>
                <a:ea typeface="Segoe UI" pitchFamily="34" charset="-122"/>
                <a:cs typeface="Segoe UI" pitchFamily="34" charset="-120"/>
              </a:rPr>
              <a:t>Vente notée dans un registre</a:t>
            </a:r>
            <a:endParaRPr lang="en-US" sz="1600" dirty="0"/>
          </a:p>
        </p:txBody>
      </p:sp>
      <p:sp>
        <p:nvSpPr>
          <p:cNvPr id="20" name="Text 18"/>
          <p:cNvSpPr txBox="1"/>
          <p:nvPr/>
        </p:nvSpPr>
        <p:spPr>
          <a:xfrm>
            <a:off x="731520" y="4846320"/>
            <a:ext cx="10725912" cy="457200"/>
          </a:xfrm>
          <a:prstGeom prst="rect">
            <a:avLst/>
          </a:prstGeom>
          <a:noFill/>
          <a:ln/>
        </p:spPr>
        <p:txBody>
          <a:bodyPr wrap="square" lIns="0" tIns="0" rIns="0" bIns="0" rtlCol="0" anchor="t"/>
          <a:lstStyle/>
          <a:p>
            <a:pPr marL="0" indent="0" algn="ctr">
              <a:buNone/>
            </a:pPr>
            <a:r>
              <a:rPr lang="en-US" sz="1800" dirty="0">
                <a:solidFill>
                  <a:srgbClr val="5B6478"/>
                </a:solidFill>
                <a:latin typeface="Segoe UI" pitchFamily="34" charset="0"/>
                <a:ea typeface="Segoe UI" pitchFamily="34" charset="-122"/>
                <a:cs typeface="Segoe UI" pitchFamily="34" charset="-120"/>
              </a:rPr>
              <a:t>Le registre sert ensuite à l'inventaire et à la gestion des stocks.</a:t>
            </a:r>
            <a:endParaRPr lang="en-US" sz="180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03 · ÉTUDE DE L'EXISTANT</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Le réseautage B2B</a:t>
            </a:r>
            <a:endParaRPr lang="en-US" sz="2800" dirty="0"/>
          </a:p>
        </p:txBody>
      </p:sp>
      <p:sp>
        <p:nvSpPr>
          <p:cNvPr id="4" name="Shape 2"/>
          <p:cNvSpPr/>
          <p:nvPr/>
        </p:nvSpPr>
        <p:spPr>
          <a:xfrm>
            <a:off x="731520" y="1810512"/>
            <a:ext cx="548640" cy="548640"/>
          </a:xfrm>
          <a:prstGeom prst="roundRect">
            <a:avLst>
              <a:gd name="adj" fmla="val 13333"/>
            </a:avLst>
          </a:prstGeom>
          <a:solidFill>
            <a:srgbClr val="F2A93B"/>
          </a:solidFill>
          <a:ln/>
        </p:spPr>
      </p:sp>
      <p:sp>
        <p:nvSpPr>
          <p:cNvPr id="5" name="Text 3"/>
          <p:cNvSpPr txBox="1"/>
          <p:nvPr/>
        </p:nvSpPr>
        <p:spPr>
          <a:xfrm>
            <a:off x="731520" y="1810512"/>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1</a:t>
            </a:r>
            <a:endParaRPr lang="en-US" sz="1800" dirty="0"/>
          </a:p>
        </p:txBody>
      </p:sp>
      <p:sp>
        <p:nvSpPr>
          <p:cNvPr id="6" name="Shape 4"/>
          <p:cNvSpPr/>
          <p:nvPr/>
        </p:nvSpPr>
        <p:spPr>
          <a:xfrm>
            <a:off x="1463040" y="1691640"/>
            <a:ext cx="4507992" cy="786384"/>
          </a:xfrm>
          <a:prstGeom prst="roundRect">
            <a:avLst>
              <a:gd name="adj" fmla="val 9302"/>
            </a:avLst>
          </a:prstGeom>
          <a:solidFill>
            <a:srgbClr val="F4F5F8"/>
          </a:solidFill>
          <a:ln/>
        </p:spPr>
      </p:sp>
      <p:sp>
        <p:nvSpPr>
          <p:cNvPr id="7" name="Text 5"/>
          <p:cNvSpPr txBox="1"/>
          <p:nvPr/>
        </p:nvSpPr>
        <p:spPr>
          <a:xfrm>
            <a:off x="1645920" y="1691640"/>
            <a:ext cx="4206240" cy="786384"/>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Besoin de commande</a:t>
            </a:r>
            <a:endParaRPr lang="en-US" sz="1600" dirty="0"/>
          </a:p>
        </p:txBody>
      </p:sp>
      <p:sp>
        <p:nvSpPr>
          <p:cNvPr id="8" name="Shape 6"/>
          <p:cNvSpPr/>
          <p:nvPr/>
        </p:nvSpPr>
        <p:spPr>
          <a:xfrm>
            <a:off x="731520" y="2953512"/>
            <a:ext cx="548640" cy="548640"/>
          </a:xfrm>
          <a:prstGeom prst="roundRect">
            <a:avLst>
              <a:gd name="adj" fmla="val 13333"/>
            </a:avLst>
          </a:prstGeom>
          <a:solidFill>
            <a:srgbClr val="F2A93B"/>
          </a:solidFill>
          <a:ln/>
        </p:spPr>
      </p:sp>
      <p:sp>
        <p:nvSpPr>
          <p:cNvPr id="9" name="Text 7"/>
          <p:cNvSpPr txBox="1"/>
          <p:nvPr/>
        </p:nvSpPr>
        <p:spPr>
          <a:xfrm>
            <a:off x="731520" y="2953512"/>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2</a:t>
            </a:r>
            <a:endParaRPr lang="en-US" sz="1800" dirty="0"/>
          </a:p>
        </p:txBody>
      </p:sp>
      <p:sp>
        <p:nvSpPr>
          <p:cNvPr id="10" name="Shape 8"/>
          <p:cNvSpPr/>
          <p:nvPr/>
        </p:nvSpPr>
        <p:spPr>
          <a:xfrm>
            <a:off x="1463040" y="2834640"/>
            <a:ext cx="4507992" cy="786384"/>
          </a:xfrm>
          <a:prstGeom prst="roundRect">
            <a:avLst>
              <a:gd name="adj" fmla="val 9302"/>
            </a:avLst>
          </a:prstGeom>
          <a:solidFill>
            <a:srgbClr val="F4F5F8"/>
          </a:solidFill>
          <a:ln/>
        </p:spPr>
      </p:sp>
      <p:sp>
        <p:nvSpPr>
          <p:cNvPr id="11" name="Text 9"/>
          <p:cNvSpPr txBox="1"/>
          <p:nvPr/>
        </p:nvSpPr>
        <p:spPr>
          <a:xfrm>
            <a:off x="1645920" y="2834640"/>
            <a:ext cx="4206240" cy="786384"/>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Annonces : affiches, radio, télévision, réseaux sociaux</a:t>
            </a:r>
            <a:endParaRPr lang="en-US" sz="1600" dirty="0"/>
          </a:p>
        </p:txBody>
      </p:sp>
      <p:sp>
        <p:nvSpPr>
          <p:cNvPr id="12" name="Shape 10"/>
          <p:cNvSpPr/>
          <p:nvPr/>
        </p:nvSpPr>
        <p:spPr>
          <a:xfrm>
            <a:off x="731520" y="4096512"/>
            <a:ext cx="548640" cy="548640"/>
          </a:xfrm>
          <a:prstGeom prst="roundRect">
            <a:avLst>
              <a:gd name="adj" fmla="val 13333"/>
            </a:avLst>
          </a:prstGeom>
          <a:solidFill>
            <a:srgbClr val="F2A93B"/>
          </a:solidFill>
          <a:ln/>
        </p:spPr>
      </p:sp>
      <p:sp>
        <p:nvSpPr>
          <p:cNvPr id="13" name="Text 11"/>
          <p:cNvSpPr txBox="1"/>
          <p:nvPr/>
        </p:nvSpPr>
        <p:spPr>
          <a:xfrm>
            <a:off x="731520" y="4096512"/>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3</a:t>
            </a:r>
            <a:endParaRPr lang="en-US" sz="1800" dirty="0"/>
          </a:p>
        </p:txBody>
      </p:sp>
      <p:sp>
        <p:nvSpPr>
          <p:cNvPr id="14" name="Shape 12"/>
          <p:cNvSpPr/>
          <p:nvPr/>
        </p:nvSpPr>
        <p:spPr>
          <a:xfrm>
            <a:off x="1463040" y="3977640"/>
            <a:ext cx="4507992" cy="786384"/>
          </a:xfrm>
          <a:prstGeom prst="roundRect">
            <a:avLst>
              <a:gd name="adj" fmla="val 9302"/>
            </a:avLst>
          </a:prstGeom>
          <a:solidFill>
            <a:srgbClr val="F4F5F8"/>
          </a:solidFill>
          <a:ln/>
        </p:spPr>
      </p:sp>
      <p:sp>
        <p:nvSpPr>
          <p:cNvPr id="15" name="Text 13"/>
          <p:cNvSpPr txBox="1"/>
          <p:nvPr/>
        </p:nvSpPr>
        <p:spPr>
          <a:xfrm>
            <a:off x="1645920" y="3977640"/>
            <a:ext cx="4206240" cy="786384"/>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Prise de contact, surtout par WhatsApp</a:t>
            </a:r>
            <a:endParaRPr lang="en-US" sz="1600" dirty="0"/>
          </a:p>
        </p:txBody>
      </p:sp>
      <p:sp>
        <p:nvSpPr>
          <p:cNvPr id="16" name="Shape 14"/>
          <p:cNvSpPr/>
          <p:nvPr/>
        </p:nvSpPr>
        <p:spPr>
          <a:xfrm>
            <a:off x="6217920" y="1810512"/>
            <a:ext cx="548640" cy="548640"/>
          </a:xfrm>
          <a:prstGeom prst="roundRect">
            <a:avLst>
              <a:gd name="adj" fmla="val 13333"/>
            </a:avLst>
          </a:prstGeom>
          <a:solidFill>
            <a:srgbClr val="F2A93B"/>
          </a:solidFill>
          <a:ln/>
        </p:spPr>
      </p:sp>
      <p:sp>
        <p:nvSpPr>
          <p:cNvPr id="17" name="Text 15"/>
          <p:cNvSpPr txBox="1"/>
          <p:nvPr/>
        </p:nvSpPr>
        <p:spPr>
          <a:xfrm>
            <a:off x="6217920" y="1810512"/>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4</a:t>
            </a:r>
            <a:endParaRPr lang="en-US" sz="1800" dirty="0"/>
          </a:p>
        </p:txBody>
      </p:sp>
      <p:sp>
        <p:nvSpPr>
          <p:cNvPr id="18" name="Shape 16"/>
          <p:cNvSpPr/>
          <p:nvPr/>
        </p:nvSpPr>
        <p:spPr>
          <a:xfrm>
            <a:off x="6949440" y="1691640"/>
            <a:ext cx="4507992" cy="786384"/>
          </a:xfrm>
          <a:prstGeom prst="roundRect">
            <a:avLst>
              <a:gd name="adj" fmla="val 9302"/>
            </a:avLst>
          </a:prstGeom>
          <a:solidFill>
            <a:srgbClr val="F4F5F8"/>
          </a:solidFill>
          <a:ln/>
        </p:spPr>
      </p:sp>
      <p:sp>
        <p:nvSpPr>
          <p:cNvPr id="19" name="Text 17"/>
          <p:cNvSpPr txBox="1"/>
          <p:nvPr/>
        </p:nvSpPr>
        <p:spPr>
          <a:xfrm>
            <a:off x="7132320" y="1691640"/>
            <a:ext cx="4206240" cy="786384"/>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Échanges : produits, prix, quantités</a:t>
            </a:r>
            <a:endParaRPr lang="en-US" sz="1600" dirty="0"/>
          </a:p>
        </p:txBody>
      </p:sp>
      <p:sp>
        <p:nvSpPr>
          <p:cNvPr id="20" name="Shape 18"/>
          <p:cNvSpPr/>
          <p:nvPr/>
        </p:nvSpPr>
        <p:spPr>
          <a:xfrm>
            <a:off x="6217920" y="2953512"/>
            <a:ext cx="548640" cy="548640"/>
          </a:xfrm>
          <a:prstGeom prst="roundRect">
            <a:avLst>
              <a:gd name="adj" fmla="val 13333"/>
            </a:avLst>
          </a:prstGeom>
          <a:solidFill>
            <a:srgbClr val="F2A93B"/>
          </a:solidFill>
          <a:ln/>
        </p:spPr>
      </p:sp>
      <p:sp>
        <p:nvSpPr>
          <p:cNvPr id="21" name="Text 19"/>
          <p:cNvSpPr txBox="1"/>
          <p:nvPr/>
        </p:nvSpPr>
        <p:spPr>
          <a:xfrm>
            <a:off x="6217920" y="2953512"/>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5</a:t>
            </a:r>
            <a:endParaRPr lang="en-US" sz="1800" dirty="0"/>
          </a:p>
        </p:txBody>
      </p:sp>
      <p:sp>
        <p:nvSpPr>
          <p:cNvPr id="22" name="Shape 20"/>
          <p:cNvSpPr/>
          <p:nvPr/>
        </p:nvSpPr>
        <p:spPr>
          <a:xfrm>
            <a:off x="6949440" y="2834640"/>
            <a:ext cx="4507992" cy="786384"/>
          </a:xfrm>
          <a:prstGeom prst="roundRect">
            <a:avLst>
              <a:gd name="adj" fmla="val 9302"/>
            </a:avLst>
          </a:prstGeom>
          <a:solidFill>
            <a:srgbClr val="F4F5F8"/>
          </a:solidFill>
          <a:ln/>
        </p:spPr>
      </p:sp>
      <p:sp>
        <p:nvSpPr>
          <p:cNvPr id="23" name="Text 21"/>
          <p:cNvSpPr txBox="1"/>
          <p:nvPr/>
        </p:nvSpPr>
        <p:spPr>
          <a:xfrm>
            <a:off x="7132320" y="2834640"/>
            <a:ext cx="4206240" cy="786384"/>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Commande, puis confirmation du vendeur</a:t>
            </a:r>
            <a:endParaRPr lang="en-US" sz="1600" dirty="0"/>
          </a:p>
        </p:txBody>
      </p:sp>
      <p:sp>
        <p:nvSpPr>
          <p:cNvPr id="24" name="Shape 22"/>
          <p:cNvSpPr/>
          <p:nvPr/>
        </p:nvSpPr>
        <p:spPr>
          <a:xfrm>
            <a:off x="6217920" y="4096512"/>
            <a:ext cx="548640" cy="548640"/>
          </a:xfrm>
          <a:prstGeom prst="roundRect">
            <a:avLst>
              <a:gd name="adj" fmla="val 13333"/>
            </a:avLst>
          </a:prstGeom>
          <a:solidFill>
            <a:srgbClr val="F2A93B"/>
          </a:solidFill>
          <a:ln/>
        </p:spPr>
      </p:sp>
      <p:sp>
        <p:nvSpPr>
          <p:cNvPr id="25" name="Text 23"/>
          <p:cNvSpPr txBox="1"/>
          <p:nvPr/>
        </p:nvSpPr>
        <p:spPr>
          <a:xfrm>
            <a:off x="6217920" y="4096512"/>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6</a:t>
            </a:r>
            <a:endParaRPr lang="en-US" sz="1800" dirty="0"/>
          </a:p>
        </p:txBody>
      </p:sp>
      <p:sp>
        <p:nvSpPr>
          <p:cNvPr id="26" name="Shape 24"/>
          <p:cNvSpPr/>
          <p:nvPr/>
        </p:nvSpPr>
        <p:spPr>
          <a:xfrm>
            <a:off x="6949440" y="3977640"/>
            <a:ext cx="4507992" cy="786384"/>
          </a:xfrm>
          <a:prstGeom prst="roundRect">
            <a:avLst>
              <a:gd name="adj" fmla="val 9302"/>
            </a:avLst>
          </a:prstGeom>
          <a:solidFill>
            <a:srgbClr val="F4F5F8"/>
          </a:solidFill>
          <a:ln/>
        </p:spPr>
      </p:sp>
      <p:sp>
        <p:nvSpPr>
          <p:cNvPr id="27" name="Text 25"/>
          <p:cNvSpPr txBox="1"/>
          <p:nvPr/>
        </p:nvSpPr>
        <p:spPr>
          <a:xfrm>
            <a:off x="7132320" y="3977640"/>
            <a:ext cx="4206240" cy="786384"/>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Paiement</a:t>
            </a:r>
            <a:endParaRPr lang="en-US" sz="1600" dirty="0"/>
          </a:p>
        </p:txBody>
      </p:sp>
      <p:sp>
        <p:nvSpPr>
          <p:cNvPr id="29"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03 · CRITIQUE DE L'EXISTANT</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Les limites constatées</a:t>
            </a:r>
            <a:endParaRPr lang="en-US" sz="2800" dirty="0"/>
          </a:p>
        </p:txBody>
      </p:sp>
      <p:sp>
        <p:nvSpPr>
          <p:cNvPr id="4" name="Text 2"/>
          <p:cNvSpPr txBox="1"/>
          <p:nvPr/>
        </p:nvSpPr>
        <p:spPr>
          <a:xfrm>
            <a:off x="731520" y="1645920"/>
            <a:ext cx="5029200" cy="365760"/>
          </a:xfrm>
          <a:prstGeom prst="rect">
            <a:avLst/>
          </a:prstGeom>
          <a:noFill/>
          <a:ln/>
        </p:spPr>
        <p:txBody>
          <a:bodyPr wrap="square" lIns="0" tIns="0" rIns="0" bIns="0" rtlCol="0" anchor="t"/>
          <a:lstStyle/>
          <a:p>
            <a:pPr marL="0" indent="0">
              <a:buNone/>
            </a:pPr>
            <a:r>
              <a:rPr lang="en-US" sz="1900" b="1" dirty="0">
                <a:solidFill>
                  <a:srgbClr val="1F2A5C"/>
                </a:solidFill>
                <a:latin typeface="Segoe UI" pitchFamily="34" charset="0"/>
                <a:ea typeface="Segoe UI" pitchFamily="34" charset="-122"/>
                <a:cs typeface="Segoe UI" pitchFamily="34" charset="-120"/>
              </a:rPr>
              <a:t>Côté boutique</a:t>
            </a:r>
            <a:endParaRPr lang="en-US" sz="1900" dirty="0"/>
          </a:p>
        </p:txBody>
      </p:sp>
      <p:sp>
        <p:nvSpPr>
          <p:cNvPr id="5" name="Shape 3"/>
          <p:cNvSpPr/>
          <p:nvPr/>
        </p:nvSpPr>
        <p:spPr>
          <a:xfrm>
            <a:off x="731520" y="2148840"/>
            <a:ext cx="4937760" cy="0"/>
          </a:xfrm>
          <a:prstGeom prst="line">
            <a:avLst/>
          </a:prstGeom>
          <a:noFill/>
          <a:ln w="9525">
            <a:solidFill>
              <a:srgbClr val="D5D9E2"/>
            </a:solidFill>
            <a:prstDash val="solid"/>
          </a:ln>
        </p:spPr>
      </p:sp>
      <p:sp>
        <p:nvSpPr>
          <p:cNvPr id="6" name="Text 4"/>
          <p:cNvSpPr txBox="1"/>
          <p:nvPr/>
        </p:nvSpPr>
        <p:spPr>
          <a:xfrm>
            <a:off x="731520" y="2194560"/>
            <a:ext cx="4937760" cy="54864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Suivi du stock difficile</a:t>
            </a:r>
            <a:endParaRPr lang="en-US" sz="1550" dirty="0"/>
          </a:p>
        </p:txBody>
      </p:sp>
      <p:sp>
        <p:nvSpPr>
          <p:cNvPr id="7" name="Shape 5"/>
          <p:cNvSpPr/>
          <p:nvPr/>
        </p:nvSpPr>
        <p:spPr>
          <a:xfrm>
            <a:off x="731520" y="2770632"/>
            <a:ext cx="4937760" cy="0"/>
          </a:xfrm>
          <a:prstGeom prst="line">
            <a:avLst/>
          </a:prstGeom>
          <a:noFill/>
          <a:ln w="9525">
            <a:solidFill>
              <a:srgbClr val="D5D9E2"/>
            </a:solidFill>
            <a:prstDash val="solid"/>
          </a:ln>
        </p:spPr>
      </p:sp>
      <p:sp>
        <p:nvSpPr>
          <p:cNvPr id="8" name="Text 6"/>
          <p:cNvSpPr txBox="1"/>
          <p:nvPr/>
        </p:nvSpPr>
        <p:spPr>
          <a:xfrm>
            <a:off x="731520" y="2816352"/>
            <a:ext cx="4937760" cy="54864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Inventaires longs : le registre se parcourt feuille par feuille</a:t>
            </a:r>
            <a:endParaRPr lang="en-US" sz="1550" dirty="0"/>
          </a:p>
        </p:txBody>
      </p:sp>
      <p:sp>
        <p:nvSpPr>
          <p:cNvPr id="9" name="Shape 7"/>
          <p:cNvSpPr/>
          <p:nvPr/>
        </p:nvSpPr>
        <p:spPr>
          <a:xfrm>
            <a:off x="731520" y="3392424"/>
            <a:ext cx="4937760" cy="0"/>
          </a:xfrm>
          <a:prstGeom prst="line">
            <a:avLst/>
          </a:prstGeom>
          <a:noFill/>
          <a:ln w="9525">
            <a:solidFill>
              <a:srgbClr val="D5D9E2"/>
            </a:solidFill>
            <a:prstDash val="solid"/>
          </a:ln>
        </p:spPr>
      </p:sp>
      <p:sp>
        <p:nvSpPr>
          <p:cNvPr id="10" name="Text 8"/>
          <p:cNvSpPr txBox="1"/>
          <p:nvPr/>
        </p:nvSpPr>
        <p:spPr>
          <a:xfrm>
            <a:off x="731520" y="3438144"/>
            <a:ext cx="4937760" cy="54864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Fidélisation des clients difficile</a:t>
            </a:r>
            <a:endParaRPr lang="en-US" sz="1550" dirty="0"/>
          </a:p>
        </p:txBody>
      </p:sp>
      <p:sp>
        <p:nvSpPr>
          <p:cNvPr id="11" name="Text 9"/>
          <p:cNvSpPr txBox="1"/>
          <p:nvPr/>
        </p:nvSpPr>
        <p:spPr>
          <a:xfrm>
            <a:off x="6309360" y="1645920"/>
            <a:ext cx="5029200" cy="365760"/>
          </a:xfrm>
          <a:prstGeom prst="rect">
            <a:avLst/>
          </a:prstGeom>
          <a:noFill/>
          <a:ln/>
        </p:spPr>
        <p:txBody>
          <a:bodyPr wrap="square" lIns="0" tIns="0" rIns="0" bIns="0" rtlCol="0" anchor="t"/>
          <a:lstStyle/>
          <a:p>
            <a:pPr marL="0" indent="0">
              <a:buNone/>
            </a:pPr>
            <a:r>
              <a:rPr lang="en-US" sz="1900" b="1" dirty="0">
                <a:solidFill>
                  <a:srgbClr val="A65F00"/>
                </a:solidFill>
                <a:latin typeface="Segoe UI" pitchFamily="34" charset="0"/>
                <a:ea typeface="Segoe UI" pitchFamily="34" charset="-122"/>
                <a:cs typeface="Segoe UI" pitchFamily="34" charset="-120"/>
              </a:rPr>
              <a:t>Côté B2B</a:t>
            </a:r>
            <a:endParaRPr lang="en-US" sz="1900" dirty="0"/>
          </a:p>
        </p:txBody>
      </p:sp>
      <p:sp>
        <p:nvSpPr>
          <p:cNvPr id="12" name="Shape 10"/>
          <p:cNvSpPr/>
          <p:nvPr/>
        </p:nvSpPr>
        <p:spPr>
          <a:xfrm>
            <a:off x="6309360" y="2148840"/>
            <a:ext cx="5148072" cy="0"/>
          </a:xfrm>
          <a:prstGeom prst="line">
            <a:avLst/>
          </a:prstGeom>
          <a:noFill/>
          <a:ln w="9525">
            <a:solidFill>
              <a:srgbClr val="D5D9E2"/>
            </a:solidFill>
            <a:prstDash val="solid"/>
          </a:ln>
        </p:spPr>
      </p:sp>
      <p:sp>
        <p:nvSpPr>
          <p:cNvPr id="13" name="Text 11"/>
          <p:cNvSpPr txBox="1"/>
          <p:nvPr/>
        </p:nvSpPr>
        <p:spPr>
          <a:xfrm>
            <a:off x="6309360" y="2194560"/>
            <a:ext cx="5148072" cy="54864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Offres à dénicher dans les annonces et les journaux</a:t>
            </a:r>
            <a:endParaRPr lang="en-US" sz="1550" dirty="0"/>
          </a:p>
        </p:txBody>
      </p:sp>
      <p:sp>
        <p:nvSpPr>
          <p:cNvPr id="14" name="Shape 12"/>
          <p:cNvSpPr/>
          <p:nvPr/>
        </p:nvSpPr>
        <p:spPr>
          <a:xfrm>
            <a:off x="6309360" y="2770632"/>
            <a:ext cx="5148072" cy="0"/>
          </a:xfrm>
          <a:prstGeom prst="line">
            <a:avLst/>
          </a:prstGeom>
          <a:noFill/>
          <a:ln w="9525">
            <a:solidFill>
              <a:srgbClr val="D5D9E2"/>
            </a:solidFill>
            <a:prstDash val="solid"/>
          </a:ln>
        </p:spPr>
      </p:sp>
      <p:sp>
        <p:nvSpPr>
          <p:cNvPr id="15" name="Text 13"/>
          <p:cNvSpPr txBox="1"/>
          <p:nvPr/>
        </p:nvSpPr>
        <p:spPr>
          <a:xfrm>
            <a:off x="6309360" y="2816352"/>
            <a:ext cx="5148072" cy="54864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Recherche de partenaire coûteuse</a:t>
            </a:r>
            <a:endParaRPr lang="en-US" sz="1550" dirty="0"/>
          </a:p>
        </p:txBody>
      </p:sp>
      <p:sp>
        <p:nvSpPr>
          <p:cNvPr id="16" name="Shape 14"/>
          <p:cNvSpPr/>
          <p:nvPr/>
        </p:nvSpPr>
        <p:spPr>
          <a:xfrm>
            <a:off x="6309360" y="3392424"/>
            <a:ext cx="5148072" cy="0"/>
          </a:xfrm>
          <a:prstGeom prst="line">
            <a:avLst/>
          </a:prstGeom>
          <a:noFill/>
          <a:ln w="9525">
            <a:solidFill>
              <a:srgbClr val="D5D9E2"/>
            </a:solidFill>
            <a:prstDash val="solid"/>
          </a:ln>
        </p:spPr>
      </p:sp>
      <p:sp>
        <p:nvSpPr>
          <p:cNvPr id="17" name="Text 15"/>
          <p:cNvSpPr txBox="1"/>
          <p:nvPr/>
        </p:nvSpPr>
        <p:spPr>
          <a:xfrm>
            <a:off x="6309360" y="3438144"/>
            <a:ext cx="5148072" cy="54864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Offres difficiles à comparer, faute de visibilité</a:t>
            </a:r>
            <a:endParaRPr lang="en-US" sz="1550" dirty="0"/>
          </a:p>
        </p:txBody>
      </p:sp>
      <p:sp>
        <p:nvSpPr>
          <p:cNvPr id="18" name="Shape 16"/>
          <p:cNvSpPr/>
          <p:nvPr/>
        </p:nvSpPr>
        <p:spPr>
          <a:xfrm>
            <a:off x="6309360" y="4014216"/>
            <a:ext cx="5148072" cy="0"/>
          </a:xfrm>
          <a:prstGeom prst="line">
            <a:avLst/>
          </a:prstGeom>
          <a:noFill/>
          <a:ln w="9525">
            <a:solidFill>
              <a:srgbClr val="D5D9E2"/>
            </a:solidFill>
            <a:prstDash val="solid"/>
          </a:ln>
        </p:spPr>
      </p:sp>
      <p:sp>
        <p:nvSpPr>
          <p:cNvPr id="19" name="Text 17"/>
          <p:cNvSpPr txBox="1"/>
          <p:nvPr/>
        </p:nvSpPr>
        <p:spPr>
          <a:xfrm>
            <a:off x="6309360" y="4059936"/>
            <a:ext cx="5148072" cy="54864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Négociation bloquée si l'interlocuteur ne répond pas</a:t>
            </a:r>
            <a:endParaRPr lang="en-US" sz="1550" dirty="0"/>
          </a:p>
        </p:txBody>
      </p:sp>
      <p:sp>
        <p:nvSpPr>
          <p:cNvPr id="20" name="Shape 18"/>
          <p:cNvSpPr/>
          <p:nvPr/>
        </p:nvSpPr>
        <p:spPr>
          <a:xfrm>
            <a:off x="6309360" y="4636008"/>
            <a:ext cx="5148072" cy="0"/>
          </a:xfrm>
          <a:prstGeom prst="line">
            <a:avLst/>
          </a:prstGeom>
          <a:noFill/>
          <a:ln w="9525">
            <a:solidFill>
              <a:srgbClr val="D5D9E2"/>
            </a:solidFill>
            <a:prstDash val="solid"/>
          </a:ln>
        </p:spPr>
      </p:sp>
      <p:sp>
        <p:nvSpPr>
          <p:cNvPr id="21" name="Text 19"/>
          <p:cNvSpPr txBox="1"/>
          <p:nvPr/>
        </p:nvSpPr>
        <p:spPr>
          <a:xfrm>
            <a:off x="6309360" y="4681728"/>
            <a:ext cx="5148072" cy="54864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Surfacturation en cas d'urgence</a:t>
            </a:r>
            <a:endParaRPr lang="en-US" sz="155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04 · PROPOSITION DE SOLUTION</a:t>
            </a:r>
            <a:endParaRPr lang="en-US" sz="120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9</a:t>
            </a:fld>
            <a:endParaRPr lang="en-US"/>
          </a:p>
        </p:txBody>
      </p:sp>
      <p:sp>
        <p:nvSpPr>
          <p:cNvPr id="21" name="Text 1">
            <a:extLst>
              <a:ext uri="{FF2B5EF4-FFF2-40B4-BE49-F238E27FC236}">
                <a16:creationId xmlns:a16="http://schemas.microsoft.com/office/drawing/2014/main" id="{0A8F6470-08E4-CB88-FF56-94A2D42332EA}"/>
              </a:ext>
            </a:extLst>
          </p:cNvPr>
          <p:cNvSpPr/>
          <p:nvPr/>
        </p:nvSpPr>
        <p:spPr>
          <a:xfrm>
            <a:off x="838200" y="937260"/>
            <a:ext cx="10515600" cy="1554480"/>
          </a:xfrm>
          <a:prstGeom prst="rect">
            <a:avLst/>
          </a:prstGeom>
          <a:noFill/>
          <a:ln/>
        </p:spPr>
        <p:txBody>
          <a:bodyPr wrap="square" lIns="0" tIns="0" rIns="0" bIns="0" rtlCol="0" anchor="ctr"/>
          <a:lstStyle/>
          <a:p>
            <a:pPr marL="0" indent="0">
              <a:lnSpc>
                <a:spcPct val="115000"/>
              </a:lnSpc>
              <a:buNone/>
            </a:pPr>
            <a:r>
              <a:rPr lang="en-US" sz="3000" b="1" dirty="0">
                <a:solidFill>
                  <a:schemeClr val="bg2">
                    <a:lumMod val="10000"/>
                  </a:schemeClr>
                </a:solidFill>
                <a:latin typeface="Cambria" pitchFamily="34" charset="0"/>
                <a:ea typeface="Cambria" pitchFamily="34" charset="-122"/>
                <a:cs typeface="Cambria" pitchFamily="34" charset="-120"/>
              </a:rPr>
              <a:t>FactuPro : gestion des boutiques et échanges interentreprises (B2B), dans une seule application.</a:t>
            </a:r>
            <a:endParaRPr lang="en-US" sz="3000" dirty="0">
              <a:solidFill>
                <a:schemeClr val="bg2">
                  <a:lumMod val="10000"/>
                </a:schemeClr>
              </a:solidFill>
            </a:endParaRPr>
          </a:p>
        </p:txBody>
      </p:sp>
      <p:sp>
        <p:nvSpPr>
          <p:cNvPr id="22" name="Text 2">
            <a:extLst>
              <a:ext uri="{FF2B5EF4-FFF2-40B4-BE49-F238E27FC236}">
                <a16:creationId xmlns:a16="http://schemas.microsoft.com/office/drawing/2014/main" id="{4522A477-D129-B4FB-326B-82BC371695E2}"/>
              </a:ext>
            </a:extLst>
          </p:cNvPr>
          <p:cNvSpPr/>
          <p:nvPr/>
        </p:nvSpPr>
        <p:spPr>
          <a:xfrm>
            <a:off x="731520" y="2852086"/>
            <a:ext cx="9875520" cy="457200"/>
          </a:xfrm>
          <a:prstGeom prst="rect">
            <a:avLst/>
          </a:prstGeom>
          <a:noFill/>
          <a:ln/>
        </p:spPr>
        <p:txBody>
          <a:bodyPr wrap="square" lIns="0" tIns="0" rIns="0" bIns="0" rtlCol="0" anchor="ctr"/>
          <a:lstStyle/>
          <a:p>
            <a:pPr marL="0" indent="0">
              <a:buNone/>
            </a:pPr>
            <a:r>
              <a:rPr lang="en-US" sz="1600" i="1" dirty="0">
                <a:solidFill>
                  <a:schemeClr val="accent1">
                    <a:lumMod val="75000"/>
                  </a:schemeClr>
                </a:solidFill>
                <a:latin typeface="Calibri" pitchFamily="34" charset="0"/>
                <a:ea typeface="Calibri" pitchFamily="34" charset="-122"/>
                <a:cs typeface="Calibri" pitchFamily="34" charset="-120"/>
              </a:rPr>
              <a:t>Des produits en stock… jusqu'à la facturation.</a:t>
            </a:r>
            <a:endParaRPr lang="en-US" sz="1600" dirty="0">
              <a:solidFill>
                <a:schemeClr val="accent1">
                  <a:lumMod val="75000"/>
                </a:schemeClr>
              </a:solidFill>
            </a:endParaRPr>
          </a:p>
        </p:txBody>
      </p:sp>
      <p:sp>
        <p:nvSpPr>
          <p:cNvPr id="23" name="Shape 3">
            <a:extLst>
              <a:ext uri="{FF2B5EF4-FFF2-40B4-BE49-F238E27FC236}">
                <a16:creationId xmlns:a16="http://schemas.microsoft.com/office/drawing/2014/main" id="{8F180280-E7E2-5547-CC55-31882EB72059}"/>
              </a:ext>
            </a:extLst>
          </p:cNvPr>
          <p:cNvSpPr/>
          <p:nvPr/>
        </p:nvSpPr>
        <p:spPr>
          <a:xfrm>
            <a:off x="731520" y="3902804"/>
            <a:ext cx="3538728" cy="1600200"/>
          </a:xfrm>
          <a:prstGeom prst="roundRect">
            <a:avLst>
              <a:gd name="adj" fmla="val 4571"/>
            </a:avLst>
          </a:prstGeom>
          <a:solidFill>
            <a:srgbClr val="312E81"/>
          </a:solidFill>
          <a:ln w="12700">
            <a:solidFill>
              <a:srgbClr val="4F46E5"/>
            </a:solidFill>
            <a:prstDash val="solid"/>
          </a:ln>
        </p:spPr>
        <p:txBody>
          <a:bodyPr/>
          <a:lstStyle/>
          <a:p>
            <a:endParaRPr lang="fr-FR"/>
          </a:p>
        </p:txBody>
      </p:sp>
      <p:sp>
        <p:nvSpPr>
          <p:cNvPr id="24" name="Text 4">
            <a:extLst>
              <a:ext uri="{FF2B5EF4-FFF2-40B4-BE49-F238E27FC236}">
                <a16:creationId xmlns:a16="http://schemas.microsoft.com/office/drawing/2014/main" id="{AC4B7C39-C120-EFD9-2D1D-DC4D323CAF63}"/>
              </a:ext>
            </a:extLst>
          </p:cNvPr>
          <p:cNvSpPr/>
          <p:nvPr/>
        </p:nvSpPr>
        <p:spPr>
          <a:xfrm>
            <a:off x="1005840" y="4131404"/>
            <a:ext cx="2990088" cy="411480"/>
          </a:xfrm>
          <a:prstGeom prst="rect">
            <a:avLst/>
          </a:prstGeom>
          <a:noFill/>
          <a:ln/>
        </p:spPr>
        <p:txBody>
          <a:bodyPr wrap="square" lIns="0" tIns="0" rIns="0" bIns="0" rtlCol="0" anchor="ctr"/>
          <a:lstStyle/>
          <a:p>
            <a:pPr marL="0" indent="0">
              <a:buNone/>
            </a:pPr>
            <a:r>
              <a:rPr lang="en-US" sz="1800" b="1" dirty="0">
                <a:solidFill>
                  <a:srgbClr val="F59E0B"/>
                </a:solidFill>
                <a:latin typeface="Cambria" pitchFamily="34" charset="0"/>
                <a:ea typeface="Cambria" pitchFamily="34" charset="-122"/>
                <a:cs typeface="Cambria" pitchFamily="34" charset="-120"/>
              </a:rPr>
              <a:t>Centraliser</a:t>
            </a:r>
            <a:endParaRPr lang="en-US" sz="1800" dirty="0"/>
          </a:p>
        </p:txBody>
      </p:sp>
      <p:sp>
        <p:nvSpPr>
          <p:cNvPr id="26" name="Text 5">
            <a:extLst>
              <a:ext uri="{FF2B5EF4-FFF2-40B4-BE49-F238E27FC236}">
                <a16:creationId xmlns:a16="http://schemas.microsoft.com/office/drawing/2014/main" id="{A627AC6A-54AB-AF01-6591-EBECD6B367A4}"/>
              </a:ext>
            </a:extLst>
          </p:cNvPr>
          <p:cNvSpPr/>
          <p:nvPr/>
        </p:nvSpPr>
        <p:spPr>
          <a:xfrm>
            <a:off x="1005840" y="4588604"/>
            <a:ext cx="2990088" cy="777240"/>
          </a:xfrm>
          <a:prstGeom prst="rect">
            <a:avLst/>
          </a:prstGeom>
          <a:noFill/>
          <a:ln/>
        </p:spPr>
        <p:txBody>
          <a:bodyPr wrap="square" lIns="0" tIns="0" rIns="0" bIns="0" rtlCol="0" anchor="t"/>
          <a:lstStyle/>
          <a:p>
            <a:pPr marL="0" indent="0">
              <a:lnSpc>
                <a:spcPct val="120000"/>
              </a:lnSpc>
              <a:buNone/>
            </a:pPr>
            <a:r>
              <a:rPr lang="en-US" sz="1250" dirty="0">
                <a:solidFill>
                  <a:srgbClr val="E0E7FF"/>
                </a:solidFill>
                <a:latin typeface="Calibri" pitchFamily="34" charset="0"/>
                <a:ea typeface="Calibri" pitchFamily="34" charset="-122"/>
                <a:cs typeface="Calibri" pitchFamily="34" charset="-120"/>
              </a:rPr>
              <a:t>les informations commerciales des entreprises</a:t>
            </a:r>
            <a:endParaRPr lang="en-US" sz="1250" dirty="0"/>
          </a:p>
        </p:txBody>
      </p:sp>
      <p:sp>
        <p:nvSpPr>
          <p:cNvPr id="27" name="Shape 6">
            <a:extLst>
              <a:ext uri="{FF2B5EF4-FFF2-40B4-BE49-F238E27FC236}">
                <a16:creationId xmlns:a16="http://schemas.microsoft.com/office/drawing/2014/main" id="{281D6D17-0B05-1524-0B26-CC1757B382B9}"/>
              </a:ext>
            </a:extLst>
          </p:cNvPr>
          <p:cNvSpPr/>
          <p:nvPr/>
        </p:nvSpPr>
        <p:spPr>
          <a:xfrm>
            <a:off x="4489704" y="3902804"/>
            <a:ext cx="3538728" cy="1600200"/>
          </a:xfrm>
          <a:prstGeom prst="roundRect">
            <a:avLst>
              <a:gd name="adj" fmla="val 4571"/>
            </a:avLst>
          </a:prstGeom>
          <a:solidFill>
            <a:srgbClr val="312E81"/>
          </a:solidFill>
          <a:ln w="12700">
            <a:solidFill>
              <a:srgbClr val="4F46E5"/>
            </a:solidFill>
            <a:prstDash val="solid"/>
          </a:ln>
        </p:spPr>
        <p:txBody>
          <a:bodyPr/>
          <a:lstStyle/>
          <a:p>
            <a:endParaRPr lang="fr-FR"/>
          </a:p>
        </p:txBody>
      </p:sp>
      <p:sp>
        <p:nvSpPr>
          <p:cNvPr id="28" name="Text 7">
            <a:extLst>
              <a:ext uri="{FF2B5EF4-FFF2-40B4-BE49-F238E27FC236}">
                <a16:creationId xmlns:a16="http://schemas.microsoft.com/office/drawing/2014/main" id="{5E4B68D8-4192-55D8-0739-D304B969201F}"/>
              </a:ext>
            </a:extLst>
          </p:cNvPr>
          <p:cNvSpPr/>
          <p:nvPr/>
        </p:nvSpPr>
        <p:spPr>
          <a:xfrm>
            <a:off x="4764024" y="4131404"/>
            <a:ext cx="2990088" cy="411480"/>
          </a:xfrm>
          <a:prstGeom prst="rect">
            <a:avLst/>
          </a:prstGeom>
          <a:noFill/>
          <a:ln/>
        </p:spPr>
        <p:txBody>
          <a:bodyPr wrap="square" lIns="0" tIns="0" rIns="0" bIns="0" rtlCol="0" anchor="ctr"/>
          <a:lstStyle/>
          <a:p>
            <a:pPr marL="0" indent="0">
              <a:buNone/>
            </a:pPr>
            <a:r>
              <a:rPr lang="en-US" sz="1800" b="1" dirty="0">
                <a:solidFill>
                  <a:srgbClr val="F59E0B"/>
                </a:solidFill>
                <a:latin typeface="Cambria" pitchFamily="34" charset="0"/>
                <a:ea typeface="Cambria" pitchFamily="34" charset="-122"/>
                <a:cs typeface="Cambria" pitchFamily="34" charset="-120"/>
              </a:rPr>
              <a:t>Automatiser</a:t>
            </a:r>
            <a:endParaRPr lang="en-US" sz="1800" dirty="0"/>
          </a:p>
        </p:txBody>
      </p:sp>
      <p:sp>
        <p:nvSpPr>
          <p:cNvPr id="29" name="Text 8">
            <a:extLst>
              <a:ext uri="{FF2B5EF4-FFF2-40B4-BE49-F238E27FC236}">
                <a16:creationId xmlns:a16="http://schemas.microsoft.com/office/drawing/2014/main" id="{A3B1650D-90E9-D050-EAC8-3FF77C8EA82F}"/>
              </a:ext>
            </a:extLst>
          </p:cNvPr>
          <p:cNvSpPr/>
          <p:nvPr/>
        </p:nvSpPr>
        <p:spPr>
          <a:xfrm>
            <a:off x="4764024" y="4588604"/>
            <a:ext cx="2990088" cy="777240"/>
          </a:xfrm>
          <a:prstGeom prst="rect">
            <a:avLst/>
          </a:prstGeom>
          <a:noFill/>
          <a:ln/>
        </p:spPr>
        <p:txBody>
          <a:bodyPr wrap="square" lIns="0" tIns="0" rIns="0" bIns="0" rtlCol="0" anchor="t"/>
          <a:lstStyle/>
          <a:p>
            <a:pPr marL="0" indent="0">
              <a:lnSpc>
                <a:spcPct val="120000"/>
              </a:lnSpc>
              <a:buNone/>
            </a:pPr>
            <a:r>
              <a:rPr lang="en-US" sz="1250" dirty="0">
                <a:solidFill>
                  <a:srgbClr val="E0E7FF"/>
                </a:solidFill>
                <a:latin typeface="Calibri" pitchFamily="34" charset="0"/>
                <a:ea typeface="Calibri" pitchFamily="34" charset="-122"/>
                <a:cs typeface="Calibri" pitchFamily="34" charset="-120"/>
              </a:rPr>
              <a:t>les calculs, la facturation et le suivi des stocks</a:t>
            </a:r>
            <a:endParaRPr lang="en-US" sz="1250" dirty="0"/>
          </a:p>
        </p:txBody>
      </p:sp>
      <p:sp>
        <p:nvSpPr>
          <p:cNvPr id="30" name="Shape 9">
            <a:extLst>
              <a:ext uri="{FF2B5EF4-FFF2-40B4-BE49-F238E27FC236}">
                <a16:creationId xmlns:a16="http://schemas.microsoft.com/office/drawing/2014/main" id="{DD448E7B-D604-CFEA-D0EC-90BA102CFC73}"/>
              </a:ext>
            </a:extLst>
          </p:cNvPr>
          <p:cNvSpPr/>
          <p:nvPr/>
        </p:nvSpPr>
        <p:spPr>
          <a:xfrm>
            <a:off x="8247888" y="3902804"/>
            <a:ext cx="3538728" cy="1600200"/>
          </a:xfrm>
          <a:prstGeom prst="roundRect">
            <a:avLst>
              <a:gd name="adj" fmla="val 4571"/>
            </a:avLst>
          </a:prstGeom>
          <a:solidFill>
            <a:srgbClr val="312E81"/>
          </a:solidFill>
          <a:ln w="12700">
            <a:solidFill>
              <a:srgbClr val="4F46E5"/>
            </a:solidFill>
            <a:prstDash val="solid"/>
          </a:ln>
        </p:spPr>
        <p:txBody>
          <a:bodyPr/>
          <a:lstStyle/>
          <a:p>
            <a:endParaRPr lang="fr-FR"/>
          </a:p>
        </p:txBody>
      </p:sp>
      <p:sp>
        <p:nvSpPr>
          <p:cNvPr id="31" name="Text 10">
            <a:extLst>
              <a:ext uri="{FF2B5EF4-FFF2-40B4-BE49-F238E27FC236}">
                <a16:creationId xmlns:a16="http://schemas.microsoft.com/office/drawing/2014/main" id="{434AA904-D475-24B9-5095-A9FFF32A2C13}"/>
              </a:ext>
            </a:extLst>
          </p:cNvPr>
          <p:cNvSpPr/>
          <p:nvPr/>
        </p:nvSpPr>
        <p:spPr>
          <a:xfrm>
            <a:off x="8522208" y="4131404"/>
            <a:ext cx="2990088" cy="411480"/>
          </a:xfrm>
          <a:prstGeom prst="rect">
            <a:avLst/>
          </a:prstGeom>
          <a:noFill/>
          <a:ln/>
        </p:spPr>
        <p:txBody>
          <a:bodyPr wrap="square" lIns="0" tIns="0" rIns="0" bIns="0" rtlCol="0" anchor="ctr"/>
          <a:lstStyle/>
          <a:p>
            <a:pPr marL="0" indent="0">
              <a:buNone/>
            </a:pPr>
            <a:r>
              <a:rPr lang="en-US" sz="1800" b="1" dirty="0">
                <a:solidFill>
                  <a:srgbClr val="F59E0B"/>
                </a:solidFill>
                <a:latin typeface="Cambria" pitchFamily="34" charset="0"/>
                <a:ea typeface="Cambria" pitchFamily="34" charset="-122"/>
                <a:cs typeface="Cambria" pitchFamily="34" charset="-120"/>
              </a:rPr>
              <a:t>Connecter</a:t>
            </a:r>
            <a:endParaRPr lang="en-US" sz="1800" dirty="0"/>
          </a:p>
        </p:txBody>
      </p:sp>
      <p:sp>
        <p:nvSpPr>
          <p:cNvPr id="32" name="Text 11">
            <a:extLst>
              <a:ext uri="{FF2B5EF4-FFF2-40B4-BE49-F238E27FC236}">
                <a16:creationId xmlns:a16="http://schemas.microsoft.com/office/drawing/2014/main" id="{54F40172-E30A-630E-B872-334A101DFAC9}"/>
              </a:ext>
            </a:extLst>
          </p:cNvPr>
          <p:cNvSpPr/>
          <p:nvPr/>
        </p:nvSpPr>
        <p:spPr>
          <a:xfrm>
            <a:off x="8522208" y="4588604"/>
            <a:ext cx="2990088" cy="777240"/>
          </a:xfrm>
          <a:prstGeom prst="rect">
            <a:avLst/>
          </a:prstGeom>
          <a:noFill/>
          <a:ln/>
        </p:spPr>
        <p:txBody>
          <a:bodyPr wrap="square" lIns="0" tIns="0" rIns="0" bIns="0" rtlCol="0" anchor="t"/>
          <a:lstStyle/>
          <a:p>
            <a:pPr marL="0" indent="0">
              <a:lnSpc>
                <a:spcPct val="120000"/>
              </a:lnSpc>
              <a:buNone/>
            </a:pPr>
            <a:r>
              <a:rPr lang="en-US" sz="1250" dirty="0">
                <a:solidFill>
                  <a:srgbClr val="E0E7FF"/>
                </a:solidFill>
                <a:latin typeface="Calibri" pitchFamily="34" charset="0"/>
                <a:ea typeface="Calibri" pitchFamily="34" charset="-122"/>
                <a:cs typeface="Calibri" pitchFamily="34" charset="-120"/>
              </a:rPr>
              <a:t>les PME entre elles via un réseau B2B structuré</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p:cTn id="12" dur="500" fill="hold"/>
                                        <p:tgtEl>
                                          <p:spTgt spid="24"/>
                                        </p:tgtEl>
                                        <p:attrNameLst>
                                          <p:attrName>ppt_w</p:attrName>
                                        </p:attrNameLst>
                                      </p:cBhvr>
                                      <p:tavLst>
                                        <p:tav tm="0">
                                          <p:val>
                                            <p:fltVal val="0"/>
                                          </p:val>
                                        </p:tav>
                                        <p:tav tm="100000">
                                          <p:val>
                                            <p:strVal val="#ppt_w"/>
                                          </p:val>
                                        </p:tav>
                                      </p:tavLst>
                                    </p:anim>
                                    <p:anim calcmode="lin" valueType="num">
                                      <p:cBhvr>
                                        <p:cTn id="13" dur="500" fill="hold"/>
                                        <p:tgtEl>
                                          <p:spTgt spid="24"/>
                                        </p:tgtEl>
                                        <p:attrNameLst>
                                          <p:attrName>ppt_h</p:attrName>
                                        </p:attrNameLst>
                                      </p:cBhvr>
                                      <p:tavLst>
                                        <p:tav tm="0">
                                          <p:val>
                                            <p:fltVal val="0"/>
                                          </p:val>
                                        </p:tav>
                                        <p:tav tm="100000">
                                          <p:val>
                                            <p:strVal val="#ppt_h"/>
                                          </p:val>
                                        </p:tav>
                                      </p:tavLst>
                                    </p:anim>
                                    <p:animEffect transition="in" filter="fade">
                                      <p:cBhvr>
                                        <p:cTn id="14" dur="500"/>
                                        <p:tgtEl>
                                          <p:spTgt spid="2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p:cTn id="17" dur="500" fill="hold"/>
                                        <p:tgtEl>
                                          <p:spTgt spid="26"/>
                                        </p:tgtEl>
                                        <p:attrNameLst>
                                          <p:attrName>ppt_w</p:attrName>
                                        </p:attrNameLst>
                                      </p:cBhvr>
                                      <p:tavLst>
                                        <p:tav tm="0">
                                          <p:val>
                                            <p:fltVal val="0"/>
                                          </p:val>
                                        </p:tav>
                                        <p:tav tm="100000">
                                          <p:val>
                                            <p:strVal val="#ppt_w"/>
                                          </p:val>
                                        </p:tav>
                                      </p:tavLst>
                                    </p:anim>
                                    <p:anim calcmode="lin" valueType="num">
                                      <p:cBhvr>
                                        <p:cTn id="18" dur="500" fill="hold"/>
                                        <p:tgtEl>
                                          <p:spTgt spid="26"/>
                                        </p:tgtEl>
                                        <p:attrNameLst>
                                          <p:attrName>ppt_h</p:attrName>
                                        </p:attrNameLst>
                                      </p:cBhvr>
                                      <p:tavLst>
                                        <p:tav tm="0">
                                          <p:val>
                                            <p:fltVal val="0"/>
                                          </p:val>
                                        </p:tav>
                                        <p:tav tm="100000">
                                          <p:val>
                                            <p:strVal val="#ppt_h"/>
                                          </p:val>
                                        </p:tav>
                                      </p:tavLst>
                                    </p:anim>
                                    <p:animEffect transition="in" filter="fade">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p:cTn id="24" dur="500" fill="hold"/>
                                        <p:tgtEl>
                                          <p:spTgt spid="27"/>
                                        </p:tgtEl>
                                        <p:attrNameLst>
                                          <p:attrName>ppt_w</p:attrName>
                                        </p:attrNameLst>
                                      </p:cBhvr>
                                      <p:tavLst>
                                        <p:tav tm="0">
                                          <p:val>
                                            <p:fltVal val="0"/>
                                          </p:val>
                                        </p:tav>
                                        <p:tav tm="100000">
                                          <p:val>
                                            <p:strVal val="#ppt_w"/>
                                          </p:val>
                                        </p:tav>
                                      </p:tavLst>
                                    </p:anim>
                                    <p:anim calcmode="lin" valueType="num">
                                      <p:cBhvr>
                                        <p:cTn id="25" dur="500" fill="hold"/>
                                        <p:tgtEl>
                                          <p:spTgt spid="27"/>
                                        </p:tgtEl>
                                        <p:attrNameLst>
                                          <p:attrName>ppt_h</p:attrName>
                                        </p:attrNameLst>
                                      </p:cBhvr>
                                      <p:tavLst>
                                        <p:tav tm="0">
                                          <p:val>
                                            <p:fltVal val="0"/>
                                          </p:val>
                                        </p:tav>
                                        <p:tav tm="100000">
                                          <p:val>
                                            <p:strVal val="#ppt_h"/>
                                          </p:val>
                                        </p:tav>
                                      </p:tavLst>
                                    </p:anim>
                                    <p:animEffect transition="in" filter="fade">
                                      <p:cBhvr>
                                        <p:cTn id="26" dur="500"/>
                                        <p:tgtEl>
                                          <p:spTgt spid="27"/>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Effect transition="in" filter="fade">
                                      <p:cBhvr>
                                        <p:cTn id="31" dur="500"/>
                                        <p:tgtEl>
                                          <p:spTgt spid="2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p:cTn id="34" dur="500" fill="hold"/>
                                        <p:tgtEl>
                                          <p:spTgt spid="29"/>
                                        </p:tgtEl>
                                        <p:attrNameLst>
                                          <p:attrName>ppt_w</p:attrName>
                                        </p:attrNameLst>
                                      </p:cBhvr>
                                      <p:tavLst>
                                        <p:tav tm="0">
                                          <p:val>
                                            <p:fltVal val="0"/>
                                          </p:val>
                                        </p:tav>
                                        <p:tav tm="100000">
                                          <p:val>
                                            <p:strVal val="#ppt_w"/>
                                          </p:val>
                                        </p:tav>
                                      </p:tavLst>
                                    </p:anim>
                                    <p:anim calcmode="lin" valueType="num">
                                      <p:cBhvr>
                                        <p:cTn id="35" dur="500" fill="hold"/>
                                        <p:tgtEl>
                                          <p:spTgt spid="29"/>
                                        </p:tgtEl>
                                        <p:attrNameLst>
                                          <p:attrName>ppt_h</p:attrName>
                                        </p:attrNameLst>
                                      </p:cBhvr>
                                      <p:tavLst>
                                        <p:tav tm="0">
                                          <p:val>
                                            <p:fltVal val="0"/>
                                          </p:val>
                                        </p:tav>
                                        <p:tav tm="100000">
                                          <p:val>
                                            <p:strVal val="#ppt_h"/>
                                          </p:val>
                                        </p:tav>
                                      </p:tavLst>
                                    </p:anim>
                                    <p:animEffect transition="in" filter="fade">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anim calcmode="lin" valueType="num">
                                      <p:cBhvr>
                                        <p:cTn id="46" dur="500" fill="hold"/>
                                        <p:tgtEl>
                                          <p:spTgt spid="31"/>
                                        </p:tgtEl>
                                        <p:attrNameLst>
                                          <p:attrName>ppt_w</p:attrName>
                                        </p:attrNameLst>
                                      </p:cBhvr>
                                      <p:tavLst>
                                        <p:tav tm="0">
                                          <p:val>
                                            <p:fltVal val="0"/>
                                          </p:val>
                                        </p:tav>
                                        <p:tav tm="100000">
                                          <p:val>
                                            <p:strVal val="#ppt_w"/>
                                          </p:val>
                                        </p:tav>
                                      </p:tavLst>
                                    </p:anim>
                                    <p:anim calcmode="lin" valueType="num">
                                      <p:cBhvr>
                                        <p:cTn id="47" dur="500" fill="hold"/>
                                        <p:tgtEl>
                                          <p:spTgt spid="31"/>
                                        </p:tgtEl>
                                        <p:attrNameLst>
                                          <p:attrName>ppt_h</p:attrName>
                                        </p:attrNameLst>
                                      </p:cBhvr>
                                      <p:tavLst>
                                        <p:tav tm="0">
                                          <p:val>
                                            <p:fltVal val="0"/>
                                          </p:val>
                                        </p:tav>
                                        <p:tav tm="100000">
                                          <p:val>
                                            <p:strVal val="#ppt_h"/>
                                          </p:val>
                                        </p:tav>
                                      </p:tavLst>
                                    </p:anim>
                                    <p:animEffect transition="in" filter="fade">
                                      <p:cBhvr>
                                        <p:cTn id="48" dur="500"/>
                                        <p:tgtEl>
                                          <p:spTgt spid="31"/>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 calcmode="lin" valueType="num">
                                      <p:cBhvr>
                                        <p:cTn id="51" dur="500" fill="hold"/>
                                        <p:tgtEl>
                                          <p:spTgt spid="32"/>
                                        </p:tgtEl>
                                        <p:attrNameLst>
                                          <p:attrName>ppt_w</p:attrName>
                                        </p:attrNameLst>
                                      </p:cBhvr>
                                      <p:tavLst>
                                        <p:tav tm="0">
                                          <p:val>
                                            <p:fltVal val="0"/>
                                          </p:val>
                                        </p:tav>
                                        <p:tav tm="100000">
                                          <p:val>
                                            <p:strVal val="#ppt_w"/>
                                          </p:val>
                                        </p:tav>
                                      </p:tavLst>
                                    </p:anim>
                                    <p:anim calcmode="lin" valueType="num">
                                      <p:cBhvr>
                                        <p:cTn id="52" dur="500" fill="hold"/>
                                        <p:tgtEl>
                                          <p:spTgt spid="32"/>
                                        </p:tgtEl>
                                        <p:attrNameLst>
                                          <p:attrName>ppt_h</p:attrName>
                                        </p:attrNameLst>
                                      </p:cBhvr>
                                      <p:tavLst>
                                        <p:tav tm="0">
                                          <p:val>
                                            <p:fltVal val="0"/>
                                          </p:val>
                                        </p:tav>
                                        <p:tav tm="100000">
                                          <p:val>
                                            <p:strVal val="#ppt_h"/>
                                          </p:val>
                                        </p:tav>
                                      </p:tavLst>
                                    </p:anim>
                                    <p:animEffect transition="in" filter="fade">
                                      <p:cBhvr>
                                        <p:cTn id="5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8" grpId="0" animBg="1"/>
      <p:bldP spid="29" grpId="0" animBg="1"/>
      <p:bldP spid="31"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04 · PROPOSITION DE LA SOLUTION</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Les fonctionnalités</a:t>
            </a:r>
            <a:endParaRPr lang="en-US" sz="2800" dirty="0"/>
          </a:p>
        </p:txBody>
      </p:sp>
      <p:sp>
        <p:nvSpPr>
          <p:cNvPr id="4" name="Text 2"/>
          <p:cNvSpPr txBox="1"/>
          <p:nvPr/>
        </p:nvSpPr>
        <p:spPr>
          <a:xfrm>
            <a:off x="731520" y="1645920"/>
            <a:ext cx="5029200" cy="365760"/>
          </a:xfrm>
          <a:prstGeom prst="rect">
            <a:avLst/>
          </a:prstGeom>
          <a:noFill/>
          <a:ln/>
        </p:spPr>
        <p:txBody>
          <a:bodyPr wrap="square" lIns="0" tIns="0" rIns="0" bIns="0" rtlCol="0" anchor="t"/>
          <a:lstStyle/>
          <a:p>
            <a:pPr marL="0" indent="0">
              <a:buNone/>
            </a:pPr>
            <a:r>
              <a:rPr lang="en-US" sz="1500" b="1" dirty="0">
                <a:solidFill>
                  <a:srgbClr val="5B6478"/>
                </a:solidFill>
                <a:latin typeface="Segoe UI" pitchFamily="34" charset="0"/>
                <a:ea typeface="Segoe UI" pitchFamily="34" charset="-122"/>
                <a:cs typeface="Segoe UI" pitchFamily="34" charset="-120"/>
              </a:rPr>
              <a:t>Gestion interne</a:t>
            </a:r>
            <a:endParaRPr lang="en-US" sz="1500" dirty="0"/>
          </a:p>
        </p:txBody>
      </p:sp>
      <p:sp>
        <p:nvSpPr>
          <p:cNvPr id="5" name="Text 3"/>
          <p:cNvSpPr txBox="1"/>
          <p:nvPr/>
        </p:nvSpPr>
        <p:spPr>
          <a:xfrm>
            <a:off x="6309360" y="1645920"/>
            <a:ext cx="5029200" cy="365760"/>
          </a:xfrm>
          <a:prstGeom prst="rect">
            <a:avLst/>
          </a:prstGeom>
          <a:noFill/>
          <a:ln/>
        </p:spPr>
        <p:txBody>
          <a:bodyPr wrap="square" lIns="0" tIns="0" rIns="0" bIns="0" rtlCol="0" anchor="t"/>
          <a:lstStyle/>
          <a:p>
            <a:pPr marL="0" indent="0">
              <a:buNone/>
            </a:pPr>
            <a:r>
              <a:rPr lang="en-US" sz="1500" b="1" dirty="0">
                <a:solidFill>
                  <a:srgbClr val="A65F00"/>
                </a:solidFill>
                <a:latin typeface="Segoe UI" pitchFamily="34" charset="0"/>
                <a:ea typeface="Segoe UI" pitchFamily="34" charset="-122"/>
                <a:cs typeface="Segoe UI" pitchFamily="34" charset="-120"/>
              </a:rPr>
              <a:t>Réseau B2B</a:t>
            </a:r>
            <a:endParaRPr lang="en-US" sz="1500" dirty="0"/>
          </a:p>
        </p:txBody>
      </p:sp>
      <p:sp>
        <p:nvSpPr>
          <p:cNvPr id="6" name="Shape 4"/>
          <p:cNvSpPr/>
          <p:nvPr/>
        </p:nvSpPr>
        <p:spPr>
          <a:xfrm>
            <a:off x="731520" y="2194560"/>
            <a:ext cx="548640" cy="548640"/>
          </a:xfrm>
          <a:prstGeom prst="roundRect">
            <a:avLst>
              <a:gd name="adj" fmla="val 13333"/>
            </a:avLst>
          </a:prstGeom>
          <a:solidFill>
            <a:srgbClr val="F2A93B"/>
          </a:solidFill>
          <a:ln/>
        </p:spPr>
      </p:sp>
      <p:sp>
        <p:nvSpPr>
          <p:cNvPr id="7" name="Text 5"/>
          <p:cNvSpPr txBox="1"/>
          <p:nvPr/>
        </p:nvSpPr>
        <p:spPr>
          <a:xfrm>
            <a:off x="731520" y="219456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1</a:t>
            </a:r>
            <a:endParaRPr lang="en-US" sz="1800" dirty="0"/>
          </a:p>
        </p:txBody>
      </p:sp>
      <p:sp>
        <p:nvSpPr>
          <p:cNvPr id="8" name="Text 6"/>
          <p:cNvSpPr txBox="1"/>
          <p:nvPr/>
        </p:nvSpPr>
        <p:spPr>
          <a:xfrm>
            <a:off x="1508760" y="2194560"/>
            <a:ext cx="4389120" cy="548640"/>
          </a:xfrm>
          <a:prstGeom prst="rect">
            <a:avLst/>
          </a:prstGeom>
          <a:noFill/>
          <a:ln/>
        </p:spPr>
        <p:txBody>
          <a:bodyPr wrap="square" lIns="0" tIns="0" rIns="0" bIns="0" rtlCol="0" anchor="ctr"/>
          <a:lstStyle/>
          <a:p>
            <a:pPr marL="0" indent="0">
              <a:buNone/>
            </a:pPr>
            <a:r>
              <a:rPr lang="en-US" sz="1800" b="1" dirty="0">
                <a:solidFill>
                  <a:srgbClr val="1F2A5C"/>
                </a:solidFill>
                <a:latin typeface="Segoe UI" pitchFamily="34" charset="0"/>
                <a:ea typeface="Segoe UI" pitchFamily="34" charset="-122"/>
                <a:cs typeface="Segoe UI" pitchFamily="34" charset="-120"/>
              </a:rPr>
              <a:t>Centraliser les informations commerciales</a:t>
            </a:r>
            <a:endParaRPr lang="en-US" sz="1800" dirty="0"/>
          </a:p>
        </p:txBody>
      </p:sp>
      <p:sp>
        <p:nvSpPr>
          <p:cNvPr id="9" name="Shape 7"/>
          <p:cNvSpPr/>
          <p:nvPr/>
        </p:nvSpPr>
        <p:spPr>
          <a:xfrm>
            <a:off x="731520" y="3337560"/>
            <a:ext cx="548640" cy="548640"/>
          </a:xfrm>
          <a:prstGeom prst="roundRect">
            <a:avLst>
              <a:gd name="adj" fmla="val 13333"/>
            </a:avLst>
          </a:prstGeom>
          <a:solidFill>
            <a:srgbClr val="F2A93B"/>
          </a:solidFill>
          <a:ln/>
        </p:spPr>
      </p:sp>
      <p:sp>
        <p:nvSpPr>
          <p:cNvPr id="10" name="Text 8"/>
          <p:cNvSpPr txBox="1"/>
          <p:nvPr/>
        </p:nvSpPr>
        <p:spPr>
          <a:xfrm>
            <a:off x="731520" y="333756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2</a:t>
            </a:r>
            <a:endParaRPr lang="en-US" sz="1800" dirty="0"/>
          </a:p>
        </p:txBody>
      </p:sp>
      <p:sp>
        <p:nvSpPr>
          <p:cNvPr id="11" name="Text 9"/>
          <p:cNvSpPr txBox="1"/>
          <p:nvPr/>
        </p:nvSpPr>
        <p:spPr>
          <a:xfrm>
            <a:off x="1508760" y="3337560"/>
            <a:ext cx="4389120" cy="548640"/>
          </a:xfrm>
          <a:prstGeom prst="rect">
            <a:avLst/>
          </a:prstGeom>
          <a:noFill/>
          <a:ln/>
        </p:spPr>
        <p:txBody>
          <a:bodyPr wrap="square" lIns="0" tIns="0" rIns="0" bIns="0" rtlCol="0" anchor="ctr"/>
          <a:lstStyle/>
          <a:p>
            <a:pPr marL="0" indent="0">
              <a:buNone/>
            </a:pPr>
            <a:r>
              <a:rPr lang="en-US" sz="1800" b="1" dirty="0">
                <a:solidFill>
                  <a:srgbClr val="1F2A5C"/>
                </a:solidFill>
                <a:latin typeface="Segoe UI" pitchFamily="34" charset="0"/>
                <a:ea typeface="Segoe UI" pitchFamily="34" charset="-122"/>
                <a:cs typeface="Segoe UI" pitchFamily="34" charset="-120"/>
              </a:rPr>
              <a:t>Gérer les produits et les stocks</a:t>
            </a:r>
            <a:endParaRPr lang="en-US" sz="1800" dirty="0"/>
          </a:p>
        </p:txBody>
      </p:sp>
      <p:sp>
        <p:nvSpPr>
          <p:cNvPr id="12" name="Shape 10"/>
          <p:cNvSpPr/>
          <p:nvPr/>
        </p:nvSpPr>
        <p:spPr>
          <a:xfrm>
            <a:off x="731520" y="4480560"/>
            <a:ext cx="548640" cy="548640"/>
          </a:xfrm>
          <a:prstGeom prst="roundRect">
            <a:avLst>
              <a:gd name="adj" fmla="val 13333"/>
            </a:avLst>
          </a:prstGeom>
          <a:solidFill>
            <a:srgbClr val="F2A93B"/>
          </a:solidFill>
          <a:ln/>
        </p:spPr>
      </p:sp>
      <p:sp>
        <p:nvSpPr>
          <p:cNvPr id="13" name="Text 11"/>
          <p:cNvSpPr txBox="1"/>
          <p:nvPr/>
        </p:nvSpPr>
        <p:spPr>
          <a:xfrm>
            <a:off x="731520" y="448056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3</a:t>
            </a:r>
            <a:endParaRPr lang="en-US" sz="1800" dirty="0"/>
          </a:p>
        </p:txBody>
      </p:sp>
      <p:sp>
        <p:nvSpPr>
          <p:cNvPr id="14" name="Text 12"/>
          <p:cNvSpPr txBox="1"/>
          <p:nvPr/>
        </p:nvSpPr>
        <p:spPr>
          <a:xfrm>
            <a:off x="1508760" y="4480560"/>
            <a:ext cx="4389120" cy="548640"/>
          </a:xfrm>
          <a:prstGeom prst="rect">
            <a:avLst/>
          </a:prstGeom>
          <a:noFill/>
          <a:ln/>
        </p:spPr>
        <p:txBody>
          <a:bodyPr wrap="square" lIns="0" tIns="0" rIns="0" bIns="0" rtlCol="0" anchor="ctr"/>
          <a:lstStyle/>
          <a:p>
            <a:pPr marL="0" indent="0">
              <a:buNone/>
            </a:pPr>
            <a:r>
              <a:rPr lang="en-US" sz="1800" b="1" dirty="0">
                <a:solidFill>
                  <a:srgbClr val="1F2A5C"/>
                </a:solidFill>
                <a:latin typeface="Segoe UI" pitchFamily="34" charset="0"/>
                <a:ea typeface="Segoe UI" pitchFamily="34" charset="-122"/>
                <a:cs typeface="Segoe UI" pitchFamily="34" charset="-120"/>
              </a:rPr>
              <a:t>Réaliser et suivre les ventes</a:t>
            </a:r>
            <a:endParaRPr lang="en-US" sz="1800" dirty="0"/>
          </a:p>
        </p:txBody>
      </p:sp>
      <p:sp>
        <p:nvSpPr>
          <p:cNvPr id="15" name="Shape 13"/>
          <p:cNvSpPr/>
          <p:nvPr/>
        </p:nvSpPr>
        <p:spPr>
          <a:xfrm>
            <a:off x="6309360" y="2194560"/>
            <a:ext cx="548640" cy="548640"/>
          </a:xfrm>
          <a:prstGeom prst="roundRect">
            <a:avLst>
              <a:gd name="adj" fmla="val 13333"/>
            </a:avLst>
          </a:prstGeom>
          <a:solidFill>
            <a:srgbClr val="F2A93B"/>
          </a:solidFill>
          <a:ln/>
        </p:spPr>
      </p:sp>
      <p:sp>
        <p:nvSpPr>
          <p:cNvPr id="16" name="Text 14"/>
          <p:cNvSpPr txBox="1"/>
          <p:nvPr/>
        </p:nvSpPr>
        <p:spPr>
          <a:xfrm>
            <a:off x="6309360" y="219456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4</a:t>
            </a:r>
            <a:endParaRPr lang="en-US" sz="1800" dirty="0"/>
          </a:p>
        </p:txBody>
      </p:sp>
      <p:sp>
        <p:nvSpPr>
          <p:cNvPr id="17" name="Text 15"/>
          <p:cNvSpPr txBox="1"/>
          <p:nvPr/>
        </p:nvSpPr>
        <p:spPr>
          <a:xfrm>
            <a:off x="7086600" y="2194560"/>
            <a:ext cx="4389120" cy="548640"/>
          </a:xfrm>
          <a:prstGeom prst="rect">
            <a:avLst/>
          </a:prstGeom>
          <a:noFill/>
          <a:ln/>
        </p:spPr>
        <p:txBody>
          <a:bodyPr wrap="square" lIns="0" tIns="0" rIns="0" bIns="0" rtlCol="0" anchor="ctr"/>
          <a:lstStyle/>
          <a:p>
            <a:pPr marL="0" indent="0">
              <a:buNone/>
            </a:pPr>
            <a:r>
              <a:rPr lang="en-US" sz="1800" b="1" dirty="0">
                <a:solidFill>
                  <a:srgbClr val="1F2A5C"/>
                </a:solidFill>
                <a:latin typeface="Segoe UI" pitchFamily="34" charset="0"/>
                <a:ea typeface="Segoe UI" pitchFamily="34" charset="-122"/>
                <a:cs typeface="Segoe UI" pitchFamily="34" charset="-120"/>
              </a:rPr>
              <a:t>Mettre les entreprises en relation</a:t>
            </a:r>
            <a:endParaRPr lang="en-US" sz="1800" dirty="0"/>
          </a:p>
        </p:txBody>
      </p:sp>
      <p:sp>
        <p:nvSpPr>
          <p:cNvPr id="18" name="Shape 16"/>
          <p:cNvSpPr/>
          <p:nvPr/>
        </p:nvSpPr>
        <p:spPr>
          <a:xfrm>
            <a:off x="6309360" y="3337560"/>
            <a:ext cx="548640" cy="548640"/>
          </a:xfrm>
          <a:prstGeom prst="roundRect">
            <a:avLst>
              <a:gd name="adj" fmla="val 13333"/>
            </a:avLst>
          </a:prstGeom>
          <a:solidFill>
            <a:srgbClr val="F2A93B"/>
          </a:solidFill>
          <a:ln/>
        </p:spPr>
      </p:sp>
      <p:sp>
        <p:nvSpPr>
          <p:cNvPr id="19" name="Text 17"/>
          <p:cNvSpPr txBox="1"/>
          <p:nvPr/>
        </p:nvSpPr>
        <p:spPr>
          <a:xfrm>
            <a:off x="6309360" y="333756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5</a:t>
            </a:r>
            <a:endParaRPr lang="en-US" sz="1800" dirty="0"/>
          </a:p>
        </p:txBody>
      </p:sp>
      <p:sp>
        <p:nvSpPr>
          <p:cNvPr id="20" name="Text 18"/>
          <p:cNvSpPr txBox="1"/>
          <p:nvPr/>
        </p:nvSpPr>
        <p:spPr>
          <a:xfrm>
            <a:off x="7086600" y="3337560"/>
            <a:ext cx="4389120" cy="548640"/>
          </a:xfrm>
          <a:prstGeom prst="rect">
            <a:avLst/>
          </a:prstGeom>
          <a:noFill/>
          <a:ln/>
        </p:spPr>
        <p:txBody>
          <a:bodyPr wrap="square" lIns="0" tIns="0" rIns="0" bIns="0" rtlCol="0" anchor="ctr"/>
          <a:lstStyle/>
          <a:p>
            <a:pPr marL="0" indent="0">
              <a:buNone/>
            </a:pPr>
            <a:r>
              <a:rPr lang="en-US" sz="1800" b="1" dirty="0">
                <a:solidFill>
                  <a:srgbClr val="1F2A5C"/>
                </a:solidFill>
                <a:latin typeface="Segoe UI" pitchFamily="34" charset="0"/>
                <a:ea typeface="Segoe UI" pitchFamily="34" charset="-122"/>
                <a:cs typeface="Segoe UI" pitchFamily="34" charset="-120"/>
              </a:rPr>
              <a:t>Diffuser et consulter les offres B2B</a:t>
            </a:r>
            <a:endParaRPr lang="en-US" sz="1800" dirty="0"/>
          </a:p>
        </p:txBody>
      </p:sp>
      <p:sp>
        <p:nvSpPr>
          <p:cNvPr id="21" name="Shape 19"/>
          <p:cNvSpPr/>
          <p:nvPr/>
        </p:nvSpPr>
        <p:spPr>
          <a:xfrm>
            <a:off x="6309360" y="4480560"/>
            <a:ext cx="548640" cy="548640"/>
          </a:xfrm>
          <a:prstGeom prst="roundRect">
            <a:avLst>
              <a:gd name="adj" fmla="val 13333"/>
            </a:avLst>
          </a:prstGeom>
          <a:solidFill>
            <a:srgbClr val="F2A93B"/>
          </a:solidFill>
          <a:ln/>
        </p:spPr>
      </p:sp>
      <p:sp>
        <p:nvSpPr>
          <p:cNvPr id="22" name="Text 20"/>
          <p:cNvSpPr txBox="1"/>
          <p:nvPr/>
        </p:nvSpPr>
        <p:spPr>
          <a:xfrm>
            <a:off x="6309360" y="448056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6</a:t>
            </a:r>
            <a:endParaRPr lang="en-US" sz="1800" dirty="0"/>
          </a:p>
        </p:txBody>
      </p:sp>
      <p:sp>
        <p:nvSpPr>
          <p:cNvPr id="23" name="Text 21"/>
          <p:cNvSpPr txBox="1"/>
          <p:nvPr/>
        </p:nvSpPr>
        <p:spPr>
          <a:xfrm>
            <a:off x="7086600" y="4480560"/>
            <a:ext cx="4389120" cy="548640"/>
          </a:xfrm>
          <a:prstGeom prst="rect">
            <a:avLst/>
          </a:prstGeom>
          <a:noFill/>
          <a:ln/>
        </p:spPr>
        <p:txBody>
          <a:bodyPr wrap="square" lIns="0" tIns="0" rIns="0" bIns="0" rtlCol="0" anchor="ctr"/>
          <a:lstStyle/>
          <a:p>
            <a:pPr marL="0" indent="0">
              <a:buNone/>
            </a:pPr>
            <a:r>
              <a:rPr lang="en-US" sz="1800" b="1" dirty="0">
                <a:solidFill>
                  <a:srgbClr val="1F2A5C"/>
                </a:solidFill>
                <a:latin typeface="Segoe UI" pitchFamily="34" charset="0"/>
                <a:ea typeface="Segoe UI" pitchFamily="34" charset="-122"/>
                <a:cs typeface="Segoe UI" pitchFamily="34" charset="-120"/>
              </a:rPr>
              <a:t>Gérer les commandes entre entreprises</a:t>
            </a:r>
            <a:endParaRPr lang="en-US" sz="180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05 · ANALYSE ET CONCEPTION</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La méthode MERISE</a:t>
            </a:r>
            <a:endParaRPr lang="en-US" sz="2800" dirty="0"/>
          </a:p>
        </p:txBody>
      </p:sp>
      <p:sp>
        <p:nvSpPr>
          <p:cNvPr id="4" name="Shape 2"/>
          <p:cNvSpPr/>
          <p:nvPr/>
        </p:nvSpPr>
        <p:spPr>
          <a:xfrm>
            <a:off x="1737360" y="2331720"/>
            <a:ext cx="8686800" cy="0"/>
          </a:xfrm>
          <a:prstGeom prst="line">
            <a:avLst/>
          </a:prstGeom>
          <a:noFill/>
          <a:ln w="38100">
            <a:solidFill>
              <a:srgbClr val="D5D9E2"/>
            </a:solidFill>
            <a:prstDash val="solid"/>
          </a:ln>
        </p:spPr>
      </p:sp>
      <p:sp>
        <p:nvSpPr>
          <p:cNvPr id="5" name="Shape 3"/>
          <p:cNvSpPr/>
          <p:nvPr/>
        </p:nvSpPr>
        <p:spPr>
          <a:xfrm>
            <a:off x="868680" y="1783080"/>
            <a:ext cx="1737360" cy="1097280"/>
          </a:xfrm>
          <a:prstGeom prst="roundRect">
            <a:avLst>
              <a:gd name="adj" fmla="val 8333"/>
            </a:avLst>
          </a:prstGeom>
          <a:solidFill>
            <a:srgbClr val="1F2A5C"/>
          </a:solidFill>
          <a:ln/>
        </p:spPr>
      </p:sp>
      <p:sp>
        <p:nvSpPr>
          <p:cNvPr id="6" name="Text 4"/>
          <p:cNvSpPr txBox="1"/>
          <p:nvPr/>
        </p:nvSpPr>
        <p:spPr>
          <a:xfrm>
            <a:off x="868680" y="1783080"/>
            <a:ext cx="1737360" cy="1097280"/>
          </a:xfrm>
          <a:prstGeom prst="rect">
            <a:avLst/>
          </a:prstGeom>
          <a:noFill/>
          <a:ln/>
        </p:spPr>
        <p:txBody>
          <a:bodyPr wrap="square" lIns="0" tIns="0" rIns="0" bIns="0" rtlCol="0" anchor="ctr"/>
          <a:lstStyle/>
          <a:p>
            <a:pPr marL="0" indent="0" algn="ctr">
              <a:buNone/>
            </a:pPr>
            <a:r>
              <a:rPr lang="en-US" sz="3000" b="1" dirty="0">
                <a:solidFill>
                  <a:srgbClr val="FFFFFF"/>
                </a:solidFill>
                <a:latin typeface="Segoe UI" pitchFamily="34" charset="0"/>
                <a:ea typeface="Segoe UI" pitchFamily="34" charset="-122"/>
                <a:cs typeface="Segoe UI" pitchFamily="34" charset="-120"/>
              </a:rPr>
              <a:t>MCD</a:t>
            </a:r>
            <a:endParaRPr lang="en-US" sz="3000" dirty="0"/>
          </a:p>
        </p:txBody>
      </p:sp>
      <p:sp>
        <p:nvSpPr>
          <p:cNvPr id="7" name="Text 5"/>
          <p:cNvSpPr txBox="1"/>
          <p:nvPr/>
        </p:nvSpPr>
        <p:spPr>
          <a:xfrm>
            <a:off x="365760" y="3063240"/>
            <a:ext cx="2743200" cy="411480"/>
          </a:xfrm>
          <a:prstGeom prst="rect">
            <a:avLst/>
          </a:prstGeom>
          <a:noFill/>
          <a:ln/>
        </p:spPr>
        <p:txBody>
          <a:bodyPr wrap="square" lIns="0" tIns="0" rIns="0" bIns="0" rtlCol="0" anchor="t"/>
          <a:lstStyle/>
          <a:p>
            <a:pPr marL="0" indent="0" algn="ctr">
              <a:buNone/>
            </a:pPr>
            <a:r>
              <a:rPr lang="en-US" sz="1700" b="1" dirty="0">
                <a:solidFill>
                  <a:srgbClr val="1F2A5C"/>
                </a:solidFill>
                <a:latin typeface="Segoe UI" pitchFamily="34" charset="0"/>
                <a:ea typeface="Segoe UI" pitchFamily="34" charset="-122"/>
                <a:cs typeface="Segoe UI" pitchFamily="34" charset="-120"/>
              </a:rPr>
              <a:t>Quelles données ?</a:t>
            </a:r>
            <a:endParaRPr lang="en-US" sz="1700" dirty="0"/>
          </a:p>
        </p:txBody>
      </p:sp>
      <p:sp>
        <p:nvSpPr>
          <p:cNvPr id="8" name="Shape 6"/>
          <p:cNvSpPr/>
          <p:nvPr/>
        </p:nvSpPr>
        <p:spPr>
          <a:xfrm>
            <a:off x="3764310" y="1783080"/>
            <a:ext cx="1737360" cy="1097280"/>
          </a:xfrm>
          <a:prstGeom prst="roundRect">
            <a:avLst>
              <a:gd name="adj" fmla="val 8333"/>
            </a:avLst>
          </a:prstGeom>
          <a:solidFill>
            <a:srgbClr val="F2A93B"/>
          </a:solidFill>
          <a:ln/>
        </p:spPr>
      </p:sp>
      <p:sp>
        <p:nvSpPr>
          <p:cNvPr id="9" name="Text 7"/>
          <p:cNvSpPr txBox="1"/>
          <p:nvPr/>
        </p:nvSpPr>
        <p:spPr>
          <a:xfrm>
            <a:off x="3764310" y="1783080"/>
            <a:ext cx="1737360" cy="1097280"/>
          </a:xfrm>
          <a:prstGeom prst="rect">
            <a:avLst/>
          </a:prstGeom>
          <a:noFill/>
          <a:ln/>
        </p:spPr>
        <p:txBody>
          <a:bodyPr wrap="square" lIns="0" tIns="0" rIns="0" bIns="0" rtlCol="0" anchor="ctr"/>
          <a:lstStyle/>
          <a:p>
            <a:pPr marL="0" indent="0" algn="ctr">
              <a:buNone/>
            </a:pPr>
            <a:r>
              <a:rPr lang="en-US" sz="3000" b="1" dirty="0">
                <a:solidFill>
                  <a:srgbClr val="1F2A5C"/>
                </a:solidFill>
                <a:latin typeface="Segoe UI" pitchFamily="34" charset="0"/>
                <a:ea typeface="Segoe UI" pitchFamily="34" charset="-122"/>
                <a:cs typeface="Segoe UI" pitchFamily="34" charset="-120"/>
              </a:rPr>
              <a:t>MCT</a:t>
            </a:r>
            <a:endParaRPr lang="en-US" sz="3000" dirty="0"/>
          </a:p>
        </p:txBody>
      </p:sp>
      <p:sp>
        <p:nvSpPr>
          <p:cNvPr id="10" name="Text 8"/>
          <p:cNvSpPr txBox="1"/>
          <p:nvPr/>
        </p:nvSpPr>
        <p:spPr>
          <a:xfrm>
            <a:off x="3261390" y="3063240"/>
            <a:ext cx="2743200" cy="411480"/>
          </a:xfrm>
          <a:prstGeom prst="rect">
            <a:avLst/>
          </a:prstGeom>
          <a:noFill/>
          <a:ln/>
        </p:spPr>
        <p:txBody>
          <a:bodyPr wrap="square" lIns="0" tIns="0" rIns="0" bIns="0" rtlCol="0" anchor="t"/>
          <a:lstStyle/>
          <a:p>
            <a:pPr marL="0" indent="0" algn="ctr">
              <a:buNone/>
            </a:pPr>
            <a:r>
              <a:rPr lang="en-US" sz="1700" b="1" dirty="0">
                <a:solidFill>
                  <a:srgbClr val="1F2A5C"/>
                </a:solidFill>
                <a:latin typeface="Segoe UI" pitchFamily="34" charset="0"/>
                <a:ea typeface="Segoe UI" pitchFamily="34" charset="-122"/>
                <a:cs typeface="Segoe UI" pitchFamily="34" charset="-120"/>
              </a:rPr>
              <a:t>Quels traitements ?</a:t>
            </a:r>
            <a:endParaRPr lang="en-US" sz="1700" dirty="0"/>
          </a:p>
        </p:txBody>
      </p:sp>
      <p:sp>
        <p:nvSpPr>
          <p:cNvPr id="11" name="Shape 9"/>
          <p:cNvSpPr/>
          <p:nvPr/>
        </p:nvSpPr>
        <p:spPr>
          <a:xfrm>
            <a:off x="6659941" y="1783080"/>
            <a:ext cx="1737360" cy="1097280"/>
          </a:xfrm>
          <a:prstGeom prst="roundRect">
            <a:avLst>
              <a:gd name="adj" fmla="val 8333"/>
            </a:avLst>
          </a:prstGeom>
          <a:solidFill>
            <a:srgbClr val="1F2A5C"/>
          </a:solidFill>
          <a:ln/>
        </p:spPr>
      </p:sp>
      <p:sp>
        <p:nvSpPr>
          <p:cNvPr id="12" name="Text 10"/>
          <p:cNvSpPr txBox="1"/>
          <p:nvPr/>
        </p:nvSpPr>
        <p:spPr>
          <a:xfrm>
            <a:off x="6659941" y="1783080"/>
            <a:ext cx="1737360" cy="1097280"/>
          </a:xfrm>
          <a:prstGeom prst="rect">
            <a:avLst/>
          </a:prstGeom>
          <a:noFill/>
          <a:ln/>
        </p:spPr>
        <p:txBody>
          <a:bodyPr wrap="square" lIns="0" tIns="0" rIns="0" bIns="0" rtlCol="0" anchor="ctr"/>
          <a:lstStyle/>
          <a:p>
            <a:pPr marL="0" indent="0" algn="ctr">
              <a:buNone/>
            </a:pPr>
            <a:r>
              <a:rPr lang="en-US" sz="3000" b="1" dirty="0">
                <a:solidFill>
                  <a:srgbClr val="FFFFFF"/>
                </a:solidFill>
                <a:latin typeface="Segoe UI" pitchFamily="34" charset="0"/>
                <a:ea typeface="Segoe UI" pitchFamily="34" charset="-122"/>
                <a:cs typeface="Segoe UI" pitchFamily="34" charset="-120"/>
              </a:rPr>
              <a:t>MLD</a:t>
            </a:r>
            <a:endParaRPr lang="en-US" sz="3000" dirty="0"/>
          </a:p>
        </p:txBody>
      </p:sp>
      <p:sp>
        <p:nvSpPr>
          <p:cNvPr id="13" name="Text 11"/>
          <p:cNvSpPr txBox="1"/>
          <p:nvPr/>
        </p:nvSpPr>
        <p:spPr>
          <a:xfrm>
            <a:off x="6157021" y="3063240"/>
            <a:ext cx="2743200" cy="411480"/>
          </a:xfrm>
          <a:prstGeom prst="rect">
            <a:avLst/>
          </a:prstGeom>
          <a:noFill/>
          <a:ln/>
        </p:spPr>
        <p:txBody>
          <a:bodyPr wrap="square" lIns="0" tIns="0" rIns="0" bIns="0" rtlCol="0" anchor="t"/>
          <a:lstStyle/>
          <a:p>
            <a:pPr marL="0" indent="0" algn="ctr">
              <a:buNone/>
            </a:pPr>
            <a:r>
              <a:rPr lang="en-US" sz="1700" b="1" dirty="0">
                <a:solidFill>
                  <a:srgbClr val="1F2A5C"/>
                </a:solidFill>
                <a:latin typeface="Segoe UI" pitchFamily="34" charset="0"/>
                <a:ea typeface="Segoe UI" pitchFamily="34" charset="-122"/>
                <a:cs typeface="Segoe UI" pitchFamily="34" charset="-120"/>
              </a:rPr>
              <a:t>Quelles tables ?</a:t>
            </a:r>
            <a:endParaRPr lang="en-US" sz="1700" dirty="0"/>
          </a:p>
        </p:txBody>
      </p:sp>
      <p:sp>
        <p:nvSpPr>
          <p:cNvPr id="14" name="Shape 12"/>
          <p:cNvSpPr/>
          <p:nvPr/>
        </p:nvSpPr>
        <p:spPr>
          <a:xfrm>
            <a:off x="9555571" y="1783080"/>
            <a:ext cx="1737360" cy="1097280"/>
          </a:xfrm>
          <a:prstGeom prst="roundRect">
            <a:avLst>
              <a:gd name="adj" fmla="val 8333"/>
            </a:avLst>
          </a:prstGeom>
          <a:solidFill>
            <a:srgbClr val="F2A93B"/>
          </a:solidFill>
          <a:ln/>
        </p:spPr>
      </p:sp>
      <p:sp>
        <p:nvSpPr>
          <p:cNvPr id="15" name="Text 13"/>
          <p:cNvSpPr txBox="1"/>
          <p:nvPr/>
        </p:nvSpPr>
        <p:spPr>
          <a:xfrm>
            <a:off x="9555571" y="1783080"/>
            <a:ext cx="1737360" cy="1097280"/>
          </a:xfrm>
          <a:prstGeom prst="rect">
            <a:avLst/>
          </a:prstGeom>
          <a:noFill/>
          <a:ln/>
        </p:spPr>
        <p:txBody>
          <a:bodyPr wrap="square" lIns="0" tIns="0" rIns="0" bIns="0" rtlCol="0" anchor="ctr"/>
          <a:lstStyle/>
          <a:p>
            <a:pPr marL="0" indent="0" algn="ctr">
              <a:buNone/>
            </a:pPr>
            <a:r>
              <a:rPr lang="en-US" sz="3000" b="1" dirty="0">
                <a:solidFill>
                  <a:srgbClr val="1F2A5C"/>
                </a:solidFill>
                <a:latin typeface="Segoe UI" pitchFamily="34" charset="0"/>
                <a:ea typeface="Segoe UI" pitchFamily="34" charset="-122"/>
                <a:cs typeface="Segoe UI" pitchFamily="34" charset="-120"/>
              </a:rPr>
              <a:t>MOT</a:t>
            </a:r>
            <a:endParaRPr lang="en-US" sz="3000" dirty="0"/>
          </a:p>
        </p:txBody>
      </p:sp>
      <p:sp>
        <p:nvSpPr>
          <p:cNvPr id="16" name="Text 14"/>
          <p:cNvSpPr txBox="1"/>
          <p:nvPr/>
        </p:nvSpPr>
        <p:spPr>
          <a:xfrm>
            <a:off x="9052651" y="3063240"/>
            <a:ext cx="2743200" cy="411480"/>
          </a:xfrm>
          <a:prstGeom prst="rect">
            <a:avLst/>
          </a:prstGeom>
          <a:noFill/>
          <a:ln/>
        </p:spPr>
        <p:txBody>
          <a:bodyPr wrap="square" lIns="0" tIns="0" rIns="0" bIns="0" rtlCol="0" anchor="t"/>
          <a:lstStyle/>
          <a:p>
            <a:pPr marL="0" indent="0" algn="ctr">
              <a:buNone/>
            </a:pPr>
            <a:r>
              <a:rPr lang="en-US" sz="1700" b="1" dirty="0">
                <a:solidFill>
                  <a:srgbClr val="1F2A5C"/>
                </a:solidFill>
                <a:latin typeface="Segoe UI" pitchFamily="34" charset="0"/>
                <a:ea typeface="Segoe UI" pitchFamily="34" charset="-122"/>
                <a:cs typeface="Segoe UI" pitchFamily="34" charset="-120"/>
              </a:rPr>
              <a:t>Qui, où, quand ?</a:t>
            </a:r>
            <a:endParaRPr lang="en-US" sz="1700" dirty="0"/>
          </a:p>
        </p:txBody>
      </p:sp>
      <p:sp>
        <p:nvSpPr>
          <p:cNvPr id="17" name="Text 15"/>
          <p:cNvSpPr txBox="1"/>
          <p:nvPr/>
        </p:nvSpPr>
        <p:spPr>
          <a:xfrm>
            <a:off x="823558" y="3977640"/>
            <a:ext cx="822362" cy="822960"/>
          </a:xfrm>
          <a:prstGeom prst="rect">
            <a:avLst/>
          </a:prstGeom>
          <a:noFill/>
          <a:ln/>
        </p:spPr>
        <p:txBody>
          <a:bodyPr wrap="square" lIns="0" tIns="0" rIns="0" bIns="0" rtlCol="0" anchor="ctr"/>
          <a:lstStyle/>
          <a:p>
            <a:pPr marL="0" indent="0">
              <a:buNone/>
            </a:pPr>
            <a:r>
              <a:rPr lang="en-US" sz="4200" b="1" dirty="0">
                <a:solidFill>
                  <a:srgbClr val="1F2A5C"/>
                </a:solidFill>
                <a:latin typeface="Segoe UI" pitchFamily="34" charset="0"/>
                <a:ea typeface="Segoe UI" pitchFamily="34" charset="-122"/>
                <a:cs typeface="Segoe UI" pitchFamily="34" charset="-120"/>
              </a:rPr>
              <a:t>13</a:t>
            </a:r>
            <a:endParaRPr lang="en-US" sz="4200" dirty="0"/>
          </a:p>
        </p:txBody>
      </p:sp>
      <p:sp>
        <p:nvSpPr>
          <p:cNvPr id="18" name="Text 16"/>
          <p:cNvSpPr txBox="1"/>
          <p:nvPr/>
        </p:nvSpPr>
        <p:spPr>
          <a:xfrm>
            <a:off x="1828800" y="3977640"/>
            <a:ext cx="2377440" cy="822960"/>
          </a:xfrm>
          <a:prstGeom prst="rect">
            <a:avLst/>
          </a:prstGeom>
          <a:noFill/>
          <a:ln/>
        </p:spPr>
        <p:txBody>
          <a:bodyPr wrap="square" lIns="0" tIns="0" rIns="0" bIns="0" rtlCol="0" anchor="ctr"/>
          <a:lstStyle/>
          <a:p>
            <a:pPr marL="0" indent="0">
              <a:buNone/>
            </a:pPr>
            <a:r>
              <a:rPr lang="en-US" sz="1700" dirty="0">
                <a:solidFill>
                  <a:srgbClr val="1F2A44"/>
                </a:solidFill>
                <a:latin typeface="Segoe UI" pitchFamily="34" charset="0"/>
                <a:ea typeface="Segoe UI" pitchFamily="34" charset="-122"/>
                <a:cs typeface="Segoe UI" pitchFamily="34" charset="-120"/>
              </a:rPr>
              <a:t>règles de gestion</a:t>
            </a:r>
            <a:endParaRPr lang="en-US" sz="1700" dirty="0"/>
          </a:p>
        </p:txBody>
      </p:sp>
      <p:sp>
        <p:nvSpPr>
          <p:cNvPr id="19" name="Text 17"/>
          <p:cNvSpPr txBox="1"/>
          <p:nvPr/>
        </p:nvSpPr>
        <p:spPr>
          <a:xfrm>
            <a:off x="4538532" y="3977640"/>
            <a:ext cx="822362" cy="822960"/>
          </a:xfrm>
          <a:prstGeom prst="rect">
            <a:avLst/>
          </a:prstGeom>
          <a:noFill/>
          <a:ln/>
        </p:spPr>
        <p:txBody>
          <a:bodyPr wrap="square" lIns="0" tIns="0" rIns="0" bIns="0" rtlCol="0" anchor="ctr"/>
          <a:lstStyle/>
          <a:p>
            <a:pPr marL="0" indent="0">
              <a:buNone/>
            </a:pPr>
            <a:r>
              <a:rPr lang="en-US" sz="4200" b="1" dirty="0">
                <a:solidFill>
                  <a:srgbClr val="1F2A5C"/>
                </a:solidFill>
                <a:latin typeface="Segoe UI" pitchFamily="34" charset="0"/>
                <a:ea typeface="Segoe UI" pitchFamily="34" charset="-122"/>
                <a:cs typeface="Segoe UI" pitchFamily="34" charset="-120"/>
              </a:rPr>
              <a:t>17</a:t>
            </a:r>
            <a:endParaRPr lang="en-US" sz="4200" dirty="0"/>
          </a:p>
        </p:txBody>
      </p:sp>
      <p:sp>
        <p:nvSpPr>
          <p:cNvPr id="20" name="Text 18"/>
          <p:cNvSpPr txBox="1"/>
          <p:nvPr/>
        </p:nvSpPr>
        <p:spPr>
          <a:xfrm>
            <a:off x="5486400" y="3977640"/>
            <a:ext cx="2377440" cy="822960"/>
          </a:xfrm>
          <a:prstGeom prst="rect">
            <a:avLst/>
          </a:prstGeom>
          <a:noFill/>
          <a:ln/>
        </p:spPr>
        <p:txBody>
          <a:bodyPr wrap="square" lIns="0" tIns="0" rIns="0" bIns="0" rtlCol="0" anchor="ctr"/>
          <a:lstStyle/>
          <a:p>
            <a:pPr marL="0" indent="0">
              <a:buNone/>
            </a:pPr>
            <a:r>
              <a:rPr lang="en-US" sz="1700" dirty="0">
                <a:solidFill>
                  <a:srgbClr val="1F2A44"/>
                </a:solidFill>
                <a:latin typeface="Segoe UI" pitchFamily="34" charset="0"/>
                <a:ea typeface="Segoe UI" pitchFamily="34" charset="-122"/>
                <a:cs typeface="Segoe UI" pitchFamily="34" charset="-120"/>
              </a:rPr>
              <a:t>relations dans le MLD</a:t>
            </a:r>
            <a:endParaRPr lang="en-US" sz="1700" dirty="0"/>
          </a:p>
        </p:txBody>
      </p:sp>
      <p:sp>
        <p:nvSpPr>
          <p:cNvPr id="21" name="Text 19"/>
          <p:cNvSpPr txBox="1"/>
          <p:nvPr/>
        </p:nvSpPr>
        <p:spPr>
          <a:xfrm>
            <a:off x="8459096" y="3977640"/>
            <a:ext cx="660998" cy="822960"/>
          </a:xfrm>
          <a:prstGeom prst="rect">
            <a:avLst/>
          </a:prstGeom>
          <a:noFill/>
          <a:ln/>
        </p:spPr>
        <p:txBody>
          <a:bodyPr wrap="square" lIns="0" tIns="0" rIns="0" bIns="0" rtlCol="0" anchor="ctr"/>
          <a:lstStyle/>
          <a:p>
            <a:pPr marL="0" indent="0">
              <a:buNone/>
            </a:pPr>
            <a:r>
              <a:rPr lang="en-US" sz="4200" b="1" dirty="0">
                <a:solidFill>
                  <a:srgbClr val="1F2A5C"/>
                </a:solidFill>
                <a:latin typeface="Segoe UI" pitchFamily="34" charset="0"/>
                <a:ea typeface="Segoe UI" pitchFamily="34" charset="-122"/>
                <a:cs typeface="Segoe UI" pitchFamily="34" charset="-120"/>
              </a:rPr>
              <a:t>2</a:t>
            </a:r>
            <a:endParaRPr lang="en-US" sz="4200" dirty="0"/>
          </a:p>
        </p:txBody>
      </p:sp>
      <p:sp>
        <p:nvSpPr>
          <p:cNvPr id="22" name="Text 20"/>
          <p:cNvSpPr txBox="1"/>
          <p:nvPr/>
        </p:nvSpPr>
        <p:spPr>
          <a:xfrm>
            <a:off x="9144000" y="3977640"/>
            <a:ext cx="2377440" cy="822960"/>
          </a:xfrm>
          <a:prstGeom prst="rect">
            <a:avLst/>
          </a:prstGeom>
          <a:noFill/>
          <a:ln/>
        </p:spPr>
        <p:txBody>
          <a:bodyPr wrap="square" lIns="0" tIns="0" rIns="0" bIns="0" rtlCol="0" anchor="ctr"/>
          <a:lstStyle/>
          <a:p>
            <a:pPr marL="0" indent="0">
              <a:buNone/>
            </a:pPr>
            <a:r>
              <a:rPr lang="en-US" sz="1700" dirty="0">
                <a:solidFill>
                  <a:srgbClr val="1F2A44"/>
                </a:solidFill>
                <a:latin typeface="Segoe UI" pitchFamily="34" charset="0"/>
                <a:ea typeface="Segoe UI" pitchFamily="34" charset="-122"/>
                <a:cs typeface="Segoe UI" pitchFamily="34" charset="-120"/>
              </a:rPr>
              <a:t>modules métier au MCT</a:t>
            </a:r>
            <a:endParaRPr lang="en-US" sz="1700" dirty="0"/>
          </a:p>
        </p:txBody>
      </p:sp>
      <p:sp>
        <p:nvSpPr>
          <p:cNvPr id="23" name="Text 21"/>
          <p:cNvSpPr txBox="1"/>
          <p:nvPr/>
        </p:nvSpPr>
        <p:spPr>
          <a:xfrm>
            <a:off x="731520" y="5257800"/>
            <a:ext cx="10725912" cy="411480"/>
          </a:xfrm>
          <a:prstGeom prst="rect">
            <a:avLst/>
          </a:prstGeom>
          <a:noFill/>
          <a:ln/>
        </p:spPr>
        <p:txBody>
          <a:bodyPr wrap="square" lIns="0" tIns="0" rIns="0" bIns="0" rtlCol="0" anchor="t"/>
          <a:lstStyle/>
          <a:p>
            <a:pPr marL="0" indent="0">
              <a:buNone/>
            </a:pPr>
            <a:r>
              <a:rPr lang="en-US" sz="1600" u="sng" dirty="0">
                <a:solidFill>
                  <a:schemeClr val="bg2">
                    <a:lumMod val="10000"/>
                  </a:schemeClr>
                </a:solidFill>
                <a:latin typeface="Times New Roman" panose="02020603050405020304" pitchFamily="18" charset="0"/>
                <a:ea typeface="Segoe UI" pitchFamily="34" charset="-122"/>
                <a:cs typeface="Times New Roman" panose="02020603050405020304" pitchFamily="18" charset="0"/>
              </a:rPr>
              <a:t>Acteurs externes </a:t>
            </a:r>
            <a:r>
              <a:rPr lang="en-US" sz="1600" dirty="0">
                <a:solidFill>
                  <a:srgbClr val="5B6478"/>
                </a:solidFill>
                <a:latin typeface="Segoe UI" pitchFamily="34" charset="0"/>
                <a:ea typeface="Segoe UI" pitchFamily="34" charset="-122"/>
                <a:cs typeface="Segoe UI" pitchFamily="34" charset="-120"/>
              </a:rPr>
              <a:t>: administrateur, client au comptant, entreprises vendeuse et acheteuse.</a:t>
            </a:r>
            <a:endParaRPr lang="en-US" sz="160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05 · ANALYSE ET CONCEPTION</a:t>
            </a:r>
            <a:endParaRPr lang="en-US" sz="1200" dirty="0"/>
          </a:p>
        </p:txBody>
      </p:sp>
      <p:sp>
        <p:nvSpPr>
          <p:cNvPr id="51" name="Shape 49"/>
          <p:cNvSpPr/>
          <p:nvPr/>
        </p:nvSpPr>
        <p:spPr>
          <a:xfrm>
            <a:off x="7279341" y="3333675"/>
            <a:ext cx="4856002" cy="1626796"/>
          </a:xfrm>
          <a:prstGeom prst="roundRect">
            <a:avLst>
              <a:gd name="adj" fmla="val 6667"/>
            </a:avLst>
          </a:prstGeom>
          <a:solidFill>
            <a:srgbClr val="F4F5F8"/>
          </a:solidFill>
          <a:ln/>
        </p:spPr>
      </p:sp>
      <p:sp>
        <p:nvSpPr>
          <p:cNvPr id="52" name="Text 50"/>
          <p:cNvSpPr txBox="1"/>
          <p:nvPr/>
        </p:nvSpPr>
        <p:spPr>
          <a:xfrm>
            <a:off x="7580077" y="3429000"/>
            <a:ext cx="4417807" cy="1273586"/>
          </a:xfrm>
          <a:prstGeom prst="rect">
            <a:avLst/>
          </a:prstGeom>
          <a:noFill/>
          <a:ln/>
        </p:spPr>
        <p:txBody>
          <a:bodyPr wrap="square" lIns="0" tIns="0" rIns="0" bIns="0" rtlCol="0" anchor="ctr"/>
          <a:lstStyle/>
          <a:p>
            <a:pPr marL="0" indent="0">
              <a:buNone/>
            </a:pPr>
            <a:r>
              <a:rPr lang="en-US" sz="1350" b="1" dirty="0">
                <a:solidFill>
                  <a:srgbClr val="1F2A5C"/>
                </a:solidFill>
                <a:latin typeface="Segoe UI" pitchFamily="34" charset="0"/>
                <a:ea typeface="Segoe UI" pitchFamily="34" charset="-122"/>
                <a:cs typeface="Segoe UI" pitchFamily="34" charset="-120"/>
              </a:rPr>
              <a:t>Une seule entité Entreprise, avec deux rôles : acheteuse et vendeuse.</a:t>
            </a:r>
            <a:endParaRPr lang="en-US" sz="1350" dirty="0"/>
          </a:p>
        </p:txBody>
      </p:sp>
      <p:sp>
        <p:nvSpPr>
          <p:cNvPr id="53"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12</a:t>
            </a:fld>
            <a:endParaRPr lang="en-US"/>
          </a:p>
        </p:txBody>
      </p:sp>
      <p:sp>
        <p:nvSpPr>
          <p:cNvPr id="55" name="Text 2">
            <a:extLst>
              <a:ext uri="{FF2B5EF4-FFF2-40B4-BE49-F238E27FC236}">
                <a16:creationId xmlns:a16="http://schemas.microsoft.com/office/drawing/2014/main" id="{008BF4C9-B1B7-8108-C660-AA6CD996D225}"/>
              </a:ext>
            </a:extLst>
          </p:cNvPr>
          <p:cNvSpPr txBox="1"/>
          <p:nvPr/>
        </p:nvSpPr>
        <p:spPr>
          <a:xfrm>
            <a:off x="1146885" y="617220"/>
            <a:ext cx="5486400" cy="548640"/>
          </a:xfrm>
          <a:prstGeom prst="rect">
            <a:avLst/>
          </a:prstGeom>
          <a:noFill/>
          <a:ln/>
        </p:spPr>
        <p:txBody>
          <a:bodyPr wrap="square" lIns="0" tIns="0" rIns="0" bIns="0" rtlCol="0" anchor="t"/>
          <a:lstStyle/>
          <a:p>
            <a:pPr marL="0" indent="0">
              <a:buNone/>
            </a:pPr>
            <a:r>
              <a:rPr lang="en-US" sz="2600" dirty="0">
                <a:solidFill>
                  <a:srgbClr val="1F2A5C"/>
                </a:solidFill>
                <a:latin typeface="Segoe UI" pitchFamily="34" charset="0"/>
                <a:ea typeface="Segoe UI" pitchFamily="34" charset="-122"/>
                <a:cs typeface="Segoe UI" pitchFamily="34" charset="-120"/>
              </a:rPr>
              <a:t>MCD du système étudié</a:t>
            </a:r>
            <a:endParaRPr lang="en-US" sz="2600" dirty="0"/>
          </a:p>
        </p:txBody>
      </p:sp>
      <p:pic>
        <p:nvPicPr>
          <p:cNvPr id="59" name="Image 0" descr="C:\Users\ALEX\AppData\Local\Temp\claude\C--laragon-www-facturation\62a43aad-6d46-45af-979c-6c158c66b0c3\scratchpad\ppt3\use\mcd.jpg">
            <a:extLst>
              <a:ext uri="{FF2B5EF4-FFF2-40B4-BE49-F238E27FC236}">
                <a16:creationId xmlns:a16="http://schemas.microsoft.com/office/drawing/2014/main" id="{A68EAA15-EECB-9237-BA64-492AFBAFE1D3}"/>
              </a:ext>
            </a:extLst>
          </p:cNvPr>
          <p:cNvPicPr>
            <a:picLocks noChangeAspect="1"/>
          </p:cNvPicPr>
          <p:nvPr/>
        </p:nvPicPr>
        <p:blipFill>
          <a:blip r:embed="rId3"/>
          <a:stretch>
            <a:fillRect/>
          </a:stretch>
        </p:blipFill>
        <p:spPr>
          <a:xfrm>
            <a:off x="521388" y="1225296"/>
            <a:ext cx="6599026" cy="4718304"/>
          </a:xfrm>
          <a:prstGeom prst="rect">
            <a:avLst/>
          </a:prstGeom>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05 · ANALYSE ET CONCEPTION</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MCT du module réseautage B2B</a:t>
            </a:r>
            <a:endParaRPr lang="en-US" sz="2800" dirty="0"/>
          </a:p>
        </p:txBody>
      </p:sp>
      <p:sp>
        <p:nvSpPr>
          <p:cNvPr id="4" name="Shape 2"/>
          <p:cNvSpPr/>
          <p:nvPr/>
        </p:nvSpPr>
        <p:spPr>
          <a:xfrm>
            <a:off x="7718150" y="1463040"/>
            <a:ext cx="3382051" cy="4800600"/>
          </a:xfrm>
          <a:prstGeom prst="rect">
            <a:avLst/>
          </a:prstGeom>
          <a:solidFill>
            <a:srgbClr val="FFFFFF"/>
          </a:solidFill>
          <a:ln w="9525">
            <a:solidFill>
              <a:srgbClr val="D5D9E2"/>
            </a:solidFill>
            <a:prstDash val="solid"/>
          </a:ln>
        </p:spPr>
      </p:sp>
      <p:pic>
        <p:nvPicPr>
          <p:cNvPr id="5" name="Image 0" descr="C:\Users\ALEX\AppData\Local\Temp\claude\C--laragon-www-facturation\62a43aad-6d46-45af-979c-6c158c66b0c3\scratchpad\ppt3\use\mct.jpg"/>
          <p:cNvPicPr>
            <a:picLocks noChangeAspect="1"/>
          </p:cNvPicPr>
          <p:nvPr/>
        </p:nvPicPr>
        <p:blipFill>
          <a:blip r:embed="rId3"/>
          <a:stretch>
            <a:fillRect/>
          </a:stretch>
        </p:blipFill>
        <p:spPr>
          <a:xfrm>
            <a:off x="7763870" y="1508760"/>
            <a:ext cx="3290611" cy="4709160"/>
          </a:xfrm>
          <a:prstGeom prst="rect">
            <a:avLst/>
          </a:prstGeom>
        </p:spPr>
      </p:pic>
      <p:sp>
        <p:nvSpPr>
          <p:cNvPr id="6" name="Shape 3"/>
          <p:cNvSpPr/>
          <p:nvPr/>
        </p:nvSpPr>
        <p:spPr>
          <a:xfrm>
            <a:off x="731520" y="1737360"/>
            <a:ext cx="548640" cy="548640"/>
          </a:xfrm>
          <a:prstGeom prst="roundRect">
            <a:avLst>
              <a:gd name="adj" fmla="val 13333"/>
            </a:avLst>
          </a:prstGeom>
          <a:solidFill>
            <a:srgbClr val="F2A93B"/>
          </a:solidFill>
          <a:ln/>
        </p:spPr>
      </p:sp>
      <p:sp>
        <p:nvSpPr>
          <p:cNvPr id="7" name="Text 4"/>
          <p:cNvSpPr txBox="1"/>
          <p:nvPr/>
        </p:nvSpPr>
        <p:spPr>
          <a:xfrm>
            <a:off x="731520" y="173736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1</a:t>
            </a:r>
            <a:endParaRPr lang="en-US" sz="1800" dirty="0"/>
          </a:p>
        </p:txBody>
      </p:sp>
      <p:sp>
        <p:nvSpPr>
          <p:cNvPr id="8" name="Text 5"/>
          <p:cNvSpPr txBox="1"/>
          <p:nvPr/>
        </p:nvSpPr>
        <p:spPr>
          <a:xfrm>
            <a:off x="1463040" y="1691640"/>
            <a:ext cx="5486400" cy="384048"/>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Lancement de la commande</a:t>
            </a:r>
            <a:endParaRPr lang="en-US" sz="1800" dirty="0"/>
          </a:p>
        </p:txBody>
      </p:sp>
      <p:sp>
        <p:nvSpPr>
          <p:cNvPr id="9" name="Text 6"/>
          <p:cNvSpPr txBox="1"/>
          <p:nvPr/>
        </p:nvSpPr>
        <p:spPr>
          <a:xfrm>
            <a:off x="1463040" y="2084832"/>
            <a:ext cx="5486400" cy="457200"/>
          </a:xfrm>
          <a:prstGeom prst="rect">
            <a:avLst/>
          </a:prstGeom>
          <a:noFill/>
          <a:ln/>
        </p:spPr>
        <p:txBody>
          <a:bodyPr wrap="square" lIns="0" tIns="0" rIns="0" bIns="0" rtlCol="0" anchor="t"/>
          <a:lstStyle/>
          <a:p>
            <a:pPr marL="0" indent="0">
              <a:buNone/>
            </a:pPr>
            <a:r>
              <a:rPr lang="en-US" sz="1500" dirty="0">
                <a:solidFill>
                  <a:srgbClr val="5B6478"/>
                </a:solidFill>
                <a:latin typeface="Segoe UI" pitchFamily="34" charset="0"/>
                <a:ea typeface="Segoe UI" pitchFamily="34" charset="-122"/>
                <a:cs typeface="Segoe UI" pitchFamily="34" charset="-120"/>
              </a:rPr>
              <a:t>Recherche du partenaire et du produit</a:t>
            </a:r>
            <a:endParaRPr lang="en-US" sz="1500" dirty="0"/>
          </a:p>
        </p:txBody>
      </p:sp>
      <p:sp>
        <p:nvSpPr>
          <p:cNvPr id="10" name="Shape 7"/>
          <p:cNvSpPr/>
          <p:nvPr/>
        </p:nvSpPr>
        <p:spPr>
          <a:xfrm>
            <a:off x="731520" y="2788920"/>
            <a:ext cx="548640" cy="548640"/>
          </a:xfrm>
          <a:prstGeom prst="roundRect">
            <a:avLst>
              <a:gd name="adj" fmla="val 13333"/>
            </a:avLst>
          </a:prstGeom>
          <a:solidFill>
            <a:srgbClr val="F2A93B"/>
          </a:solidFill>
          <a:ln/>
        </p:spPr>
      </p:sp>
      <p:sp>
        <p:nvSpPr>
          <p:cNvPr id="11" name="Text 8"/>
          <p:cNvSpPr txBox="1"/>
          <p:nvPr/>
        </p:nvSpPr>
        <p:spPr>
          <a:xfrm>
            <a:off x="731520" y="278892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2</a:t>
            </a:r>
            <a:endParaRPr lang="en-US" sz="1800" dirty="0"/>
          </a:p>
        </p:txBody>
      </p:sp>
      <p:sp>
        <p:nvSpPr>
          <p:cNvPr id="12" name="Text 9"/>
          <p:cNvSpPr txBox="1"/>
          <p:nvPr/>
        </p:nvSpPr>
        <p:spPr>
          <a:xfrm>
            <a:off x="1463040" y="2743200"/>
            <a:ext cx="5486400" cy="384048"/>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Réception et vérification</a:t>
            </a:r>
            <a:endParaRPr lang="en-US" sz="1800" dirty="0"/>
          </a:p>
        </p:txBody>
      </p:sp>
      <p:sp>
        <p:nvSpPr>
          <p:cNvPr id="13" name="Text 10"/>
          <p:cNvSpPr txBox="1"/>
          <p:nvPr/>
        </p:nvSpPr>
        <p:spPr>
          <a:xfrm>
            <a:off x="1463040" y="3136392"/>
            <a:ext cx="5486400" cy="457200"/>
          </a:xfrm>
          <a:prstGeom prst="rect">
            <a:avLst/>
          </a:prstGeom>
          <a:noFill/>
          <a:ln/>
        </p:spPr>
        <p:txBody>
          <a:bodyPr wrap="square" lIns="0" tIns="0" rIns="0" bIns="0" rtlCol="0" anchor="t"/>
          <a:lstStyle/>
          <a:p>
            <a:pPr marL="0" indent="0">
              <a:buNone/>
            </a:pPr>
            <a:r>
              <a:rPr lang="en-US" sz="1500" dirty="0">
                <a:solidFill>
                  <a:srgbClr val="5B6478"/>
                </a:solidFill>
                <a:latin typeface="Segoe UI" pitchFamily="34" charset="0"/>
                <a:ea typeface="Segoe UI" pitchFamily="34" charset="-122"/>
                <a:cs typeface="Segoe UI" pitchFamily="34" charset="-120"/>
              </a:rPr>
              <a:t>Stock disponible : validée ; rupture : refusée</a:t>
            </a:r>
            <a:endParaRPr lang="en-US" sz="1500" dirty="0"/>
          </a:p>
        </p:txBody>
      </p:sp>
      <p:sp>
        <p:nvSpPr>
          <p:cNvPr id="14" name="Shape 11"/>
          <p:cNvSpPr/>
          <p:nvPr/>
        </p:nvSpPr>
        <p:spPr>
          <a:xfrm>
            <a:off x="731520" y="3840480"/>
            <a:ext cx="548640" cy="548640"/>
          </a:xfrm>
          <a:prstGeom prst="roundRect">
            <a:avLst>
              <a:gd name="adj" fmla="val 13333"/>
            </a:avLst>
          </a:prstGeom>
          <a:solidFill>
            <a:srgbClr val="F2A93B"/>
          </a:solidFill>
          <a:ln/>
        </p:spPr>
      </p:sp>
      <p:sp>
        <p:nvSpPr>
          <p:cNvPr id="15" name="Text 12"/>
          <p:cNvSpPr txBox="1"/>
          <p:nvPr/>
        </p:nvSpPr>
        <p:spPr>
          <a:xfrm>
            <a:off x="731520" y="384048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3</a:t>
            </a:r>
            <a:endParaRPr lang="en-US" sz="1800" dirty="0"/>
          </a:p>
        </p:txBody>
      </p:sp>
      <p:sp>
        <p:nvSpPr>
          <p:cNvPr id="16" name="Text 13"/>
          <p:cNvSpPr txBox="1"/>
          <p:nvPr/>
        </p:nvSpPr>
        <p:spPr>
          <a:xfrm>
            <a:off x="1463040" y="3794760"/>
            <a:ext cx="5486400" cy="384048"/>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Facturation</a:t>
            </a:r>
            <a:endParaRPr lang="en-US" sz="1800" dirty="0"/>
          </a:p>
        </p:txBody>
      </p:sp>
      <p:sp>
        <p:nvSpPr>
          <p:cNvPr id="17" name="Text 14"/>
          <p:cNvSpPr txBox="1"/>
          <p:nvPr/>
        </p:nvSpPr>
        <p:spPr>
          <a:xfrm>
            <a:off x="1463040" y="4187952"/>
            <a:ext cx="5486400" cy="457200"/>
          </a:xfrm>
          <a:prstGeom prst="rect">
            <a:avLst/>
          </a:prstGeom>
          <a:noFill/>
          <a:ln/>
        </p:spPr>
        <p:txBody>
          <a:bodyPr wrap="square" lIns="0" tIns="0" rIns="0" bIns="0" rtlCol="0" anchor="t"/>
          <a:lstStyle/>
          <a:p>
            <a:pPr marL="0" indent="0">
              <a:buNone/>
            </a:pPr>
            <a:r>
              <a:rPr lang="en-US" sz="1500" dirty="0">
                <a:solidFill>
                  <a:srgbClr val="5B6478"/>
                </a:solidFill>
                <a:latin typeface="Segoe UI" pitchFamily="34" charset="0"/>
                <a:ea typeface="Segoe UI" pitchFamily="34" charset="-122"/>
                <a:cs typeface="Segoe UI" pitchFamily="34" charset="-120"/>
              </a:rPr>
              <a:t>Calcul du montant et génération de la facture</a:t>
            </a:r>
            <a:endParaRPr lang="en-US" sz="1500" dirty="0"/>
          </a:p>
        </p:txBody>
      </p:sp>
      <p:sp>
        <p:nvSpPr>
          <p:cNvPr id="18" name="Shape 15"/>
          <p:cNvSpPr/>
          <p:nvPr/>
        </p:nvSpPr>
        <p:spPr>
          <a:xfrm>
            <a:off x="731520" y="4892040"/>
            <a:ext cx="548640" cy="548640"/>
          </a:xfrm>
          <a:prstGeom prst="roundRect">
            <a:avLst>
              <a:gd name="adj" fmla="val 13333"/>
            </a:avLst>
          </a:prstGeom>
          <a:solidFill>
            <a:srgbClr val="F2A93B"/>
          </a:solidFill>
          <a:ln/>
        </p:spPr>
      </p:sp>
      <p:sp>
        <p:nvSpPr>
          <p:cNvPr id="19" name="Text 16"/>
          <p:cNvSpPr txBox="1"/>
          <p:nvPr/>
        </p:nvSpPr>
        <p:spPr>
          <a:xfrm>
            <a:off x="731520" y="489204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4</a:t>
            </a:r>
            <a:endParaRPr lang="en-US" sz="1800" dirty="0"/>
          </a:p>
        </p:txBody>
      </p:sp>
      <p:sp>
        <p:nvSpPr>
          <p:cNvPr id="20" name="Text 17"/>
          <p:cNvSpPr txBox="1"/>
          <p:nvPr/>
        </p:nvSpPr>
        <p:spPr>
          <a:xfrm>
            <a:off x="1463040" y="4846320"/>
            <a:ext cx="5486400" cy="384048"/>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Paiement</a:t>
            </a:r>
            <a:endParaRPr lang="en-US" sz="1800" dirty="0"/>
          </a:p>
        </p:txBody>
      </p:sp>
      <p:sp>
        <p:nvSpPr>
          <p:cNvPr id="21" name="Text 18"/>
          <p:cNvSpPr txBox="1"/>
          <p:nvPr/>
        </p:nvSpPr>
        <p:spPr>
          <a:xfrm>
            <a:off x="1463040" y="5239512"/>
            <a:ext cx="5486400" cy="457200"/>
          </a:xfrm>
          <a:prstGeom prst="rect">
            <a:avLst/>
          </a:prstGeom>
          <a:noFill/>
          <a:ln/>
        </p:spPr>
        <p:txBody>
          <a:bodyPr wrap="square" lIns="0" tIns="0" rIns="0" bIns="0" rtlCol="0" anchor="t"/>
          <a:lstStyle/>
          <a:p>
            <a:pPr marL="0" indent="0">
              <a:buNone/>
            </a:pPr>
            <a:r>
              <a:rPr lang="en-US" sz="1500" dirty="0">
                <a:solidFill>
                  <a:srgbClr val="5B6478"/>
                </a:solidFill>
                <a:latin typeface="Segoe UI" pitchFamily="34" charset="0"/>
                <a:ea typeface="Segoe UI" pitchFamily="34" charset="-122"/>
                <a:cs typeface="Segoe UI" pitchFamily="34" charset="-120"/>
              </a:rPr>
              <a:t>Règlement enregistré, ou relance</a:t>
            </a:r>
            <a:endParaRPr lang="en-US" sz="150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06 · MISE EN ŒUVRE</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Architecture et </a:t>
            </a:r>
            <a:r>
              <a:rPr lang="en-US" sz="2800" b="1" dirty="0" err="1">
                <a:solidFill>
                  <a:srgbClr val="1F2A5C"/>
                </a:solidFill>
                <a:latin typeface="Segoe UI" pitchFamily="34" charset="0"/>
                <a:ea typeface="Segoe UI" pitchFamily="34" charset="-122"/>
                <a:cs typeface="Segoe UI" pitchFamily="34" charset="-120"/>
              </a:rPr>
              <a:t>outils</a:t>
            </a:r>
            <a:r>
              <a:rPr lang="en-US" sz="2800" b="1" dirty="0">
                <a:solidFill>
                  <a:srgbClr val="1F2A5C"/>
                </a:solidFill>
                <a:latin typeface="Segoe UI" pitchFamily="34" charset="0"/>
                <a:ea typeface="Segoe UI" pitchFamily="34" charset="-122"/>
                <a:cs typeface="Segoe UI" pitchFamily="34" charset="-120"/>
              </a:rPr>
              <a:t> de l'application</a:t>
            </a:r>
            <a:endParaRPr lang="en-US" sz="2800" dirty="0"/>
          </a:p>
        </p:txBody>
      </p:sp>
      <p:sp>
        <p:nvSpPr>
          <p:cNvPr id="43"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14</a:t>
            </a:fld>
            <a:endParaRPr lang="en-US"/>
          </a:p>
        </p:txBody>
      </p:sp>
      <p:sp>
        <p:nvSpPr>
          <p:cNvPr id="76" name="Shape 2">
            <a:extLst>
              <a:ext uri="{FF2B5EF4-FFF2-40B4-BE49-F238E27FC236}">
                <a16:creationId xmlns:a16="http://schemas.microsoft.com/office/drawing/2014/main" id="{3CABCD34-240B-5764-7095-0956910A0D89}"/>
              </a:ext>
            </a:extLst>
          </p:cNvPr>
          <p:cNvSpPr/>
          <p:nvPr/>
        </p:nvSpPr>
        <p:spPr>
          <a:xfrm>
            <a:off x="685800" y="1521789"/>
            <a:ext cx="5029200" cy="4160520"/>
          </a:xfrm>
          <a:prstGeom prst="roundRect">
            <a:avLst>
              <a:gd name="adj" fmla="val 1758"/>
            </a:avLst>
          </a:prstGeom>
          <a:solidFill>
            <a:srgbClr val="EEF2FF"/>
          </a:solidFill>
          <a:ln/>
        </p:spPr>
        <p:txBody>
          <a:bodyPr/>
          <a:lstStyle/>
          <a:p>
            <a:endParaRPr lang="fr-FR"/>
          </a:p>
        </p:txBody>
      </p:sp>
      <p:sp>
        <p:nvSpPr>
          <p:cNvPr id="77" name="Text 3">
            <a:extLst>
              <a:ext uri="{FF2B5EF4-FFF2-40B4-BE49-F238E27FC236}">
                <a16:creationId xmlns:a16="http://schemas.microsoft.com/office/drawing/2014/main" id="{22D485E8-6EDC-4F50-18A5-7B81E580D1E0}"/>
              </a:ext>
            </a:extLst>
          </p:cNvPr>
          <p:cNvSpPr/>
          <p:nvPr/>
        </p:nvSpPr>
        <p:spPr>
          <a:xfrm>
            <a:off x="822960" y="1622373"/>
            <a:ext cx="4480560"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Architecture MVC</a:t>
            </a:r>
            <a:endParaRPr lang="en-US" sz="1500" dirty="0"/>
          </a:p>
        </p:txBody>
      </p:sp>
      <p:sp>
        <p:nvSpPr>
          <p:cNvPr id="78" name="Shape 4">
            <a:extLst>
              <a:ext uri="{FF2B5EF4-FFF2-40B4-BE49-F238E27FC236}">
                <a16:creationId xmlns:a16="http://schemas.microsoft.com/office/drawing/2014/main" id="{99F769F7-E002-FB17-7992-AF81514E5ADE}"/>
              </a:ext>
            </a:extLst>
          </p:cNvPr>
          <p:cNvSpPr/>
          <p:nvPr/>
        </p:nvSpPr>
        <p:spPr>
          <a:xfrm>
            <a:off x="822960" y="2152725"/>
            <a:ext cx="4480560" cy="1024128"/>
          </a:xfrm>
          <a:prstGeom prst="roundRect">
            <a:avLst>
              <a:gd name="adj" fmla="val 6250"/>
            </a:avLst>
          </a:prstGeom>
          <a:solidFill>
            <a:srgbClr val="FFFFFF"/>
          </a:solidFill>
          <a:ln/>
        </p:spPr>
        <p:txBody>
          <a:bodyPr/>
          <a:lstStyle/>
          <a:p>
            <a:endParaRPr lang="fr-FR"/>
          </a:p>
        </p:txBody>
      </p:sp>
      <p:sp>
        <p:nvSpPr>
          <p:cNvPr id="79" name="Shape 5">
            <a:extLst>
              <a:ext uri="{FF2B5EF4-FFF2-40B4-BE49-F238E27FC236}">
                <a16:creationId xmlns:a16="http://schemas.microsoft.com/office/drawing/2014/main" id="{AD3433B6-F9A6-7790-0D4F-6B21776E7654}"/>
              </a:ext>
            </a:extLst>
          </p:cNvPr>
          <p:cNvSpPr/>
          <p:nvPr/>
        </p:nvSpPr>
        <p:spPr>
          <a:xfrm>
            <a:off x="960120" y="2463621"/>
            <a:ext cx="402336" cy="402336"/>
          </a:xfrm>
          <a:prstGeom prst="roundRect">
            <a:avLst>
              <a:gd name="adj" fmla="val 18182"/>
            </a:avLst>
          </a:prstGeom>
          <a:solidFill>
            <a:srgbClr val="4F46E5"/>
          </a:solidFill>
          <a:ln/>
        </p:spPr>
        <p:txBody>
          <a:bodyPr/>
          <a:lstStyle/>
          <a:p>
            <a:endParaRPr lang="fr-FR"/>
          </a:p>
        </p:txBody>
      </p:sp>
      <p:sp>
        <p:nvSpPr>
          <p:cNvPr id="80" name="Text 6">
            <a:extLst>
              <a:ext uri="{FF2B5EF4-FFF2-40B4-BE49-F238E27FC236}">
                <a16:creationId xmlns:a16="http://schemas.microsoft.com/office/drawing/2014/main" id="{C2E76F59-EDE3-6106-8687-619EBAF27E2F}"/>
              </a:ext>
            </a:extLst>
          </p:cNvPr>
          <p:cNvSpPr/>
          <p:nvPr/>
        </p:nvSpPr>
        <p:spPr>
          <a:xfrm>
            <a:off x="960120" y="2463621"/>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M</a:t>
            </a:r>
            <a:endParaRPr lang="en-US" sz="1600" dirty="0"/>
          </a:p>
        </p:txBody>
      </p:sp>
      <p:sp>
        <p:nvSpPr>
          <p:cNvPr id="81" name="Text 7">
            <a:extLst>
              <a:ext uri="{FF2B5EF4-FFF2-40B4-BE49-F238E27FC236}">
                <a16:creationId xmlns:a16="http://schemas.microsoft.com/office/drawing/2014/main" id="{7133CFB7-5E38-77D4-762C-24499612A400}"/>
              </a:ext>
            </a:extLst>
          </p:cNvPr>
          <p:cNvSpPr/>
          <p:nvPr/>
        </p:nvSpPr>
        <p:spPr>
          <a:xfrm>
            <a:off x="1508760" y="2262453"/>
            <a:ext cx="3657600" cy="320040"/>
          </a:xfrm>
          <a:prstGeom prst="rect">
            <a:avLst/>
          </a:prstGeom>
          <a:noFill/>
          <a:ln/>
        </p:spPr>
        <p:txBody>
          <a:bodyPr wrap="square" lIns="0" tIns="0" rIns="0" bIns="0" rtlCol="0" anchor="ctr"/>
          <a:lstStyle/>
          <a:p>
            <a:pPr marL="0" indent="0">
              <a:buNone/>
            </a:pPr>
            <a:r>
              <a:rPr lang="en-US" sz="1350" b="1" dirty="0">
                <a:solidFill>
                  <a:srgbClr val="1F2937"/>
                </a:solidFill>
                <a:latin typeface="Calibri" pitchFamily="34" charset="0"/>
                <a:ea typeface="Calibri" pitchFamily="34" charset="-122"/>
                <a:cs typeface="Calibri" pitchFamily="34" charset="-120"/>
              </a:rPr>
              <a:t>Modèle</a:t>
            </a:r>
            <a:endParaRPr lang="en-US" sz="1350" dirty="0"/>
          </a:p>
        </p:txBody>
      </p:sp>
      <p:sp>
        <p:nvSpPr>
          <p:cNvPr id="82" name="Text 8">
            <a:extLst>
              <a:ext uri="{FF2B5EF4-FFF2-40B4-BE49-F238E27FC236}">
                <a16:creationId xmlns:a16="http://schemas.microsoft.com/office/drawing/2014/main" id="{A4C99507-93DB-713B-D863-D7BDCE57A5C0}"/>
              </a:ext>
            </a:extLst>
          </p:cNvPr>
          <p:cNvSpPr/>
          <p:nvPr/>
        </p:nvSpPr>
        <p:spPr>
          <a:xfrm>
            <a:off x="1508760" y="2591637"/>
            <a:ext cx="3657600" cy="521208"/>
          </a:xfrm>
          <a:prstGeom prst="rect">
            <a:avLst/>
          </a:prstGeom>
          <a:noFill/>
          <a:ln/>
        </p:spPr>
        <p:txBody>
          <a:bodyPr wrap="square" lIns="0" tIns="0" rIns="0" bIns="0" rtlCol="0" anchor="t"/>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Données et logique métier (MySQL / PDO)</a:t>
            </a:r>
            <a:endParaRPr lang="en-US" sz="1050" dirty="0"/>
          </a:p>
        </p:txBody>
      </p:sp>
      <p:sp>
        <p:nvSpPr>
          <p:cNvPr id="83" name="Shape 9">
            <a:extLst>
              <a:ext uri="{FF2B5EF4-FFF2-40B4-BE49-F238E27FC236}">
                <a16:creationId xmlns:a16="http://schemas.microsoft.com/office/drawing/2014/main" id="{78CD005E-F43B-140D-4FE7-0311631BE8CF}"/>
              </a:ext>
            </a:extLst>
          </p:cNvPr>
          <p:cNvSpPr/>
          <p:nvPr/>
        </p:nvSpPr>
        <p:spPr>
          <a:xfrm>
            <a:off x="822960" y="3268293"/>
            <a:ext cx="4480560" cy="1024128"/>
          </a:xfrm>
          <a:prstGeom prst="roundRect">
            <a:avLst>
              <a:gd name="adj" fmla="val 6250"/>
            </a:avLst>
          </a:prstGeom>
          <a:solidFill>
            <a:srgbClr val="FFFFFF"/>
          </a:solidFill>
          <a:ln/>
        </p:spPr>
        <p:txBody>
          <a:bodyPr/>
          <a:lstStyle/>
          <a:p>
            <a:endParaRPr lang="fr-FR"/>
          </a:p>
        </p:txBody>
      </p:sp>
      <p:sp>
        <p:nvSpPr>
          <p:cNvPr id="84" name="Shape 10">
            <a:extLst>
              <a:ext uri="{FF2B5EF4-FFF2-40B4-BE49-F238E27FC236}">
                <a16:creationId xmlns:a16="http://schemas.microsoft.com/office/drawing/2014/main" id="{C273D5D3-CBEF-53D4-1426-0BF37EE11DFF}"/>
              </a:ext>
            </a:extLst>
          </p:cNvPr>
          <p:cNvSpPr/>
          <p:nvPr/>
        </p:nvSpPr>
        <p:spPr>
          <a:xfrm>
            <a:off x="960120" y="3579189"/>
            <a:ext cx="402336" cy="402336"/>
          </a:xfrm>
          <a:prstGeom prst="roundRect">
            <a:avLst>
              <a:gd name="adj" fmla="val 18182"/>
            </a:avLst>
          </a:prstGeom>
          <a:solidFill>
            <a:srgbClr val="4F46E5"/>
          </a:solidFill>
          <a:ln/>
        </p:spPr>
        <p:txBody>
          <a:bodyPr/>
          <a:lstStyle/>
          <a:p>
            <a:endParaRPr lang="fr-FR"/>
          </a:p>
        </p:txBody>
      </p:sp>
      <p:sp>
        <p:nvSpPr>
          <p:cNvPr id="85" name="Text 11">
            <a:extLst>
              <a:ext uri="{FF2B5EF4-FFF2-40B4-BE49-F238E27FC236}">
                <a16:creationId xmlns:a16="http://schemas.microsoft.com/office/drawing/2014/main" id="{4D0DC6BC-BA28-CD90-2E52-ACD316E365FF}"/>
              </a:ext>
            </a:extLst>
          </p:cNvPr>
          <p:cNvSpPr/>
          <p:nvPr/>
        </p:nvSpPr>
        <p:spPr>
          <a:xfrm>
            <a:off x="960120" y="3579189"/>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V</a:t>
            </a:r>
            <a:endParaRPr lang="en-US" sz="1600" dirty="0"/>
          </a:p>
        </p:txBody>
      </p:sp>
      <p:sp>
        <p:nvSpPr>
          <p:cNvPr id="86" name="Text 12">
            <a:extLst>
              <a:ext uri="{FF2B5EF4-FFF2-40B4-BE49-F238E27FC236}">
                <a16:creationId xmlns:a16="http://schemas.microsoft.com/office/drawing/2014/main" id="{651CC5D0-DCA0-0AEB-2C0E-27515DBEBC90}"/>
              </a:ext>
            </a:extLst>
          </p:cNvPr>
          <p:cNvSpPr/>
          <p:nvPr/>
        </p:nvSpPr>
        <p:spPr>
          <a:xfrm>
            <a:off x="1508760" y="3378021"/>
            <a:ext cx="3657600" cy="320040"/>
          </a:xfrm>
          <a:prstGeom prst="rect">
            <a:avLst/>
          </a:prstGeom>
          <a:noFill/>
          <a:ln/>
        </p:spPr>
        <p:txBody>
          <a:bodyPr wrap="square" lIns="0" tIns="0" rIns="0" bIns="0" rtlCol="0" anchor="ctr"/>
          <a:lstStyle/>
          <a:p>
            <a:pPr marL="0" indent="0">
              <a:buNone/>
            </a:pPr>
            <a:r>
              <a:rPr lang="en-US" sz="1350" b="1" dirty="0">
                <a:solidFill>
                  <a:srgbClr val="1F2937"/>
                </a:solidFill>
                <a:latin typeface="Calibri" pitchFamily="34" charset="0"/>
                <a:ea typeface="Calibri" pitchFamily="34" charset="-122"/>
                <a:cs typeface="Calibri" pitchFamily="34" charset="-120"/>
              </a:rPr>
              <a:t>Vue</a:t>
            </a:r>
            <a:endParaRPr lang="en-US" sz="1350" dirty="0"/>
          </a:p>
        </p:txBody>
      </p:sp>
      <p:sp>
        <p:nvSpPr>
          <p:cNvPr id="87" name="Text 13">
            <a:extLst>
              <a:ext uri="{FF2B5EF4-FFF2-40B4-BE49-F238E27FC236}">
                <a16:creationId xmlns:a16="http://schemas.microsoft.com/office/drawing/2014/main" id="{2C5BF91E-F774-F427-9E7C-925F224A5DE7}"/>
              </a:ext>
            </a:extLst>
          </p:cNvPr>
          <p:cNvSpPr/>
          <p:nvPr/>
        </p:nvSpPr>
        <p:spPr>
          <a:xfrm>
            <a:off x="1508760" y="3707205"/>
            <a:ext cx="3657600" cy="521208"/>
          </a:xfrm>
          <a:prstGeom prst="rect">
            <a:avLst/>
          </a:prstGeom>
          <a:noFill/>
          <a:ln/>
        </p:spPr>
        <p:txBody>
          <a:bodyPr wrap="square" lIns="0" tIns="0" rIns="0" bIns="0" rtlCol="0" anchor="t"/>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Interfaces et présentation</a:t>
            </a:r>
            <a:endParaRPr lang="en-US" sz="1050" dirty="0"/>
          </a:p>
        </p:txBody>
      </p:sp>
      <p:sp>
        <p:nvSpPr>
          <p:cNvPr id="88" name="Shape 14">
            <a:extLst>
              <a:ext uri="{FF2B5EF4-FFF2-40B4-BE49-F238E27FC236}">
                <a16:creationId xmlns:a16="http://schemas.microsoft.com/office/drawing/2014/main" id="{2F78E3CC-6389-E5B1-DC14-EE49846C6DEC}"/>
              </a:ext>
            </a:extLst>
          </p:cNvPr>
          <p:cNvSpPr/>
          <p:nvPr/>
        </p:nvSpPr>
        <p:spPr>
          <a:xfrm>
            <a:off x="822960" y="4383861"/>
            <a:ext cx="4480560" cy="1024128"/>
          </a:xfrm>
          <a:prstGeom prst="roundRect">
            <a:avLst>
              <a:gd name="adj" fmla="val 6250"/>
            </a:avLst>
          </a:prstGeom>
          <a:solidFill>
            <a:srgbClr val="FFFFFF"/>
          </a:solidFill>
          <a:ln/>
        </p:spPr>
        <p:txBody>
          <a:bodyPr/>
          <a:lstStyle/>
          <a:p>
            <a:endParaRPr lang="fr-FR"/>
          </a:p>
        </p:txBody>
      </p:sp>
      <p:sp>
        <p:nvSpPr>
          <p:cNvPr id="89" name="Shape 15">
            <a:extLst>
              <a:ext uri="{FF2B5EF4-FFF2-40B4-BE49-F238E27FC236}">
                <a16:creationId xmlns:a16="http://schemas.microsoft.com/office/drawing/2014/main" id="{84A146DF-02EA-2646-F589-0E9A2B35BF29}"/>
              </a:ext>
            </a:extLst>
          </p:cNvPr>
          <p:cNvSpPr/>
          <p:nvPr/>
        </p:nvSpPr>
        <p:spPr>
          <a:xfrm>
            <a:off x="960120" y="4694757"/>
            <a:ext cx="402336" cy="402336"/>
          </a:xfrm>
          <a:prstGeom prst="roundRect">
            <a:avLst>
              <a:gd name="adj" fmla="val 18182"/>
            </a:avLst>
          </a:prstGeom>
          <a:solidFill>
            <a:srgbClr val="4F46E5"/>
          </a:solidFill>
          <a:ln/>
        </p:spPr>
        <p:txBody>
          <a:bodyPr/>
          <a:lstStyle/>
          <a:p>
            <a:endParaRPr lang="fr-FR"/>
          </a:p>
        </p:txBody>
      </p:sp>
      <p:sp>
        <p:nvSpPr>
          <p:cNvPr id="90" name="Text 16">
            <a:extLst>
              <a:ext uri="{FF2B5EF4-FFF2-40B4-BE49-F238E27FC236}">
                <a16:creationId xmlns:a16="http://schemas.microsoft.com/office/drawing/2014/main" id="{9E23F50E-4EB5-7E33-50C6-3920E4281E11}"/>
              </a:ext>
            </a:extLst>
          </p:cNvPr>
          <p:cNvSpPr/>
          <p:nvPr/>
        </p:nvSpPr>
        <p:spPr>
          <a:xfrm>
            <a:off x="960120" y="4694757"/>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91" name="Text 17">
            <a:extLst>
              <a:ext uri="{FF2B5EF4-FFF2-40B4-BE49-F238E27FC236}">
                <a16:creationId xmlns:a16="http://schemas.microsoft.com/office/drawing/2014/main" id="{7B2D1C43-35C1-CC5A-2AE1-12E3C6E298C5}"/>
              </a:ext>
            </a:extLst>
          </p:cNvPr>
          <p:cNvSpPr/>
          <p:nvPr/>
        </p:nvSpPr>
        <p:spPr>
          <a:xfrm>
            <a:off x="1508760" y="4493589"/>
            <a:ext cx="3657600" cy="320040"/>
          </a:xfrm>
          <a:prstGeom prst="rect">
            <a:avLst/>
          </a:prstGeom>
          <a:noFill/>
          <a:ln/>
        </p:spPr>
        <p:txBody>
          <a:bodyPr wrap="square" lIns="0" tIns="0" rIns="0" bIns="0" rtlCol="0" anchor="ctr"/>
          <a:lstStyle/>
          <a:p>
            <a:pPr marL="0" indent="0">
              <a:buNone/>
            </a:pPr>
            <a:r>
              <a:rPr lang="en-US" sz="1350" b="1" dirty="0">
                <a:solidFill>
                  <a:srgbClr val="1F2937"/>
                </a:solidFill>
                <a:latin typeface="Calibri" pitchFamily="34" charset="0"/>
                <a:ea typeface="Calibri" pitchFamily="34" charset="-122"/>
                <a:cs typeface="Calibri" pitchFamily="34" charset="-120"/>
              </a:rPr>
              <a:t>Contrôleur</a:t>
            </a:r>
            <a:endParaRPr lang="en-US" sz="1350" dirty="0"/>
          </a:p>
        </p:txBody>
      </p:sp>
      <p:sp>
        <p:nvSpPr>
          <p:cNvPr id="92" name="Text 18">
            <a:extLst>
              <a:ext uri="{FF2B5EF4-FFF2-40B4-BE49-F238E27FC236}">
                <a16:creationId xmlns:a16="http://schemas.microsoft.com/office/drawing/2014/main" id="{22429FB5-BA62-33CA-5131-851EEF62C537}"/>
              </a:ext>
            </a:extLst>
          </p:cNvPr>
          <p:cNvSpPr/>
          <p:nvPr/>
        </p:nvSpPr>
        <p:spPr>
          <a:xfrm>
            <a:off x="1508760" y="4822773"/>
            <a:ext cx="3657600" cy="521208"/>
          </a:xfrm>
          <a:prstGeom prst="rect">
            <a:avLst/>
          </a:prstGeom>
          <a:noFill/>
          <a:ln/>
        </p:spPr>
        <p:txBody>
          <a:bodyPr wrap="square" lIns="0" tIns="0" rIns="0" bIns="0" rtlCol="0" anchor="t"/>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Requêtes et coordination</a:t>
            </a:r>
            <a:endParaRPr lang="en-US" sz="1050" dirty="0"/>
          </a:p>
        </p:txBody>
      </p:sp>
      <p:sp>
        <p:nvSpPr>
          <p:cNvPr id="93" name="Shape 19">
            <a:extLst>
              <a:ext uri="{FF2B5EF4-FFF2-40B4-BE49-F238E27FC236}">
                <a16:creationId xmlns:a16="http://schemas.microsoft.com/office/drawing/2014/main" id="{006FF6EF-B272-7850-9746-D4758678D1CF}"/>
              </a:ext>
            </a:extLst>
          </p:cNvPr>
          <p:cNvSpPr/>
          <p:nvPr/>
        </p:nvSpPr>
        <p:spPr>
          <a:xfrm>
            <a:off x="5806440" y="1421205"/>
            <a:ext cx="5852160" cy="777240"/>
          </a:xfrm>
          <a:prstGeom prst="roundRect">
            <a:avLst>
              <a:gd name="adj" fmla="val 8235"/>
            </a:avLst>
          </a:prstGeom>
          <a:solidFill>
            <a:srgbClr val="FFFFFF"/>
          </a:solidFill>
          <a:ln w="9525">
            <a:solidFill>
              <a:srgbClr val="E5E7EB"/>
            </a:solidFill>
            <a:prstDash val="solid"/>
          </a:ln>
        </p:spPr>
        <p:txBody>
          <a:bodyPr/>
          <a:lstStyle/>
          <a:p>
            <a:endParaRPr lang="fr-FR"/>
          </a:p>
        </p:txBody>
      </p:sp>
      <p:sp>
        <p:nvSpPr>
          <p:cNvPr id="94" name="Text 20">
            <a:extLst>
              <a:ext uri="{FF2B5EF4-FFF2-40B4-BE49-F238E27FC236}">
                <a16:creationId xmlns:a16="http://schemas.microsoft.com/office/drawing/2014/main" id="{9093A907-7F4C-E9D9-F73A-EEAE44A5644B}"/>
              </a:ext>
            </a:extLst>
          </p:cNvPr>
          <p:cNvSpPr/>
          <p:nvPr/>
        </p:nvSpPr>
        <p:spPr>
          <a:xfrm>
            <a:off x="6035040" y="1494357"/>
            <a:ext cx="5394960" cy="292608"/>
          </a:xfrm>
          <a:prstGeom prst="rect">
            <a:avLst/>
          </a:prstGeom>
          <a:noFill/>
          <a:ln/>
        </p:spPr>
        <p:txBody>
          <a:bodyPr wrap="square" lIns="0" tIns="0" rIns="0" bIns="0" rtlCol="0" anchor="ctr"/>
          <a:lstStyle/>
          <a:p>
            <a:pPr marL="0" indent="0">
              <a:buNone/>
            </a:pPr>
            <a:r>
              <a:rPr lang="en-US" sz="1250" b="1" dirty="0">
                <a:solidFill>
                  <a:srgbClr val="3730A3"/>
                </a:solidFill>
                <a:latin typeface="Calibri" pitchFamily="34" charset="0"/>
                <a:ea typeface="Calibri" pitchFamily="34" charset="-122"/>
                <a:cs typeface="Calibri" pitchFamily="34" charset="-120"/>
              </a:rPr>
              <a:t>Langage &amp; SGBD</a:t>
            </a:r>
            <a:endParaRPr lang="en-US" sz="1250" dirty="0"/>
          </a:p>
        </p:txBody>
      </p:sp>
      <p:sp>
        <p:nvSpPr>
          <p:cNvPr id="95" name="Text 21">
            <a:extLst>
              <a:ext uri="{FF2B5EF4-FFF2-40B4-BE49-F238E27FC236}">
                <a16:creationId xmlns:a16="http://schemas.microsoft.com/office/drawing/2014/main" id="{60C2BBA2-B10D-0694-8E54-C14952351B0E}"/>
              </a:ext>
            </a:extLst>
          </p:cNvPr>
          <p:cNvSpPr/>
          <p:nvPr/>
        </p:nvSpPr>
        <p:spPr>
          <a:xfrm>
            <a:off x="6035040" y="1786965"/>
            <a:ext cx="5394960" cy="384048"/>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PHP 8.3  ·  MySQL 8.0  ·  PDO</a:t>
            </a:r>
            <a:endParaRPr lang="en-US" sz="1100" dirty="0"/>
          </a:p>
        </p:txBody>
      </p:sp>
      <p:sp>
        <p:nvSpPr>
          <p:cNvPr id="96" name="Shape 22">
            <a:extLst>
              <a:ext uri="{FF2B5EF4-FFF2-40B4-BE49-F238E27FC236}">
                <a16:creationId xmlns:a16="http://schemas.microsoft.com/office/drawing/2014/main" id="{0BA9F8DB-E0CA-01D3-D2DF-7B9813BF0D67}"/>
              </a:ext>
            </a:extLst>
          </p:cNvPr>
          <p:cNvSpPr/>
          <p:nvPr/>
        </p:nvSpPr>
        <p:spPr>
          <a:xfrm>
            <a:off x="5806440" y="2317317"/>
            <a:ext cx="5852160" cy="777240"/>
          </a:xfrm>
          <a:prstGeom prst="roundRect">
            <a:avLst>
              <a:gd name="adj" fmla="val 8235"/>
            </a:avLst>
          </a:prstGeom>
          <a:solidFill>
            <a:srgbClr val="EEF2FF"/>
          </a:solidFill>
          <a:ln w="9525">
            <a:solidFill>
              <a:srgbClr val="E5E7EB"/>
            </a:solidFill>
            <a:prstDash val="solid"/>
          </a:ln>
        </p:spPr>
        <p:txBody>
          <a:bodyPr/>
          <a:lstStyle/>
          <a:p>
            <a:endParaRPr lang="fr-FR"/>
          </a:p>
        </p:txBody>
      </p:sp>
      <p:sp>
        <p:nvSpPr>
          <p:cNvPr id="97" name="Text 23">
            <a:extLst>
              <a:ext uri="{FF2B5EF4-FFF2-40B4-BE49-F238E27FC236}">
                <a16:creationId xmlns:a16="http://schemas.microsoft.com/office/drawing/2014/main" id="{B20FF32C-59C8-2E30-EDAE-46A96AF4484F}"/>
              </a:ext>
            </a:extLst>
          </p:cNvPr>
          <p:cNvSpPr/>
          <p:nvPr/>
        </p:nvSpPr>
        <p:spPr>
          <a:xfrm>
            <a:off x="6035040" y="2390469"/>
            <a:ext cx="5394960" cy="292608"/>
          </a:xfrm>
          <a:prstGeom prst="rect">
            <a:avLst/>
          </a:prstGeom>
          <a:noFill/>
          <a:ln/>
        </p:spPr>
        <p:txBody>
          <a:bodyPr wrap="square" lIns="0" tIns="0" rIns="0" bIns="0" rtlCol="0" anchor="ctr"/>
          <a:lstStyle/>
          <a:p>
            <a:pPr marL="0" indent="0">
              <a:buNone/>
            </a:pPr>
            <a:r>
              <a:rPr lang="en-US" sz="1250" b="1" dirty="0">
                <a:solidFill>
                  <a:srgbClr val="3730A3"/>
                </a:solidFill>
                <a:latin typeface="Calibri" pitchFamily="34" charset="0"/>
                <a:ea typeface="Calibri" pitchFamily="34" charset="-122"/>
                <a:cs typeface="Calibri" pitchFamily="34" charset="-120"/>
              </a:rPr>
              <a:t>Frontend</a:t>
            </a:r>
            <a:endParaRPr lang="en-US" sz="1250" dirty="0"/>
          </a:p>
        </p:txBody>
      </p:sp>
      <p:sp>
        <p:nvSpPr>
          <p:cNvPr id="98" name="Text 24">
            <a:extLst>
              <a:ext uri="{FF2B5EF4-FFF2-40B4-BE49-F238E27FC236}">
                <a16:creationId xmlns:a16="http://schemas.microsoft.com/office/drawing/2014/main" id="{A0948CE1-4BEE-101A-3D0C-1373A55B9ACD}"/>
              </a:ext>
            </a:extLst>
          </p:cNvPr>
          <p:cNvSpPr/>
          <p:nvPr/>
        </p:nvSpPr>
        <p:spPr>
          <a:xfrm>
            <a:off x="6035040" y="2683077"/>
            <a:ext cx="5394960" cy="384048"/>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HTML5  ·  CSS  ·  JavaScript natif</a:t>
            </a:r>
            <a:endParaRPr lang="en-US" sz="1100" dirty="0"/>
          </a:p>
        </p:txBody>
      </p:sp>
      <p:sp>
        <p:nvSpPr>
          <p:cNvPr id="99" name="Shape 25">
            <a:extLst>
              <a:ext uri="{FF2B5EF4-FFF2-40B4-BE49-F238E27FC236}">
                <a16:creationId xmlns:a16="http://schemas.microsoft.com/office/drawing/2014/main" id="{51A8197C-1FE5-6FCC-4A3F-CE12AA5A9BB6}"/>
              </a:ext>
            </a:extLst>
          </p:cNvPr>
          <p:cNvSpPr/>
          <p:nvPr/>
        </p:nvSpPr>
        <p:spPr>
          <a:xfrm>
            <a:off x="5806440" y="3213429"/>
            <a:ext cx="5852160" cy="777240"/>
          </a:xfrm>
          <a:prstGeom prst="roundRect">
            <a:avLst>
              <a:gd name="adj" fmla="val 8235"/>
            </a:avLst>
          </a:prstGeom>
          <a:solidFill>
            <a:srgbClr val="FFFFFF"/>
          </a:solidFill>
          <a:ln w="9525">
            <a:solidFill>
              <a:srgbClr val="E5E7EB"/>
            </a:solidFill>
            <a:prstDash val="solid"/>
          </a:ln>
        </p:spPr>
        <p:txBody>
          <a:bodyPr/>
          <a:lstStyle/>
          <a:p>
            <a:endParaRPr lang="fr-FR"/>
          </a:p>
        </p:txBody>
      </p:sp>
      <p:sp>
        <p:nvSpPr>
          <p:cNvPr id="100" name="Text 26">
            <a:extLst>
              <a:ext uri="{FF2B5EF4-FFF2-40B4-BE49-F238E27FC236}">
                <a16:creationId xmlns:a16="http://schemas.microsoft.com/office/drawing/2014/main" id="{3833C767-70B4-256A-6A51-8021ABBF99F2}"/>
              </a:ext>
            </a:extLst>
          </p:cNvPr>
          <p:cNvSpPr/>
          <p:nvPr/>
        </p:nvSpPr>
        <p:spPr>
          <a:xfrm>
            <a:off x="6035040" y="3286581"/>
            <a:ext cx="5394960" cy="292608"/>
          </a:xfrm>
          <a:prstGeom prst="rect">
            <a:avLst/>
          </a:prstGeom>
          <a:noFill/>
          <a:ln/>
        </p:spPr>
        <p:txBody>
          <a:bodyPr wrap="square" lIns="0" tIns="0" rIns="0" bIns="0" rtlCol="0" anchor="ctr"/>
          <a:lstStyle/>
          <a:p>
            <a:pPr marL="0" indent="0">
              <a:buNone/>
            </a:pPr>
            <a:r>
              <a:rPr lang="en-US" sz="1250" b="1" dirty="0">
                <a:solidFill>
                  <a:srgbClr val="3730A3"/>
                </a:solidFill>
                <a:latin typeface="Calibri" pitchFamily="34" charset="0"/>
                <a:ea typeface="Calibri" pitchFamily="34" charset="-122"/>
                <a:cs typeface="Calibri" pitchFamily="34" charset="-120"/>
              </a:rPr>
              <a:t>Bibliothèques</a:t>
            </a:r>
            <a:endParaRPr lang="en-US" sz="1250" dirty="0"/>
          </a:p>
        </p:txBody>
      </p:sp>
      <p:sp>
        <p:nvSpPr>
          <p:cNvPr id="101" name="Text 27">
            <a:extLst>
              <a:ext uri="{FF2B5EF4-FFF2-40B4-BE49-F238E27FC236}">
                <a16:creationId xmlns:a16="http://schemas.microsoft.com/office/drawing/2014/main" id="{810BA2AD-6CAA-1E06-437B-B1028BB23A5B}"/>
              </a:ext>
            </a:extLst>
          </p:cNvPr>
          <p:cNvSpPr/>
          <p:nvPr/>
        </p:nvSpPr>
        <p:spPr>
          <a:xfrm>
            <a:off x="6035040" y="3579189"/>
            <a:ext cx="5394960" cy="384048"/>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phpdotenv  ·  PHPMailer</a:t>
            </a:r>
            <a:endParaRPr lang="en-US" sz="1100" dirty="0"/>
          </a:p>
        </p:txBody>
      </p:sp>
      <p:sp>
        <p:nvSpPr>
          <p:cNvPr id="102" name="Shape 28">
            <a:extLst>
              <a:ext uri="{FF2B5EF4-FFF2-40B4-BE49-F238E27FC236}">
                <a16:creationId xmlns:a16="http://schemas.microsoft.com/office/drawing/2014/main" id="{7A9480EF-50C8-9812-D833-DE86C660B2CB}"/>
              </a:ext>
            </a:extLst>
          </p:cNvPr>
          <p:cNvSpPr/>
          <p:nvPr/>
        </p:nvSpPr>
        <p:spPr>
          <a:xfrm>
            <a:off x="5806440" y="4109541"/>
            <a:ext cx="5852160" cy="777240"/>
          </a:xfrm>
          <a:prstGeom prst="roundRect">
            <a:avLst>
              <a:gd name="adj" fmla="val 8235"/>
            </a:avLst>
          </a:prstGeom>
          <a:solidFill>
            <a:srgbClr val="EEF2FF"/>
          </a:solidFill>
          <a:ln w="9525">
            <a:solidFill>
              <a:srgbClr val="E5E7EB"/>
            </a:solidFill>
            <a:prstDash val="solid"/>
          </a:ln>
        </p:spPr>
        <p:txBody>
          <a:bodyPr/>
          <a:lstStyle/>
          <a:p>
            <a:endParaRPr lang="fr-FR"/>
          </a:p>
        </p:txBody>
      </p:sp>
      <p:sp>
        <p:nvSpPr>
          <p:cNvPr id="103" name="Text 29">
            <a:extLst>
              <a:ext uri="{FF2B5EF4-FFF2-40B4-BE49-F238E27FC236}">
                <a16:creationId xmlns:a16="http://schemas.microsoft.com/office/drawing/2014/main" id="{E872C028-AA5B-0199-A10E-DF575EEF6D60}"/>
              </a:ext>
            </a:extLst>
          </p:cNvPr>
          <p:cNvSpPr/>
          <p:nvPr/>
        </p:nvSpPr>
        <p:spPr>
          <a:xfrm>
            <a:off x="6035040" y="4182693"/>
            <a:ext cx="5394960" cy="292608"/>
          </a:xfrm>
          <a:prstGeom prst="rect">
            <a:avLst/>
          </a:prstGeom>
          <a:noFill/>
          <a:ln/>
        </p:spPr>
        <p:txBody>
          <a:bodyPr wrap="square" lIns="0" tIns="0" rIns="0" bIns="0" rtlCol="0" anchor="ctr"/>
          <a:lstStyle/>
          <a:p>
            <a:pPr marL="0" indent="0">
              <a:buNone/>
            </a:pPr>
            <a:r>
              <a:rPr lang="en-US" sz="1250" b="1" dirty="0">
                <a:solidFill>
                  <a:srgbClr val="3730A3"/>
                </a:solidFill>
                <a:latin typeface="Calibri" pitchFamily="34" charset="0"/>
                <a:ea typeface="Calibri" pitchFamily="34" charset="-122"/>
                <a:cs typeface="Calibri" pitchFamily="34" charset="-120"/>
              </a:rPr>
              <a:t>Infrastructure</a:t>
            </a:r>
            <a:endParaRPr lang="en-US" sz="1250" dirty="0"/>
          </a:p>
        </p:txBody>
      </p:sp>
      <p:sp>
        <p:nvSpPr>
          <p:cNvPr id="104" name="Text 30">
            <a:extLst>
              <a:ext uri="{FF2B5EF4-FFF2-40B4-BE49-F238E27FC236}">
                <a16:creationId xmlns:a16="http://schemas.microsoft.com/office/drawing/2014/main" id="{17806195-30FA-BC15-26EB-BB5CC031D115}"/>
              </a:ext>
            </a:extLst>
          </p:cNvPr>
          <p:cNvSpPr/>
          <p:nvPr/>
        </p:nvSpPr>
        <p:spPr>
          <a:xfrm>
            <a:off x="6035040" y="4475301"/>
            <a:ext cx="5394960" cy="384048"/>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Docker Compose : Apache, MySQL, phpMyAdmin</a:t>
            </a:r>
            <a:endParaRPr lang="en-US" sz="1100" dirty="0"/>
          </a:p>
        </p:txBody>
      </p:sp>
      <p:sp>
        <p:nvSpPr>
          <p:cNvPr id="105" name="Shape 31">
            <a:extLst>
              <a:ext uri="{FF2B5EF4-FFF2-40B4-BE49-F238E27FC236}">
                <a16:creationId xmlns:a16="http://schemas.microsoft.com/office/drawing/2014/main" id="{1D6D608F-1D06-1498-0EC6-605F3B0D3E59}"/>
              </a:ext>
            </a:extLst>
          </p:cNvPr>
          <p:cNvSpPr/>
          <p:nvPr/>
        </p:nvSpPr>
        <p:spPr>
          <a:xfrm>
            <a:off x="5806440" y="5005653"/>
            <a:ext cx="5852160" cy="777240"/>
          </a:xfrm>
          <a:prstGeom prst="roundRect">
            <a:avLst>
              <a:gd name="adj" fmla="val 8235"/>
            </a:avLst>
          </a:prstGeom>
          <a:solidFill>
            <a:srgbClr val="FFFFFF"/>
          </a:solidFill>
          <a:ln w="9525">
            <a:solidFill>
              <a:srgbClr val="E5E7EB"/>
            </a:solidFill>
            <a:prstDash val="solid"/>
          </a:ln>
        </p:spPr>
        <p:txBody>
          <a:bodyPr/>
          <a:lstStyle/>
          <a:p>
            <a:endParaRPr lang="fr-FR"/>
          </a:p>
        </p:txBody>
      </p:sp>
      <p:sp>
        <p:nvSpPr>
          <p:cNvPr id="106" name="Text 32">
            <a:extLst>
              <a:ext uri="{FF2B5EF4-FFF2-40B4-BE49-F238E27FC236}">
                <a16:creationId xmlns:a16="http://schemas.microsoft.com/office/drawing/2014/main" id="{0822A39D-1EC0-A7ED-6084-473CFD76150A}"/>
              </a:ext>
            </a:extLst>
          </p:cNvPr>
          <p:cNvSpPr/>
          <p:nvPr/>
        </p:nvSpPr>
        <p:spPr>
          <a:xfrm>
            <a:off x="6035040" y="5078805"/>
            <a:ext cx="5394960" cy="292608"/>
          </a:xfrm>
          <a:prstGeom prst="rect">
            <a:avLst/>
          </a:prstGeom>
          <a:noFill/>
          <a:ln/>
        </p:spPr>
        <p:txBody>
          <a:bodyPr wrap="square" lIns="0" tIns="0" rIns="0" bIns="0" rtlCol="0" anchor="ctr"/>
          <a:lstStyle/>
          <a:p>
            <a:pPr marL="0" indent="0">
              <a:buNone/>
            </a:pPr>
            <a:r>
              <a:rPr lang="en-US" sz="1250" b="1" dirty="0">
                <a:solidFill>
                  <a:srgbClr val="3730A3"/>
                </a:solidFill>
                <a:latin typeface="Calibri" pitchFamily="34" charset="0"/>
                <a:ea typeface="Calibri" pitchFamily="34" charset="-122"/>
                <a:cs typeface="Calibri" pitchFamily="34" charset="-120"/>
              </a:rPr>
              <a:t>Outils</a:t>
            </a:r>
            <a:endParaRPr lang="en-US" sz="1250" dirty="0"/>
          </a:p>
        </p:txBody>
      </p:sp>
      <p:sp>
        <p:nvSpPr>
          <p:cNvPr id="107" name="Text 33">
            <a:extLst>
              <a:ext uri="{FF2B5EF4-FFF2-40B4-BE49-F238E27FC236}">
                <a16:creationId xmlns:a16="http://schemas.microsoft.com/office/drawing/2014/main" id="{2E38015B-089C-D824-FD04-DD85606F546B}"/>
              </a:ext>
            </a:extLst>
          </p:cNvPr>
          <p:cNvSpPr/>
          <p:nvPr/>
        </p:nvSpPr>
        <p:spPr>
          <a:xfrm>
            <a:off x="6035040" y="5371413"/>
            <a:ext cx="5394960" cy="384048"/>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Visual Studio Code, Git, GitHub</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p:cTn id="7" dur="500" fill="hold"/>
                                        <p:tgtEl>
                                          <p:spTgt spid="76"/>
                                        </p:tgtEl>
                                        <p:attrNameLst>
                                          <p:attrName>ppt_w</p:attrName>
                                        </p:attrNameLst>
                                      </p:cBhvr>
                                      <p:tavLst>
                                        <p:tav tm="0">
                                          <p:val>
                                            <p:fltVal val="0"/>
                                          </p:val>
                                        </p:tav>
                                        <p:tav tm="100000">
                                          <p:val>
                                            <p:strVal val="#ppt_w"/>
                                          </p:val>
                                        </p:tav>
                                      </p:tavLst>
                                    </p:anim>
                                    <p:anim calcmode="lin" valueType="num">
                                      <p:cBhvr>
                                        <p:cTn id="8" dur="500" fill="hold"/>
                                        <p:tgtEl>
                                          <p:spTgt spid="76"/>
                                        </p:tgtEl>
                                        <p:attrNameLst>
                                          <p:attrName>ppt_h</p:attrName>
                                        </p:attrNameLst>
                                      </p:cBhvr>
                                      <p:tavLst>
                                        <p:tav tm="0">
                                          <p:val>
                                            <p:fltVal val="0"/>
                                          </p:val>
                                        </p:tav>
                                        <p:tav tm="100000">
                                          <p:val>
                                            <p:strVal val="#ppt_h"/>
                                          </p:val>
                                        </p:tav>
                                      </p:tavLst>
                                    </p:anim>
                                    <p:animEffect transition="in" filter="fade">
                                      <p:cBhvr>
                                        <p:cTn id="9" dur="500"/>
                                        <p:tgtEl>
                                          <p:spTgt spid="7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8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8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8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8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91"/>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9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8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9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94"/>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9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96"/>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97"/>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9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9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00"/>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0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0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03"/>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04"/>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05"/>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06"/>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8" grpId="0" animBg="1"/>
      <p:bldP spid="80" grpId="0" animBg="1"/>
      <p:bldP spid="81" grpId="0" animBg="1"/>
      <p:bldP spid="82" grpId="0" animBg="1"/>
      <p:bldP spid="83" grpId="0" animBg="1"/>
      <p:bldP spid="84" grpId="0" animBg="1"/>
      <p:bldP spid="86" grpId="0" animBg="1"/>
      <p:bldP spid="87" grpId="0" animBg="1"/>
      <p:bldP spid="88" grpId="0" animBg="1"/>
      <p:bldP spid="89"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07 · DÉMONSTRATION</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Un approvisionnement B2B de bout en bout</a:t>
            </a:r>
            <a:endParaRPr lang="en-US" sz="2800" dirty="0"/>
          </a:p>
        </p:txBody>
      </p:sp>
      <p:sp>
        <p:nvSpPr>
          <p:cNvPr id="4" name="Text 2"/>
          <p:cNvSpPr txBox="1"/>
          <p:nvPr/>
        </p:nvSpPr>
        <p:spPr>
          <a:xfrm>
            <a:off x="731520" y="1691640"/>
            <a:ext cx="3657600" cy="365760"/>
          </a:xfrm>
          <a:prstGeom prst="rect">
            <a:avLst/>
          </a:prstGeom>
          <a:noFill/>
          <a:ln/>
        </p:spPr>
        <p:txBody>
          <a:bodyPr wrap="square" lIns="0" tIns="0" rIns="0" bIns="0" rtlCol="0" anchor="t"/>
          <a:lstStyle/>
          <a:p>
            <a:pPr marL="0" indent="0">
              <a:buNone/>
            </a:pPr>
            <a:r>
              <a:rPr lang="en-US" sz="1700" b="1" dirty="0">
                <a:solidFill>
                  <a:srgbClr val="1F2A5C"/>
                </a:solidFill>
                <a:latin typeface="Segoe UI" pitchFamily="34" charset="0"/>
                <a:ea typeface="Segoe UI" pitchFamily="34" charset="-122"/>
                <a:cs typeface="Segoe UI" pitchFamily="34" charset="-120"/>
              </a:rPr>
              <a:t>Entreprise acheteuse</a:t>
            </a:r>
            <a:endParaRPr lang="en-US" sz="1700" dirty="0"/>
          </a:p>
        </p:txBody>
      </p:sp>
      <p:sp>
        <p:nvSpPr>
          <p:cNvPr id="5" name="Text 3"/>
          <p:cNvSpPr txBox="1"/>
          <p:nvPr/>
        </p:nvSpPr>
        <p:spPr>
          <a:xfrm>
            <a:off x="731520" y="3794760"/>
            <a:ext cx="3657600" cy="365760"/>
          </a:xfrm>
          <a:prstGeom prst="rect">
            <a:avLst/>
          </a:prstGeom>
          <a:noFill/>
          <a:ln/>
        </p:spPr>
        <p:txBody>
          <a:bodyPr wrap="square" lIns="0" tIns="0" rIns="0" bIns="0" rtlCol="0" anchor="t"/>
          <a:lstStyle/>
          <a:p>
            <a:pPr marL="0" indent="0">
              <a:buNone/>
            </a:pPr>
            <a:r>
              <a:rPr lang="en-US" sz="1700" b="1" dirty="0">
                <a:solidFill>
                  <a:srgbClr val="A65F00"/>
                </a:solidFill>
                <a:latin typeface="Segoe UI" pitchFamily="34" charset="0"/>
                <a:ea typeface="Segoe UI" pitchFamily="34" charset="-122"/>
                <a:cs typeface="Segoe UI" pitchFamily="34" charset="-120"/>
              </a:rPr>
              <a:t>Entreprise vendeuse</a:t>
            </a:r>
            <a:endParaRPr lang="en-US" sz="1700" dirty="0"/>
          </a:p>
        </p:txBody>
      </p:sp>
      <p:sp>
        <p:nvSpPr>
          <p:cNvPr id="6" name="Shape 4"/>
          <p:cNvSpPr/>
          <p:nvPr/>
        </p:nvSpPr>
        <p:spPr>
          <a:xfrm>
            <a:off x="731520" y="3611880"/>
            <a:ext cx="10725912" cy="0"/>
          </a:xfrm>
          <a:prstGeom prst="line">
            <a:avLst/>
          </a:prstGeom>
          <a:noFill/>
          <a:ln w="9525">
            <a:solidFill>
              <a:srgbClr val="D5D9E2"/>
            </a:solidFill>
            <a:prstDash val="dash"/>
          </a:ln>
        </p:spPr>
      </p:sp>
      <p:sp>
        <p:nvSpPr>
          <p:cNvPr id="7" name="Shape 5"/>
          <p:cNvSpPr/>
          <p:nvPr/>
        </p:nvSpPr>
        <p:spPr>
          <a:xfrm>
            <a:off x="731520" y="2194560"/>
            <a:ext cx="2423160" cy="1097280"/>
          </a:xfrm>
          <a:prstGeom prst="roundRect">
            <a:avLst>
              <a:gd name="adj" fmla="val 6667"/>
            </a:avLst>
          </a:prstGeom>
          <a:solidFill>
            <a:srgbClr val="1F2A5C"/>
          </a:solidFill>
          <a:ln/>
        </p:spPr>
      </p:sp>
      <p:sp>
        <p:nvSpPr>
          <p:cNvPr id="8" name="Text 6"/>
          <p:cNvSpPr txBox="1"/>
          <p:nvPr/>
        </p:nvSpPr>
        <p:spPr>
          <a:xfrm>
            <a:off x="896112" y="2286000"/>
            <a:ext cx="457200" cy="301752"/>
          </a:xfrm>
          <a:prstGeom prst="rect">
            <a:avLst/>
          </a:prstGeom>
          <a:noFill/>
          <a:ln/>
        </p:spPr>
        <p:txBody>
          <a:bodyPr wrap="square" lIns="0" tIns="0" rIns="0" bIns="0" rtlCol="0" anchor="t"/>
          <a:lstStyle/>
          <a:p>
            <a:pPr marL="0" indent="0">
              <a:buNone/>
            </a:pPr>
            <a:r>
              <a:rPr lang="en-US" sz="1400" b="1" dirty="0">
                <a:solidFill>
                  <a:srgbClr val="F2A93B"/>
                </a:solidFill>
                <a:latin typeface="Segoe UI" pitchFamily="34" charset="0"/>
                <a:ea typeface="Segoe UI" pitchFamily="34" charset="-122"/>
                <a:cs typeface="Segoe UI" pitchFamily="34" charset="-120"/>
              </a:rPr>
              <a:t>1</a:t>
            </a:r>
            <a:endParaRPr lang="en-US" sz="1400" dirty="0"/>
          </a:p>
        </p:txBody>
      </p:sp>
      <p:sp>
        <p:nvSpPr>
          <p:cNvPr id="9" name="Text 7"/>
          <p:cNvSpPr txBox="1"/>
          <p:nvPr/>
        </p:nvSpPr>
        <p:spPr>
          <a:xfrm>
            <a:off x="896112" y="2578608"/>
            <a:ext cx="2103120" cy="685800"/>
          </a:xfrm>
          <a:prstGeom prst="rect">
            <a:avLst/>
          </a:prstGeom>
          <a:noFill/>
          <a:ln/>
        </p:spPr>
        <p:txBody>
          <a:bodyPr wrap="square" lIns="0" tIns="0" rIns="0" bIns="0" rtlCol="0" anchor="t"/>
          <a:lstStyle/>
          <a:p>
            <a:pPr marL="0" indent="0">
              <a:buNone/>
            </a:pPr>
            <a:r>
              <a:rPr lang="en-US" sz="1550" b="1" dirty="0">
                <a:solidFill>
                  <a:srgbClr val="FFFFFF"/>
                </a:solidFill>
                <a:latin typeface="Segoe UI" pitchFamily="34" charset="0"/>
                <a:ea typeface="Segoe UI" pitchFamily="34" charset="-122"/>
                <a:cs typeface="Segoe UI" pitchFamily="34" charset="-120"/>
              </a:rPr>
              <a:t>Rechercher une offre</a:t>
            </a:r>
            <a:endParaRPr lang="en-US" sz="1550" dirty="0"/>
          </a:p>
        </p:txBody>
      </p:sp>
      <p:sp>
        <p:nvSpPr>
          <p:cNvPr id="10" name="Shape 8"/>
          <p:cNvSpPr/>
          <p:nvPr/>
        </p:nvSpPr>
        <p:spPr>
          <a:xfrm>
            <a:off x="3520440" y="2194560"/>
            <a:ext cx="2423160" cy="1097280"/>
          </a:xfrm>
          <a:prstGeom prst="roundRect">
            <a:avLst>
              <a:gd name="adj" fmla="val 6667"/>
            </a:avLst>
          </a:prstGeom>
          <a:solidFill>
            <a:srgbClr val="1F2A5C"/>
          </a:solidFill>
          <a:ln/>
        </p:spPr>
      </p:sp>
      <p:sp>
        <p:nvSpPr>
          <p:cNvPr id="11" name="Text 9"/>
          <p:cNvSpPr txBox="1"/>
          <p:nvPr/>
        </p:nvSpPr>
        <p:spPr>
          <a:xfrm>
            <a:off x="3685032" y="2286000"/>
            <a:ext cx="457200" cy="301752"/>
          </a:xfrm>
          <a:prstGeom prst="rect">
            <a:avLst/>
          </a:prstGeom>
          <a:noFill/>
          <a:ln/>
        </p:spPr>
        <p:txBody>
          <a:bodyPr wrap="square" lIns="0" tIns="0" rIns="0" bIns="0" rtlCol="0" anchor="t"/>
          <a:lstStyle/>
          <a:p>
            <a:pPr marL="0" indent="0">
              <a:buNone/>
            </a:pPr>
            <a:r>
              <a:rPr lang="en-US" sz="1400" b="1" dirty="0">
                <a:solidFill>
                  <a:srgbClr val="F2A93B"/>
                </a:solidFill>
                <a:latin typeface="Segoe UI" pitchFamily="34" charset="0"/>
                <a:ea typeface="Segoe UI" pitchFamily="34" charset="-122"/>
                <a:cs typeface="Segoe UI" pitchFamily="34" charset="-120"/>
              </a:rPr>
              <a:t>2</a:t>
            </a:r>
            <a:endParaRPr lang="en-US" sz="1400" dirty="0"/>
          </a:p>
        </p:txBody>
      </p:sp>
      <p:sp>
        <p:nvSpPr>
          <p:cNvPr id="12" name="Text 10"/>
          <p:cNvSpPr txBox="1"/>
          <p:nvPr/>
        </p:nvSpPr>
        <p:spPr>
          <a:xfrm>
            <a:off x="3685032" y="2578608"/>
            <a:ext cx="2103120" cy="685800"/>
          </a:xfrm>
          <a:prstGeom prst="rect">
            <a:avLst/>
          </a:prstGeom>
          <a:noFill/>
          <a:ln/>
        </p:spPr>
        <p:txBody>
          <a:bodyPr wrap="square" lIns="0" tIns="0" rIns="0" bIns="0" rtlCol="0" anchor="t"/>
          <a:lstStyle/>
          <a:p>
            <a:pPr marL="0" indent="0">
              <a:buNone/>
            </a:pPr>
            <a:r>
              <a:rPr lang="en-US" sz="1550" b="1" dirty="0">
                <a:solidFill>
                  <a:srgbClr val="FFFFFF"/>
                </a:solidFill>
                <a:latin typeface="Segoe UI" pitchFamily="34" charset="0"/>
                <a:ea typeface="Segoe UI" pitchFamily="34" charset="-122"/>
                <a:cs typeface="Segoe UI" pitchFamily="34" charset="-120"/>
              </a:rPr>
              <a:t>Consulter le fournisseur</a:t>
            </a:r>
            <a:endParaRPr lang="en-US" sz="1550" dirty="0"/>
          </a:p>
        </p:txBody>
      </p:sp>
      <p:sp>
        <p:nvSpPr>
          <p:cNvPr id="13" name="Shape 11"/>
          <p:cNvSpPr/>
          <p:nvPr/>
        </p:nvSpPr>
        <p:spPr>
          <a:xfrm>
            <a:off x="6309360" y="2194560"/>
            <a:ext cx="2423160" cy="1097280"/>
          </a:xfrm>
          <a:prstGeom prst="roundRect">
            <a:avLst>
              <a:gd name="adj" fmla="val 6667"/>
            </a:avLst>
          </a:prstGeom>
          <a:solidFill>
            <a:srgbClr val="1F2A5C"/>
          </a:solidFill>
          <a:ln/>
        </p:spPr>
      </p:sp>
      <p:sp>
        <p:nvSpPr>
          <p:cNvPr id="14" name="Text 12"/>
          <p:cNvSpPr txBox="1"/>
          <p:nvPr/>
        </p:nvSpPr>
        <p:spPr>
          <a:xfrm>
            <a:off x="6473952" y="2286000"/>
            <a:ext cx="457200" cy="301752"/>
          </a:xfrm>
          <a:prstGeom prst="rect">
            <a:avLst/>
          </a:prstGeom>
          <a:noFill/>
          <a:ln/>
        </p:spPr>
        <p:txBody>
          <a:bodyPr wrap="square" lIns="0" tIns="0" rIns="0" bIns="0" rtlCol="0" anchor="t"/>
          <a:lstStyle/>
          <a:p>
            <a:pPr marL="0" indent="0">
              <a:buNone/>
            </a:pPr>
            <a:r>
              <a:rPr lang="en-US" sz="1400" b="1" dirty="0">
                <a:solidFill>
                  <a:srgbClr val="F2A93B"/>
                </a:solidFill>
                <a:latin typeface="Segoe UI" pitchFamily="34" charset="0"/>
                <a:ea typeface="Segoe UI" pitchFamily="34" charset="-122"/>
                <a:cs typeface="Segoe UI" pitchFamily="34" charset="-120"/>
              </a:rPr>
              <a:t>3</a:t>
            </a:r>
            <a:endParaRPr lang="en-US" sz="1400" dirty="0"/>
          </a:p>
        </p:txBody>
      </p:sp>
      <p:sp>
        <p:nvSpPr>
          <p:cNvPr id="15" name="Text 13"/>
          <p:cNvSpPr txBox="1"/>
          <p:nvPr/>
        </p:nvSpPr>
        <p:spPr>
          <a:xfrm>
            <a:off x="6473952" y="2578608"/>
            <a:ext cx="2103120" cy="685800"/>
          </a:xfrm>
          <a:prstGeom prst="rect">
            <a:avLst/>
          </a:prstGeom>
          <a:noFill/>
          <a:ln/>
        </p:spPr>
        <p:txBody>
          <a:bodyPr wrap="square" lIns="0" tIns="0" rIns="0" bIns="0" rtlCol="0" anchor="t"/>
          <a:lstStyle/>
          <a:p>
            <a:pPr marL="0" indent="0">
              <a:buNone/>
            </a:pPr>
            <a:r>
              <a:rPr lang="en-US" sz="1550" b="1" dirty="0">
                <a:solidFill>
                  <a:srgbClr val="FFFFFF"/>
                </a:solidFill>
                <a:latin typeface="Segoe UI" pitchFamily="34" charset="0"/>
                <a:ea typeface="Segoe UI" pitchFamily="34" charset="-122"/>
                <a:cs typeface="Segoe UI" pitchFamily="34" charset="-120"/>
              </a:rPr>
              <a:t>Passer la commande B2B</a:t>
            </a:r>
            <a:endParaRPr lang="en-US" sz="1550" dirty="0"/>
          </a:p>
        </p:txBody>
      </p:sp>
      <p:sp>
        <p:nvSpPr>
          <p:cNvPr id="16" name="Shape 14"/>
          <p:cNvSpPr/>
          <p:nvPr/>
        </p:nvSpPr>
        <p:spPr>
          <a:xfrm>
            <a:off x="6309360" y="4297680"/>
            <a:ext cx="2423160" cy="1097280"/>
          </a:xfrm>
          <a:prstGeom prst="roundRect">
            <a:avLst>
              <a:gd name="adj" fmla="val 6667"/>
            </a:avLst>
          </a:prstGeom>
          <a:solidFill>
            <a:srgbClr val="F2A93B"/>
          </a:solidFill>
          <a:ln/>
        </p:spPr>
      </p:sp>
      <p:sp>
        <p:nvSpPr>
          <p:cNvPr id="17" name="Text 15"/>
          <p:cNvSpPr txBox="1"/>
          <p:nvPr/>
        </p:nvSpPr>
        <p:spPr>
          <a:xfrm>
            <a:off x="6473952" y="4389120"/>
            <a:ext cx="457200" cy="301752"/>
          </a:xfrm>
          <a:prstGeom prst="rect">
            <a:avLst/>
          </a:prstGeom>
          <a:noFill/>
          <a:ln/>
        </p:spPr>
        <p:txBody>
          <a:bodyPr wrap="square" lIns="0" tIns="0" rIns="0" bIns="0" rtlCol="0" anchor="t"/>
          <a:lstStyle/>
          <a:p>
            <a:pPr marL="0" indent="0">
              <a:buNone/>
            </a:pPr>
            <a:r>
              <a:rPr lang="en-US" sz="1400" b="1" dirty="0">
                <a:solidFill>
                  <a:srgbClr val="1F2A5C"/>
                </a:solidFill>
                <a:latin typeface="Segoe UI" pitchFamily="34" charset="0"/>
                <a:ea typeface="Segoe UI" pitchFamily="34" charset="-122"/>
                <a:cs typeface="Segoe UI" pitchFamily="34" charset="-120"/>
              </a:rPr>
              <a:t>4</a:t>
            </a:r>
            <a:endParaRPr lang="en-US" sz="1400" dirty="0"/>
          </a:p>
        </p:txBody>
      </p:sp>
      <p:sp>
        <p:nvSpPr>
          <p:cNvPr id="18" name="Text 16"/>
          <p:cNvSpPr txBox="1"/>
          <p:nvPr/>
        </p:nvSpPr>
        <p:spPr>
          <a:xfrm>
            <a:off x="6473952" y="4681728"/>
            <a:ext cx="2103120" cy="685800"/>
          </a:xfrm>
          <a:prstGeom prst="rect">
            <a:avLst/>
          </a:prstGeom>
          <a:noFill/>
          <a:ln/>
        </p:spPr>
        <p:txBody>
          <a:bodyPr wrap="square" lIns="0" tIns="0" rIns="0" bIns="0" rtlCol="0" anchor="t"/>
          <a:lstStyle/>
          <a:p>
            <a:pPr marL="0" indent="0">
              <a:buNone/>
            </a:pPr>
            <a:r>
              <a:rPr lang="en-US" sz="1550" b="1" dirty="0">
                <a:solidFill>
                  <a:srgbClr val="1F2A5C"/>
                </a:solidFill>
                <a:latin typeface="Segoe UI" pitchFamily="34" charset="0"/>
                <a:ea typeface="Segoe UI" pitchFamily="34" charset="-122"/>
                <a:cs typeface="Segoe UI" pitchFamily="34" charset="-120"/>
              </a:rPr>
              <a:t>Recevoir la commande</a:t>
            </a:r>
            <a:endParaRPr lang="en-US" sz="1550" dirty="0"/>
          </a:p>
        </p:txBody>
      </p:sp>
      <p:sp>
        <p:nvSpPr>
          <p:cNvPr id="19" name="Shape 17"/>
          <p:cNvSpPr/>
          <p:nvPr/>
        </p:nvSpPr>
        <p:spPr>
          <a:xfrm>
            <a:off x="9034272" y="4297680"/>
            <a:ext cx="2423160" cy="1097280"/>
          </a:xfrm>
          <a:prstGeom prst="roundRect">
            <a:avLst>
              <a:gd name="adj" fmla="val 6667"/>
            </a:avLst>
          </a:prstGeom>
          <a:solidFill>
            <a:srgbClr val="F2A93B"/>
          </a:solidFill>
          <a:ln/>
        </p:spPr>
      </p:sp>
      <p:sp>
        <p:nvSpPr>
          <p:cNvPr id="20" name="Text 18"/>
          <p:cNvSpPr txBox="1"/>
          <p:nvPr/>
        </p:nvSpPr>
        <p:spPr>
          <a:xfrm>
            <a:off x="9198864" y="4389120"/>
            <a:ext cx="457200" cy="301752"/>
          </a:xfrm>
          <a:prstGeom prst="rect">
            <a:avLst/>
          </a:prstGeom>
          <a:noFill/>
          <a:ln/>
        </p:spPr>
        <p:txBody>
          <a:bodyPr wrap="square" lIns="0" tIns="0" rIns="0" bIns="0" rtlCol="0" anchor="t"/>
          <a:lstStyle/>
          <a:p>
            <a:pPr marL="0" indent="0">
              <a:buNone/>
            </a:pPr>
            <a:r>
              <a:rPr lang="en-US" sz="1400" b="1" dirty="0">
                <a:solidFill>
                  <a:srgbClr val="1F2A5C"/>
                </a:solidFill>
                <a:latin typeface="Segoe UI" pitchFamily="34" charset="0"/>
                <a:ea typeface="Segoe UI" pitchFamily="34" charset="-122"/>
                <a:cs typeface="Segoe UI" pitchFamily="34" charset="-120"/>
              </a:rPr>
              <a:t>5</a:t>
            </a:r>
            <a:endParaRPr lang="en-US" sz="1400" dirty="0"/>
          </a:p>
        </p:txBody>
      </p:sp>
      <p:sp>
        <p:nvSpPr>
          <p:cNvPr id="21" name="Text 19"/>
          <p:cNvSpPr txBox="1"/>
          <p:nvPr/>
        </p:nvSpPr>
        <p:spPr>
          <a:xfrm>
            <a:off x="9198864" y="4681728"/>
            <a:ext cx="2103120" cy="685800"/>
          </a:xfrm>
          <a:prstGeom prst="rect">
            <a:avLst/>
          </a:prstGeom>
          <a:noFill/>
          <a:ln/>
        </p:spPr>
        <p:txBody>
          <a:bodyPr wrap="square" lIns="0" tIns="0" rIns="0" bIns="0" rtlCol="0" anchor="t"/>
          <a:lstStyle/>
          <a:p>
            <a:pPr marL="0" indent="0">
              <a:buNone/>
            </a:pPr>
            <a:r>
              <a:rPr lang="en-US" sz="1550" b="1" dirty="0">
                <a:solidFill>
                  <a:srgbClr val="1F2A5C"/>
                </a:solidFill>
                <a:latin typeface="Segoe UI" pitchFamily="34" charset="0"/>
                <a:ea typeface="Segoe UI" pitchFamily="34" charset="-122"/>
                <a:cs typeface="Segoe UI" pitchFamily="34" charset="-120"/>
              </a:rPr>
              <a:t>Vérifier le stock, accepter ou refuser</a:t>
            </a:r>
            <a:endParaRPr lang="en-US" sz="1550" dirty="0"/>
          </a:p>
        </p:txBody>
      </p:sp>
      <p:sp>
        <p:nvSpPr>
          <p:cNvPr id="22" name="Shape 20"/>
          <p:cNvSpPr/>
          <p:nvPr/>
        </p:nvSpPr>
        <p:spPr>
          <a:xfrm>
            <a:off x="3172968" y="2743200"/>
            <a:ext cx="329184" cy="0"/>
          </a:xfrm>
          <a:prstGeom prst="line">
            <a:avLst/>
          </a:prstGeom>
          <a:noFill/>
          <a:ln w="19050">
            <a:solidFill>
              <a:srgbClr val="5B6478"/>
            </a:solidFill>
            <a:prstDash val="solid"/>
            <a:tailEnd type="triangle"/>
          </a:ln>
        </p:spPr>
      </p:sp>
      <p:sp>
        <p:nvSpPr>
          <p:cNvPr id="23" name="Shape 21"/>
          <p:cNvSpPr/>
          <p:nvPr/>
        </p:nvSpPr>
        <p:spPr>
          <a:xfrm>
            <a:off x="5961888" y="2743200"/>
            <a:ext cx="329184" cy="0"/>
          </a:xfrm>
          <a:prstGeom prst="line">
            <a:avLst/>
          </a:prstGeom>
          <a:noFill/>
          <a:ln w="19050">
            <a:solidFill>
              <a:srgbClr val="5B6478"/>
            </a:solidFill>
            <a:prstDash val="solid"/>
            <a:tailEnd type="triangle"/>
          </a:ln>
        </p:spPr>
      </p:sp>
      <p:sp>
        <p:nvSpPr>
          <p:cNvPr id="24" name="Shape 22"/>
          <p:cNvSpPr/>
          <p:nvPr/>
        </p:nvSpPr>
        <p:spPr>
          <a:xfrm>
            <a:off x="7516368" y="3310128"/>
            <a:ext cx="0" cy="969264"/>
          </a:xfrm>
          <a:prstGeom prst="line">
            <a:avLst/>
          </a:prstGeom>
          <a:noFill/>
          <a:ln w="19050">
            <a:solidFill>
              <a:srgbClr val="5B6478"/>
            </a:solidFill>
            <a:prstDash val="solid"/>
            <a:tailEnd type="triangle"/>
          </a:ln>
        </p:spPr>
      </p:sp>
      <p:sp>
        <p:nvSpPr>
          <p:cNvPr id="25" name="Shape 23"/>
          <p:cNvSpPr/>
          <p:nvPr/>
        </p:nvSpPr>
        <p:spPr>
          <a:xfrm>
            <a:off x="8750808" y="4846320"/>
            <a:ext cx="265176" cy="0"/>
          </a:xfrm>
          <a:prstGeom prst="line">
            <a:avLst/>
          </a:prstGeom>
          <a:noFill/>
          <a:ln w="19050">
            <a:solidFill>
              <a:srgbClr val="5B6478"/>
            </a:solidFill>
            <a:prstDash val="solid"/>
            <a:tailEnd type="triangle"/>
          </a:ln>
        </p:spPr>
      </p:sp>
      <p:sp>
        <p:nvSpPr>
          <p:cNvPr id="26" name="Text 24"/>
          <p:cNvSpPr txBox="1"/>
          <p:nvPr/>
        </p:nvSpPr>
        <p:spPr>
          <a:xfrm>
            <a:off x="731520" y="5760720"/>
            <a:ext cx="7315200" cy="365760"/>
          </a:xfrm>
          <a:prstGeom prst="rect">
            <a:avLst/>
          </a:prstGeom>
          <a:noFill/>
          <a:ln/>
        </p:spPr>
        <p:txBody>
          <a:bodyPr wrap="square" lIns="0" tIns="0" rIns="0" bIns="0" rtlCol="0" anchor="t"/>
          <a:lstStyle/>
          <a:p>
            <a:pPr marL="0" indent="0">
              <a:buNone/>
            </a:pPr>
            <a:r>
              <a:rPr lang="en-US" sz="1400" i="1" dirty="0">
                <a:solidFill>
                  <a:srgbClr val="5B6478"/>
                </a:solidFill>
                <a:latin typeface="Segoe UI" pitchFamily="34" charset="0"/>
                <a:ea typeface="Segoe UI" pitchFamily="34" charset="-122"/>
                <a:cs typeface="Segoe UI" pitchFamily="34" charset="-120"/>
              </a:rPr>
              <a:t>La vente au comptoir sera montrée rapidement à la fin.</a:t>
            </a:r>
            <a:endParaRPr lang="en-US" sz="1400" dirty="0"/>
          </a:p>
        </p:txBody>
      </p:sp>
      <p:sp>
        <p:nvSpPr>
          <p:cNvPr id="27"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08 · BILAN</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Difficultés rencontrées</a:t>
            </a:r>
            <a:endParaRPr lang="en-US" sz="2800" dirty="0"/>
          </a:p>
        </p:txBody>
      </p:sp>
      <p:sp>
        <p:nvSpPr>
          <p:cNvPr id="4" name="Shape 2"/>
          <p:cNvSpPr/>
          <p:nvPr/>
        </p:nvSpPr>
        <p:spPr>
          <a:xfrm>
            <a:off x="731520" y="1828800"/>
            <a:ext cx="548640" cy="548640"/>
          </a:xfrm>
          <a:prstGeom prst="roundRect">
            <a:avLst>
              <a:gd name="adj" fmla="val 13333"/>
            </a:avLst>
          </a:prstGeom>
          <a:solidFill>
            <a:srgbClr val="F2A93B"/>
          </a:solidFill>
          <a:ln/>
        </p:spPr>
      </p:sp>
      <p:sp>
        <p:nvSpPr>
          <p:cNvPr id="5" name="Text 3"/>
          <p:cNvSpPr txBox="1"/>
          <p:nvPr/>
        </p:nvSpPr>
        <p:spPr>
          <a:xfrm>
            <a:off x="731520" y="182880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1</a:t>
            </a:r>
            <a:endParaRPr lang="en-US" sz="1800" dirty="0"/>
          </a:p>
        </p:txBody>
      </p:sp>
      <p:sp>
        <p:nvSpPr>
          <p:cNvPr id="6" name="Text 4"/>
          <p:cNvSpPr txBox="1"/>
          <p:nvPr/>
        </p:nvSpPr>
        <p:spPr>
          <a:xfrm>
            <a:off x="1463040" y="1737360"/>
            <a:ext cx="3931920" cy="411480"/>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Modélisation MERISE</a:t>
            </a:r>
            <a:endParaRPr lang="en-US" sz="1800" dirty="0"/>
          </a:p>
        </p:txBody>
      </p:sp>
      <p:sp>
        <p:nvSpPr>
          <p:cNvPr id="7" name="Text 5"/>
          <p:cNvSpPr txBox="1"/>
          <p:nvPr/>
        </p:nvSpPr>
        <p:spPr>
          <a:xfrm>
            <a:off x="1463040" y="2148840"/>
            <a:ext cx="3931920" cy="73152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Cardinalités multiples, règles de gestion strictes</a:t>
            </a:r>
            <a:endParaRPr lang="en-US" sz="1450" dirty="0"/>
          </a:p>
        </p:txBody>
      </p:sp>
      <p:sp>
        <p:nvSpPr>
          <p:cNvPr id="8" name="Shape 6"/>
          <p:cNvSpPr/>
          <p:nvPr/>
        </p:nvSpPr>
        <p:spPr>
          <a:xfrm>
            <a:off x="5486400" y="2148840"/>
            <a:ext cx="457200" cy="0"/>
          </a:xfrm>
          <a:prstGeom prst="line">
            <a:avLst/>
          </a:prstGeom>
          <a:noFill/>
          <a:ln w="25400">
            <a:solidFill>
              <a:srgbClr val="F2A93B"/>
            </a:solidFill>
            <a:prstDash val="solid"/>
            <a:tailEnd type="triangle"/>
          </a:ln>
        </p:spPr>
      </p:sp>
      <p:sp>
        <p:nvSpPr>
          <p:cNvPr id="9" name="Shape 7"/>
          <p:cNvSpPr/>
          <p:nvPr/>
        </p:nvSpPr>
        <p:spPr>
          <a:xfrm>
            <a:off x="6126480" y="1691640"/>
            <a:ext cx="5330952" cy="1143000"/>
          </a:xfrm>
          <a:prstGeom prst="roundRect">
            <a:avLst>
              <a:gd name="adj" fmla="val 6400"/>
            </a:avLst>
          </a:prstGeom>
          <a:solidFill>
            <a:srgbClr val="F4F5F8"/>
          </a:solidFill>
          <a:ln/>
        </p:spPr>
      </p:sp>
      <p:sp>
        <p:nvSpPr>
          <p:cNvPr id="10" name="Text 8"/>
          <p:cNvSpPr txBox="1"/>
          <p:nvPr/>
        </p:nvSpPr>
        <p:spPr>
          <a:xfrm>
            <a:off x="6355080" y="1691640"/>
            <a:ext cx="4937760" cy="114300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Validation itérative avec le directeur de mémoire</a:t>
            </a:r>
            <a:endParaRPr lang="en-US" sz="1550" dirty="0"/>
          </a:p>
        </p:txBody>
      </p:sp>
      <p:sp>
        <p:nvSpPr>
          <p:cNvPr id="11" name="Shape 9"/>
          <p:cNvSpPr/>
          <p:nvPr/>
        </p:nvSpPr>
        <p:spPr>
          <a:xfrm>
            <a:off x="731520" y="3291840"/>
            <a:ext cx="548640" cy="548640"/>
          </a:xfrm>
          <a:prstGeom prst="roundRect">
            <a:avLst>
              <a:gd name="adj" fmla="val 13333"/>
            </a:avLst>
          </a:prstGeom>
          <a:solidFill>
            <a:srgbClr val="F2A93B"/>
          </a:solidFill>
          <a:ln/>
        </p:spPr>
      </p:sp>
      <p:sp>
        <p:nvSpPr>
          <p:cNvPr id="12" name="Text 10"/>
          <p:cNvSpPr txBox="1"/>
          <p:nvPr/>
        </p:nvSpPr>
        <p:spPr>
          <a:xfrm>
            <a:off x="731520" y="329184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2</a:t>
            </a:r>
            <a:endParaRPr lang="en-US" sz="1800" dirty="0"/>
          </a:p>
        </p:txBody>
      </p:sp>
      <p:sp>
        <p:nvSpPr>
          <p:cNvPr id="13" name="Text 11"/>
          <p:cNvSpPr txBox="1"/>
          <p:nvPr/>
        </p:nvSpPr>
        <p:spPr>
          <a:xfrm>
            <a:off x="1463040" y="3200400"/>
            <a:ext cx="3931920" cy="411480"/>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Gestion du temps</a:t>
            </a:r>
            <a:endParaRPr lang="en-US" sz="1800" dirty="0"/>
          </a:p>
        </p:txBody>
      </p:sp>
      <p:sp>
        <p:nvSpPr>
          <p:cNvPr id="14" name="Text 12"/>
          <p:cNvSpPr txBox="1"/>
          <p:nvPr/>
        </p:nvSpPr>
        <p:spPr>
          <a:xfrm>
            <a:off x="1463040" y="3611880"/>
            <a:ext cx="3931920" cy="73152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Projet mené en parallèle du stage et des cours</a:t>
            </a:r>
            <a:endParaRPr lang="en-US" sz="1450" dirty="0"/>
          </a:p>
        </p:txBody>
      </p:sp>
      <p:sp>
        <p:nvSpPr>
          <p:cNvPr id="15" name="Shape 13"/>
          <p:cNvSpPr/>
          <p:nvPr/>
        </p:nvSpPr>
        <p:spPr>
          <a:xfrm>
            <a:off x="5486400" y="3611880"/>
            <a:ext cx="457200" cy="0"/>
          </a:xfrm>
          <a:prstGeom prst="line">
            <a:avLst/>
          </a:prstGeom>
          <a:noFill/>
          <a:ln w="25400">
            <a:solidFill>
              <a:srgbClr val="F2A93B"/>
            </a:solidFill>
            <a:prstDash val="solid"/>
            <a:tailEnd type="triangle"/>
          </a:ln>
        </p:spPr>
      </p:sp>
      <p:sp>
        <p:nvSpPr>
          <p:cNvPr id="16" name="Shape 14"/>
          <p:cNvSpPr/>
          <p:nvPr/>
        </p:nvSpPr>
        <p:spPr>
          <a:xfrm>
            <a:off x="6126480" y="3154680"/>
            <a:ext cx="5330952" cy="1143000"/>
          </a:xfrm>
          <a:prstGeom prst="roundRect">
            <a:avLst>
              <a:gd name="adj" fmla="val 6400"/>
            </a:avLst>
          </a:prstGeom>
          <a:solidFill>
            <a:srgbClr val="F4F5F8"/>
          </a:solidFill>
          <a:ln/>
        </p:spPr>
      </p:sp>
      <p:sp>
        <p:nvSpPr>
          <p:cNvPr id="17" name="Text 15"/>
          <p:cNvSpPr txBox="1"/>
          <p:nvPr/>
        </p:nvSpPr>
        <p:spPr>
          <a:xfrm>
            <a:off x="6355080" y="3154680"/>
            <a:ext cx="4937760" cy="114300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Travail découpé en étapes validées une à une</a:t>
            </a:r>
            <a:endParaRPr lang="en-US" sz="1550" dirty="0"/>
          </a:p>
        </p:txBody>
      </p:sp>
      <p:sp>
        <p:nvSpPr>
          <p:cNvPr id="18" name="Shape 16"/>
          <p:cNvSpPr/>
          <p:nvPr/>
        </p:nvSpPr>
        <p:spPr>
          <a:xfrm>
            <a:off x="731520" y="4754880"/>
            <a:ext cx="548640" cy="548640"/>
          </a:xfrm>
          <a:prstGeom prst="roundRect">
            <a:avLst>
              <a:gd name="adj" fmla="val 13333"/>
            </a:avLst>
          </a:prstGeom>
          <a:solidFill>
            <a:srgbClr val="F2A93B"/>
          </a:solidFill>
          <a:ln/>
        </p:spPr>
      </p:sp>
      <p:sp>
        <p:nvSpPr>
          <p:cNvPr id="19" name="Text 17"/>
          <p:cNvSpPr txBox="1"/>
          <p:nvPr/>
        </p:nvSpPr>
        <p:spPr>
          <a:xfrm>
            <a:off x="731520" y="4754880"/>
            <a:ext cx="548640" cy="548640"/>
          </a:xfrm>
          <a:prstGeom prst="rect">
            <a:avLst/>
          </a:prstGeom>
          <a:noFill/>
          <a:ln/>
        </p:spPr>
        <p:txBody>
          <a:bodyPr wrap="square" lIns="0" tIns="0" rIns="0" bIns="0" rtlCol="0" anchor="ctr"/>
          <a:lstStyle/>
          <a:p>
            <a:pPr marL="0" indent="0" algn="ctr">
              <a:buNone/>
            </a:pPr>
            <a:r>
              <a:rPr lang="en-US" sz="1800" b="1" dirty="0">
                <a:solidFill>
                  <a:srgbClr val="1F2A5C"/>
                </a:solidFill>
                <a:latin typeface="Segoe UI" pitchFamily="34" charset="0"/>
                <a:ea typeface="Segoe UI" pitchFamily="34" charset="-122"/>
                <a:cs typeface="Segoe UI" pitchFamily="34" charset="-120"/>
              </a:rPr>
              <a:t>3</a:t>
            </a:r>
            <a:endParaRPr lang="en-US" sz="1800" dirty="0"/>
          </a:p>
        </p:txBody>
      </p:sp>
      <p:sp>
        <p:nvSpPr>
          <p:cNvPr id="20" name="Text 18"/>
          <p:cNvSpPr txBox="1"/>
          <p:nvPr/>
        </p:nvSpPr>
        <p:spPr>
          <a:xfrm>
            <a:off x="1463040" y="4663440"/>
            <a:ext cx="3931920" cy="411480"/>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Échanges B2B et notifications</a:t>
            </a:r>
            <a:endParaRPr lang="en-US" sz="1800" dirty="0"/>
          </a:p>
        </p:txBody>
      </p:sp>
      <p:sp>
        <p:nvSpPr>
          <p:cNvPr id="21" name="Text 19"/>
          <p:cNvSpPr txBox="1"/>
          <p:nvPr/>
        </p:nvSpPr>
        <p:spPr>
          <a:xfrm>
            <a:off x="1463040" y="5074920"/>
            <a:ext cx="3931920" cy="73152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Un apprentissage technique supplémentaire</a:t>
            </a:r>
            <a:endParaRPr lang="en-US" sz="1450" dirty="0"/>
          </a:p>
        </p:txBody>
      </p:sp>
      <p:sp>
        <p:nvSpPr>
          <p:cNvPr id="22" name="Shape 20"/>
          <p:cNvSpPr/>
          <p:nvPr/>
        </p:nvSpPr>
        <p:spPr>
          <a:xfrm>
            <a:off x="5486400" y="5074920"/>
            <a:ext cx="457200" cy="0"/>
          </a:xfrm>
          <a:prstGeom prst="line">
            <a:avLst/>
          </a:prstGeom>
          <a:noFill/>
          <a:ln w="25400">
            <a:solidFill>
              <a:srgbClr val="F2A93B"/>
            </a:solidFill>
            <a:prstDash val="solid"/>
            <a:tailEnd type="triangle"/>
          </a:ln>
        </p:spPr>
      </p:sp>
      <p:sp>
        <p:nvSpPr>
          <p:cNvPr id="23" name="Shape 21"/>
          <p:cNvSpPr/>
          <p:nvPr/>
        </p:nvSpPr>
        <p:spPr>
          <a:xfrm>
            <a:off x="6126480" y="4617720"/>
            <a:ext cx="5330952" cy="1143000"/>
          </a:xfrm>
          <a:prstGeom prst="roundRect">
            <a:avLst>
              <a:gd name="adj" fmla="val 6400"/>
            </a:avLst>
          </a:prstGeom>
          <a:solidFill>
            <a:srgbClr val="F4F5F8"/>
          </a:solidFill>
          <a:ln/>
        </p:spPr>
      </p:sp>
      <p:sp>
        <p:nvSpPr>
          <p:cNvPr id="24" name="Text 22"/>
          <p:cNvSpPr txBox="1"/>
          <p:nvPr/>
        </p:nvSpPr>
        <p:spPr>
          <a:xfrm>
            <a:off x="6355080" y="4617720"/>
            <a:ext cx="4937760" cy="1143000"/>
          </a:xfrm>
          <a:prstGeom prst="rect">
            <a:avLst/>
          </a:prstGeom>
          <a:noFill/>
          <a:ln/>
        </p:spPr>
        <p:txBody>
          <a:bodyPr wrap="square" lIns="0" tIns="0" rIns="0" bIns="0" rtlCol="0" anchor="ctr"/>
          <a:lstStyle/>
          <a:p>
            <a:pPr marL="0" indent="0">
              <a:buNone/>
            </a:pPr>
            <a:r>
              <a:rPr lang="en-US" sz="1550" dirty="0">
                <a:solidFill>
                  <a:srgbClr val="1F2A44"/>
                </a:solidFill>
                <a:latin typeface="Segoe UI" pitchFamily="34" charset="0"/>
                <a:ea typeface="Segoe UI" pitchFamily="34" charset="-122"/>
                <a:cs typeface="Segoe UI" pitchFamily="34" charset="-120"/>
              </a:rPr>
              <a:t>Recherche documentaire et appui de l'équipe technique de TAD Dev</a:t>
            </a:r>
            <a:endParaRPr lang="en-US" sz="155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08 · BILAN</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Perspectives d'évolution</a:t>
            </a:r>
            <a:endParaRPr lang="en-US" sz="2800" dirty="0"/>
          </a:p>
        </p:txBody>
      </p:sp>
      <p:sp>
        <p:nvSpPr>
          <p:cNvPr id="4" name="Text 2"/>
          <p:cNvSpPr txBox="1"/>
          <p:nvPr/>
        </p:nvSpPr>
        <p:spPr>
          <a:xfrm>
            <a:off x="731520" y="1463040"/>
            <a:ext cx="8229600" cy="365760"/>
          </a:xfrm>
          <a:prstGeom prst="rect">
            <a:avLst/>
          </a:prstGeom>
          <a:noFill/>
          <a:ln/>
        </p:spPr>
        <p:txBody>
          <a:bodyPr wrap="square" lIns="0" tIns="0" rIns="0" bIns="0" rtlCol="0" anchor="t"/>
          <a:lstStyle/>
          <a:p>
            <a:pPr marL="0" indent="0">
              <a:buNone/>
            </a:pPr>
            <a:r>
              <a:rPr lang="en-US" sz="1500" i="1" dirty="0">
                <a:solidFill>
                  <a:srgbClr val="5B6478"/>
                </a:solidFill>
                <a:latin typeface="Segoe UI" pitchFamily="34" charset="0"/>
                <a:ea typeface="Segoe UI" pitchFamily="34" charset="-122"/>
                <a:cs typeface="Segoe UI" pitchFamily="34" charset="-120"/>
              </a:rPr>
              <a:t>Évolutions envisagées, pas encore disponibles dans FactuPro.</a:t>
            </a:r>
            <a:endParaRPr lang="en-US" sz="1500" dirty="0"/>
          </a:p>
        </p:txBody>
      </p:sp>
      <p:sp>
        <p:nvSpPr>
          <p:cNvPr id="5" name="Shape 3"/>
          <p:cNvSpPr/>
          <p:nvPr/>
        </p:nvSpPr>
        <p:spPr>
          <a:xfrm>
            <a:off x="731520" y="2103120"/>
            <a:ext cx="5239512" cy="1645920"/>
          </a:xfrm>
          <a:prstGeom prst="roundRect">
            <a:avLst>
              <a:gd name="adj" fmla="val 4444"/>
            </a:avLst>
          </a:prstGeom>
          <a:solidFill>
            <a:srgbClr val="F4F5F8"/>
          </a:solidFill>
          <a:ln/>
        </p:spPr>
      </p:sp>
      <p:sp>
        <p:nvSpPr>
          <p:cNvPr id="6" name="Shape 4"/>
          <p:cNvSpPr/>
          <p:nvPr/>
        </p:nvSpPr>
        <p:spPr>
          <a:xfrm>
            <a:off x="1005840" y="2377440"/>
            <a:ext cx="502920" cy="502920"/>
          </a:xfrm>
          <a:prstGeom prst="roundRect">
            <a:avLst>
              <a:gd name="adj" fmla="val 14545"/>
            </a:avLst>
          </a:prstGeom>
          <a:solidFill>
            <a:srgbClr val="F2A93B"/>
          </a:solidFill>
          <a:ln/>
        </p:spPr>
      </p:sp>
      <p:sp>
        <p:nvSpPr>
          <p:cNvPr id="7" name="Text 5"/>
          <p:cNvSpPr txBox="1"/>
          <p:nvPr/>
        </p:nvSpPr>
        <p:spPr>
          <a:xfrm>
            <a:off x="1005840" y="2377440"/>
            <a:ext cx="502920" cy="502920"/>
          </a:xfrm>
          <a:prstGeom prst="rect">
            <a:avLst/>
          </a:prstGeom>
          <a:noFill/>
          <a:ln/>
        </p:spPr>
        <p:txBody>
          <a:bodyPr wrap="square" lIns="0" tIns="0" rIns="0" bIns="0" rtlCol="0" anchor="ctr"/>
          <a:lstStyle/>
          <a:p>
            <a:pPr marL="0" indent="0" algn="ctr">
              <a:buNone/>
            </a:pPr>
            <a:r>
              <a:rPr lang="en-US" sz="1600" b="1" dirty="0">
                <a:solidFill>
                  <a:srgbClr val="1F2A5C"/>
                </a:solidFill>
                <a:latin typeface="Segoe UI" pitchFamily="34" charset="0"/>
                <a:ea typeface="Segoe UI" pitchFamily="34" charset="-122"/>
                <a:cs typeface="Segoe UI" pitchFamily="34" charset="-120"/>
              </a:rPr>
              <a:t>1</a:t>
            </a:r>
            <a:endParaRPr lang="en-US" sz="1600" dirty="0"/>
          </a:p>
        </p:txBody>
      </p:sp>
      <p:sp>
        <p:nvSpPr>
          <p:cNvPr id="8" name="Text 6"/>
          <p:cNvSpPr txBox="1"/>
          <p:nvPr/>
        </p:nvSpPr>
        <p:spPr>
          <a:xfrm>
            <a:off x="1737360" y="2359152"/>
            <a:ext cx="4023360" cy="457200"/>
          </a:xfrm>
          <a:prstGeom prst="rect">
            <a:avLst/>
          </a:prstGeom>
          <a:noFill/>
          <a:ln/>
        </p:spPr>
        <p:txBody>
          <a:bodyPr wrap="square" lIns="0" tIns="0" rIns="0" bIns="0" rtlCol="0" anchor="ctr"/>
          <a:lstStyle/>
          <a:p>
            <a:pPr marL="0" indent="0">
              <a:buNone/>
            </a:pPr>
            <a:r>
              <a:rPr lang="en-US" sz="1900" b="1" dirty="0">
                <a:solidFill>
                  <a:srgbClr val="1F2A5C"/>
                </a:solidFill>
                <a:latin typeface="Segoe UI" pitchFamily="34" charset="0"/>
                <a:ea typeface="Segoe UI" pitchFamily="34" charset="-122"/>
                <a:cs typeface="Segoe UI" pitchFamily="34" charset="-120"/>
              </a:rPr>
              <a:t>Paiement mobile</a:t>
            </a:r>
            <a:endParaRPr lang="en-US" sz="1900" dirty="0"/>
          </a:p>
        </p:txBody>
      </p:sp>
      <p:sp>
        <p:nvSpPr>
          <p:cNvPr id="9" name="Text 7"/>
          <p:cNvSpPr txBox="1"/>
          <p:nvPr/>
        </p:nvSpPr>
        <p:spPr>
          <a:xfrm>
            <a:off x="1737360" y="2880360"/>
            <a:ext cx="4023360" cy="731520"/>
          </a:xfrm>
          <a:prstGeom prst="rect">
            <a:avLst/>
          </a:prstGeom>
          <a:noFill/>
          <a:ln/>
        </p:spPr>
        <p:txBody>
          <a:bodyPr wrap="square" lIns="0" tIns="0" rIns="0" bIns="0" rtlCol="0" anchor="t"/>
          <a:lstStyle/>
          <a:p>
            <a:pPr marL="0" indent="0">
              <a:buNone/>
            </a:pPr>
            <a:r>
              <a:rPr lang="en-US" sz="1550" dirty="0">
                <a:solidFill>
                  <a:srgbClr val="1F2A44"/>
                </a:solidFill>
                <a:latin typeface="Segoe UI" pitchFamily="34" charset="0"/>
                <a:ea typeface="Segoe UI" pitchFamily="34" charset="-122"/>
                <a:cs typeface="Segoe UI" pitchFamily="34" charset="-120"/>
              </a:rPr>
              <a:t>Flooz et T-Money, très répandus au Togo</a:t>
            </a:r>
            <a:endParaRPr lang="en-US" sz="1550" dirty="0"/>
          </a:p>
        </p:txBody>
      </p:sp>
      <p:sp>
        <p:nvSpPr>
          <p:cNvPr id="10" name="Shape 8"/>
          <p:cNvSpPr/>
          <p:nvPr/>
        </p:nvSpPr>
        <p:spPr>
          <a:xfrm>
            <a:off x="6217920" y="2103120"/>
            <a:ext cx="5239512" cy="1645920"/>
          </a:xfrm>
          <a:prstGeom prst="roundRect">
            <a:avLst>
              <a:gd name="adj" fmla="val 4444"/>
            </a:avLst>
          </a:prstGeom>
          <a:solidFill>
            <a:srgbClr val="F4F5F8"/>
          </a:solidFill>
          <a:ln/>
        </p:spPr>
      </p:sp>
      <p:sp>
        <p:nvSpPr>
          <p:cNvPr id="11" name="Shape 9"/>
          <p:cNvSpPr/>
          <p:nvPr/>
        </p:nvSpPr>
        <p:spPr>
          <a:xfrm>
            <a:off x="6492240" y="2377440"/>
            <a:ext cx="502920" cy="502920"/>
          </a:xfrm>
          <a:prstGeom prst="roundRect">
            <a:avLst>
              <a:gd name="adj" fmla="val 14545"/>
            </a:avLst>
          </a:prstGeom>
          <a:solidFill>
            <a:srgbClr val="F2A93B"/>
          </a:solidFill>
          <a:ln/>
        </p:spPr>
      </p:sp>
      <p:sp>
        <p:nvSpPr>
          <p:cNvPr id="12" name="Text 10"/>
          <p:cNvSpPr txBox="1"/>
          <p:nvPr/>
        </p:nvSpPr>
        <p:spPr>
          <a:xfrm>
            <a:off x="6492240" y="2377440"/>
            <a:ext cx="502920" cy="502920"/>
          </a:xfrm>
          <a:prstGeom prst="rect">
            <a:avLst/>
          </a:prstGeom>
          <a:noFill/>
          <a:ln/>
        </p:spPr>
        <p:txBody>
          <a:bodyPr wrap="square" lIns="0" tIns="0" rIns="0" bIns="0" rtlCol="0" anchor="ctr"/>
          <a:lstStyle/>
          <a:p>
            <a:pPr marL="0" indent="0" algn="ctr">
              <a:buNone/>
            </a:pPr>
            <a:r>
              <a:rPr lang="en-US" sz="1600" b="1" dirty="0">
                <a:solidFill>
                  <a:srgbClr val="1F2A5C"/>
                </a:solidFill>
                <a:latin typeface="Segoe UI" pitchFamily="34" charset="0"/>
                <a:ea typeface="Segoe UI" pitchFamily="34" charset="-122"/>
                <a:cs typeface="Segoe UI" pitchFamily="34" charset="-120"/>
              </a:rPr>
              <a:t>2</a:t>
            </a:r>
            <a:endParaRPr lang="en-US" sz="1600" dirty="0"/>
          </a:p>
        </p:txBody>
      </p:sp>
      <p:sp>
        <p:nvSpPr>
          <p:cNvPr id="13" name="Text 11"/>
          <p:cNvSpPr txBox="1"/>
          <p:nvPr/>
        </p:nvSpPr>
        <p:spPr>
          <a:xfrm>
            <a:off x="7223760" y="2359152"/>
            <a:ext cx="4023360" cy="457200"/>
          </a:xfrm>
          <a:prstGeom prst="rect">
            <a:avLst/>
          </a:prstGeom>
          <a:noFill/>
          <a:ln/>
        </p:spPr>
        <p:txBody>
          <a:bodyPr wrap="square" lIns="0" tIns="0" rIns="0" bIns="0" rtlCol="0" anchor="ctr"/>
          <a:lstStyle/>
          <a:p>
            <a:pPr marL="0" indent="0">
              <a:buNone/>
            </a:pPr>
            <a:r>
              <a:rPr lang="en-US" sz="1900" b="1" dirty="0">
                <a:solidFill>
                  <a:srgbClr val="1F2A5C"/>
                </a:solidFill>
                <a:latin typeface="Segoe UI" pitchFamily="34" charset="0"/>
                <a:ea typeface="Segoe UI" pitchFamily="34" charset="-122"/>
                <a:cs typeface="Segoe UI" pitchFamily="34" charset="-120"/>
              </a:rPr>
              <a:t>Application mobile</a:t>
            </a:r>
            <a:endParaRPr lang="en-US" sz="1900" dirty="0"/>
          </a:p>
        </p:txBody>
      </p:sp>
      <p:sp>
        <p:nvSpPr>
          <p:cNvPr id="14" name="Text 12"/>
          <p:cNvSpPr txBox="1"/>
          <p:nvPr/>
        </p:nvSpPr>
        <p:spPr>
          <a:xfrm>
            <a:off x="7223760" y="2880360"/>
            <a:ext cx="4023360" cy="731520"/>
          </a:xfrm>
          <a:prstGeom prst="rect">
            <a:avLst/>
          </a:prstGeom>
          <a:noFill/>
          <a:ln/>
        </p:spPr>
        <p:txBody>
          <a:bodyPr wrap="square" lIns="0" tIns="0" rIns="0" bIns="0" rtlCol="0" anchor="t"/>
          <a:lstStyle/>
          <a:p>
            <a:pPr marL="0" indent="0">
              <a:buNone/>
            </a:pPr>
            <a:r>
              <a:rPr lang="en-US" sz="1550" dirty="0">
                <a:solidFill>
                  <a:srgbClr val="1F2A44"/>
                </a:solidFill>
                <a:latin typeface="Segoe UI" pitchFamily="34" charset="0"/>
                <a:ea typeface="Segoe UI" pitchFamily="34" charset="-122"/>
                <a:cs typeface="Segoe UI" pitchFamily="34" charset="-120"/>
              </a:rPr>
              <a:t>Suivre ventes, stocks et commandes sans ordinateur</a:t>
            </a:r>
            <a:endParaRPr lang="en-US" sz="1550" dirty="0"/>
          </a:p>
        </p:txBody>
      </p:sp>
      <p:sp>
        <p:nvSpPr>
          <p:cNvPr id="15" name="Shape 13"/>
          <p:cNvSpPr/>
          <p:nvPr/>
        </p:nvSpPr>
        <p:spPr>
          <a:xfrm>
            <a:off x="731520" y="4069080"/>
            <a:ext cx="5239512" cy="1645920"/>
          </a:xfrm>
          <a:prstGeom prst="roundRect">
            <a:avLst>
              <a:gd name="adj" fmla="val 4444"/>
            </a:avLst>
          </a:prstGeom>
          <a:solidFill>
            <a:srgbClr val="F4F5F8"/>
          </a:solidFill>
          <a:ln/>
        </p:spPr>
      </p:sp>
      <p:sp>
        <p:nvSpPr>
          <p:cNvPr id="16" name="Shape 14"/>
          <p:cNvSpPr/>
          <p:nvPr/>
        </p:nvSpPr>
        <p:spPr>
          <a:xfrm>
            <a:off x="1005840" y="4343400"/>
            <a:ext cx="502920" cy="502920"/>
          </a:xfrm>
          <a:prstGeom prst="roundRect">
            <a:avLst>
              <a:gd name="adj" fmla="val 14545"/>
            </a:avLst>
          </a:prstGeom>
          <a:solidFill>
            <a:srgbClr val="F2A93B"/>
          </a:solidFill>
          <a:ln/>
        </p:spPr>
      </p:sp>
      <p:sp>
        <p:nvSpPr>
          <p:cNvPr id="17" name="Text 15"/>
          <p:cNvSpPr txBox="1"/>
          <p:nvPr/>
        </p:nvSpPr>
        <p:spPr>
          <a:xfrm>
            <a:off x="1005840" y="4343400"/>
            <a:ext cx="502920" cy="502920"/>
          </a:xfrm>
          <a:prstGeom prst="rect">
            <a:avLst/>
          </a:prstGeom>
          <a:noFill/>
          <a:ln/>
        </p:spPr>
        <p:txBody>
          <a:bodyPr wrap="square" lIns="0" tIns="0" rIns="0" bIns="0" rtlCol="0" anchor="ctr"/>
          <a:lstStyle/>
          <a:p>
            <a:pPr marL="0" indent="0" algn="ctr">
              <a:buNone/>
            </a:pPr>
            <a:r>
              <a:rPr lang="en-US" sz="1600" b="1" dirty="0">
                <a:solidFill>
                  <a:srgbClr val="1F2A5C"/>
                </a:solidFill>
                <a:latin typeface="Segoe UI" pitchFamily="34" charset="0"/>
                <a:ea typeface="Segoe UI" pitchFamily="34" charset="-122"/>
                <a:cs typeface="Segoe UI" pitchFamily="34" charset="-120"/>
              </a:rPr>
              <a:t>3</a:t>
            </a:r>
            <a:endParaRPr lang="en-US" sz="1600" dirty="0"/>
          </a:p>
        </p:txBody>
      </p:sp>
      <p:sp>
        <p:nvSpPr>
          <p:cNvPr id="18" name="Text 16"/>
          <p:cNvSpPr txBox="1"/>
          <p:nvPr/>
        </p:nvSpPr>
        <p:spPr>
          <a:xfrm>
            <a:off x="1737360" y="4325112"/>
            <a:ext cx="4023360" cy="457200"/>
          </a:xfrm>
          <a:prstGeom prst="rect">
            <a:avLst/>
          </a:prstGeom>
          <a:noFill/>
          <a:ln/>
        </p:spPr>
        <p:txBody>
          <a:bodyPr wrap="square" lIns="0" tIns="0" rIns="0" bIns="0" rtlCol="0" anchor="ctr"/>
          <a:lstStyle/>
          <a:p>
            <a:pPr marL="0" indent="0">
              <a:buNone/>
            </a:pPr>
            <a:r>
              <a:rPr lang="en-US" sz="1900" b="1" dirty="0">
                <a:solidFill>
                  <a:srgbClr val="1F2A5C"/>
                </a:solidFill>
                <a:latin typeface="Segoe UI" pitchFamily="34" charset="0"/>
                <a:ea typeface="Segoe UI" pitchFamily="34" charset="-122"/>
                <a:cs typeface="Segoe UI" pitchFamily="34" charset="-120"/>
              </a:rPr>
              <a:t>Statistiques avancées</a:t>
            </a:r>
            <a:endParaRPr lang="en-US" sz="1900" dirty="0"/>
          </a:p>
        </p:txBody>
      </p:sp>
      <p:sp>
        <p:nvSpPr>
          <p:cNvPr id="19" name="Text 17"/>
          <p:cNvSpPr txBox="1"/>
          <p:nvPr/>
        </p:nvSpPr>
        <p:spPr>
          <a:xfrm>
            <a:off x="1737360" y="4846320"/>
            <a:ext cx="4023360" cy="731520"/>
          </a:xfrm>
          <a:prstGeom prst="rect">
            <a:avLst/>
          </a:prstGeom>
          <a:noFill/>
          <a:ln/>
        </p:spPr>
        <p:txBody>
          <a:bodyPr wrap="square" lIns="0" tIns="0" rIns="0" bIns="0" rtlCol="0" anchor="t"/>
          <a:lstStyle/>
          <a:p>
            <a:pPr marL="0" indent="0">
              <a:buNone/>
            </a:pPr>
            <a:r>
              <a:rPr lang="en-US" sz="1550" dirty="0">
                <a:solidFill>
                  <a:srgbClr val="1F2A44"/>
                </a:solidFill>
                <a:latin typeface="Segoe UI" pitchFamily="34" charset="0"/>
                <a:ea typeface="Segoe UI" pitchFamily="34" charset="-122"/>
                <a:cs typeface="Segoe UI" pitchFamily="34" charset="-120"/>
              </a:rPr>
              <a:t>Indicateurs de performance et prévisions de vente</a:t>
            </a:r>
            <a:endParaRPr lang="en-US" sz="1550" dirty="0"/>
          </a:p>
        </p:txBody>
      </p:sp>
      <p:sp>
        <p:nvSpPr>
          <p:cNvPr id="20" name="Shape 18"/>
          <p:cNvSpPr/>
          <p:nvPr/>
        </p:nvSpPr>
        <p:spPr>
          <a:xfrm>
            <a:off x="6217920" y="4069080"/>
            <a:ext cx="5239512" cy="1645920"/>
          </a:xfrm>
          <a:prstGeom prst="roundRect">
            <a:avLst>
              <a:gd name="adj" fmla="val 4444"/>
            </a:avLst>
          </a:prstGeom>
          <a:solidFill>
            <a:srgbClr val="F4F5F8"/>
          </a:solidFill>
          <a:ln/>
        </p:spPr>
      </p:sp>
      <p:sp>
        <p:nvSpPr>
          <p:cNvPr id="21" name="Shape 19"/>
          <p:cNvSpPr/>
          <p:nvPr/>
        </p:nvSpPr>
        <p:spPr>
          <a:xfrm>
            <a:off x="6492240" y="4343400"/>
            <a:ext cx="502920" cy="502920"/>
          </a:xfrm>
          <a:prstGeom prst="roundRect">
            <a:avLst>
              <a:gd name="adj" fmla="val 14545"/>
            </a:avLst>
          </a:prstGeom>
          <a:solidFill>
            <a:srgbClr val="F2A93B"/>
          </a:solidFill>
          <a:ln/>
        </p:spPr>
      </p:sp>
      <p:sp>
        <p:nvSpPr>
          <p:cNvPr id="22" name="Text 20"/>
          <p:cNvSpPr txBox="1"/>
          <p:nvPr/>
        </p:nvSpPr>
        <p:spPr>
          <a:xfrm>
            <a:off x="6492240" y="4343400"/>
            <a:ext cx="502920" cy="502920"/>
          </a:xfrm>
          <a:prstGeom prst="rect">
            <a:avLst/>
          </a:prstGeom>
          <a:noFill/>
          <a:ln/>
        </p:spPr>
        <p:txBody>
          <a:bodyPr wrap="square" lIns="0" tIns="0" rIns="0" bIns="0" rtlCol="0" anchor="ctr"/>
          <a:lstStyle/>
          <a:p>
            <a:pPr marL="0" indent="0" algn="ctr">
              <a:buNone/>
            </a:pPr>
            <a:r>
              <a:rPr lang="en-US" sz="1600" b="1" dirty="0">
                <a:solidFill>
                  <a:srgbClr val="1F2A5C"/>
                </a:solidFill>
                <a:latin typeface="Segoe UI" pitchFamily="34" charset="0"/>
                <a:ea typeface="Segoe UI" pitchFamily="34" charset="-122"/>
                <a:cs typeface="Segoe UI" pitchFamily="34" charset="-120"/>
              </a:rPr>
              <a:t>4</a:t>
            </a:r>
            <a:endParaRPr lang="en-US" sz="1600" dirty="0"/>
          </a:p>
        </p:txBody>
      </p:sp>
      <p:sp>
        <p:nvSpPr>
          <p:cNvPr id="23" name="Text 21"/>
          <p:cNvSpPr txBox="1"/>
          <p:nvPr/>
        </p:nvSpPr>
        <p:spPr>
          <a:xfrm>
            <a:off x="7223760" y="4325112"/>
            <a:ext cx="4023360" cy="457200"/>
          </a:xfrm>
          <a:prstGeom prst="rect">
            <a:avLst/>
          </a:prstGeom>
          <a:noFill/>
          <a:ln/>
        </p:spPr>
        <p:txBody>
          <a:bodyPr wrap="square" lIns="0" tIns="0" rIns="0" bIns="0" rtlCol="0" anchor="ctr"/>
          <a:lstStyle/>
          <a:p>
            <a:pPr marL="0" indent="0">
              <a:buNone/>
            </a:pPr>
            <a:r>
              <a:rPr lang="en-US" sz="1900" b="1" dirty="0">
                <a:solidFill>
                  <a:srgbClr val="1F2A5C"/>
                </a:solidFill>
                <a:latin typeface="Segoe UI" pitchFamily="34" charset="0"/>
                <a:ea typeface="Segoe UI" pitchFamily="34" charset="-122"/>
                <a:cs typeface="Segoe UI" pitchFamily="34" charset="-120"/>
              </a:rPr>
              <a:t>Notation entre entreprises</a:t>
            </a:r>
            <a:endParaRPr lang="en-US" sz="1900" dirty="0"/>
          </a:p>
        </p:txBody>
      </p:sp>
      <p:sp>
        <p:nvSpPr>
          <p:cNvPr id="24" name="Text 22"/>
          <p:cNvSpPr txBox="1"/>
          <p:nvPr/>
        </p:nvSpPr>
        <p:spPr>
          <a:xfrm>
            <a:off x="7223760" y="4846320"/>
            <a:ext cx="4023360" cy="731520"/>
          </a:xfrm>
          <a:prstGeom prst="rect">
            <a:avLst/>
          </a:prstGeom>
          <a:noFill/>
          <a:ln/>
        </p:spPr>
        <p:txBody>
          <a:bodyPr wrap="square" lIns="0" tIns="0" rIns="0" bIns="0" rtlCol="0" anchor="t"/>
          <a:lstStyle/>
          <a:p>
            <a:pPr marL="0" indent="0">
              <a:buNone/>
            </a:pPr>
            <a:r>
              <a:rPr lang="en-US" sz="1550" dirty="0">
                <a:solidFill>
                  <a:srgbClr val="1F2A44"/>
                </a:solidFill>
                <a:latin typeface="Segoe UI" pitchFamily="34" charset="0"/>
                <a:ea typeface="Segoe UI" pitchFamily="34" charset="-122"/>
                <a:cs typeface="Segoe UI" pitchFamily="34" charset="-120"/>
              </a:rPr>
              <a:t>Avis mutuels pour enrichir le score de fiabilité</a:t>
            </a:r>
            <a:endParaRPr lang="en-US" sz="155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384048"/>
            <a:ext cx="10058400" cy="274320"/>
          </a:xfrm>
          <a:prstGeom prst="rect">
            <a:avLst/>
          </a:prstGeom>
          <a:noFill/>
          <a:ln/>
        </p:spPr>
        <p:txBody>
          <a:bodyPr wrap="square" lIns="0" tIns="0" rIns="0" bIns="0" rtlCol="0" anchor="t"/>
          <a:lstStyle/>
          <a:p>
            <a:pPr marL="0" indent="0">
              <a:buNone/>
            </a:pPr>
            <a:r>
              <a:rPr lang="en-US" sz="1200" b="1" kern="0" spc="200" dirty="0">
                <a:solidFill>
                  <a:srgbClr val="A65F00"/>
                </a:solidFill>
                <a:latin typeface="Segoe UI" pitchFamily="34" charset="0"/>
                <a:ea typeface="Segoe UI" pitchFamily="34" charset="-122"/>
                <a:cs typeface="Segoe UI" pitchFamily="34" charset="-120"/>
              </a:rPr>
              <a:t>08 · CONCLUSION</a:t>
            </a:r>
            <a:endParaRPr lang="en-US" sz="1200" dirty="0"/>
          </a:p>
        </p:txBody>
      </p:sp>
      <p:sp>
        <p:nvSpPr>
          <p:cNvPr id="3" name="Text 1"/>
          <p:cNvSpPr txBox="1"/>
          <p:nvPr/>
        </p:nvSpPr>
        <p:spPr>
          <a:xfrm>
            <a:off x="731520" y="685800"/>
            <a:ext cx="10698480" cy="685800"/>
          </a:xfrm>
          <a:prstGeom prst="rect">
            <a:avLst/>
          </a:prstGeom>
          <a:noFill/>
          <a:ln/>
        </p:spPr>
        <p:txBody>
          <a:bodyPr wrap="square" lIns="0" tIns="0" rIns="0" bIns="0" rtlCol="0" anchor="ctr"/>
          <a:lstStyle/>
          <a:p>
            <a:pPr marL="0" indent="0">
              <a:buNone/>
            </a:pPr>
            <a:r>
              <a:rPr lang="en-US" sz="2800" b="1" dirty="0">
                <a:solidFill>
                  <a:srgbClr val="1F2A5C"/>
                </a:solidFill>
                <a:latin typeface="Segoe UI" pitchFamily="34" charset="0"/>
                <a:ea typeface="Segoe UI" pitchFamily="34" charset="-122"/>
                <a:cs typeface="Segoe UI" pitchFamily="34" charset="-120"/>
              </a:rPr>
              <a:t>Conclusion</a:t>
            </a:r>
            <a:endParaRPr lang="en-US" sz="2800" dirty="0"/>
          </a:p>
        </p:txBody>
      </p:sp>
      <p:sp>
        <p:nvSpPr>
          <p:cNvPr id="4" name="Text 2"/>
          <p:cNvSpPr txBox="1"/>
          <p:nvPr/>
        </p:nvSpPr>
        <p:spPr>
          <a:xfrm>
            <a:off x="731520" y="1554480"/>
            <a:ext cx="10725912" cy="914400"/>
          </a:xfrm>
          <a:prstGeom prst="rect">
            <a:avLst/>
          </a:prstGeom>
          <a:noFill/>
          <a:ln/>
        </p:spPr>
        <p:txBody>
          <a:bodyPr wrap="square" lIns="0" tIns="0" rIns="0" bIns="0" rtlCol="0" anchor="t"/>
          <a:lstStyle/>
          <a:p>
            <a:pPr marL="0" indent="0">
              <a:buNone/>
            </a:pPr>
            <a:r>
              <a:rPr lang="en-US" sz="1900" dirty="0">
                <a:solidFill>
                  <a:srgbClr val="1F2A5C"/>
                </a:solidFill>
                <a:latin typeface="Segoe UI" pitchFamily="34" charset="0"/>
                <a:ea typeface="Segoe UI" pitchFamily="34" charset="-122"/>
                <a:cs typeface="Segoe UI" pitchFamily="34" charset="-120"/>
              </a:rPr>
              <a:t>FactuPro, plateforme web de gestion de boutiques et d'intégration B2B, couvre le cycle commercial des PME, de l'entrée des produits jusqu'à la facturation.</a:t>
            </a:r>
            <a:endParaRPr lang="en-US" sz="1900" dirty="0"/>
          </a:p>
        </p:txBody>
      </p:sp>
      <p:sp>
        <p:nvSpPr>
          <p:cNvPr id="5" name="Shape 3"/>
          <p:cNvSpPr/>
          <p:nvPr/>
        </p:nvSpPr>
        <p:spPr>
          <a:xfrm>
            <a:off x="731520" y="2852928"/>
            <a:ext cx="237744" cy="237744"/>
          </a:xfrm>
          <a:prstGeom prst="roundRect">
            <a:avLst>
              <a:gd name="adj" fmla="val 23077"/>
            </a:avLst>
          </a:prstGeom>
          <a:solidFill>
            <a:srgbClr val="F2A93B"/>
          </a:solidFill>
          <a:ln/>
        </p:spPr>
      </p:sp>
      <p:sp>
        <p:nvSpPr>
          <p:cNvPr id="6" name="Text 4"/>
          <p:cNvSpPr txBox="1"/>
          <p:nvPr/>
        </p:nvSpPr>
        <p:spPr>
          <a:xfrm>
            <a:off x="1143000" y="2743200"/>
            <a:ext cx="4846320" cy="457200"/>
          </a:xfrm>
          <a:prstGeom prst="rect">
            <a:avLst/>
          </a:prstGeom>
          <a:noFill/>
          <a:ln/>
        </p:spPr>
        <p:txBody>
          <a:bodyPr wrap="square" lIns="0" tIns="0" rIns="0" bIns="0" rtlCol="0" anchor="ctr"/>
          <a:lstStyle/>
          <a:p>
            <a:pPr marL="0" indent="0">
              <a:buNone/>
            </a:pPr>
            <a:r>
              <a:rPr lang="en-US" sz="1700" dirty="0">
                <a:solidFill>
                  <a:srgbClr val="1F2A44"/>
                </a:solidFill>
                <a:latin typeface="Segoe UI" pitchFamily="34" charset="0"/>
                <a:ea typeface="Segoe UI" pitchFamily="34" charset="-122"/>
                <a:cs typeface="Segoe UI" pitchFamily="34" charset="-120"/>
              </a:rPr>
              <a:t>Centraliser les données commerciales</a:t>
            </a:r>
            <a:endParaRPr lang="en-US" sz="1700" dirty="0"/>
          </a:p>
        </p:txBody>
      </p:sp>
      <p:sp>
        <p:nvSpPr>
          <p:cNvPr id="7" name="Shape 5"/>
          <p:cNvSpPr/>
          <p:nvPr/>
        </p:nvSpPr>
        <p:spPr>
          <a:xfrm>
            <a:off x="731520" y="3419856"/>
            <a:ext cx="237744" cy="237744"/>
          </a:xfrm>
          <a:prstGeom prst="roundRect">
            <a:avLst>
              <a:gd name="adj" fmla="val 23077"/>
            </a:avLst>
          </a:prstGeom>
          <a:solidFill>
            <a:srgbClr val="F2A93B"/>
          </a:solidFill>
          <a:ln/>
        </p:spPr>
      </p:sp>
      <p:sp>
        <p:nvSpPr>
          <p:cNvPr id="8" name="Text 6"/>
          <p:cNvSpPr txBox="1"/>
          <p:nvPr/>
        </p:nvSpPr>
        <p:spPr>
          <a:xfrm>
            <a:off x="1143000" y="3310128"/>
            <a:ext cx="4846320" cy="457200"/>
          </a:xfrm>
          <a:prstGeom prst="rect">
            <a:avLst/>
          </a:prstGeom>
          <a:noFill/>
          <a:ln/>
        </p:spPr>
        <p:txBody>
          <a:bodyPr wrap="square" lIns="0" tIns="0" rIns="0" bIns="0" rtlCol="0" anchor="ctr"/>
          <a:lstStyle/>
          <a:p>
            <a:pPr marL="0" indent="0">
              <a:buNone/>
            </a:pPr>
            <a:r>
              <a:rPr lang="en-US" sz="1700" dirty="0">
                <a:solidFill>
                  <a:srgbClr val="1F2A44"/>
                </a:solidFill>
                <a:latin typeface="Segoe UI" pitchFamily="34" charset="0"/>
                <a:ea typeface="Segoe UI" pitchFamily="34" charset="-122"/>
                <a:cs typeface="Segoe UI" pitchFamily="34" charset="-120"/>
              </a:rPr>
              <a:t>Automatiser les calculs et les documents</a:t>
            </a:r>
            <a:endParaRPr lang="en-US" sz="1700" dirty="0"/>
          </a:p>
        </p:txBody>
      </p:sp>
      <p:sp>
        <p:nvSpPr>
          <p:cNvPr id="9" name="Shape 7"/>
          <p:cNvSpPr/>
          <p:nvPr/>
        </p:nvSpPr>
        <p:spPr>
          <a:xfrm>
            <a:off x="731520" y="3986784"/>
            <a:ext cx="237744" cy="237744"/>
          </a:xfrm>
          <a:prstGeom prst="roundRect">
            <a:avLst>
              <a:gd name="adj" fmla="val 23077"/>
            </a:avLst>
          </a:prstGeom>
          <a:solidFill>
            <a:srgbClr val="F2A93B"/>
          </a:solidFill>
          <a:ln/>
        </p:spPr>
      </p:sp>
      <p:sp>
        <p:nvSpPr>
          <p:cNvPr id="10" name="Text 8"/>
          <p:cNvSpPr txBox="1"/>
          <p:nvPr/>
        </p:nvSpPr>
        <p:spPr>
          <a:xfrm>
            <a:off x="1143000" y="3877056"/>
            <a:ext cx="4846320" cy="457200"/>
          </a:xfrm>
          <a:prstGeom prst="rect">
            <a:avLst/>
          </a:prstGeom>
          <a:noFill/>
          <a:ln/>
        </p:spPr>
        <p:txBody>
          <a:bodyPr wrap="square" lIns="0" tIns="0" rIns="0" bIns="0" rtlCol="0" anchor="ctr"/>
          <a:lstStyle/>
          <a:p>
            <a:pPr marL="0" indent="0">
              <a:buNone/>
            </a:pPr>
            <a:r>
              <a:rPr lang="en-US" sz="1700" dirty="0">
                <a:solidFill>
                  <a:srgbClr val="1F2A44"/>
                </a:solidFill>
                <a:latin typeface="Segoe UI" pitchFamily="34" charset="0"/>
                <a:ea typeface="Segoe UI" pitchFamily="34" charset="-122"/>
                <a:cs typeface="Segoe UI" pitchFamily="34" charset="-120"/>
              </a:rPr>
              <a:t>Suivre les stocks et les réapprovisionnements</a:t>
            </a:r>
            <a:endParaRPr lang="en-US" sz="1700" dirty="0"/>
          </a:p>
        </p:txBody>
      </p:sp>
      <p:sp>
        <p:nvSpPr>
          <p:cNvPr id="11" name="Shape 9"/>
          <p:cNvSpPr/>
          <p:nvPr/>
        </p:nvSpPr>
        <p:spPr>
          <a:xfrm>
            <a:off x="6217920" y="2852928"/>
            <a:ext cx="237744" cy="237744"/>
          </a:xfrm>
          <a:prstGeom prst="roundRect">
            <a:avLst>
              <a:gd name="adj" fmla="val 23077"/>
            </a:avLst>
          </a:prstGeom>
          <a:solidFill>
            <a:srgbClr val="F2A93B"/>
          </a:solidFill>
          <a:ln/>
        </p:spPr>
      </p:sp>
      <p:sp>
        <p:nvSpPr>
          <p:cNvPr id="12" name="Text 10"/>
          <p:cNvSpPr txBox="1"/>
          <p:nvPr/>
        </p:nvSpPr>
        <p:spPr>
          <a:xfrm>
            <a:off x="6629400" y="2743200"/>
            <a:ext cx="4846320" cy="457200"/>
          </a:xfrm>
          <a:prstGeom prst="rect">
            <a:avLst/>
          </a:prstGeom>
          <a:noFill/>
          <a:ln/>
        </p:spPr>
        <p:txBody>
          <a:bodyPr wrap="square" lIns="0" tIns="0" rIns="0" bIns="0" rtlCol="0" anchor="ctr"/>
          <a:lstStyle/>
          <a:p>
            <a:pPr marL="0" indent="0">
              <a:buNone/>
            </a:pPr>
            <a:r>
              <a:rPr lang="en-US" sz="1700" dirty="0">
                <a:solidFill>
                  <a:srgbClr val="1F2A44"/>
                </a:solidFill>
                <a:latin typeface="Segoe UI" pitchFamily="34" charset="0"/>
                <a:ea typeface="Segoe UI" pitchFamily="34" charset="-122"/>
                <a:cs typeface="Segoe UI" pitchFamily="34" charset="-120"/>
              </a:rPr>
              <a:t>Assurer la traçabilité des transactions</a:t>
            </a:r>
            <a:endParaRPr lang="en-US" sz="1700" dirty="0"/>
          </a:p>
        </p:txBody>
      </p:sp>
      <p:sp>
        <p:nvSpPr>
          <p:cNvPr id="13" name="Shape 11"/>
          <p:cNvSpPr/>
          <p:nvPr/>
        </p:nvSpPr>
        <p:spPr>
          <a:xfrm>
            <a:off x="6217920" y="3419856"/>
            <a:ext cx="237744" cy="237744"/>
          </a:xfrm>
          <a:prstGeom prst="roundRect">
            <a:avLst>
              <a:gd name="adj" fmla="val 23077"/>
            </a:avLst>
          </a:prstGeom>
          <a:solidFill>
            <a:srgbClr val="F2A93B"/>
          </a:solidFill>
          <a:ln/>
        </p:spPr>
      </p:sp>
      <p:sp>
        <p:nvSpPr>
          <p:cNvPr id="14" name="Text 12"/>
          <p:cNvSpPr txBox="1"/>
          <p:nvPr/>
        </p:nvSpPr>
        <p:spPr>
          <a:xfrm>
            <a:off x="6629400" y="3310128"/>
            <a:ext cx="4846320" cy="457200"/>
          </a:xfrm>
          <a:prstGeom prst="rect">
            <a:avLst/>
          </a:prstGeom>
          <a:noFill/>
          <a:ln/>
        </p:spPr>
        <p:txBody>
          <a:bodyPr wrap="square" lIns="0" tIns="0" rIns="0" bIns="0" rtlCol="0" anchor="ctr"/>
          <a:lstStyle/>
          <a:p>
            <a:pPr marL="0" indent="0">
              <a:buNone/>
            </a:pPr>
            <a:r>
              <a:rPr lang="en-US" sz="1700" dirty="0">
                <a:solidFill>
                  <a:srgbClr val="1F2A44"/>
                </a:solidFill>
                <a:latin typeface="Segoe UI" pitchFamily="34" charset="0"/>
                <a:ea typeface="Segoe UI" pitchFamily="34" charset="-122"/>
                <a:cs typeface="Segoe UI" pitchFamily="34" charset="-120"/>
              </a:rPr>
              <a:t>Faciliter les échanges entre entreprises</a:t>
            </a:r>
            <a:endParaRPr lang="en-US" sz="1700" dirty="0"/>
          </a:p>
        </p:txBody>
      </p:sp>
      <p:sp>
        <p:nvSpPr>
          <p:cNvPr id="15" name="Shape 13"/>
          <p:cNvSpPr/>
          <p:nvPr/>
        </p:nvSpPr>
        <p:spPr>
          <a:xfrm>
            <a:off x="731520" y="4800600"/>
            <a:ext cx="10725912" cy="822960"/>
          </a:xfrm>
          <a:prstGeom prst="roundRect">
            <a:avLst>
              <a:gd name="adj" fmla="val 6667"/>
            </a:avLst>
          </a:prstGeom>
          <a:solidFill>
            <a:srgbClr val="1F2A5C"/>
          </a:solidFill>
          <a:ln/>
        </p:spPr>
      </p:sp>
      <p:sp>
        <p:nvSpPr>
          <p:cNvPr id="16" name="Text 14"/>
          <p:cNvSpPr txBox="1"/>
          <p:nvPr/>
        </p:nvSpPr>
        <p:spPr>
          <a:xfrm>
            <a:off x="1005840" y="4800600"/>
            <a:ext cx="10241280" cy="822960"/>
          </a:xfrm>
          <a:prstGeom prst="rect">
            <a:avLst/>
          </a:prstGeom>
          <a:noFill/>
          <a:ln/>
        </p:spPr>
        <p:txBody>
          <a:bodyPr wrap="square" lIns="0" tIns="0" rIns="0" bIns="0" rtlCol="0" anchor="ctr"/>
          <a:lstStyle/>
          <a:p>
            <a:pPr marL="0" indent="0">
              <a:buNone/>
            </a:pPr>
            <a:r>
              <a:rPr lang="en-US" sz="1800" b="1" dirty="0">
                <a:solidFill>
                  <a:srgbClr val="FFFFFF"/>
                </a:solidFill>
                <a:latin typeface="Segoe UI" pitchFamily="34" charset="0"/>
                <a:ea typeface="Segoe UI" pitchFamily="34" charset="-122"/>
                <a:cs typeface="Segoe UI" pitchFamily="34" charset="-120"/>
              </a:rPr>
              <a:t>Un projet mené de bout en bout, de l'analyse du besoin jusqu'à la réalisation technique.</a:t>
            </a:r>
            <a:endParaRPr lang="en-US" sz="1800" dirty="0"/>
          </a:p>
        </p:txBody>
      </p:sp>
      <p:sp>
        <p:nvSpPr>
          <p:cNvPr id="25" name="Slide Number Placeholder 0"/>
          <p:cNvSpPr>
            <a:spLocks noGrp="1"/>
          </p:cNvSpPr>
          <p:nvPr>
            <p:ph type="sldNum" sz="quarter" idx="4294967295"/>
          </p:nvPr>
        </p:nvSpPr>
        <p:spPr>
          <a:xfrm>
            <a:off x="1090879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latin typeface="Segoe UI"/>
                <a:ea typeface="Segoe UI"/>
                <a:cs typeface="Segoe UI"/>
              </a:defRPr>
            </a:lvl1pPr>
          </a:lstStyle>
          <a:p>
            <a:pPr algn="r"/>
            <a:fld id="{F7021451-1387-4CA6-816F-3879F97B5CBC}" type="slidenum">
              <a:rPr lang="en-US" b="0"/>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731520" y="1783080"/>
            <a:ext cx="109728" cy="2377440"/>
          </a:xfrm>
          <a:prstGeom prst="rect">
            <a:avLst/>
          </a:prstGeom>
          <a:solidFill>
            <a:srgbClr val="F2A93B"/>
          </a:solidFill>
          <a:ln/>
        </p:spPr>
      </p:sp>
      <p:sp>
        <p:nvSpPr>
          <p:cNvPr id="3" name="Text 1"/>
          <p:cNvSpPr txBox="1"/>
          <p:nvPr/>
        </p:nvSpPr>
        <p:spPr>
          <a:xfrm>
            <a:off x="1143000" y="1645920"/>
            <a:ext cx="9144000" cy="1097280"/>
          </a:xfrm>
          <a:prstGeom prst="rect">
            <a:avLst/>
          </a:prstGeom>
          <a:noFill/>
          <a:ln/>
        </p:spPr>
        <p:txBody>
          <a:bodyPr wrap="square" lIns="0" tIns="0" rIns="0" bIns="0" rtlCol="0" anchor="ctr"/>
          <a:lstStyle/>
          <a:p>
            <a:pPr marL="0" indent="0">
              <a:buNone/>
            </a:pPr>
            <a:r>
              <a:rPr lang="en-US" sz="5800" b="1" dirty="0">
                <a:solidFill>
                  <a:srgbClr val="FFFFFF"/>
                </a:solidFill>
                <a:latin typeface="Segoe UI" pitchFamily="34" charset="0"/>
                <a:ea typeface="Segoe UI" pitchFamily="34" charset="-122"/>
                <a:cs typeface="Segoe UI" pitchFamily="34" charset="-120"/>
              </a:rPr>
              <a:t>Merci !</a:t>
            </a:r>
            <a:endParaRPr lang="en-US" sz="5800" dirty="0"/>
          </a:p>
        </p:txBody>
      </p:sp>
      <p:sp>
        <p:nvSpPr>
          <p:cNvPr id="4" name="Text 2"/>
          <p:cNvSpPr txBox="1"/>
          <p:nvPr/>
        </p:nvSpPr>
        <p:spPr>
          <a:xfrm>
            <a:off x="1143000" y="2788920"/>
            <a:ext cx="9601200" cy="548640"/>
          </a:xfrm>
          <a:prstGeom prst="rect">
            <a:avLst/>
          </a:prstGeom>
          <a:noFill/>
          <a:ln/>
        </p:spPr>
        <p:txBody>
          <a:bodyPr wrap="square" lIns="0" tIns="0" rIns="0" bIns="0" rtlCol="0" anchor="t"/>
          <a:lstStyle/>
          <a:p>
            <a:pPr marL="0" indent="0">
              <a:buNone/>
            </a:pPr>
            <a:r>
              <a:rPr lang="en-US" sz="2200" b="1" dirty="0">
                <a:solidFill>
                  <a:srgbClr val="F2A93B"/>
                </a:solidFill>
                <a:latin typeface="Segoe UI" pitchFamily="34" charset="0"/>
                <a:ea typeface="Segoe UI" pitchFamily="34" charset="-122"/>
                <a:cs typeface="Segoe UI" pitchFamily="34" charset="-120"/>
              </a:rPr>
              <a:t>FactuPro : gérer son activité, trouver ses partenaires, échanger.</a:t>
            </a:r>
            <a:endParaRPr lang="en-US" sz="2200" dirty="0"/>
          </a:p>
        </p:txBody>
      </p:sp>
      <p:sp>
        <p:nvSpPr>
          <p:cNvPr id="5" name="Text 3"/>
          <p:cNvSpPr txBox="1"/>
          <p:nvPr/>
        </p:nvSpPr>
        <p:spPr>
          <a:xfrm>
            <a:off x="1143000" y="3474720"/>
            <a:ext cx="9144000" cy="457200"/>
          </a:xfrm>
          <a:prstGeom prst="rect">
            <a:avLst/>
          </a:prstGeom>
          <a:noFill/>
          <a:ln/>
        </p:spPr>
        <p:txBody>
          <a:bodyPr wrap="square" lIns="0" tIns="0" rIns="0" bIns="0" rtlCol="0" anchor="t"/>
          <a:lstStyle/>
          <a:p>
            <a:pPr marL="0" indent="0">
              <a:buNone/>
            </a:pPr>
            <a:r>
              <a:rPr lang="en-US" sz="1900" dirty="0">
                <a:solidFill>
                  <a:srgbClr val="C9D0E6"/>
                </a:solidFill>
                <a:latin typeface="Segoe UI" pitchFamily="34" charset="0"/>
                <a:ea typeface="Segoe UI" pitchFamily="34" charset="-122"/>
                <a:cs typeface="Segoe UI" pitchFamily="34" charset="-120"/>
              </a:rPr>
              <a:t>Je suis à votre disposition pour vos questions.</a:t>
            </a:r>
            <a:endParaRPr lang="en-US" sz="1900" dirty="0"/>
          </a:p>
        </p:txBody>
      </p:sp>
      <p:sp>
        <p:nvSpPr>
          <p:cNvPr id="6" name="Text 4"/>
          <p:cNvSpPr txBox="1"/>
          <p:nvPr/>
        </p:nvSpPr>
        <p:spPr>
          <a:xfrm>
            <a:off x="1143000" y="6035040"/>
            <a:ext cx="10058400" cy="320040"/>
          </a:xfrm>
          <a:prstGeom prst="rect">
            <a:avLst/>
          </a:prstGeom>
          <a:noFill/>
          <a:ln/>
        </p:spPr>
        <p:txBody>
          <a:bodyPr wrap="square" lIns="0" tIns="0" rIns="0" bIns="0" rtlCol="0" anchor="t"/>
          <a:lstStyle/>
          <a:p>
            <a:pPr marL="0" indent="0">
              <a:buNone/>
            </a:pPr>
            <a:r>
              <a:rPr lang="en-US" sz="1200" dirty="0">
                <a:solidFill>
                  <a:srgbClr val="C9D0E6"/>
                </a:solidFill>
                <a:latin typeface="Segoe UI" pitchFamily="34" charset="0"/>
                <a:ea typeface="Segoe UI" pitchFamily="34" charset="-122"/>
                <a:cs typeface="Segoe UI" pitchFamily="34" charset="-120"/>
              </a:rPr>
              <a:t>AYANOU Tété Yao Alexandre · BTS Informatique de Gestion · Institut Polytechnique DEFITECH</a:t>
            </a:r>
            <a:endParaRPr lang="en-US" sz="1200" dirty="0"/>
          </a:p>
        </p:txBody>
      </p:sp>
    </p:spTree>
  </p:cSld>
  <p:clrMapOvr>
    <a:masterClrMapping/>
  </p:clrMapOvr>
  <p:transition spd="med">
    <p:fade/>
  </p:transition>
</p:sld>
</file>

<file path=ppt/theme/theme1.xml><?xml version="1.0" encoding="utf-8"?>
<a:theme xmlns:a="http://schemas.openxmlformats.org/drawingml/2006/main" name="Soutenance FactuPro">
  <a:themeElements>
    <a:clrScheme name="Soutenance FactuPro">
      <a:dk1>
        <a:srgbClr val="1F2A44"/>
      </a:dk1>
      <a:lt1>
        <a:srgbClr val="FFFFFF"/>
      </a:lt1>
      <a:dk2>
        <a:srgbClr val="1F2A5C"/>
      </a:dk2>
      <a:lt2>
        <a:srgbClr val="F4F5F8"/>
      </a:lt2>
      <a:accent1>
        <a:srgbClr val="F2A93B"/>
      </a:accent1>
      <a:accent2>
        <a:srgbClr val="1F2A5C"/>
      </a:accent2>
      <a:accent3>
        <a:srgbClr val="5B6478"/>
      </a:accent3>
      <a:accent4>
        <a:srgbClr val="F7C37A"/>
      </a:accent4>
      <a:accent5>
        <a:srgbClr val="FFF4E2"/>
      </a:accent5>
      <a:accent6>
        <a:srgbClr val="8A94A6"/>
      </a:accent6>
      <a:hlink>
        <a:srgbClr val="1F2A5C"/>
      </a:hlink>
      <a:folHlink>
        <a:srgbClr val="2D3F7A"/>
      </a:folHlink>
    </a:clrScheme>
    <a:fontScheme name="Soutenance FactuPro">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2087</Words>
  <Application>Microsoft Office PowerPoint</Application>
  <PresentationFormat>Grand écran</PresentationFormat>
  <Paragraphs>280</Paragraphs>
  <Slides>19</Slides>
  <Notes>19</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19</vt:i4>
      </vt:variant>
    </vt:vector>
  </HeadingPairs>
  <TitlesOfParts>
    <vt:vector size="25" baseType="lpstr">
      <vt:lpstr>Arial</vt:lpstr>
      <vt:lpstr>Calibri</vt:lpstr>
      <vt:lpstr>Cambria</vt:lpstr>
      <vt:lpstr>Segoe UI</vt:lpstr>
      <vt:lpstr>Times New Roman</vt:lpstr>
      <vt:lpstr>Soutenance FactuPro</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de mémoire : FactuPro</dc:title>
  <dc:subject>PptxGenJS Presentation</dc:subject>
  <dc:creator>AYANOU Tété Yao Alexandre</dc:creator>
  <cp:lastModifiedBy>Reine KOTOKOU</cp:lastModifiedBy>
  <cp:revision>14</cp:revision>
  <dcterms:created xsi:type="dcterms:W3CDTF">2026-10-07T03:41:11Z</dcterms:created>
  <dcterms:modified xsi:type="dcterms:W3CDTF">2026-10-07T05:06:33Z</dcterms:modified>
</cp:coreProperties>
</file>