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7" r:id="rId12"/>
    <p:sldId id="273" r:id="rId13"/>
    <p:sldId id="274" r:id="rId14"/>
    <p:sldId id="275" r:id="rId15"/>
    <p:sldId id="276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8" autoAdjust="0"/>
    <p:restoredTop sz="94610"/>
  </p:normalViewPr>
  <p:slideViewPr>
    <p:cSldViewPr snapToGrid="0" snapToObjects="1">
      <p:cViewPr>
        <p:scale>
          <a:sx n="125" d="100"/>
          <a:sy n="125" d="100"/>
        </p:scale>
        <p:origin x="36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6164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2C83D-CEE2-ABAE-D5F6-29CDAE5FF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71A5C1-873E-7D6D-3AC6-08C947D1C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D99A68-BC50-5509-DE77-9589F6E2DB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F62D8-EBC5-3166-DAFB-B836A88DF3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8012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C:\laragon\www\facturation\Nouveau dossier\Logo Defitech.jpg">
            <a:extLst>
              <a:ext uri="{FF2B5EF4-FFF2-40B4-BE49-F238E27FC236}">
                <a16:creationId xmlns:a16="http://schemas.microsoft.com/office/drawing/2014/main" id="{0F5101A0-D313-B0E6-126C-4AF85E7FB8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298" y="1152113"/>
            <a:ext cx="868680" cy="868680"/>
          </a:xfrm>
          <a:prstGeom prst="rect">
            <a:avLst/>
          </a:prstGeom>
        </p:spPr>
      </p:pic>
      <p:pic>
        <p:nvPicPr>
          <p:cNvPr id="5" name="Image 1" descr="C:\laragon\www\facturation\Nouveau dossier\logo-tad-it-light.png">
            <a:extLst>
              <a:ext uri="{FF2B5EF4-FFF2-40B4-BE49-F238E27FC236}">
                <a16:creationId xmlns:a16="http://schemas.microsoft.com/office/drawing/2014/main" id="{B4645059-DED4-6724-99E5-1B061B6330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453" y="1179545"/>
            <a:ext cx="1345997" cy="841248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D6988FBC-D587-F9C3-4F13-785BDB43E7CE}"/>
              </a:ext>
            </a:extLst>
          </p:cNvPr>
          <p:cNvSpPr txBox="1"/>
          <p:nvPr/>
        </p:nvSpPr>
        <p:spPr>
          <a:xfrm>
            <a:off x="2418677" y="2711642"/>
            <a:ext cx="77066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/>
              <a:t>PROJET DE FIN DE FORMATION POUR L’OBTENTION DU BREVET DE TCHNICIEN SUPERIEURE</a:t>
            </a:r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51AFAA0F-6729-990B-C249-F1D7BFA8B1F9}"/>
              </a:ext>
            </a:extLst>
          </p:cNvPr>
          <p:cNvSpPr txBox="1"/>
          <p:nvPr/>
        </p:nvSpPr>
        <p:spPr>
          <a:xfrm>
            <a:off x="2660127" y="2983435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F6B7A"/>
                </a:solidFill>
              </a:rPr>
              <a:t>Option: Développement d'applications</a:t>
            </a:r>
            <a:endParaRPr lang="en-US" sz="1400" dirty="0"/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59942CE5-5C9B-FCE5-054A-6D4936657B26}"/>
              </a:ext>
            </a:extLst>
          </p:cNvPr>
          <p:cNvSpPr txBox="1"/>
          <p:nvPr/>
        </p:nvSpPr>
        <p:spPr>
          <a:xfrm>
            <a:off x="1050514" y="3703022"/>
            <a:ext cx="10733144" cy="1141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A2540"/>
                </a:solidFill>
              </a:rPr>
              <a:t>Système de gestion de boutiques et d'intégration B2B : suivi des opérations commerciales des PME</a:t>
            </a:r>
            <a:endParaRPr lang="en-US" sz="290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EAF6784D-437D-F877-7526-143A45B37BC9}"/>
              </a:ext>
            </a:extLst>
          </p:cNvPr>
          <p:cNvSpPr txBox="1"/>
          <p:nvPr/>
        </p:nvSpPr>
        <p:spPr>
          <a:xfrm>
            <a:off x="4905188" y="53320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u="sng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Présenté</a:t>
            </a:r>
            <a:r>
              <a:rPr lang="en-US" sz="14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par: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b="1" dirty="0">
                <a:solidFill>
                  <a:srgbClr val="1A2540"/>
                </a:solidFill>
              </a:rPr>
              <a:t>AYANOU Tété Yao Alexandre </a:t>
            </a:r>
            <a:endParaRPr lang="en-US" sz="1450" dirty="0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E9CB7509-2C6A-AF8F-1EF2-4B4F56BC01F8}"/>
              </a:ext>
            </a:extLst>
          </p:cNvPr>
          <p:cNvSpPr txBox="1"/>
          <p:nvPr/>
        </p:nvSpPr>
        <p:spPr>
          <a:xfrm>
            <a:off x="1100269" y="583494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Directeur de Mémoire:</a:t>
            </a:r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E2570118-186C-8C34-29AB-02A299A675E7}"/>
              </a:ext>
            </a:extLst>
          </p:cNvPr>
          <p:cNvSpPr txBox="1"/>
          <p:nvPr/>
        </p:nvSpPr>
        <p:spPr>
          <a:xfrm>
            <a:off x="1100269" y="60909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A2540"/>
                </a:solidFill>
              </a:rPr>
              <a:t>M. Assiongbon Arthur de Rodrigue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1A2540"/>
                </a:solidFill>
              </a:rPr>
              <a:t>FIOKLOU-TOULAN</a:t>
            </a:r>
            <a:endParaRPr lang="en-US" sz="1450" dirty="0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555559D7-E781-F809-CD10-27E05575E4AF}"/>
              </a:ext>
            </a:extLst>
          </p:cNvPr>
          <p:cNvSpPr txBox="1"/>
          <p:nvPr/>
        </p:nvSpPr>
        <p:spPr>
          <a:xfrm>
            <a:off x="8965304" y="58409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Maître de stage:</a:t>
            </a:r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298033C7-30D7-8B83-8E0B-87E176883B8A}"/>
              </a:ext>
            </a:extLst>
          </p:cNvPr>
          <p:cNvSpPr txBox="1"/>
          <p:nvPr/>
        </p:nvSpPr>
        <p:spPr>
          <a:xfrm>
            <a:off x="8965304" y="6096956"/>
            <a:ext cx="3074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A2540"/>
                </a:solidFill>
              </a:rPr>
              <a:t>M. AKOUNDA Komi Crépin</a:t>
            </a:r>
            <a:endParaRPr lang="en-US" sz="1450" dirty="0"/>
          </a:p>
        </p:txBody>
      </p:sp>
      <p:pic>
        <p:nvPicPr>
          <p:cNvPr id="41" name="Image 40">
            <a:extLst>
              <a:ext uri="{FF2B5EF4-FFF2-40B4-BE49-F238E27FC236}">
                <a16:creationId xmlns:a16="http://schemas.microsoft.com/office/drawing/2014/main" id="{1FE12980-9480-36CA-9C0E-D95FFFDDE96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3288" y="-61463"/>
            <a:ext cx="1345997" cy="1576288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A88548E5-449C-AD11-5FD0-A72361BAF0E5}"/>
              </a:ext>
            </a:extLst>
          </p:cNvPr>
          <p:cNvSpPr/>
          <p:nvPr/>
        </p:nvSpPr>
        <p:spPr>
          <a:xfrm>
            <a:off x="888676" y="2001284"/>
            <a:ext cx="1959923" cy="29130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 Polytechnique DEFITECH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638F750-CFBE-10FF-5469-5B1B95D6C725}"/>
              </a:ext>
            </a:extLst>
          </p:cNvPr>
          <p:cNvSpPr/>
          <p:nvPr/>
        </p:nvSpPr>
        <p:spPr>
          <a:xfrm>
            <a:off x="5292044" y="1369174"/>
            <a:ext cx="1959923" cy="29130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Travail-Liberté-Patrie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3C52D96-A3A4-5FA5-1038-2AB719166E81}"/>
              </a:ext>
            </a:extLst>
          </p:cNvPr>
          <p:cNvSpPr/>
          <p:nvPr/>
        </p:nvSpPr>
        <p:spPr>
          <a:xfrm>
            <a:off x="9522489" y="2103361"/>
            <a:ext cx="1959923" cy="29130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TAD IT Consulting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85800" cy="640080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17099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de formation et de stage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08760" y="207568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Polytechnique DEFITECH &amp; TAD IT Consulting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59736"/>
            <a:ext cx="10881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548640" y="2587752"/>
            <a:ext cx="685800" cy="640080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2587752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08760" y="2606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préalable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08760" y="297180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Problématique, existant, critique et solution proposée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55848"/>
            <a:ext cx="10881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548640" y="3483864"/>
            <a:ext cx="685800" cy="640080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48640" y="3483864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08760" y="35021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détaillée &amp; réalisation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08760" y="386791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MERISE, architecture et technologies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251960"/>
            <a:ext cx="10881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548640" y="4379976"/>
            <a:ext cx="685800" cy="640080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48640" y="4379976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508760" y="439826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de l'application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508760" y="4764024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utilisateur à travers les interfaces de FactuPro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148072"/>
            <a:ext cx="10881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548640" y="5276088"/>
            <a:ext cx="685800" cy="640080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48640" y="5276088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508760" y="529437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perspectives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508760" y="5660136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rencontrées, évolutions envisagées, conclusion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FactuPro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 Polytechnique DEFITECH (IPD)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4617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 fondé en 2002 à Lomé
</a:t>
            </a:r>
            <a:r>
              <a:rPr lang="en-US" sz="14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Formations : BTS, Licence Pro, Web@cademy
</a:t>
            </a:r>
            <a:r>
              <a:rPr lang="en-US" sz="14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Filières : informatique, télécoms, gestion, RH
</a:t>
            </a:r>
            <a:r>
              <a:rPr lang="en-US" sz="14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Devise : allier théorie et pratique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80760" y="173736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400800" y="20116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TAD IT Consulting — TAD Dev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0" y="2606040"/>
            <a:ext cx="4617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numériques sur mesure
</a:t>
            </a:r>
            <a:r>
              <a:rPr lang="en-US" sz="14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logiciel, DevOps, sécurité, IA
</a:t>
            </a:r>
            <a:r>
              <a:rPr lang="en-US" sz="14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 : dev web, gestion de projets
</a:t>
            </a:r>
            <a:r>
              <a:rPr lang="en-US" sz="14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 : conception de FactuPro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FactuPro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II — ÉTUDE PRÉALABLE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Problématique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boutiques et de l'approvisionnement des PME : vente au comptoir et échanges B2B.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7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868680" y="2679192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68680" y="2660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1600200" y="260604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 : </a:t>
            </a:r>
            <a:r>
              <a:rPr lang="en-US" sz="15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réseautage B2B basé sur les réseaux sociaux et le bouche-à-oreille.
</a:t>
            </a:r>
            <a:r>
              <a:rPr lang="en-US" sz="15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urgence : surfacturation… ou perte de temps et de clients.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4069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objectif triple 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3538728" cy="1600200"/>
          </a:xfrm>
          <a:prstGeom prst="roundRect">
            <a:avLst>
              <a:gd name="adj" fmla="val 4571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77240" y="484632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les coûts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5394960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de partenaires, surfacturation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06824" y="4526280"/>
            <a:ext cx="3538728" cy="1600200"/>
          </a:xfrm>
          <a:prstGeom prst="roundRect">
            <a:avLst>
              <a:gd name="adj" fmla="val 4571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35424" y="484632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Éliminer les délais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35424" y="5394960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à la disponibilité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65008" y="4526280"/>
            <a:ext cx="3538728" cy="1600200"/>
          </a:xfrm>
          <a:prstGeom prst="roundRect">
            <a:avLst>
              <a:gd name="adj" fmla="val 4571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8293608" y="484632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 les stocks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93608" y="5394960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centralisé et fiable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FactuPro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II — ÉTUDE PRÉALABLE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Étude de l'existant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257800" cy="594360"/>
          </a:xfrm>
          <a:prstGeom prst="roundRect">
            <a:avLst>
              <a:gd name="adj" fmla="val 12308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Vente au comptoir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709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du besoin
</a:t>
            </a: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du prix, à la main
</a:t>
            </a: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et reçu papier
</a:t>
            </a: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papier pour l'inventaire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0760" y="173736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080760" y="1737360"/>
            <a:ext cx="5257800" cy="594360"/>
          </a:xfrm>
          <a:prstGeom prst="roundRect">
            <a:avLst>
              <a:gd name="adj" fmla="val 12308"/>
            </a:avLst>
          </a:prstGeom>
          <a:solidFill>
            <a:srgbClr val="3730A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355080" y="173736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Réseautage B2B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2514600"/>
            <a:ext cx="4709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Repérage d'une annonce
</a:t>
            </a:r>
            <a:r>
              <a:rPr lang="en-US" sz="15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via WhatsApp
</a:t>
            </a:r>
            <a:r>
              <a:rPr lang="en-US" sz="15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passée et confirmée
</a:t>
            </a:r>
            <a:r>
              <a:rPr lang="en-US" sz="15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de l'acheteuse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FactuPro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build="allAtOnce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II — ÉTUDE PRÉALABLE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Critique de l'existant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932688"/>
          </a:xfrm>
          <a:prstGeom prst="roundRect">
            <a:avLst>
              <a:gd name="adj" fmla="val 6863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13232" y="2029968"/>
            <a:ext cx="347472" cy="347472"/>
          </a:xfrm>
          <a:prstGeom prst="ellipse">
            <a:avLst/>
          </a:prstGeom>
          <a:solidFill>
            <a:srgbClr val="C7D2F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13232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8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88" dirty="0"/>
          </a:p>
        </p:txBody>
      </p:sp>
      <p:sp>
        <p:nvSpPr>
          <p:cNvPr id="7" name="Text 5"/>
          <p:cNvSpPr/>
          <p:nvPr/>
        </p:nvSpPr>
        <p:spPr>
          <a:xfrm>
            <a:off x="1188720" y="1737360"/>
            <a:ext cx="4617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du stock difficile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440680" cy="932688"/>
          </a:xfrm>
          <a:prstGeom prst="roundRect">
            <a:avLst>
              <a:gd name="adj" fmla="val 6863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336792" y="2029968"/>
            <a:ext cx="347472" cy="347472"/>
          </a:xfrm>
          <a:prstGeom prst="ellipse">
            <a:avLst/>
          </a:prstGeom>
          <a:solidFill>
            <a:srgbClr val="C7D2F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336792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8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88" dirty="0"/>
          </a:p>
        </p:txBody>
      </p:sp>
      <p:sp>
        <p:nvSpPr>
          <p:cNvPr id="11" name="Text 9"/>
          <p:cNvSpPr/>
          <p:nvPr/>
        </p:nvSpPr>
        <p:spPr>
          <a:xfrm>
            <a:off x="6812280" y="1737360"/>
            <a:ext cx="4617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Inventaires papier fastidieux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807208"/>
            <a:ext cx="5440680" cy="932688"/>
          </a:xfrm>
          <a:prstGeom prst="roundRect">
            <a:avLst>
              <a:gd name="adj" fmla="val 6863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713232" y="3099816"/>
            <a:ext cx="347472" cy="347472"/>
          </a:xfrm>
          <a:prstGeom prst="ellipse">
            <a:avLst/>
          </a:prstGeom>
          <a:solidFill>
            <a:srgbClr val="C7D2F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13232" y="3081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8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88" dirty="0"/>
          </a:p>
        </p:txBody>
      </p:sp>
      <p:sp>
        <p:nvSpPr>
          <p:cNvPr id="15" name="Text 13"/>
          <p:cNvSpPr/>
          <p:nvPr/>
        </p:nvSpPr>
        <p:spPr>
          <a:xfrm>
            <a:off x="1188720" y="2807208"/>
            <a:ext cx="4617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Fidélisation des clients difficile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72200" y="2807208"/>
            <a:ext cx="5440680" cy="932688"/>
          </a:xfrm>
          <a:prstGeom prst="roundRect">
            <a:avLst>
              <a:gd name="adj" fmla="val 6863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336792" y="3099816"/>
            <a:ext cx="347472" cy="347472"/>
          </a:xfrm>
          <a:prstGeom prst="ellipse">
            <a:avLst/>
          </a:prstGeom>
          <a:solidFill>
            <a:srgbClr val="C7D2F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336792" y="3081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8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88" dirty="0"/>
          </a:p>
        </p:txBody>
      </p:sp>
      <p:sp>
        <p:nvSpPr>
          <p:cNvPr id="19" name="Text 17"/>
          <p:cNvSpPr/>
          <p:nvPr/>
        </p:nvSpPr>
        <p:spPr>
          <a:xfrm>
            <a:off x="6812280" y="2807208"/>
            <a:ext cx="4617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d'offres coûteuse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877056"/>
            <a:ext cx="5440680" cy="932688"/>
          </a:xfrm>
          <a:prstGeom prst="roundRect">
            <a:avLst>
              <a:gd name="adj" fmla="val 6863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713232" y="4169664"/>
            <a:ext cx="347472" cy="347472"/>
          </a:xfrm>
          <a:prstGeom prst="ellipse">
            <a:avLst/>
          </a:prstGeom>
          <a:solidFill>
            <a:srgbClr val="C7D2F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713232" y="4151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8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88" dirty="0"/>
          </a:p>
        </p:txBody>
      </p:sp>
      <p:sp>
        <p:nvSpPr>
          <p:cNvPr id="23" name="Text 21"/>
          <p:cNvSpPr/>
          <p:nvPr/>
        </p:nvSpPr>
        <p:spPr>
          <a:xfrm>
            <a:off x="1188720" y="3877056"/>
            <a:ext cx="4617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de partenaires longue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72200" y="3877056"/>
            <a:ext cx="5440680" cy="932688"/>
          </a:xfrm>
          <a:prstGeom prst="roundRect">
            <a:avLst>
              <a:gd name="adj" fmla="val 6863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6336792" y="4169664"/>
            <a:ext cx="347472" cy="347472"/>
          </a:xfrm>
          <a:prstGeom prst="ellipse">
            <a:avLst/>
          </a:prstGeom>
          <a:solidFill>
            <a:srgbClr val="C7D2F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336792" y="4151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8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88" dirty="0"/>
          </a:p>
        </p:txBody>
      </p:sp>
      <p:sp>
        <p:nvSpPr>
          <p:cNvPr id="27" name="Text 25"/>
          <p:cNvSpPr/>
          <p:nvPr/>
        </p:nvSpPr>
        <p:spPr>
          <a:xfrm>
            <a:off x="6812280" y="3877056"/>
            <a:ext cx="4617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de visibilité du marché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4946904"/>
            <a:ext cx="5440680" cy="932688"/>
          </a:xfrm>
          <a:prstGeom prst="roundRect">
            <a:avLst>
              <a:gd name="adj" fmla="val 6863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713232" y="5239512"/>
            <a:ext cx="347472" cy="347472"/>
          </a:xfrm>
          <a:prstGeom prst="ellipse">
            <a:avLst/>
          </a:prstGeom>
          <a:solidFill>
            <a:srgbClr val="C7D2F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713232" y="5221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8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88" dirty="0"/>
          </a:p>
        </p:txBody>
      </p:sp>
      <p:sp>
        <p:nvSpPr>
          <p:cNvPr id="31" name="Text 29"/>
          <p:cNvSpPr/>
          <p:nvPr/>
        </p:nvSpPr>
        <p:spPr>
          <a:xfrm>
            <a:off x="1188720" y="4946904"/>
            <a:ext cx="4617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à l'interlocuteur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172200" y="4946904"/>
            <a:ext cx="5440680" cy="932688"/>
          </a:xfrm>
          <a:prstGeom prst="roundRect">
            <a:avLst>
              <a:gd name="adj" fmla="val 6863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6336792" y="5239512"/>
            <a:ext cx="347472" cy="347472"/>
          </a:xfrm>
          <a:prstGeom prst="ellipse">
            <a:avLst/>
          </a:prstGeom>
          <a:solidFill>
            <a:srgbClr val="C7D2F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6336792" y="5221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8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88" dirty="0"/>
          </a:p>
        </p:txBody>
      </p:sp>
      <p:sp>
        <p:nvSpPr>
          <p:cNvPr id="35" name="Text 33"/>
          <p:cNvSpPr/>
          <p:nvPr/>
        </p:nvSpPr>
        <p:spPr>
          <a:xfrm>
            <a:off x="6812280" y="4946904"/>
            <a:ext cx="4617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Surfacturation en urgence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FactuPro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PROPOSÉE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FactuPro : gestion des boutiques et échanges interentreprises (B2B), dans une seule application.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produits en stock… jusqu'à la facturation.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434840"/>
            <a:ext cx="3538728" cy="1600200"/>
          </a:xfrm>
          <a:prstGeom prst="roundRect">
            <a:avLst>
              <a:gd name="adj" fmla="val 4571"/>
            </a:avLst>
          </a:prstGeom>
          <a:solidFill>
            <a:srgbClr val="312E81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097280" y="466344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Centraliser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5120640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informations commerciales des entreprises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81144" y="4434840"/>
            <a:ext cx="3538728" cy="1600200"/>
          </a:xfrm>
          <a:prstGeom prst="roundRect">
            <a:avLst>
              <a:gd name="adj" fmla="val 4571"/>
            </a:avLst>
          </a:prstGeom>
          <a:solidFill>
            <a:srgbClr val="312E81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855464" y="466344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Automatiser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55464" y="5120640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calculs, la facturation et le suivi des stocks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339328" y="4434840"/>
            <a:ext cx="3538728" cy="1600200"/>
          </a:xfrm>
          <a:prstGeom prst="roundRect">
            <a:avLst>
              <a:gd name="adj" fmla="val 4571"/>
            </a:avLst>
          </a:prstGeom>
          <a:solidFill>
            <a:srgbClr val="312E81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8613648" y="466344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13648" y="5120640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PME entre elles via un réseau B2B structuré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FactuPro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II —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Fonctionnalités clés de la plateforme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04672" y="2039112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04672" y="2020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804672" y="269748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Informations centralisées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3063240"/>
            <a:ext cx="3026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privé et sécurisé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06824" y="1783080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562856" y="2039112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62856" y="2020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560" dirty="0"/>
          </a:p>
        </p:txBody>
      </p:sp>
      <p:sp>
        <p:nvSpPr>
          <p:cNvPr id="12" name="Text 10"/>
          <p:cNvSpPr/>
          <p:nvPr/>
        </p:nvSpPr>
        <p:spPr>
          <a:xfrm>
            <a:off x="4562856" y="269748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&amp; stocks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62856" y="3063240"/>
            <a:ext cx="3026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et suivi en temps réel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65008" y="1783080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8321040" y="2039112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8321040" y="2020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1560" dirty="0"/>
          </a:p>
        </p:txBody>
      </p:sp>
      <p:sp>
        <p:nvSpPr>
          <p:cNvPr id="17" name="Text 15"/>
          <p:cNvSpPr/>
          <p:nvPr/>
        </p:nvSpPr>
        <p:spPr>
          <a:xfrm>
            <a:off x="8321040" y="269748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3063240"/>
            <a:ext cx="3026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Enregistrement et historique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968496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804672" y="4224528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804672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1560" dirty="0"/>
          </a:p>
        </p:txBody>
      </p:sp>
      <p:sp>
        <p:nvSpPr>
          <p:cNvPr id="22" name="Text 20"/>
          <p:cNvSpPr/>
          <p:nvPr/>
        </p:nvSpPr>
        <p:spPr>
          <a:xfrm>
            <a:off x="804672" y="4882896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relation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4672" y="5248656"/>
            <a:ext cx="3026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de partenaires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06824" y="3968496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562856" y="4224528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562856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</a:t>
            </a:r>
            <a:endParaRPr lang="en-US" sz="1560" dirty="0"/>
          </a:p>
        </p:txBody>
      </p:sp>
      <p:sp>
        <p:nvSpPr>
          <p:cNvPr id="27" name="Text 25"/>
          <p:cNvSpPr/>
          <p:nvPr/>
        </p:nvSpPr>
        <p:spPr>
          <a:xfrm>
            <a:off x="4562856" y="4882896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Offres B2B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62856" y="5248656"/>
            <a:ext cx="3026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et consultation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65008" y="3968496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8321040" y="4224528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83210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560" dirty="0"/>
          </a:p>
        </p:txBody>
      </p:sp>
      <p:sp>
        <p:nvSpPr>
          <p:cNvPr id="32" name="Text 30"/>
          <p:cNvSpPr/>
          <p:nvPr/>
        </p:nvSpPr>
        <p:spPr>
          <a:xfrm>
            <a:off x="8321040" y="4882896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B2B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21040" y="5248656"/>
            <a:ext cx="3026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et suivi du statut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FactuPro — Mémoire BTS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III — ÉTUDE DÉTAILLÉE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Démarche méthodologique : la méthode MERISE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57784" y="211328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Conceptuel de Données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" y="3680968"/>
            <a:ext cx="224028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Entités et associations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54680" y="333756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55848" y="210312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3730A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538728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MLD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538728" y="29718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Logique de Données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538728" y="3675888"/>
            <a:ext cx="224028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538728" y="37947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relationnelles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61888" y="333756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163056" y="210312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345936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MCT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345936" y="29718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Conceptuel des Traitements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45936" y="3675888"/>
            <a:ext cx="224028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345936" y="37947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 et règles métier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769096" y="333756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970264" y="210312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3730A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9153144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153144" y="29718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Organisationnel des Traitements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153144" y="3675888"/>
            <a:ext cx="224028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9153144" y="37947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Acteurs, postes, automatisation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l'analyse à la solution FactuPro.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FactuPro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IV — RÉALISATION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Environnement technique &amp;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83664"/>
            <a:ext cx="5029200" cy="4160520"/>
          </a:xfrm>
          <a:prstGeom prst="roundRect">
            <a:avLst>
              <a:gd name="adj" fmla="val 1758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22960" y="19842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MVC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448056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960120" y="282549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960120" y="2825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2624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508760" y="2953512"/>
            <a:ext cx="3657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et logique métier (MySQL / PDO)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3630168"/>
            <a:ext cx="448056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960120" y="394106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960120" y="3941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37398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508760" y="4069080"/>
            <a:ext cx="3657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et présentation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4745736"/>
            <a:ext cx="448056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960120" y="505663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960120" y="5056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48554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Contrôleur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508760" y="5184648"/>
            <a:ext cx="3657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et coordination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806440" y="1783080"/>
            <a:ext cx="58521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035040" y="185623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&amp; SGBD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035040" y="214884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8.3  ·  MySQL 8.0  ·  PDO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06440" y="2679192"/>
            <a:ext cx="5852160" cy="777240"/>
          </a:xfrm>
          <a:prstGeom prst="roundRect">
            <a:avLst>
              <a:gd name="adj" fmla="val 8235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035040" y="275234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035040" y="304495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 ·  CSS  ·  JavaScript natif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806440" y="3575304"/>
            <a:ext cx="58521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035040" y="364845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035040" y="394106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phpdotenv  ·  PHPMailer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06440" y="4471416"/>
            <a:ext cx="5852160" cy="777240"/>
          </a:xfrm>
          <a:prstGeom prst="roundRect">
            <a:avLst>
              <a:gd name="adj" fmla="val 8235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6035040" y="454456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035040" y="483717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: Apache, MySQL, phpMyAdmin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806440" y="5367528"/>
            <a:ext cx="58521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6035040" y="54406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035040" y="57332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FactuPro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F49FE6-D8A0-CBA6-DC4B-B3DD4B917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9">
            <a:extLst>
              <a:ext uri="{FF2B5EF4-FFF2-40B4-BE49-F238E27FC236}">
                <a16:creationId xmlns:a16="http://schemas.microsoft.com/office/drawing/2014/main" id="{3A0D9024-2DCF-D4FF-94DA-B0222D8BF92C}"/>
              </a:ext>
            </a:extLst>
          </p:cNvPr>
          <p:cNvSpPr/>
          <p:nvPr/>
        </p:nvSpPr>
        <p:spPr>
          <a:xfrm>
            <a:off x="5184648" y="1828800"/>
            <a:ext cx="914400" cy="91440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F3BF9E9-F3A4-5A67-993A-269EBD3B311D}"/>
              </a:ext>
            </a:extLst>
          </p:cNvPr>
          <p:cNvSpPr/>
          <p:nvPr/>
        </p:nvSpPr>
        <p:spPr>
          <a:xfrm>
            <a:off x="5184648" y="18105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4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F02144B-6D73-3D67-496C-55F7CF8AC463}"/>
              </a:ext>
            </a:extLst>
          </p:cNvPr>
          <p:cNvSpPr/>
          <p:nvPr/>
        </p:nvSpPr>
        <p:spPr>
          <a:xfrm>
            <a:off x="822960" y="2971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Presentation de FactuPro</a:t>
            </a:r>
            <a:endParaRPr lang="en-US" sz="38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936DFAF-FBD8-EA6C-C028-FBCDE50900EA}"/>
              </a:ext>
            </a:extLst>
          </p:cNvPr>
          <p:cNvSpPr/>
          <p:nvPr/>
        </p:nvSpPr>
        <p:spPr>
          <a:xfrm>
            <a:off x="4504811" y="3667540"/>
            <a:ext cx="2743200" cy="0"/>
          </a:xfrm>
          <a:prstGeom prst="line">
            <a:avLst/>
          </a:prstGeom>
          <a:noFill/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5977E398-7723-6360-B83E-AC50FC675CF3}"/>
              </a:ext>
            </a:extLst>
          </p:cNvPr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FactuPro</a:t>
            </a:r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76460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Difficultés rencontrées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38728" cy="3566160"/>
          </a:xfrm>
          <a:prstGeom prst="roundRect">
            <a:avLst>
              <a:gd name="adj" fmla="val 2326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2296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2990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complexe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2990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Cardinalités et règles de gestion strictes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06824" y="1828800"/>
            <a:ext cx="3538728" cy="3566160"/>
          </a:xfrm>
          <a:prstGeom prst="roundRect">
            <a:avLst>
              <a:gd name="adj" fmla="val 2326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581144" y="210312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81144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4581144" y="2834640"/>
            <a:ext cx="2990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du temps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81144" y="3566160"/>
            <a:ext cx="2990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mené en parallèle du stage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65008" y="1828800"/>
            <a:ext cx="3538728" cy="3566160"/>
          </a:xfrm>
          <a:prstGeom prst="roundRect">
            <a:avLst>
              <a:gd name="adj" fmla="val 2326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8339328" y="210312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8339328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8339328" y="2834640"/>
            <a:ext cx="2990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temps réel B2B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39328" y="3566160"/>
            <a:ext cx="2990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 technique supplémentaire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FactuPro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11769" y="79213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 d'évolution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600200"/>
          </a:xfrm>
          <a:prstGeom prst="roundRect">
            <a:avLst>
              <a:gd name="adj" fmla="val 5143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77240" y="2290572"/>
            <a:ext cx="585216" cy="58521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77240" y="22722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1664" dirty="0"/>
          </a:p>
        </p:txBody>
      </p:sp>
      <p:sp>
        <p:nvSpPr>
          <p:cNvPr id="7" name="Text 5"/>
          <p:cNvSpPr/>
          <p:nvPr/>
        </p:nvSpPr>
        <p:spPr>
          <a:xfrm>
            <a:off x="1554480" y="2103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mobile local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5603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Flooz et T-Money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440680" cy="1600200"/>
          </a:xfrm>
          <a:prstGeom prst="roundRect">
            <a:avLst>
              <a:gd name="adj" fmla="val 5143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400800" y="2290572"/>
            <a:ext cx="585216" cy="58521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400800" y="22722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664" dirty="0"/>
          </a:p>
        </p:txBody>
      </p:sp>
      <p:sp>
        <p:nvSpPr>
          <p:cNvPr id="12" name="Text 10"/>
          <p:cNvSpPr/>
          <p:nvPr/>
        </p:nvSpPr>
        <p:spPr>
          <a:xfrm>
            <a:off x="7178040" y="2103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78040" y="25603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en tout lieu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5440680" cy="1600200"/>
          </a:xfrm>
          <a:prstGeom prst="roundRect">
            <a:avLst>
              <a:gd name="adj" fmla="val 5143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777240" y="4073652"/>
            <a:ext cx="585216" cy="58521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777240" y="405536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664" dirty="0"/>
          </a:p>
        </p:txBody>
      </p:sp>
      <p:sp>
        <p:nvSpPr>
          <p:cNvPr id="17" name="Text 15"/>
          <p:cNvSpPr/>
          <p:nvPr/>
        </p:nvSpPr>
        <p:spPr>
          <a:xfrm>
            <a:off x="1554480" y="3886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avancées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3434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et prévisions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72200" y="3566160"/>
            <a:ext cx="5440680" cy="1600200"/>
          </a:xfrm>
          <a:prstGeom prst="roundRect">
            <a:avLst>
              <a:gd name="adj" fmla="val 5143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400800" y="4073652"/>
            <a:ext cx="585216" cy="58521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400800" y="405536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1664" dirty="0"/>
          </a:p>
        </p:txBody>
      </p:sp>
      <p:sp>
        <p:nvSpPr>
          <p:cNvPr id="22" name="Text 20"/>
          <p:cNvSpPr/>
          <p:nvPr/>
        </p:nvSpPr>
        <p:spPr>
          <a:xfrm>
            <a:off x="7178040" y="3886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&amp; avis mutuels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78040" y="43434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dans le réseau B2B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FactuPro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  <p:bldP spid="21" grpId="0" animBg="1"/>
      <p:bldP spid="22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l'analyse du besoin à la réalisation technique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FactuPro couvre tout le cycle commercial des PME, de l'analyse à la réalisation.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971800"/>
            <a:ext cx="5074920" cy="1280160"/>
          </a:xfrm>
          <a:prstGeom prst="roundRect">
            <a:avLst>
              <a:gd name="adj" fmla="val 5714"/>
            </a:avLst>
          </a:prstGeom>
          <a:solidFill>
            <a:srgbClr val="312E81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097280" y="317296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techniques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359359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MERISE, développement web, bases de données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80760" y="2971800"/>
            <a:ext cx="5074920" cy="1280160"/>
          </a:xfrm>
          <a:prstGeom prst="roundRect">
            <a:avLst>
              <a:gd name="adj" fmla="val 5714"/>
            </a:avLst>
          </a:prstGeom>
          <a:solidFill>
            <a:srgbClr val="312E81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355080" y="317296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professionnelles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55080" y="359359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d'équipe, rigueur, communication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46177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projet mené de bout en bout, avec une méthodologie rigoureuse.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FactuPro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5394960"/>
            <a:ext cx="64008" cy="6400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9738360" y="5394960"/>
            <a:ext cx="64008" cy="6400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0149840" y="5394960"/>
            <a:ext cx="64008" cy="6400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9326880" y="5806440"/>
            <a:ext cx="64008" cy="6400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9738360" y="5806440"/>
            <a:ext cx="64008" cy="6400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0149840" y="5806440"/>
            <a:ext cx="64008" cy="6400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9326880" y="6217920"/>
            <a:ext cx="64008" cy="6400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9738360" y="6217920"/>
            <a:ext cx="64008" cy="6400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10149840" y="6217920"/>
            <a:ext cx="64008" cy="6400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5184648" y="1828800"/>
            <a:ext cx="914400" cy="91440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184648" y="18105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22960" y="2971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727448" y="4526280"/>
            <a:ext cx="2743200" cy="0"/>
          </a:xfrm>
          <a:prstGeom prst="line">
            <a:avLst/>
          </a:prstGeom>
          <a:noFill/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AYANOU Tété Yao Alexandre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" y="51023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Polytechnique DEFITECH  —  BTS Développeur d'Applications  —  Promotion 2023-2025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2392</TotalTime>
  <Words>819</Words>
  <Application>Microsoft Office PowerPoint</Application>
  <PresentationFormat>Grand écran</PresentationFormat>
  <Paragraphs>220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Times New Roman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Reine KOTOKOU</cp:lastModifiedBy>
  <cp:revision>18</cp:revision>
  <dcterms:created xsi:type="dcterms:W3CDTF">2026-09-17T08:42:54Z</dcterms:created>
  <dcterms:modified xsi:type="dcterms:W3CDTF">2026-10-07T03:45:45Z</dcterms:modified>
</cp:coreProperties>
</file>