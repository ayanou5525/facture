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984FE383-56FA-567B-330D-F1279257FF68}">
          <p14:sldIdLst>
            <p14:sldId id="256"/>
            <p14:sldId id="257"/>
            <p14:sldId id="258"/>
            <p14:sldId id="259"/>
          </p14:sldIdLst>
        </p14:section>
        <p14:section name="Introduction" id="{9A5F0F68-FA76-17A5-2618-1AB2DE0C251E}">
          <p14:sldIdLst>
            <p14:sldId id="260"/>
            <p14:sldId id="261"/>
            <p14:sldId id="262"/>
            <p14:sldId id="263"/>
            <p14:sldId id="264"/>
          </p14:sldIdLst>
        </p14:section>
        <p14:section name="Problématique" id="{E07C1D6C-8557-D650-481C-63EEFB21A565}">
          <p14:sldIdLst>
            <p14:sldId id="265"/>
            <p14:sldId id="266"/>
            <p14:sldId id="267"/>
          </p14:sldIdLst>
        </p14:section>
        <p14:section name="Existant" id="{F6917ACF-1840-9824-6CFA-1EAEF4917D20}">
          <p14:sldIdLst>
            <p14:sldId id="268"/>
            <p14:sldId id="269"/>
            <p14:sldId id="270"/>
            <p14:sldId id="271"/>
            <p14:sldId id="272"/>
            <p14:sldId id="273"/>
          </p14:sldIdLst>
        </p14:section>
        <p14:section name="Solution" id="{C6C80697-0159-D21A-50D9-7FF4E9F10500}">
          <p14:sldIdLst>
            <p14:sldId id="274"/>
            <p14:sldId id="275"/>
            <p14:sldId id="276"/>
            <p14:sldId id="277"/>
          </p14:sldIdLst>
        </p14:section>
        <p14:section name="Analyse" id="{6C7990B4-8F67-0B16-F3AB-DF00A21A9E90}">
          <p14:sldIdLst>
            <p14:sldId id="278"/>
            <p14:sldId id="279"/>
            <p14:sldId id="280"/>
            <p14:sldId id="281"/>
            <p14:sldId id="282"/>
            <p14:sldId id="283"/>
          </p14:sldIdLst>
        </p14:section>
        <p14:section name="Mise en œuvre" id="{A7E7AAA8-586B-6191-D1E8-E02828CA42E8}">
          <p14:sldIdLst>
            <p14:sldId id="284"/>
            <p14:sldId id="285"/>
            <p14:sldId id="286"/>
          </p14:sldIdLst>
        </p14:section>
        <p14:section name="Démonstration" id="{811ABEFD-502C-3114-71C6-A5C9F0548420}">
          <p14:sldIdLst>
            <p14:sldId id="287"/>
            <p14:sldId id="288"/>
          </p14:sldIdLst>
        </p14:section>
        <p14:section name="Bilan" id="{D1023B94-EA03-D48A-27DC-73819F6C2616}">
          <p14:sldIdLst>
            <p14:sldId id="289"/>
            <p14:sldId id="290"/>
            <p14:sldId id="291"/>
            <p14:sldId id="292"/>
            <p14:sldId id="293"/>
          </p14:sldIdLst>
        </p14:section>
        <p14:section name="Réserve" id="{93B5D6DB-6F88-91EA-F9A8-CD16E921241F}">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8" d="100"/>
          <a:sy n="128" d="100"/>
        </p:scale>
        <p:origin x="22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223781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aux membres du jury. Je m'appelle AYANOU Tété Yao Alexandre, et je vais vous présenter mon mémoire de fin de formation.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mémoire porte sur un système de gestion de boutiques et d'intégration B2B pour le suivi des opérations commerciales des PME. Il a été réalisé à l'Institut Polytechnique DEFITECH, sous la direction de M. FIOKLOU-TOULAN, et pendant mon stage chez TAD IT Consulting, encadré par M. AKOUNDA.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présentation suit huit parties : l'introduction, la problématique, l'étude et la critique de l'existant, la solution proposée…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puis l'analyse et la conception, la mise en œuvre, la démonstration, et enfin le bilan et la conclusion.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Commençons par l'introduction.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 si je vous disais que le principal problème d'une boutique n'est pas de vendre ? Vendre, c'est une partie du travail. Il faut aussi suivre le stock, savoir quoi réapprovisionner, retrouver l'information… et surtout, quand il faut s'approvisionner en urgence, trouver rapidement une autre entreprise.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 stage s'est déroulé chez TAD IT Consulting, dans sa branche TAD Dev. J'ai d'abord participé aux interfaces de deux applications, puis la dernière phase du stage a été entièrement consacrée à FactuPro.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point de départ est un constat de TAD Dev : quand une PME tombe en rupture de stock, elle doit commander en urgence. Elle cherche dans son carnet d'adresses, contacte par mail ou par téléphone, se déplace. Souvent, le produit n'est pas le bon ou il est surfacturé, et cela coûte du temps, de l'argent, parfois des clients. Les annexes A et B montrent des pratiques réelles : un catalogue diffusé sur WhatsApp et un cahier de réapprovisionnement.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l'idée : s'il existait une plateforme qui hébergeait les entreprises, elles pourraient y exposer leurs produits. En cas de besoin, une entreprise chercherait d'abord sur la plateforme et achèterait directement. Pour mener ce projet, j'ai suivi la méthode MERISE.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problématique.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scénario : une rupture de stock entraîne une commande en urgence. La PME cherche dans son carnet d'adresses, envoie des mails, appelle, se déplace. Le produit n'est pas toujours le bon, ou il est surfacturé. Au final, la marge diminue et des clients peuvent être perdus.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D'où ma problématique : comment centraliser la gestion commerciale des PME et fluidifier leurs échanges B2B, notamment en situation d'urgence ? L'objectif est triple : réduire les coûts, éliminer les délais d'attente des partenaires et optimiser la gestion des stocks.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l'étude et la critique de l'existant.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L'étude de l'existant porte sur deux domaines : la vente au comptoir, et le réseautage B2B, déclenché quand une entreprise doit réaliser un achat conséquent, pour son stock ou pour un client pressé.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comptoir, le client exprime son besoin, le vendeur annonce le prix, calcule le total, encaisse et remet un reçu. La vente est notée dans un registre, qui sert ensuite à l'inventaire et à la gestion des stocks.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B2B, tout part d'un besoin de commande. L'entreprise repère des annonces sur des affiches, à la radio, à la télévision ou sur les réseaux sociaux, prend contact, surtout par WhatsApp, et négocie. Si un partenaire convient, elle passe commande, attend la confirmation puis paie. Sinon, la démarche s'arrête.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terrain, cela ressemble à ceci : des catalogues diffusés sur WhatsApp, et des cahiers manuscrits pour noter les produits à réapprovisionner. D'après l'enquête, WhatsApp est le moyen privilégié pour ces échanges.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pratiques ont des limites. Côté boutique : le stock est difficile à suivre, l'inventaire oblige à parcourir le registre feuille par feuille, et la fidélisation est difficile. Côté B2B : il faut dénicher les offres, la recherche de partenaire coûte cher, les offres sont difficiles à comparer, la négociation est bloquée si l'interlocuteur ne répond pas, et l'urgence entraîne la surfacturation.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maintenant la solution proposée.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solution proposée est FactuPro, une application de gestion commerciale qui intègre la gestion des boutiques et les échanges entre entreprises. Elle réunit dans un même outil la gestion de la boutique, l'approvisionnement et le réseau B2B.</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FactuPro repose sur six fonctionnalités : centraliser les informations commerciales, gérer les produits et les stocks, réaliser et suivre les ventes, mettre les entreprises en relation, diffuser et consulter les offres B2B, et gérer les commandes entre entreprises.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Concrètement : dans la liste des produits, une case à cocher met un produit en déstockage B2B. Les entreprises publient des annonces, appels d'offres ou partenariats. Et le réseau affiche, pour chaque entreprise, sa distance, sa fiabilité et sa réactivité.</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l'analyse et à la conception.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J'ai utilisé la méthode MERISE. Le MCD décrit les données, le MCT les traitements, le MLD traduit les données en tables, et le MOT précise qui exécute chaque traitement, où et quand. L'étude a produit 13 règles de gestion, un MLD de 17 relations, et un MCT organisé en deux modules : vente au comptoir et réseautage B2B.</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système échange avec trois types d'acteurs externes : l'administrateur, le client au comptant, et les entreprises, qui peuvent être vendeuses ou acheteuses.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MCD complet du système, figure 7 du mémoire. Je vais zoomer sur la partie la plus importante : la commande B2B.</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Zoom sur la commande B2B. Une entreprise acheteuse passe une commande, qui est validée par une entreprise vendeuse : c'est la même entité Entreprise, avec deux rôles. La commande se compose de lignes, chacune concernant un seul produit. Autour se rattachent les notifications et la facture.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MCT du module B2B suit la vie d'une commande : lancement, avec la recherche du partenaire et du produit ; réception et vérification du stock par le vendeur, qui valide ou refuse ; facturation ; et enfin paiement, réglé ou relancé.</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 mise en œuvre.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réalisation : PHP 8.3 natif côté serveur, MySQL 8.0 pour les données, Apache et phpMyAdmin, le tout lancé avec Docker Compose. Leaflet avec OpenStreetMap pour localiser les entreprises. Côté interface : HTML5, CSS et JavaScript natifs. Pour développer : Visual Studio Code, Git et Composer, avec les bibliothèques phpdotenv et PHPMailer.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navigateur envoie une requête HTTP au contrôleur. Le contrôleur fait appel au modèle, qui contient la logique métier et accède à MySQL par PDO, avec des requêtes préparées, puis il transmet les données à la vue, qui renvoie la page HTML. Le tout tourne dans Docker Compose. Les messages et notifications B2B sont rafraîchis par interrogation périodique en JavaScript.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Après avoir présenté la conception et les principaux choix techniques, je vais maintenant passer à la partie la plus concrète de mon travail : la démonstration de FactuPro.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couvre plusieurs fonctionnalités, notamment la gestion des produits et des stocks, la vente, la facturation et les échanges B2B.
Pour cette démonstration, je vais me concentrer sur la partie qui fait davantage la particularité de FactuPro : le réseautage B2B.
Imaginons une boutique qui cherche à s'approvisionner. Plutôt que de rechercher un fournisseur dans ses contacts ou par messagerie, elle peut directement consulter des offres d'autres entreprises, leurs informations, puis passer une commande depuis la plateforme.
Je vais donc vous montrer ce parcours, de l'entreprise qui recherche une offre jusqu'à celle qui reçoit et traite la commande.
L'objectif est de vous montrer concrètement comment le problème identifié au départ est traduit dans l'application.
Je vais commencer du côté de l'entreprise acheteuse.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terminer, le bilan et la conclusion.</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difficultés : la modélisation, surmontée par un travail itératif avec mon directeur de mémoire ; le temps, géré par un découpage en étapes validées ; et les échanges B2B avec les notifications, qui ont demandé un apprentissage supplémentaire, avec l'appui de l'équipe technique de TAD Dev.</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la suite, plusieurs évolutions sont envisagées : le paiement par Flooz et T-Money, une application mobile, des statistiques avancées, et un système de notation entre entreprises.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FactuPro couvre le cycle commercial des PME, de l'entrée des produits jusqu'à la facturation, et facilite les échanges entre entreprises. Ce projet m'a permis de mener un travail de bout en bout, de l'analyse du besoin jusqu'à la réalisation technique.</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Merci pour votre attention. Je suis à votre disposition pour vos questions.</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5.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4.jpg"/><Relationship Id="rId4" Type="http://schemas.openxmlformats.org/officeDocument/2006/relationships/image" Target="../media/image13.jp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1.jpg"/><Relationship Id="rId5" Type="http://schemas.openxmlformats.org/officeDocument/2006/relationships/image" Target="../media/image20.jpg"/><Relationship Id="rId4" Type="http://schemas.openxmlformats.org/officeDocument/2006/relationships/image" Target="../media/image19.jp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4.jp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8" Type="http://schemas.openxmlformats.org/officeDocument/2006/relationships/image" Target="../media/image30.png"/><Relationship Id="rId13" Type="http://schemas.openxmlformats.org/officeDocument/2006/relationships/image" Target="../media/image35.png"/><Relationship Id="rId3" Type="http://schemas.openxmlformats.org/officeDocument/2006/relationships/image" Target="../media/image12.png"/><Relationship Id="rId7" Type="http://schemas.openxmlformats.org/officeDocument/2006/relationships/image" Target="../media/image29.png"/><Relationship Id="rId12"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8.png"/><Relationship Id="rId11" Type="http://schemas.openxmlformats.org/officeDocument/2006/relationships/image" Target="../media/image33.png"/><Relationship Id="rId5" Type="http://schemas.openxmlformats.org/officeDocument/2006/relationships/image" Target="../media/image27.png"/><Relationship Id="rId15" Type="http://schemas.openxmlformats.org/officeDocument/2006/relationships/image" Target="../media/image37.png"/><Relationship Id="rId10" Type="http://schemas.openxmlformats.org/officeDocument/2006/relationships/image" Target="../media/image32.png"/><Relationship Id="rId4" Type="http://schemas.openxmlformats.org/officeDocument/2006/relationships/image" Target="../media/image26.png"/><Relationship Id="rId9" Type="http://schemas.openxmlformats.org/officeDocument/2006/relationships/image" Target="../media/image31.png"/><Relationship Id="rId14" Type="http://schemas.openxmlformats.org/officeDocument/2006/relationships/image" Target="../media/image36.png"/></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731520" y="1554480"/>
            <a:ext cx="6400800" cy="2194560"/>
          </a:xfrm>
          <a:prstGeom prst="rect">
            <a:avLst/>
          </a:prstGeom>
          <a:noFill/>
          <a:ln/>
        </p:spPr>
        <p:txBody>
          <a:bodyPr wrap="square" lIns="0" tIns="0" rIns="0" bIns="0" rtlCol="0" anchor="b"/>
          <a:lstStyle/>
          <a:p>
            <a:pPr marL="0" indent="0">
              <a:buNone/>
            </a:pPr>
            <a:r>
              <a:rPr lang="en-US" sz="5600" dirty="0">
                <a:solidFill>
                  <a:srgbClr val="FFFFFF"/>
                </a:solidFill>
                <a:latin typeface="Segoe UI" pitchFamily="34" charset="0"/>
                <a:ea typeface="Segoe UI" pitchFamily="34" charset="-122"/>
                <a:cs typeface="Segoe UI" pitchFamily="34" charset="-120"/>
              </a:rPr>
              <a:t>Soutenance</a:t>
            </a:r>
            <a:endParaRPr lang="en-US" sz="5600" dirty="0"/>
          </a:p>
          <a:p>
            <a:pPr marL="0" indent="0">
              <a:buNone/>
            </a:pPr>
            <a:r>
              <a:rPr lang="en-US" sz="5600" dirty="0">
                <a:solidFill>
                  <a:srgbClr val="FFFFFF"/>
                </a:solidFill>
                <a:latin typeface="Segoe UI" pitchFamily="34" charset="0"/>
                <a:ea typeface="Segoe UI" pitchFamily="34" charset="-122"/>
                <a:cs typeface="Segoe UI" pitchFamily="34" charset="-120"/>
              </a:rPr>
              <a:t>de Mémoire</a:t>
            </a:r>
            <a:endParaRPr lang="en-US" sz="5600" dirty="0"/>
          </a:p>
        </p:txBody>
      </p:sp>
      <p:sp>
        <p:nvSpPr>
          <p:cNvPr id="3" name="Text 1"/>
          <p:cNvSpPr txBox="1"/>
          <p:nvPr/>
        </p:nvSpPr>
        <p:spPr>
          <a:xfrm>
            <a:off x="731520" y="3977640"/>
            <a:ext cx="6400800" cy="411480"/>
          </a:xfrm>
          <a:prstGeom prst="rect">
            <a:avLst/>
          </a:prstGeom>
          <a:noFill/>
          <a:ln/>
        </p:spPr>
        <p:txBody>
          <a:bodyPr wrap="square" lIns="0" tIns="0" rIns="0" bIns="0" rtlCol="0" anchor="t"/>
          <a:lstStyle/>
          <a:p>
            <a:pPr marL="0" indent="0">
              <a:buNone/>
            </a:pPr>
            <a:r>
              <a:rPr lang="en-US" sz="1800" b="1" dirty="0">
                <a:solidFill>
                  <a:srgbClr val="FFFFFF"/>
                </a:solidFill>
                <a:latin typeface="Segoe UI" pitchFamily="34" charset="0"/>
                <a:ea typeface="Segoe UI" pitchFamily="34" charset="-122"/>
                <a:cs typeface="Segoe UI" pitchFamily="34" charset="-120"/>
              </a:rPr>
              <a:t>AYANOU Tété Yao Alexandre</a:t>
            </a:r>
            <a:endParaRPr lang="en-US" sz="1800" dirty="0"/>
          </a:p>
        </p:txBody>
      </p:sp>
      <p:sp>
        <p:nvSpPr>
          <p:cNvPr id="4" name="Text 2"/>
          <p:cNvSpPr txBox="1"/>
          <p:nvPr/>
        </p:nvSpPr>
        <p:spPr>
          <a:xfrm>
            <a:off x="731520" y="4389120"/>
            <a:ext cx="6766560" cy="365760"/>
          </a:xfrm>
          <a:prstGeom prst="rect">
            <a:avLst/>
          </a:prstGeom>
          <a:noFill/>
          <a:ln/>
        </p:spPr>
        <p:txBody>
          <a:bodyPr wrap="square" lIns="0" tIns="0" rIns="0" bIns="0" rtlCol="0" anchor="t"/>
          <a:lstStyle/>
          <a:p>
            <a:pPr marL="0" indent="0">
              <a:buNone/>
            </a:pPr>
            <a:r>
              <a:rPr lang="en-US" sz="1400" dirty="0">
                <a:solidFill>
                  <a:srgbClr val="C9D0E6"/>
                </a:solidFill>
                <a:latin typeface="Segoe UI" pitchFamily="34" charset="0"/>
                <a:ea typeface="Segoe UI" pitchFamily="34" charset="-122"/>
                <a:cs typeface="Segoe UI" pitchFamily="34" charset="-120"/>
              </a:rPr>
              <a:t>FactuPro · BTS Informatique de Gestion · Promotion 2023-2025</a:t>
            </a:r>
            <a:endParaRPr lang="en-US" sz="1400" dirty="0"/>
          </a:p>
        </p:txBody>
      </p:sp>
      <p:pic>
        <p:nvPicPr>
          <p:cNvPr id="5" name="Image 0" descr="C:\Users\ALEX\AppData\Local\Temp\claude\C--laragon-www-facturation\62a43aad-6d46-45af-979c-6c158c66b0c3\scratchpad\ppt3\a4\circ_dashboard.png"/>
          <p:cNvPicPr>
            <a:picLocks noChangeAspect="1"/>
          </p:cNvPicPr>
          <p:nvPr/>
        </p:nvPicPr>
        <p:blipFill>
          <a:blip r:embed="rId4"/>
          <a:stretch>
            <a:fillRect/>
          </a:stretch>
        </p:blipFill>
        <p:spPr>
          <a:xfrm>
            <a:off x="8275320" y="411480"/>
            <a:ext cx="2788920" cy="2788920"/>
          </a:xfrm>
          <a:prstGeom prst="rect">
            <a:avLst/>
          </a:prstGeom>
        </p:spPr>
      </p:pic>
      <p:pic>
        <p:nvPicPr>
          <p:cNvPr id="6" name="Image 1" descr="C:\Users\ALEX\AppData\Local\Temp\claude\C--laragon-www-facturation\62a43aad-6d46-45af-979c-6c158c66b0c3\scratchpad\ppt3\a4\circ_annonces.png"/>
          <p:cNvPicPr>
            <a:picLocks noChangeAspect="1"/>
          </p:cNvPicPr>
          <p:nvPr/>
        </p:nvPicPr>
        <p:blipFill>
          <a:blip r:embed="rId5"/>
          <a:stretch>
            <a:fillRect/>
          </a:stretch>
        </p:blipFill>
        <p:spPr>
          <a:xfrm>
            <a:off x="9646920" y="2880360"/>
            <a:ext cx="2331720" cy="2331720"/>
          </a:xfrm>
          <a:prstGeom prst="rect">
            <a:avLst/>
          </a:prstGeom>
        </p:spPr>
      </p:pic>
      <p:pic>
        <p:nvPicPr>
          <p:cNvPr id="7" name="Image 2" descr="C:\Users\ALEX\AppData\Local\Temp\claude\C--laragon-www-facturation\62a43aad-6d46-45af-979c-6c158c66b0c3\scratchpad\ppt3\a4\circ_produits.png"/>
          <p:cNvPicPr>
            <a:picLocks noChangeAspect="1"/>
          </p:cNvPicPr>
          <p:nvPr/>
        </p:nvPicPr>
        <p:blipFill>
          <a:blip r:embed="rId6"/>
          <a:stretch>
            <a:fillRect/>
          </a:stretch>
        </p:blipFill>
        <p:spPr>
          <a:xfrm>
            <a:off x="8001000" y="4160520"/>
            <a:ext cx="1965960" cy="1965960"/>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C:\laragon\www\facturation\Nouveau dossier\Logo Defitech.jpg"/>
          <p:cNvPicPr>
            <a:picLocks noChangeAspect="1"/>
          </p:cNvPicPr>
          <p:nvPr/>
        </p:nvPicPr>
        <p:blipFill>
          <a:blip r:embed="rId4"/>
          <a:stretch>
            <a:fillRect/>
          </a:stretch>
        </p:blipFill>
        <p:spPr>
          <a:xfrm>
            <a:off x="868680" y="320040"/>
            <a:ext cx="914400" cy="914400"/>
          </a:xfrm>
          <a:prstGeom prst="rect">
            <a:avLst/>
          </a:prstGeom>
        </p:spPr>
      </p:pic>
      <p:sp>
        <p:nvSpPr>
          <p:cNvPr id="3" name="Text 0"/>
          <p:cNvSpPr txBox="1"/>
          <p:nvPr/>
        </p:nvSpPr>
        <p:spPr>
          <a:xfrm>
            <a:off x="365760" y="1280160"/>
            <a:ext cx="1920240" cy="457200"/>
          </a:xfrm>
          <a:prstGeom prst="rect">
            <a:avLst/>
          </a:prstGeom>
          <a:noFill/>
          <a:ln/>
        </p:spPr>
        <p:txBody>
          <a:bodyPr wrap="square" lIns="0" tIns="0" rIns="0" bIns="0" rtlCol="0" anchor="t"/>
          <a:lstStyle/>
          <a:p>
            <a:pPr marL="0" indent="0" algn="ctr">
              <a:buNone/>
            </a:pPr>
            <a:r>
              <a:rPr lang="en-US" sz="1000" b="1" dirty="0">
                <a:solidFill>
                  <a:srgbClr val="1F2A5C"/>
                </a:solidFill>
                <a:latin typeface="Segoe UI" pitchFamily="34" charset="0"/>
                <a:ea typeface="Segoe UI" pitchFamily="34" charset="-122"/>
                <a:cs typeface="Segoe UI" pitchFamily="34" charset="-120"/>
              </a:rPr>
              <a:t>Institut Polytechnique DEFITECH</a:t>
            </a:r>
            <a:endParaRPr lang="en-US" sz="1000" dirty="0"/>
          </a:p>
        </p:txBody>
      </p:sp>
      <p:pic>
        <p:nvPicPr>
          <p:cNvPr id="4" name="Image 1" descr="C:\Users\ALEX\AppData\Local\Temp\claude\C--laragon-www-facturation\62a43aad-6d46-45af-979c-6c158c66b0c3\scratchpad\ppt3\use\p1_1.png"/>
          <p:cNvPicPr>
            <a:picLocks noChangeAspect="1"/>
          </p:cNvPicPr>
          <p:nvPr/>
        </p:nvPicPr>
        <p:blipFill>
          <a:blip r:embed="rId5"/>
          <a:stretch>
            <a:fillRect/>
          </a:stretch>
        </p:blipFill>
        <p:spPr>
          <a:xfrm>
            <a:off x="5433148" y="182880"/>
            <a:ext cx="1331799" cy="1325880"/>
          </a:xfrm>
          <a:prstGeom prst="rect">
            <a:avLst/>
          </a:prstGeom>
        </p:spPr>
      </p:pic>
      <p:sp>
        <p:nvSpPr>
          <p:cNvPr id="5" name="Text 1"/>
          <p:cNvSpPr txBox="1"/>
          <p:nvPr/>
        </p:nvSpPr>
        <p:spPr>
          <a:xfrm>
            <a:off x="4937760" y="1481328"/>
            <a:ext cx="2286000" cy="274320"/>
          </a:xfrm>
          <a:prstGeom prst="rect">
            <a:avLst/>
          </a:prstGeom>
          <a:noFill/>
          <a:ln/>
        </p:spPr>
        <p:txBody>
          <a:bodyPr wrap="square" lIns="0" tIns="0" rIns="0" bIns="0" rtlCol="0" anchor="t"/>
          <a:lstStyle/>
          <a:p>
            <a:pPr marL="0" indent="0" algn="ctr">
              <a:buNone/>
            </a:pPr>
            <a:r>
              <a:rPr lang="en-US" sz="1000" i="1" dirty="0">
                <a:solidFill>
                  <a:srgbClr val="1F2A5C"/>
                </a:solidFill>
                <a:latin typeface="Segoe UI" pitchFamily="34" charset="0"/>
                <a:ea typeface="Segoe UI" pitchFamily="34" charset="-122"/>
                <a:cs typeface="Segoe UI" pitchFamily="34" charset="-120"/>
              </a:rPr>
              <a:t>Travail - Liberté - Patrie</a:t>
            </a:r>
            <a:endParaRPr lang="en-US" sz="1000" dirty="0"/>
          </a:p>
        </p:txBody>
      </p:sp>
      <p:pic>
        <p:nvPicPr>
          <p:cNvPr id="6" name="Image 2" descr="C:\laragon\www\facturation\Nouveau dossier\logo-tad-it-light.png"/>
          <p:cNvPicPr>
            <a:picLocks noChangeAspect="1"/>
          </p:cNvPicPr>
          <p:nvPr/>
        </p:nvPicPr>
        <p:blipFill>
          <a:blip r:embed="rId6"/>
          <a:stretch>
            <a:fillRect/>
          </a:stretch>
        </p:blipFill>
        <p:spPr>
          <a:xfrm>
            <a:off x="8503920" y="348044"/>
            <a:ext cx="1417320" cy="885825"/>
          </a:xfrm>
          <a:prstGeom prst="rect">
            <a:avLst/>
          </a:prstGeom>
        </p:spPr>
      </p:pic>
      <p:sp>
        <p:nvSpPr>
          <p:cNvPr id="7" name="Text 2"/>
          <p:cNvSpPr txBox="1"/>
          <p:nvPr/>
        </p:nvSpPr>
        <p:spPr>
          <a:xfrm>
            <a:off x="8138160" y="1280160"/>
            <a:ext cx="2194560" cy="274320"/>
          </a:xfrm>
          <a:prstGeom prst="rect">
            <a:avLst/>
          </a:prstGeom>
          <a:noFill/>
          <a:ln/>
        </p:spPr>
        <p:txBody>
          <a:bodyPr wrap="square" lIns="0" tIns="0" rIns="0" bIns="0" rtlCol="0" anchor="t"/>
          <a:lstStyle/>
          <a:p>
            <a:pPr marL="0" indent="0" algn="ctr">
              <a:buNone/>
            </a:pPr>
            <a:r>
              <a:rPr lang="en-US" sz="1000" b="1" dirty="0">
                <a:solidFill>
                  <a:srgbClr val="1F2A5C"/>
                </a:solidFill>
                <a:latin typeface="Segoe UI" pitchFamily="34" charset="0"/>
                <a:ea typeface="Segoe UI" pitchFamily="34" charset="-122"/>
                <a:cs typeface="Segoe UI" pitchFamily="34" charset="-120"/>
              </a:rPr>
              <a:t>TAD IT Consulting · TAD Dev</a:t>
            </a:r>
            <a:endParaRPr lang="en-US" sz="1000" dirty="0"/>
          </a:p>
        </p:txBody>
      </p:sp>
      <p:sp>
        <p:nvSpPr>
          <p:cNvPr id="8" name="Text 3"/>
          <p:cNvSpPr txBox="1"/>
          <p:nvPr/>
        </p:nvSpPr>
        <p:spPr>
          <a:xfrm>
            <a:off x="1371600" y="1920240"/>
            <a:ext cx="9445752" cy="320040"/>
          </a:xfrm>
          <a:prstGeom prst="rect">
            <a:avLst/>
          </a:prstGeom>
          <a:noFill/>
          <a:ln/>
        </p:spPr>
        <p:txBody>
          <a:bodyPr wrap="square" lIns="0" tIns="0" rIns="0" bIns="0" rtlCol="0" anchor="t"/>
          <a:lstStyle/>
          <a:p>
            <a:pPr marL="0" indent="0" algn="ctr">
              <a:buNone/>
            </a:pPr>
            <a:r>
              <a:rPr lang="en-US" sz="1300" b="1" dirty="0">
                <a:solidFill>
                  <a:srgbClr val="1F2A5C"/>
                </a:solidFill>
                <a:latin typeface="Segoe UI" pitchFamily="34" charset="0"/>
                <a:ea typeface="Segoe UI" pitchFamily="34" charset="-122"/>
                <a:cs typeface="Segoe UI" pitchFamily="34" charset="-120"/>
              </a:rPr>
              <a:t>MÉMOIRE DE FIN DE FORMATION POUR L'OBTENTION DU BREVET DE TECHNICIEN SUPÉRIEUR (BTS)</a:t>
            </a:r>
            <a:endParaRPr lang="en-US" sz="1300" dirty="0"/>
          </a:p>
        </p:txBody>
      </p:sp>
      <p:sp>
        <p:nvSpPr>
          <p:cNvPr id="9" name="Text 4"/>
          <p:cNvSpPr txBox="1"/>
          <p:nvPr/>
        </p:nvSpPr>
        <p:spPr>
          <a:xfrm>
            <a:off x="1371600" y="2240280"/>
            <a:ext cx="9445752" cy="274320"/>
          </a:xfrm>
          <a:prstGeom prst="rect">
            <a:avLst/>
          </a:prstGeom>
          <a:noFill/>
          <a:ln/>
        </p:spPr>
        <p:txBody>
          <a:bodyPr wrap="square" lIns="0" tIns="0" rIns="0" bIns="0" rtlCol="0" anchor="t"/>
          <a:lstStyle/>
          <a:p>
            <a:pPr marL="0" indent="0" algn="ctr">
              <a:buNone/>
            </a:pPr>
            <a:r>
              <a:rPr lang="en-US" sz="1200" dirty="0">
                <a:solidFill>
                  <a:srgbClr val="5B6478"/>
                </a:solidFill>
                <a:latin typeface="Segoe UI" pitchFamily="34" charset="0"/>
                <a:ea typeface="Segoe UI" pitchFamily="34" charset="-122"/>
                <a:cs typeface="Segoe UI" pitchFamily="34" charset="-120"/>
              </a:rPr>
              <a:t>Filière : Informatique de Gestion · Option : Développeur d'applications</a:t>
            </a:r>
            <a:endParaRPr lang="en-US" sz="1200" dirty="0"/>
          </a:p>
        </p:txBody>
      </p:sp>
      <p:sp>
        <p:nvSpPr>
          <p:cNvPr id="10" name="Shape 5"/>
          <p:cNvSpPr/>
          <p:nvPr/>
        </p:nvSpPr>
        <p:spPr>
          <a:xfrm>
            <a:off x="1828800" y="2697480"/>
            <a:ext cx="8531352" cy="1051560"/>
          </a:xfrm>
          <a:prstGeom prst="roundRect">
            <a:avLst>
              <a:gd name="adj" fmla="val 10435"/>
            </a:avLst>
          </a:prstGeom>
          <a:solidFill>
            <a:srgbClr val="1F2A5C"/>
          </a:solidFill>
          <a:ln/>
        </p:spPr>
      </p:sp>
      <p:sp>
        <p:nvSpPr>
          <p:cNvPr id="11" name="Text 6"/>
          <p:cNvSpPr txBox="1"/>
          <p:nvPr/>
        </p:nvSpPr>
        <p:spPr>
          <a:xfrm>
            <a:off x="2103120" y="2697480"/>
            <a:ext cx="7982712" cy="105156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SYSTÈME DE GESTION DE BOUTIQUES ET D'INTÉGRATION B2B : SUIVI DES OPÉRATIONS COMMERCIALES DES PME</a:t>
            </a:r>
            <a:endParaRPr lang="en-US" sz="1700" dirty="0"/>
          </a:p>
        </p:txBody>
      </p:sp>
      <p:sp>
        <p:nvSpPr>
          <p:cNvPr id="12" name="Text 7"/>
          <p:cNvSpPr txBox="1"/>
          <p:nvPr/>
        </p:nvSpPr>
        <p:spPr>
          <a:xfrm>
            <a:off x="1828800" y="3840480"/>
            <a:ext cx="8531352" cy="365760"/>
          </a:xfrm>
          <a:prstGeom prst="rect">
            <a:avLst/>
          </a:prstGeom>
          <a:noFill/>
          <a:ln/>
        </p:spPr>
        <p:txBody>
          <a:bodyPr wrap="square" lIns="0" tIns="0" rIns="0" bIns="0" rtlCol="0" anchor="t"/>
          <a:lstStyle/>
          <a:p>
            <a:pPr marL="0" indent="0" algn="ctr">
              <a:buNone/>
            </a:pPr>
            <a:r>
              <a:rPr lang="en-US" sz="1600" b="1" dirty="0">
                <a:solidFill>
                  <a:srgbClr val="A65F00"/>
                </a:solidFill>
                <a:latin typeface="Segoe UI" pitchFamily="34" charset="0"/>
                <a:ea typeface="Segoe UI" pitchFamily="34" charset="-122"/>
                <a:cs typeface="Segoe UI" pitchFamily="34" charset="-120"/>
              </a:rPr>
              <a:t>Application réalisée : FactuPro</a:t>
            </a:r>
            <a:endParaRPr lang="en-US" sz="1600" dirty="0"/>
          </a:p>
        </p:txBody>
      </p:sp>
      <p:sp>
        <p:nvSpPr>
          <p:cNvPr id="13" name="Text 8"/>
          <p:cNvSpPr txBox="1"/>
          <p:nvPr/>
        </p:nvSpPr>
        <p:spPr>
          <a:xfrm>
            <a:off x="1234440" y="4617720"/>
            <a:ext cx="3154680" cy="1188720"/>
          </a:xfrm>
          <a:prstGeom prst="rect">
            <a:avLst/>
          </a:prstGeom>
          <a:noFill/>
          <a:ln/>
        </p:spPr>
        <p:txBody>
          <a:bodyPr wrap="square" lIns="0" tIns="0" rIns="0" bIns="0" rtlCol="0" anchor="t"/>
          <a:lstStyle/>
          <a:p>
            <a:pPr marL="0" indent="0">
              <a:buNone/>
            </a:pPr>
            <a:r>
              <a:rPr lang="en-US" sz="1100" dirty="0">
                <a:solidFill>
                  <a:srgbClr val="5B6478"/>
                </a:solidFill>
                <a:latin typeface="Segoe UI" pitchFamily="34" charset="0"/>
                <a:ea typeface="Segoe UI" pitchFamily="34" charset="-122"/>
                <a:cs typeface="Segoe UI" pitchFamily="34" charset="-120"/>
              </a:rPr>
              <a:t>Directeur de mémoire :</a:t>
            </a:r>
            <a:endParaRPr lang="en-US" sz="1600" dirty="0"/>
          </a:p>
          <a:p>
            <a:pPr marL="0" indent="0">
              <a:buNone/>
            </a:pPr>
            <a:r>
              <a:rPr lang="en-US" sz="1250" b="1" dirty="0">
                <a:solidFill>
                  <a:srgbClr val="1F2A5C"/>
                </a:solidFill>
                <a:latin typeface="Segoe UI" pitchFamily="34" charset="0"/>
                <a:ea typeface="Segoe UI" pitchFamily="34" charset="-122"/>
                <a:cs typeface="Segoe UI" pitchFamily="34" charset="-120"/>
              </a:rPr>
              <a:t>M. Assiongbon Arthur de Rodrigue</a:t>
            </a:r>
            <a:endParaRPr lang="en-US" sz="1600" dirty="0"/>
          </a:p>
          <a:p>
            <a:pPr marL="0" indent="0">
              <a:buNone/>
            </a:pPr>
            <a:r>
              <a:rPr lang="en-US" sz="1250" b="1" dirty="0">
                <a:solidFill>
                  <a:srgbClr val="1F2A5C"/>
                </a:solidFill>
                <a:latin typeface="Segoe UI" pitchFamily="34" charset="0"/>
                <a:ea typeface="Segoe UI" pitchFamily="34" charset="-122"/>
                <a:cs typeface="Segoe UI" pitchFamily="34" charset="-120"/>
              </a:rPr>
              <a:t>FIOKLOU-TOULAN</a:t>
            </a:r>
            <a:endParaRPr lang="en-US" sz="1600" dirty="0"/>
          </a:p>
          <a:p>
            <a:pPr marL="0" indent="0">
              <a:buNone/>
            </a:pPr>
            <a:r>
              <a:rPr lang="en-US" sz="1050" dirty="0">
                <a:solidFill>
                  <a:srgbClr val="5B6478"/>
                </a:solidFill>
                <a:latin typeface="Segoe UI" pitchFamily="34" charset="0"/>
                <a:ea typeface="Segoe UI" pitchFamily="34" charset="-122"/>
                <a:cs typeface="Segoe UI" pitchFamily="34" charset="-120"/>
              </a:rPr>
              <a:t>Informaticien analyste programmeur, DNCF (CASEF)</a:t>
            </a:r>
            <a:endParaRPr lang="en-US" sz="1600" dirty="0"/>
          </a:p>
        </p:txBody>
      </p:sp>
      <p:sp>
        <p:nvSpPr>
          <p:cNvPr id="14" name="Text 9"/>
          <p:cNvSpPr txBox="1"/>
          <p:nvPr/>
        </p:nvSpPr>
        <p:spPr>
          <a:xfrm>
            <a:off x="4526280" y="4526280"/>
            <a:ext cx="3154680" cy="914400"/>
          </a:xfrm>
          <a:prstGeom prst="rect">
            <a:avLst/>
          </a:prstGeom>
          <a:noFill/>
          <a:ln/>
        </p:spPr>
        <p:txBody>
          <a:bodyPr wrap="square" lIns="0" tIns="0" rIns="0" bIns="0" rtlCol="0" anchor="t"/>
          <a:lstStyle/>
          <a:p>
            <a:pPr marL="0" indent="0" algn="ctr">
              <a:buNone/>
            </a:pPr>
            <a:r>
              <a:rPr lang="en-US" sz="1200" dirty="0">
                <a:solidFill>
                  <a:srgbClr val="5B6478"/>
                </a:solidFill>
                <a:latin typeface="Segoe UI" pitchFamily="34" charset="0"/>
                <a:ea typeface="Segoe UI" pitchFamily="34" charset="-122"/>
                <a:cs typeface="Segoe UI" pitchFamily="34" charset="-120"/>
              </a:rPr>
              <a:t>Présenté par :</a:t>
            </a:r>
            <a:endParaRPr lang="en-US" sz="1600" dirty="0"/>
          </a:p>
          <a:p>
            <a:pPr marL="0" indent="0" algn="ctr">
              <a:buNone/>
            </a:pPr>
            <a:r>
              <a:rPr lang="en-US" sz="1700" b="1" dirty="0">
                <a:solidFill>
                  <a:srgbClr val="1F2A5C"/>
                </a:solidFill>
                <a:latin typeface="Segoe UI" pitchFamily="34" charset="0"/>
                <a:ea typeface="Segoe UI" pitchFamily="34" charset="-122"/>
                <a:cs typeface="Segoe UI" pitchFamily="34" charset="-120"/>
              </a:rPr>
              <a:t>AYANOU Tété Yao Alexandre</a:t>
            </a:r>
            <a:endParaRPr lang="en-US" sz="1600" dirty="0"/>
          </a:p>
        </p:txBody>
      </p:sp>
      <p:sp>
        <p:nvSpPr>
          <p:cNvPr id="15" name="Text 10"/>
          <p:cNvSpPr txBox="1"/>
          <p:nvPr/>
        </p:nvSpPr>
        <p:spPr>
          <a:xfrm>
            <a:off x="8001000" y="4617720"/>
            <a:ext cx="3520440" cy="1097280"/>
          </a:xfrm>
          <a:prstGeom prst="rect">
            <a:avLst/>
          </a:prstGeom>
          <a:noFill/>
          <a:ln/>
        </p:spPr>
        <p:txBody>
          <a:bodyPr wrap="square" lIns="0" tIns="0" rIns="0" bIns="0" rtlCol="0" anchor="t"/>
          <a:lstStyle/>
          <a:p>
            <a:pPr marL="0" indent="0" algn="r">
              <a:buNone/>
            </a:pPr>
            <a:r>
              <a:rPr lang="en-US" sz="1100" dirty="0">
                <a:solidFill>
                  <a:srgbClr val="5B6478"/>
                </a:solidFill>
                <a:latin typeface="Segoe UI" pitchFamily="34" charset="0"/>
                <a:ea typeface="Segoe UI" pitchFamily="34" charset="-122"/>
                <a:cs typeface="Segoe UI" pitchFamily="34" charset="-120"/>
              </a:rPr>
              <a:t>Maître de stage :</a:t>
            </a:r>
            <a:endParaRPr lang="en-US" sz="1600" dirty="0"/>
          </a:p>
          <a:p>
            <a:pPr marL="0" indent="0" algn="r">
              <a:buNone/>
            </a:pPr>
            <a:r>
              <a:rPr lang="en-US" sz="1250" b="1" dirty="0">
                <a:solidFill>
                  <a:srgbClr val="1F2A5C"/>
                </a:solidFill>
                <a:latin typeface="Segoe UI" pitchFamily="34" charset="0"/>
                <a:ea typeface="Segoe UI" pitchFamily="34" charset="-122"/>
                <a:cs typeface="Segoe UI" pitchFamily="34" charset="-120"/>
              </a:rPr>
              <a:t>M. AKOUNDA Komi Crépin</a:t>
            </a:r>
            <a:endParaRPr lang="en-US" sz="1600" dirty="0"/>
          </a:p>
          <a:p>
            <a:pPr marL="0" indent="0" algn="r">
              <a:buNone/>
            </a:pPr>
            <a:r>
              <a:rPr lang="en-US" sz="1050" dirty="0">
                <a:solidFill>
                  <a:srgbClr val="5B6478"/>
                </a:solidFill>
                <a:latin typeface="Segoe UI" pitchFamily="34" charset="0"/>
                <a:ea typeface="Segoe UI" pitchFamily="34" charset="-122"/>
                <a:cs typeface="Segoe UI" pitchFamily="34" charset="-120"/>
              </a:rPr>
              <a:t>Technicien supérieur en développement web Full-Stack, TAD IT Consulting</a:t>
            </a:r>
            <a:endParaRPr lang="en-US" sz="1600" dirty="0"/>
          </a:p>
        </p:txBody>
      </p:sp>
      <p:sp>
        <p:nvSpPr>
          <p:cNvPr id="16" name="Text 11"/>
          <p:cNvSpPr txBox="1"/>
          <p:nvPr/>
        </p:nvSpPr>
        <p:spPr>
          <a:xfrm>
            <a:off x="4480560" y="5989320"/>
            <a:ext cx="3246120" cy="320040"/>
          </a:xfrm>
          <a:prstGeom prst="rect">
            <a:avLst/>
          </a:prstGeom>
          <a:noFill/>
          <a:ln/>
        </p:spPr>
        <p:txBody>
          <a:bodyPr wrap="square" lIns="0" tIns="0" rIns="0" bIns="0" rtlCol="0" anchor="t"/>
          <a:lstStyle/>
          <a:p>
            <a:pPr marL="0" indent="0" algn="ctr">
              <a:buNone/>
            </a:pPr>
            <a:r>
              <a:rPr lang="en-US" sz="1300" b="1" dirty="0">
                <a:solidFill>
                  <a:srgbClr val="1F2A5C"/>
                </a:solidFill>
                <a:latin typeface="Segoe UI" pitchFamily="34" charset="0"/>
                <a:ea typeface="Segoe UI" pitchFamily="34" charset="-122"/>
                <a:cs typeface="Segoe UI" pitchFamily="34" charset="-120"/>
              </a:rPr>
              <a:t>Promotion : 2023-2025</a:t>
            </a:r>
            <a:endParaRPr lang="en-US" sz="1300" dirty="0"/>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01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Table des matières</a:t>
            </a:r>
            <a:endParaRPr lang="en-US" sz="3000" dirty="0"/>
          </a:p>
        </p:txBody>
      </p:sp>
      <p:sp>
        <p:nvSpPr>
          <p:cNvPr id="5" name="Shape 3"/>
          <p:cNvSpPr/>
          <p:nvPr/>
        </p:nvSpPr>
        <p:spPr>
          <a:xfrm>
            <a:off x="822960" y="2103120"/>
            <a:ext cx="777240" cy="731520"/>
          </a:xfrm>
          <a:prstGeom prst="roundRect">
            <a:avLst>
              <a:gd name="adj" fmla="val 12500"/>
            </a:avLst>
          </a:prstGeom>
          <a:solidFill>
            <a:srgbClr val="F2A93B"/>
          </a:solidFill>
          <a:ln/>
        </p:spPr>
      </p:sp>
      <p:sp>
        <p:nvSpPr>
          <p:cNvPr id="6" name="Text 4"/>
          <p:cNvSpPr txBox="1"/>
          <p:nvPr/>
        </p:nvSpPr>
        <p:spPr>
          <a:xfrm>
            <a:off x="822960" y="210312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01</a:t>
            </a:r>
            <a:endParaRPr lang="en-US" sz="2400" dirty="0"/>
          </a:p>
        </p:txBody>
      </p:sp>
      <p:sp>
        <p:nvSpPr>
          <p:cNvPr id="7" name="Text 5"/>
          <p:cNvSpPr txBox="1"/>
          <p:nvPr/>
        </p:nvSpPr>
        <p:spPr>
          <a:xfrm>
            <a:off x="1828800" y="205740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Introduction</a:t>
            </a:r>
            <a:endParaRPr lang="en-US" sz="2200" dirty="0"/>
          </a:p>
        </p:txBody>
      </p:sp>
      <p:sp>
        <p:nvSpPr>
          <p:cNvPr id="8" name="Shape 6"/>
          <p:cNvSpPr/>
          <p:nvPr/>
        </p:nvSpPr>
        <p:spPr>
          <a:xfrm>
            <a:off x="6309360" y="2103120"/>
            <a:ext cx="777240" cy="731520"/>
          </a:xfrm>
          <a:prstGeom prst="roundRect">
            <a:avLst>
              <a:gd name="adj" fmla="val 12500"/>
            </a:avLst>
          </a:prstGeom>
          <a:solidFill>
            <a:srgbClr val="F2A93B"/>
          </a:solidFill>
          <a:ln/>
        </p:spPr>
      </p:sp>
      <p:sp>
        <p:nvSpPr>
          <p:cNvPr id="9" name="Text 7"/>
          <p:cNvSpPr txBox="1"/>
          <p:nvPr/>
        </p:nvSpPr>
        <p:spPr>
          <a:xfrm>
            <a:off x="6309360" y="210312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02</a:t>
            </a:r>
            <a:endParaRPr lang="en-US" sz="2400" dirty="0"/>
          </a:p>
        </p:txBody>
      </p:sp>
      <p:sp>
        <p:nvSpPr>
          <p:cNvPr id="10" name="Text 8"/>
          <p:cNvSpPr txBox="1"/>
          <p:nvPr/>
        </p:nvSpPr>
        <p:spPr>
          <a:xfrm>
            <a:off x="7315200" y="205740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Problématique</a:t>
            </a:r>
            <a:endParaRPr lang="en-US" sz="2200" dirty="0"/>
          </a:p>
        </p:txBody>
      </p:sp>
      <p:sp>
        <p:nvSpPr>
          <p:cNvPr id="11" name="Shape 9"/>
          <p:cNvSpPr/>
          <p:nvPr/>
        </p:nvSpPr>
        <p:spPr>
          <a:xfrm>
            <a:off x="822960" y="3611880"/>
            <a:ext cx="777240" cy="731520"/>
          </a:xfrm>
          <a:prstGeom prst="roundRect">
            <a:avLst>
              <a:gd name="adj" fmla="val 12500"/>
            </a:avLst>
          </a:prstGeom>
          <a:solidFill>
            <a:srgbClr val="F2A93B"/>
          </a:solidFill>
          <a:ln/>
        </p:spPr>
      </p:sp>
      <p:sp>
        <p:nvSpPr>
          <p:cNvPr id="12" name="Text 10"/>
          <p:cNvSpPr txBox="1"/>
          <p:nvPr/>
        </p:nvSpPr>
        <p:spPr>
          <a:xfrm>
            <a:off x="822960" y="361188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03</a:t>
            </a:r>
            <a:endParaRPr lang="en-US" sz="2400" dirty="0"/>
          </a:p>
        </p:txBody>
      </p:sp>
      <p:sp>
        <p:nvSpPr>
          <p:cNvPr id="13" name="Text 11"/>
          <p:cNvSpPr txBox="1"/>
          <p:nvPr/>
        </p:nvSpPr>
        <p:spPr>
          <a:xfrm>
            <a:off x="1828800" y="356616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Étude et critique de l'existant</a:t>
            </a:r>
            <a:endParaRPr lang="en-US" sz="2200" dirty="0"/>
          </a:p>
        </p:txBody>
      </p:sp>
      <p:sp>
        <p:nvSpPr>
          <p:cNvPr id="14" name="Shape 12"/>
          <p:cNvSpPr/>
          <p:nvPr/>
        </p:nvSpPr>
        <p:spPr>
          <a:xfrm>
            <a:off x="6309360" y="3611880"/>
            <a:ext cx="777240" cy="731520"/>
          </a:xfrm>
          <a:prstGeom prst="roundRect">
            <a:avLst>
              <a:gd name="adj" fmla="val 12500"/>
            </a:avLst>
          </a:prstGeom>
          <a:solidFill>
            <a:srgbClr val="F2A93B"/>
          </a:solidFill>
          <a:ln/>
        </p:spPr>
      </p:sp>
      <p:sp>
        <p:nvSpPr>
          <p:cNvPr id="15" name="Text 13"/>
          <p:cNvSpPr txBox="1"/>
          <p:nvPr/>
        </p:nvSpPr>
        <p:spPr>
          <a:xfrm>
            <a:off x="6309360" y="361188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04</a:t>
            </a:r>
            <a:endParaRPr lang="en-US" sz="2400" dirty="0"/>
          </a:p>
        </p:txBody>
      </p:sp>
      <p:sp>
        <p:nvSpPr>
          <p:cNvPr id="16" name="Text 14"/>
          <p:cNvSpPr txBox="1"/>
          <p:nvPr/>
        </p:nvSpPr>
        <p:spPr>
          <a:xfrm>
            <a:off x="7315200" y="356616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Proposition de la solution</a:t>
            </a:r>
            <a:endParaRPr lang="en-US" sz="2200" dirty="0"/>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02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Table des matières (suite)</a:t>
            </a:r>
            <a:endParaRPr lang="en-US" sz="3000" dirty="0"/>
          </a:p>
        </p:txBody>
      </p:sp>
      <p:sp>
        <p:nvSpPr>
          <p:cNvPr id="5" name="Shape 3"/>
          <p:cNvSpPr/>
          <p:nvPr/>
        </p:nvSpPr>
        <p:spPr>
          <a:xfrm>
            <a:off x="822960" y="2103120"/>
            <a:ext cx="777240" cy="731520"/>
          </a:xfrm>
          <a:prstGeom prst="roundRect">
            <a:avLst>
              <a:gd name="adj" fmla="val 12500"/>
            </a:avLst>
          </a:prstGeom>
          <a:solidFill>
            <a:srgbClr val="F2A93B"/>
          </a:solidFill>
          <a:ln/>
        </p:spPr>
      </p:sp>
      <p:sp>
        <p:nvSpPr>
          <p:cNvPr id="6" name="Text 4"/>
          <p:cNvSpPr txBox="1"/>
          <p:nvPr/>
        </p:nvSpPr>
        <p:spPr>
          <a:xfrm>
            <a:off x="822960" y="210312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05</a:t>
            </a:r>
            <a:endParaRPr lang="en-US" sz="2400" dirty="0"/>
          </a:p>
        </p:txBody>
      </p:sp>
      <p:sp>
        <p:nvSpPr>
          <p:cNvPr id="7" name="Text 5"/>
          <p:cNvSpPr txBox="1"/>
          <p:nvPr/>
        </p:nvSpPr>
        <p:spPr>
          <a:xfrm>
            <a:off x="1828800" y="205740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Analyse et conception</a:t>
            </a:r>
            <a:endParaRPr lang="en-US" sz="2200" dirty="0"/>
          </a:p>
        </p:txBody>
      </p:sp>
      <p:sp>
        <p:nvSpPr>
          <p:cNvPr id="8" name="Shape 6"/>
          <p:cNvSpPr/>
          <p:nvPr/>
        </p:nvSpPr>
        <p:spPr>
          <a:xfrm>
            <a:off x="6309360" y="2103120"/>
            <a:ext cx="777240" cy="731520"/>
          </a:xfrm>
          <a:prstGeom prst="roundRect">
            <a:avLst>
              <a:gd name="adj" fmla="val 12500"/>
            </a:avLst>
          </a:prstGeom>
          <a:solidFill>
            <a:srgbClr val="F2A93B"/>
          </a:solidFill>
          <a:ln/>
        </p:spPr>
      </p:sp>
      <p:sp>
        <p:nvSpPr>
          <p:cNvPr id="9" name="Text 7"/>
          <p:cNvSpPr txBox="1"/>
          <p:nvPr/>
        </p:nvSpPr>
        <p:spPr>
          <a:xfrm>
            <a:off x="6309360" y="210312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06</a:t>
            </a:r>
            <a:endParaRPr lang="en-US" sz="2400" dirty="0"/>
          </a:p>
        </p:txBody>
      </p:sp>
      <p:sp>
        <p:nvSpPr>
          <p:cNvPr id="10" name="Text 8"/>
          <p:cNvSpPr txBox="1"/>
          <p:nvPr/>
        </p:nvSpPr>
        <p:spPr>
          <a:xfrm>
            <a:off x="7315200" y="205740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Mise en œuvre</a:t>
            </a:r>
            <a:endParaRPr lang="en-US" sz="2200" dirty="0"/>
          </a:p>
        </p:txBody>
      </p:sp>
      <p:sp>
        <p:nvSpPr>
          <p:cNvPr id="11" name="Shape 9"/>
          <p:cNvSpPr/>
          <p:nvPr/>
        </p:nvSpPr>
        <p:spPr>
          <a:xfrm>
            <a:off x="822960" y="3611880"/>
            <a:ext cx="777240" cy="731520"/>
          </a:xfrm>
          <a:prstGeom prst="roundRect">
            <a:avLst>
              <a:gd name="adj" fmla="val 12500"/>
            </a:avLst>
          </a:prstGeom>
          <a:solidFill>
            <a:srgbClr val="F2A93B"/>
          </a:solidFill>
          <a:ln/>
        </p:spPr>
      </p:sp>
      <p:sp>
        <p:nvSpPr>
          <p:cNvPr id="12" name="Text 10"/>
          <p:cNvSpPr txBox="1"/>
          <p:nvPr/>
        </p:nvSpPr>
        <p:spPr>
          <a:xfrm>
            <a:off x="822960" y="361188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07</a:t>
            </a:r>
            <a:endParaRPr lang="en-US" sz="2400" dirty="0"/>
          </a:p>
        </p:txBody>
      </p:sp>
      <p:sp>
        <p:nvSpPr>
          <p:cNvPr id="13" name="Text 11"/>
          <p:cNvSpPr txBox="1"/>
          <p:nvPr/>
        </p:nvSpPr>
        <p:spPr>
          <a:xfrm>
            <a:off x="1828800" y="356616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Démonstration</a:t>
            </a:r>
            <a:endParaRPr lang="en-US" sz="2200" dirty="0"/>
          </a:p>
        </p:txBody>
      </p:sp>
      <p:sp>
        <p:nvSpPr>
          <p:cNvPr id="14" name="Shape 12"/>
          <p:cNvSpPr/>
          <p:nvPr/>
        </p:nvSpPr>
        <p:spPr>
          <a:xfrm>
            <a:off x="6309360" y="3611880"/>
            <a:ext cx="777240" cy="731520"/>
          </a:xfrm>
          <a:prstGeom prst="roundRect">
            <a:avLst>
              <a:gd name="adj" fmla="val 12500"/>
            </a:avLst>
          </a:prstGeom>
          <a:solidFill>
            <a:srgbClr val="F2A93B"/>
          </a:solidFill>
          <a:ln/>
        </p:spPr>
      </p:sp>
      <p:sp>
        <p:nvSpPr>
          <p:cNvPr id="15" name="Text 13"/>
          <p:cNvSpPr txBox="1"/>
          <p:nvPr/>
        </p:nvSpPr>
        <p:spPr>
          <a:xfrm>
            <a:off x="6309360" y="3611880"/>
            <a:ext cx="77724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Segoe UI" pitchFamily="34" charset="0"/>
                <a:ea typeface="Segoe UI" pitchFamily="34" charset="-122"/>
                <a:cs typeface="Segoe UI" pitchFamily="34" charset="-120"/>
              </a:rPr>
              <a:t>08</a:t>
            </a:r>
            <a:endParaRPr lang="en-US" sz="2400" dirty="0"/>
          </a:p>
        </p:txBody>
      </p:sp>
      <p:sp>
        <p:nvSpPr>
          <p:cNvPr id="16" name="Text 14"/>
          <p:cNvSpPr txBox="1"/>
          <p:nvPr/>
        </p:nvSpPr>
        <p:spPr>
          <a:xfrm>
            <a:off x="7315200" y="3566160"/>
            <a:ext cx="4206240" cy="822960"/>
          </a:xfrm>
          <a:prstGeom prst="rect">
            <a:avLst/>
          </a:prstGeom>
          <a:noFill/>
          <a:ln/>
        </p:spPr>
        <p:txBody>
          <a:bodyPr wrap="square" lIns="0" tIns="0" rIns="0" bIns="0" rtlCol="0" anchor="ctr"/>
          <a:lstStyle/>
          <a:p>
            <a:pPr marL="0" indent="0">
              <a:buNone/>
            </a:pPr>
            <a:r>
              <a:rPr lang="en-US" sz="2200" dirty="0">
                <a:solidFill>
                  <a:srgbClr val="1F2A5C"/>
                </a:solidFill>
                <a:latin typeface="Segoe UI" pitchFamily="34" charset="0"/>
                <a:ea typeface="Segoe UI" pitchFamily="34" charset="-122"/>
                <a:cs typeface="Segoe UI" pitchFamily="34" charset="-120"/>
              </a:rPr>
              <a:t>Bilan et conclusion</a:t>
            </a:r>
            <a:endParaRPr lang="en-US" sz="2200" dirty="0"/>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03 »</a:t>
            </a:r>
            <a:endParaRPr lang="en-US" sz="1100" dirty="0"/>
          </a:p>
        </p:txBody>
      </p:sp>
      <p:pic>
        <p:nvPicPr>
          <p:cNvPr id="4" name="Image 0" descr="C:\Users\ALEX\AppData\Local\Temp\claude\C--laragon-www-facturation\62a43aad-6d46-45af-979c-6c158c66b0c3\scratchpad\ppt3\a4\ill_auth-hero.png"/>
          <p:cNvPicPr>
            <a:picLocks noChangeAspect="1"/>
          </p:cNvPicPr>
          <p:nvPr/>
        </p:nvPicPr>
        <p:blipFill>
          <a:blip r:embed="rId4"/>
          <a:stretch>
            <a:fillRect/>
          </a:stretch>
        </p:blipFill>
        <p:spPr>
          <a:xfrm>
            <a:off x="640080" y="411480"/>
            <a:ext cx="4157318" cy="3291840"/>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01</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Introduction</a:t>
            </a:r>
            <a:endParaRPr lang="en-US" sz="3800" dirty="0"/>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A93B"/>
        </a:solid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04 »</a:t>
            </a:r>
            <a:endParaRPr lang="en-US" sz="1100" dirty="0"/>
          </a:p>
        </p:txBody>
      </p:sp>
      <p:sp>
        <p:nvSpPr>
          <p:cNvPr id="4" name="Shape 2"/>
          <p:cNvSpPr/>
          <p:nvPr/>
        </p:nvSpPr>
        <p:spPr>
          <a:xfrm>
            <a:off x="457200" y="457200"/>
            <a:ext cx="640080" cy="640080"/>
          </a:xfrm>
          <a:prstGeom prst="ellipse">
            <a:avLst/>
          </a:prstGeom>
          <a:ln w="76200">
            <a:solidFill>
              <a:srgbClr val="FFFFFF"/>
            </a:solidFill>
            <a:prstDash val="solid"/>
          </a:ln>
        </p:spPr>
      </p:sp>
      <p:sp>
        <p:nvSpPr>
          <p:cNvPr id="5" name="Shape 3"/>
          <p:cNvSpPr/>
          <p:nvPr/>
        </p:nvSpPr>
        <p:spPr>
          <a:xfrm>
            <a:off x="10972800" y="5486400"/>
            <a:ext cx="640080" cy="640080"/>
          </a:xfrm>
          <a:prstGeom prst="ellipse">
            <a:avLst/>
          </a:prstGeom>
          <a:ln w="76200">
            <a:solidFill>
              <a:srgbClr val="FFFFFF"/>
            </a:solidFill>
            <a:prstDash val="solid"/>
          </a:ln>
        </p:spPr>
      </p:sp>
      <p:sp>
        <p:nvSpPr>
          <p:cNvPr id="6" name="Text 4"/>
          <p:cNvSpPr txBox="1"/>
          <p:nvPr/>
        </p:nvSpPr>
        <p:spPr>
          <a:xfrm>
            <a:off x="1188720" y="1554480"/>
            <a:ext cx="9784080" cy="2194560"/>
          </a:xfrm>
          <a:prstGeom prst="rect">
            <a:avLst/>
          </a:prstGeom>
          <a:noFill/>
          <a:ln/>
        </p:spPr>
        <p:txBody>
          <a:bodyPr wrap="square" lIns="0" tIns="0" rIns="0" bIns="0" rtlCol="0" anchor="ctr"/>
          <a:lstStyle/>
          <a:p>
            <a:pPr marL="0" indent="0" algn="ctr">
              <a:buNone/>
            </a:pPr>
            <a:r>
              <a:rPr lang="en-US" sz="4400" b="1" dirty="0">
                <a:solidFill>
                  <a:srgbClr val="1F2A5C"/>
                </a:solidFill>
                <a:latin typeface="Segoe UI" pitchFamily="34" charset="0"/>
                <a:ea typeface="Segoe UI" pitchFamily="34" charset="-122"/>
                <a:cs typeface="Segoe UI" pitchFamily="34" charset="-120"/>
              </a:rPr>
              <a:t>Et si le principal problème d'une boutique n'était pas de vendre ?</a:t>
            </a:r>
            <a:endParaRPr lang="en-US" sz="4400" dirty="0"/>
          </a:p>
        </p:txBody>
      </p:sp>
      <p:sp>
        <p:nvSpPr>
          <p:cNvPr id="7" name="Text 5"/>
          <p:cNvSpPr txBox="1"/>
          <p:nvPr/>
        </p:nvSpPr>
        <p:spPr>
          <a:xfrm>
            <a:off x="1645920" y="4023360"/>
            <a:ext cx="8869680" cy="914400"/>
          </a:xfrm>
          <a:prstGeom prst="rect">
            <a:avLst/>
          </a:prstGeom>
          <a:noFill/>
          <a:ln/>
        </p:spPr>
        <p:txBody>
          <a:bodyPr wrap="square" lIns="0" tIns="0" rIns="0" bIns="0" rtlCol="0" anchor="t"/>
          <a:lstStyle/>
          <a:p>
            <a:pPr marL="0" indent="0" algn="ctr">
              <a:buNone/>
            </a:pPr>
            <a:r>
              <a:rPr lang="en-US" sz="2100" dirty="0">
                <a:solidFill>
                  <a:srgbClr val="1F2A5C"/>
                </a:solidFill>
                <a:latin typeface="Segoe UI" pitchFamily="34" charset="0"/>
                <a:ea typeface="Segoe UI" pitchFamily="34" charset="-122"/>
                <a:cs typeface="Segoe UI" pitchFamily="34" charset="-120"/>
              </a:rPr>
              <a:t>Le vrai défi commence quand il faut retrouver l'information… et trouver rapidement un fournisseur.</a:t>
            </a:r>
            <a:endParaRPr lang="en-US" sz="2100" dirty="0"/>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05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Le cadre du projet</a:t>
            </a:r>
            <a:endParaRPr lang="en-US" sz="3000" dirty="0"/>
          </a:p>
        </p:txBody>
      </p:sp>
      <p:sp>
        <p:nvSpPr>
          <p:cNvPr id="5" name="Text 3"/>
          <p:cNvSpPr txBox="1"/>
          <p:nvPr/>
        </p:nvSpPr>
        <p:spPr>
          <a:xfrm>
            <a:off x="731520" y="1463040"/>
            <a:ext cx="6675120" cy="1005840"/>
          </a:xfrm>
          <a:prstGeom prst="rect">
            <a:avLst/>
          </a:prstGeom>
          <a:noFill/>
          <a:ln/>
        </p:spPr>
        <p:txBody>
          <a:bodyPr wrap="square" lIns="0" tIns="0" rIns="0" bIns="0" rtlCol="0" anchor="t"/>
          <a:lstStyle/>
          <a:p>
            <a:pPr marL="0" indent="0">
              <a:buNone/>
            </a:pPr>
            <a:r>
              <a:rPr lang="en-US" sz="1700" dirty="0">
                <a:solidFill>
                  <a:srgbClr val="1F2A44"/>
                </a:solidFill>
                <a:latin typeface="Segoe UI" pitchFamily="34" charset="0"/>
                <a:ea typeface="Segoe UI" pitchFamily="34" charset="-122"/>
                <a:cs typeface="Segoe UI" pitchFamily="34" charset="-120"/>
              </a:rPr>
              <a:t>Stage effectué chez TAD IT Consulting, au sein de TAD Dev, sa branche informatique qui conçoit, développe et déploie des solutions logicielles.</a:t>
            </a:r>
            <a:endParaRPr lang="en-US" sz="1700" dirty="0"/>
          </a:p>
        </p:txBody>
      </p:sp>
      <p:sp>
        <p:nvSpPr>
          <p:cNvPr id="6" name="Shape 4"/>
          <p:cNvSpPr/>
          <p:nvPr/>
        </p:nvSpPr>
        <p:spPr>
          <a:xfrm>
            <a:off x="731520" y="2697480"/>
            <a:ext cx="566928" cy="548640"/>
          </a:xfrm>
          <a:prstGeom prst="roundRect">
            <a:avLst>
              <a:gd name="adj" fmla="val 16667"/>
            </a:avLst>
          </a:prstGeom>
          <a:solidFill>
            <a:srgbClr val="F2A93B"/>
          </a:solidFill>
          <a:ln/>
        </p:spPr>
      </p:sp>
      <p:sp>
        <p:nvSpPr>
          <p:cNvPr id="7" name="Text 5"/>
          <p:cNvSpPr txBox="1"/>
          <p:nvPr/>
        </p:nvSpPr>
        <p:spPr>
          <a:xfrm>
            <a:off x="731520" y="2697480"/>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txBox="1"/>
          <p:nvPr/>
        </p:nvSpPr>
        <p:spPr>
          <a:xfrm>
            <a:off x="1508760" y="2651760"/>
            <a:ext cx="5760720" cy="36576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Gestion locative</a:t>
            </a:r>
            <a:endParaRPr lang="en-US" sz="1800" dirty="0"/>
          </a:p>
        </p:txBody>
      </p:sp>
      <p:sp>
        <p:nvSpPr>
          <p:cNvPr id="9" name="Text 7"/>
          <p:cNvSpPr txBox="1"/>
          <p:nvPr/>
        </p:nvSpPr>
        <p:spPr>
          <a:xfrm>
            <a:off x="1508760" y="3017520"/>
            <a:ext cx="5760720" cy="3657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Interfaces d'une application de gestion locative immobilière</a:t>
            </a:r>
            <a:endParaRPr lang="en-US" sz="1450" dirty="0"/>
          </a:p>
        </p:txBody>
      </p:sp>
      <p:sp>
        <p:nvSpPr>
          <p:cNvPr id="10" name="Shape 8"/>
          <p:cNvSpPr/>
          <p:nvPr/>
        </p:nvSpPr>
        <p:spPr>
          <a:xfrm>
            <a:off x="731520" y="3749040"/>
            <a:ext cx="566928" cy="548640"/>
          </a:xfrm>
          <a:prstGeom prst="roundRect">
            <a:avLst>
              <a:gd name="adj" fmla="val 16667"/>
            </a:avLst>
          </a:prstGeom>
          <a:solidFill>
            <a:srgbClr val="F2A93B"/>
          </a:solidFill>
          <a:ln/>
        </p:spPr>
      </p:sp>
      <p:sp>
        <p:nvSpPr>
          <p:cNvPr id="11" name="Text 9"/>
          <p:cNvSpPr txBox="1"/>
          <p:nvPr/>
        </p:nvSpPr>
        <p:spPr>
          <a:xfrm>
            <a:off x="731520" y="3749040"/>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2" name="Text 10"/>
          <p:cNvSpPr txBox="1"/>
          <p:nvPr/>
        </p:nvSpPr>
        <p:spPr>
          <a:xfrm>
            <a:off x="1508760" y="3703320"/>
            <a:ext cx="5760720" cy="36576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Ressources humaines</a:t>
            </a:r>
            <a:endParaRPr lang="en-US" sz="1800" dirty="0"/>
          </a:p>
        </p:txBody>
      </p:sp>
      <p:sp>
        <p:nvSpPr>
          <p:cNvPr id="13" name="Text 11"/>
          <p:cNvSpPr txBox="1"/>
          <p:nvPr/>
        </p:nvSpPr>
        <p:spPr>
          <a:xfrm>
            <a:off x="1508760" y="4069080"/>
            <a:ext cx="5760720" cy="3657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Interfaces d'une application de gestion des employés pour une pharmacie</a:t>
            </a:r>
            <a:endParaRPr lang="en-US" sz="1450" dirty="0"/>
          </a:p>
        </p:txBody>
      </p:sp>
      <p:sp>
        <p:nvSpPr>
          <p:cNvPr id="14" name="Shape 12"/>
          <p:cNvSpPr/>
          <p:nvPr/>
        </p:nvSpPr>
        <p:spPr>
          <a:xfrm>
            <a:off x="731520" y="4800600"/>
            <a:ext cx="566928" cy="548640"/>
          </a:xfrm>
          <a:prstGeom prst="roundRect">
            <a:avLst>
              <a:gd name="adj" fmla="val 16667"/>
            </a:avLst>
          </a:prstGeom>
          <a:solidFill>
            <a:srgbClr val="F2A93B"/>
          </a:solidFill>
          <a:ln/>
        </p:spPr>
      </p:sp>
      <p:sp>
        <p:nvSpPr>
          <p:cNvPr id="15" name="Text 13"/>
          <p:cNvSpPr txBox="1"/>
          <p:nvPr/>
        </p:nvSpPr>
        <p:spPr>
          <a:xfrm>
            <a:off x="731520" y="4800600"/>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6" name="Text 14"/>
          <p:cNvSpPr txBox="1"/>
          <p:nvPr/>
        </p:nvSpPr>
        <p:spPr>
          <a:xfrm>
            <a:off x="1508760" y="4754880"/>
            <a:ext cx="5760720" cy="365760"/>
          </a:xfrm>
          <a:prstGeom prst="rect">
            <a:avLst/>
          </a:prstGeom>
          <a:noFill/>
          <a:ln/>
        </p:spPr>
        <p:txBody>
          <a:bodyPr wrap="square" lIns="0" tIns="0" rIns="0" bIns="0" rtlCol="0" anchor="t"/>
          <a:lstStyle/>
          <a:p>
            <a:pPr marL="0" indent="0">
              <a:buNone/>
            </a:pPr>
            <a:r>
              <a:rPr lang="en-US" sz="1800" b="1" dirty="0">
                <a:solidFill>
                  <a:srgbClr val="A65F00"/>
                </a:solidFill>
                <a:latin typeface="Segoe UI" pitchFamily="34" charset="0"/>
                <a:ea typeface="Segoe UI" pitchFamily="34" charset="-122"/>
                <a:cs typeface="Segoe UI" pitchFamily="34" charset="-120"/>
              </a:rPr>
              <a:t>Projet FactuPro</a:t>
            </a:r>
            <a:endParaRPr lang="en-US" sz="1800" dirty="0"/>
          </a:p>
        </p:txBody>
      </p:sp>
      <p:sp>
        <p:nvSpPr>
          <p:cNvPr id="17" name="Text 15"/>
          <p:cNvSpPr txBox="1"/>
          <p:nvPr/>
        </p:nvSpPr>
        <p:spPr>
          <a:xfrm>
            <a:off x="1508760" y="5120640"/>
            <a:ext cx="5760720" cy="3657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Analyse, conception et développement du projet de fin d'études</a:t>
            </a:r>
            <a:endParaRPr lang="en-US" sz="1450" dirty="0"/>
          </a:p>
        </p:txBody>
      </p:sp>
      <p:sp>
        <p:nvSpPr>
          <p:cNvPr id="18" name="Shape 16"/>
          <p:cNvSpPr/>
          <p:nvPr/>
        </p:nvSpPr>
        <p:spPr>
          <a:xfrm>
            <a:off x="8046720" y="1828800"/>
            <a:ext cx="3566160" cy="2103120"/>
          </a:xfrm>
          <a:prstGeom prst="roundRect">
            <a:avLst>
              <a:gd name="adj" fmla="val 4348"/>
            </a:avLst>
          </a:prstGeom>
          <a:solidFill>
            <a:srgbClr val="FFFFFF"/>
          </a:solidFill>
          <a:ln w="12700">
            <a:solidFill>
              <a:srgbClr val="D5D9E2"/>
            </a:solidFill>
            <a:prstDash val="solid"/>
          </a:ln>
        </p:spPr>
      </p:sp>
      <p:pic>
        <p:nvPicPr>
          <p:cNvPr id="19" name="Image 0" descr="C:\laragon\www\facturation\Nouveau dossier\logo-tad-it-light.png"/>
          <p:cNvPicPr>
            <a:picLocks noChangeAspect="1"/>
          </p:cNvPicPr>
          <p:nvPr/>
        </p:nvPicPr>
        <p:blipFill>
          <a:blip r:embed="rId4"/>
          <a:stretch>
            <a:fillRect/>
          </a:stretch>
        </p:blipFill>
        <p:spPr>
          <a:xfrm>
            <a:off x="8513064" y="2057400"/>
            <a:ext cx="2633472" cy="1645920"/>
          </a:xfrm>
          <a:prstGeom prst="rect">
            <a:avLst/>
          </a:prstGeom>
        </p:spPr>
      </p:pic>
      <p:sp>
        <p:nvSpPr>
          <p:cNvPr id="20" name="Text 17"/>
          <p:cNvSpPr txBox="1"/>
          <p:nvPr/>
        </p:nvSpPr>
        <p:spPr>
          <a:xfrm>
            <a:off x="8046720" y="4069080"/>
            <a:ext cx="3566160" cy="320040"/>
          </a:xfrm>
          <a:prstGeom prst="rect">
            <a:avLst/>
          </a:prstGeom>
          <a:noFill/>
          <a:ln/>
        </p:spPr>
        <p:txBody>
          <a:bodyPr wrap="square" lIns="0" tIns="0" rIns="0" bIns="0" rtlCol="0" anchor="t"/>
          <a:lstStyle/>
          <a:p>
            <a:pPr marL="0" indent="0" algn="ctr">
              <a:buNone/>
            </a:pPr>
            <a:r>
              <a:rPr lang="en-US" sz="1300" dirty="0">
                <a:solidFill>
                  <a:srgbClr val="5B6478"/>
                </a:solidFill>
                <a:latin typeface="Segoe UI" pitchFamily="34" charset="0"/>
                <a:ea typeface="Segoe UI" pitchFamily="34" charset="-122"/>
                <a:cs typeface="Segoe UI" pitchFamily="34" charset="-120"/>
              </a:rPr>
              <a:t>Quartier Djidjolé, Lomé</a:t>
            </a:r>
            <a:endParaRPr lang="en-US" sz="1300" dirty="0"/>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06 »</a:t>
            </a:r>
            <a:endParaRPr lang="en-US" sz="1100" dirty="0"/>
          </a:p>
        </p:txBody>
      </p:sp>
      <p:sp>
        <p:nvSpPr>
          <p:cNvPr id="4" name="Text 2"/>
          <p:cNvSpPr txBox="1"/>
          <p:nvPr/>
        </p:nvSpPr>
        <p:spPr>
          <a:xfrm>
            <a:off x="731520" y="1097280"/>
            <a:ext cx="6400800" cy="914400"/>
          </a:xfrm>
          <a:prstGeom prst="rect">
            <a:avLst/>
          </a:prstGeom>
          <a:noFill/>
          <a:ln/>
        </p:spPr>
        <p:txBody>
          <a:bodyPr wrap="square" lIns="0" tIns="0" rIns="0" bIns="0" rtlCol="0" anchor="t"/>
          <a:lstStyle/>
          <a:p>
            <a:pPr marL="0" indent="0">
              <a:buNone/>
            </a:pPr>
            <a:r>
              <a:rPr lang="en-US" sz="1900" b="1" dirty="0">
                <a:solidFill>
                  <a:srgbClr val="1F2A5C"/>
                </a:solidFill>
                <a:latin typeface="Segoe UI" pitchFamily="34" charset="0"/>
                <a:ea typeface="Segoe UI" pitchFamily="34" charset="-122"/>
                <a:cs typeface="Segoe UI" pitchFamily="34" charset="-120"/>
              </a:rPr>
              <a:t>Pourtant, lorsqu'une PME tombe en rupture de stock, elle doit commander en urgence :</a:t>
            </a:r>
            <a:endParaRPr lang="en-US" sz="1900" dirty="0"/>
          </a:p>
        </p:txBody>
      </p:sp>
      <p:sp>
        <p:nvSpPr>
          <p:cNvPr id="5" name="Text 3"/>
          <p:cNvSpPr txBox="1"/>
          <p:nvPr/>
        </p:nvSpPr>
        <p:spPr>
          <a:xfrm>
            <a:off x="731520" y="2240280"/>
            <a:ext cx="6400800" cy="329184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1F2A44"/>
                </a:solidFill>
                <a:latin typeface="Segoe UI" pitchFamily="34" charset="0"/>
                <a:ea typeface="Segoe UI" pitchFamily="34" charset="-122"/>
                <a:cs typeface="Segoe UI" pitchFamily="34" charset="-120"/>
              </a:rPr>
              <a:t>elle cherche des fournisseurs dans son carnet d'adresses ;</a:t>
            </a:r>
            <a:endParaRPr lang="en-US" sz="1700" dirty="0"/>
          </a:p>
          <a:p>
            <a:pPr marL="203200" indent="-203200">
              <a:spcAft>
                <a:spcPts val="1000"/>
              </a:spcAft>
              <a:buSzPct val="100000"/>
              <a:buChar char="•"/>
            </a:pPr>
            <a:r>
              <a:rPr lang="en-US" sz="1700" dirty="0">
                <a:solidFill>
                  <a:srgbClr val="1F2A44"/>
                </a:solidFill>
                <a:latin typeface="Segoe UI" pitchFamily="34" charset="0"/>
                <a:ea typeface="Segoe UI" pitchFamily="34" charset="-122"/>
                <a:cs typeface="Segoe UI" pitchFamily="34" charset="-120"/>
              </a:rPr>
              <a:t>elle les contacte par mail, par téléphone, ou se déplace ;</a:t>
            </a:r>
            <a:endParaRPr lang="en-US" sz="1700" dirty="0"/>
          </a:p>
          <a:p>
            <a:pPr marL="203200" indent="-203200">
              <a:spcAft>
                <a:spcPts val="1000"/>
              </a:spcAft>
              <a:buSzPct val="100000"/>
              <a:buChar char="•"/>
            </a:pPr>
            <a:r>
              <a:rPr lang="en-US" sz="1700" dirty="0">
                <a:solidFill>
                  <a:srgbClr val="1F2A44"/>
                </a:solidFill>
                <a:latin typeface="Segoe UI" pitchFamily="34" charset="0"/>
                <a:ea typeface="Segoe UI" pitchFamily="34" charset="-122"/>
                <a:cs typeface="Segoe UI" pitchFamily="34" charset="-120"/>
              </a:rPr>
              <a:t>le produit proposé n'est pas toujours celui recherché ;</a:t>
            </a:r>
            <a:endParaRPr lang="en-US" sz="1700" dirty="0"/>
          </a:p>
          <a:p>
            <a:pPr marL="203200" indent="-203200">
              <a:spcAft>
                <a:spcPts val="1000"/>
              </a:spcAft>
              <a:buSzPct val="100000"/>
              <a:buChar char="•"/>
            </a:pPr>
            <a:r>
              <a:rPr lang="en-US" sz="1700" dirty="0">
                <a:solidFill>
                  <a:srgbClr val="1F2A44"/>
                </a:solidFill>
                <a:latin typeface="Segoe UI" pitchFamily="34" charset="0"/>
                <a:ea typeface="Segoe UI" pitchFamily="34" charset="-122"/>
                <a:cs typeface="Segoe UI" pitchFamily="34" charset="-120"/>
              </a:rPr>
              <a:t>quand il existe, il est souvent surfacturé ;</a:t>
            </a:r>
            <a:endParaRPr lang="en-US" sz="1700" dirty="0"/>
          </a:p>
          <a:p>
            <a:pPr marL="203200" indent="-203200">
              <a:spcAft>
                <a:spcPts val="1000"/>
              </a:spcAft>
              <a:buSzPct val="100000"/>
              <a:buChar char="•"/>
            </a:pPr>
            <a:r>
              <a:rPr lang="en-US" sz="1700" dirty="0">
                <a:solidFill>
                  <a:srgbClr val="1F2A44"/>
                </a:solidFill>
                <a:latin typeface="Segoe UI" pitchFamily="34" charset="0"/>
                <a:ea typeface="Segoe UI" pitchFamily="34" charset="-122"/>
                <a:cs typeface="Segoe UI" pitchFamily="34" charset="-120"/>
              </a:rPr>
              <a:t>frais de déplacement et de communication, parfois des clients perdus.</a:t>
            </a:r>
            <a:endParaRPr lang="en-US" sz="1700" dirty="0"/>
          </a:p>
        </p:txBody>
      </p:sp>
      <p:sp>
        <p:nvSpPr>
          <p:cNvPr id="6" name="Shape 4"/>
          <p:cNvSpPr/>
          <p:nvPr/>
        </p:nvSpPr>
        <p:spPr>
          <a:xfrm>
            <a:off x="7671816" y="2048256"/>
            <a:ext cx="1884883" cy="3950208"/>
          </a:xfrm>
          <a:prstGeom prst="rect">
            <a:avLst/>
          </a:prstGeom>
          <a:solidFill>
            <a:srgbClr val="FFFFFF"/>
          </a:solidFill>
          <a:ln w="9525">
            <a:solidFill>
              <a:srgbClr val="D5D9E2"/>
            </a:solidFill>
            <a:prstDash val="solid"/>
          </a:ln>
        </p:spPr>
      </p:sp>
      <p:pic>
        <p:nvPicPr>
          <p:cNvPr id="7" name="Image 0" descr="C:\Users\ALEX\AppData\Local\Temp\claude\C--laragon-www-facturation\62a43aad-6d46-45af-979c-6c158c66b0c3\scratchpad\ppt3\use\annexeA.jpg"/>
          <p:cNvPicPr>
            <a:picLocks noChangeAspect="1"/>
          </p:cNvPicPr>
          <p:nvPr/>
        </p:nvPicPr>
        <p:blipFill>
          <a:blip r:embed="rId4"/>
          <a:stretch>
            <a:fillRect/>
          </a:stretch>
        </p:blipFill>
        <p:spPr>
          <a:xfrm>
            <a:off x="7726680" y="2103120"/>
            <a:ext cx="1775155" cy="3840480"/>
          </a:xfrm>
          <a:prstGeom prst="rect">
            <a:avLst/>
          </a:prstGeom>
        </p:spPr>
      </p:pic>
      <p:sp>
        <p:nvSpPr>
          <p:cNvPr id="8" name="Shape 5"/>
          <p:cNvSpPr/>
          <p:nvPr/>
        </p:nvSpPr>
        <p:spPr>
          <a:xfrm>
            <a:off x="9683496" y="2142401"/>
            <a:ext cx="2167128" cy="3761917"/>
          </a:xfrm>
          <a:prstGeom prst="rect">
            <a:avLst/>
          </a:prstGeom>
          <a:solidFill>
            <a:srgbClr val="FFFFFF"/>
          </a:solidFill>
          <a:ln w="9525">
            <a:solidFill>
              <a:srgbClr val="D5D9E2"/>
            </a:solidFill>
            <a:prstDash val="solid"/>
          </a:ln>
        </p:spPr>
      </p:sp>
      <p:pic>
        <p:nvPicPr>
          <p:cNvPr id="9" name="Image 1" descr="C:\Users\ALEX\AppData\Local\Temp\claude\C--laragon-www-facturation\62a43aad-6d46-45af-979c-6c158c66b0c3\scratchpad\ppt3\use\annexeB.jpg"/>
          <p:cNvPicPr>
            <a:picLocks noChangeAspect="1"/>
          </p:cNvPicPr>
          <p:nvPr/>
        </p:nvPicPr>
        <p:blipFill>
          <a:blip r:embed="rId5"/>
          <a:stretch>
            <a:fillRect/>
          </a:stretch>
        </p:blipFill>
        <p:spPr>
          <a:xfrm>
            <a:off x="9738360" y="2197265"/>
            <a:ext cx="2057400" cy="3652189"/>
          </a:xfrm>
          <a:prstGeom prst="rect">
            <a:avLst/>
          </a:prstGeom>
        </p:spPr>
      </p:pic>
      <p:sp>
        <p:nvSpPr>
          <p:cNvPr id="10" name="Text 6"/>
          <p:cNvSpPr txBox="1"/>
          <p:nvPr/>
        </p:nvSpPr>
        <p:spPr>
          <a:xfrm>
            <a:off x="7726680" y="6035040"/>
            <a:ext cx="1775155" cy="274320"/>
          </a:xfrm>
          <a:prstGeom prst="rect">
            <a:avLst/>
          </a:prstGeom>
          <a:noFill/>
          <a:ln/>
        </p:spPr>
        <p:txBody>
          <a:bodyPr wrap="square" lIns="0" tIns="0" rIns="0" bIns="0" rtlCol="0" anchor="t"/>
          <a:lstStyle/>
          <a:p>
            <a:pPr marL="0" indent="0" algn="ctr">
              <a:buNone/>
            </a:pPr>
            <a:r>
              <a:rPr lang="en-US" sz="1100" dirty="0">
                <a:solidFill>
                  <a:srgbClr val="5B6478"/>
                </a:solidFill>
                <a:latin typeface="Segoe UI" pitchFamily="34" charset="0"/>
                <a:ea typeface="Segoe UI" pitchFamily="34" charset="-122"/>
                <a:cs typeface="Segoe UI" pitchFamily="34" charset="-120"/>
              </a:rPr>
              <a:t>Annexe A</a:t>
            </a:r>
            <a:endParaRPr lang="en-US" sz="1100" dirty="0"/>
          </a:p>
        </p:txBody>
      </p:sp>
      <p:sp>
        <p:nvSpPr>
          <p:cNvPr id="11" name="Text 7"/>
          <p:cNvSpPr txBox="1"/>
          <p:nvPr/>
        </p:nvSpPr>
        <p:spPr>
          <a:xfrm>
            <a:off x="9738360" y="5940895"/>
            <a:ext cx="2057400" cy="274320"/>
          </a:xfrm>
          <a:prstGeom prst="rect">
            <a:avLst/>
          </a:prstGeom>
          <a:noFill/>
          <a:ln/>
        </p:spPr>
        <p:txBody>
          <a:bodyPr wrap="square" lIns="0" tIns="0" rIns="0" bIns="0" rtlCol="0" anchor="t"/>
          <a:lstStyle/>
          <a:p>
            <a:pPr marL="0" indent="0" algn="ctr">
              <a:buNone/>
            </a:pPr>
            <a:r>
              <a:rPr lang="en-US" sz="1100" dirty="0">
                <a:solidFill>
                  <a:srgbClr val="5B6478"/>
                </a:solidFill>
                <a:latin typeface="Segoe UI" pitchFamily="34" charset="0"/>
                <a:ea typeface="Segoe UI" pitchFamily="34" charset="-122"/>
                <a:cs typeface="Segoe UI" pitchFamily="34" charset="-120"/>
              </a:rPr>
              <a:t>Annexe B</a:t>
            </a:r>
            <a:endParaRPr lang="en-US" sz="1100" dirty="0"/>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07 »</a:t>
            </a:r>
            <a:endParaRPr lang="en-US" sz="1100" dirty="0"/>
          </a:p>
        </p:txBody>
      </p:sp>
      <p:pic>
        <p:nvPicPr>
          <p:cNvPr id="4" name="Image 0" descr="C:\Users\ALEX\AppData\Local\Temp\claude\C--laragon-www-facturation\62a43aad-6d46-45af-979c-6c158c66b0c3\scratchpad\ppt3\a4\ill_banner-network.png"/>
          <p:cNvPicPr>
            <a:picLocks noChangeAspect="1"/>
          </p:cNvPicPr>
          <p:nvPr/>
        </p:nvPicPr>
        <p:blipFill>
          <a:blip r:embed="rId4"/>
          <a:stretch>
            <a:fillRect/>
          </a:stretch>
        </p:blipFill>
        <p:spPr>
          <a:xfrm>
            <a:off x="1188720" y="1804859"/>
            <a:ext cx="4754880" cy="2973961"/>
          </a:xfrm>
          <a:prstGeom prst="rect">
            <a:avLst/>
          </a:prstGeom>
        </p:spPr>
      </p:pic>
      <p:sp>
        <p:nvSpPr>
          <p:cNvPr id="5" name="Text 2"/>
          <p:cNvSpPr txBox="1"/>
          <p:nvPr/>
        </p:nvSpPr>
        <p:spPr>
          <a:xfrm>
            <a:off x="6400800" y="1554480"/>
            <a:ext cx="5120640" cy="1371600"/>
          </a:xfrm>
          <a:prstGeom prst="rect">
            <a:avLst/>
          </a:prstGeom>
          <a:noFill/>
          <a:ln/>
        </p:spPr>
        <p:txBody>
          <a:bodyPr wrap="square" lIns="0" tIns="0" rIns="0" bIns="0" rtlCol="0" anchor="b"/>
          <a:lstStyle/>
          <a:p>
            <a:pPr marL="0" indent="0">
              <a:buNone/>
            </a:pPr>
            <a:r>
              <a:rPr lang="en-US" sz="2600" b="1" dirty="0">
                <a:solidFill>
                  <a:srgbClr val="1F2A5C"/>
                </a:solidFill>
                <a:latin typeface="Segoe UI" pitchFamily="34" charset="0"/>
                <a:ea typeface="Segoe UI" pitchFamily="34" charset="-122"/>
                <a:cs typeface="Segoe UI" pitchFamily="34" charset="-120"/>
              </a:rPr>
              <a:t>Et s'il existait une plateforme qui hébergeait les entreprises ?</a:t>
            </a:r>
            <a:endParaRPr lang="en-US" sz="2600" dirty="0"/>
          </a:p>
        </p:txBody>
      </p:sp>
      <p:sp>
        <p:nvSpPr>
          <p:cNvPr id="6" name="Text 3"/>
          <p:cNvSpPr txBox="1"/>
          <p:nvPr/>
        </p:nvSpPr>
        <p:spPr>
          <a:xfrm>
            <a:off x="6400800" y="3154680"/>
            <a:ext cx="5120640" cy="2011680"/>
          </a:xfrm>
          <a:prstGeom prst="rect">
            <a:avLst/>
          </a:prstGeom>
          <a:noFill/>
          <a:ln/>
        </p:spPr>
        <p:txBody>
          <a:bodyPr wrap="square" lIns="0" tIns="0" rIns="0" bIns="0" rtlCol="0" anchor="t"/>
          <a:lstStyle/>
          <a:p>
            <a:pPr marL="0" indent="0">
              <a:buNone/>
            </a:pPr>
            <a:r>
              <a:rPr lang="en-US" sz="1700" dirty="0">
                <a:solidFill>
                  <a:srgbClr val="1F2A44"/>
                </a:solidFill>
                <a:latin typeface="Segoe UI" pitchFamily="34" charset="0"/>
                <a:ea typeface="Segoe UI" pitchFamily="34" charset="-122"/>
                <a:cs typeface="Segoe UI" pitchFamily="34" charset="-120"/>
              </a:rPr>
              <a:t>Les entreprises y exposeraient leurs produits. En cas de besoin, une entreprise chercherait d'abord sur la plateforme et achèterait directement, sans déplacements, sans communications répétées et sans surfacturation.</a:t>
            </a:r>
            <a:endParaRPr lang="en-US" sz="1700" dirty="0"/>
          </a:p>
        </p:txBody>
      </p:sp>
      <p:sp>
        <p:nvSpPr>
          <p:cNvPr id="7" name="Text 4"/>
          <p:cNvSpPr txBox="1"/>
          <p:nvPr/>
        </p:nvSpPr>
        <p:spPr>
          <a:xfrm>
            <a:off x="6400800" y="5257800"/>
            <a:ext cx="5120640" cy="365760"/>
          </a:xfrm>
          <a:prstGeom prst="rect">
            <a:avLst/>
          </a:prstGeom>
          <a:noFill/>
          <a:ln/>
        </p:spPr>
        <p:txBody>
          <a:bodyPr wrap="square" lIns="0" tIns="0" rIns="0" bIns="0" rtlCol="0" anchor="t"/>
          <a:lstStyle/>
          <a:p>
            <a:pPr marL="0" indent="0">
              <a:buNone/>
            </a:pPr>
            <a:r>
              <a:rPr lang="en-US" sz="1500" b="1" dirty="0">
                <a:solidFill>
                  <a:srgbClr val="A65F00"/>
                </a:solidFill>
                <a:latin typeface="Segoe UI" pitchFamily="34" charset="0"/>
                <a:ea typeface="Segoe UI" pitchFamily="34" charset="-122"/>
                <a:cs typeface="Segoe UI" pitchFamily="34" charset="-120"/>
              </a:rPr>
              <a:t>Démarche suivie : la méthode MERISE.</a:t>
            </a:r>
            <a:endParaRPr lang="en-US" sz="1500" dirty="0"/>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08 »</a:t>
            </a:r>
            <a:endParaRPr lang="en-US" sz="1100" dirty="0"/>
          </a:p>
        </p:txBody>
      </p:sp>
      <p:pic>
        <p:nvPicPr>
          <p:cNvPr id="4" name="Image 0" descr="C:\Users\ALEX\AppData\Local\Temp\claude\C--laragon-www-facturation\62a43aad-6d46-45af-979c-6c158c66b0c3\scratchpad\ppt3\a4\ill_empty-inbox.png"/>
          <p:cNvPicPr>
            <a:picLocks noChangeAspect="1"/>
          </p:cNvPicPr>
          <p:nvPr/>
        </p:nvPicPr>
        <p:blipFill>
          <a:blip r:embed="rId4"/>
          <a:stretch>
            <a:fillRect/>
          </a:stretch>
        </p:blipFill>
        <p:spPr>
          <a:xfrm>
            <a:off x="640080" y="411480"/>
            <a:ext cx="4383806" cy="3291840"/>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02</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Problématique</a:t>
            </a:r>
            <a:endParaRPr lang="en-US" sz="3800" dirty="0"/>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09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Le scénario de l'urgence</a:t>
            </a:r>
            <a:endParaRPr lang="en-US" sz="3000" dirty="0"/>
          </a:p>
        </p:txBody>
      </p:sp>
      <p:sp>
        <p:nvSpPr>
          <p:cNvPr id="5" name="Shape 3"/>
          <p:cNvSpPr/>
          <p:nvPr/>
        </p:nvSpPr>
        <p:spPr>
          <a:xfrm>
            <a:off x="704088" y="2377440"/>
            <a:ext cx="1645920" cy="1325880"/>
          </a:xfrm>
          <a:prstGeom prst="roundRect">
            <a:avLst>
              <a:gd name="adj" fmla="val 6897"/>
            </a:avLst>
          </a:prstGeom>
          <a:solidFill>
            <a:srgbClr val="1F2A5C"/>
          </a:solidFill>
          <a:ln/>
        </p:spPr>
      </p:sp>
      <p:sp>
        <p:nvSpPr>
          <p:cNvPr id="6" name="Text 4"/>
          <p:cNvSpPr txBox="1"/>
          <p:nvPr/>
        </p:nvSpPr>
        <p:spPr>
          <a:xfrm>
            <a:off x="813816" y="2450592"/>
            <a:ext cx="457200" cy="320040"/>
          </a:xfrm>
          <a:prstGeom prst="rect">
            <a:avLst/>
          </a:prstGeom>
          <a:noFill/>
          <a:ln/>
        </p:spPr>
        <p:txBody>
          <a:bodyPr wrap="square" lIns="0" tIns="0" rIns="0" bIns="0" rtlCol="0" anchor="t"/>
          <a:lstStyle/>
          <a:p>
            <a:pPr marL="0" indent="0">
              <a:buNone/>
            </a:pPr>
            <a:r>
              <a:rPr lang="en-US" sz="1300" b="1" dirty="0">
                <a:solidFill>
                  <a:srgbClr val="F2A93B"/>
                </a:solidFill>
                <a:latin typeface="Segoe UI" pitchFamily="34" charset="0"/>
                <a:ea typeface="Segoe UI" pitchFamily="34" charset="-122"/>
                <a:cs typeface="Segoe UI" pitchFamily="34" charset="-120"/>
              </a:rPr>
              <a:t>1</a:t>
            </a:r>
            <a:endParaRPr lang="en-US" sz="1300" dirty="0"/>
          </a:p>
        </p:txBody>
      </p:sp>
      <p:sp>
        <p:nvSpPr>
          <p:cNvPr id="7" name="Text 5"/>
          <p:cNvSpPr txBox="1"/>
          <p:nvPr/>
        </p:nvSpPr>
        <p:spPr>
          <a:xfrm>
            <a:off x="813816" y="2743200"/>
            <a:ext cx="1426464" cy="914400"/>
          </a:xfrm>
          <a:prstGeom prst="rect">
            <a:avLst/>
          </a:prstGeom>
          <a:noFill/>
          <a:ln/>
        </p:spPr>
        <p:txBody>
          <a:bodyPr wrap="square" lIns="0" tIns="0" rIns="0" bIns="0" rtlCol="0" anchor="t"/>
          <a:lstStyle/>
          <a:p>
            <a:pPr marL="0" indent="0">
              <a:buNone/>
            </a:pPr>
            <a:r>
              <a:rPr lang="en-US" sz="1450" b="1" dirty="0">
                <a:solidFill>
                  <a:srgbClr val="FFFFFF"/>
                </a:solidFill>
                <a:latin typeface="Segoe UI" pitchFamily="34" charset="0"/>
                <a:ea typeface="Segoe UI" pitchFamily="34" charset="-122"/>
                <a:cs typeface="Segoe UI" pitchFamily="34" charset="-120"/>
              </a:rPr>
              <a:t>Rupture de stock</a:t>
            </a:r>
            <a:endParaRPr lang="en-US" sz="1450" dirty="0"/>
          </a:p>
        </p:txBody>
      </p:sp>
      <p:sp>
        <p:nvSpPr>
          <p:cNvPr id="8" name="Shape 6"/>
          <p:cNvSpPr/>
          <p:nvPr/>
        </p:nvSpPr>
        <p:spPr>
          <a:xfrm>
            <a:off x="2368296" y="3035808"/>
            <a:ext cx="164592" cy="0"/>
          </a:xfrm>
          <a:prstGeom prst="line">
            <a:avLst/>
          </a:prstGeom>
          <a:noFill/>
          <a:ln w="25400">
            <a:solidFill>
              <a:srgbClr val="F2A93B"/>
            </a:solidFill>
            <a:prstDash val="solid"/>
            <a:tailEnd type="triangle"/>
          </a:ln>
        </p:spPr>
      </p:sp>
      <p:sp>
        <p:nvSpPr>
          <p:cNvPr id="9" name="Shape 7"/>
          <p:cNvSpPr/>
          <p:nvPr/>
        </p:nvSpPr>
        <p:spPr>
          <a:xfrm>
            <a:off x="2551176" y="2377440"/>
            <a:ext cx="1645920" cy="1325880"/>
          </a:xfrm>
          <a:prstGeom prst="roundRect">
            <a:avLst>
              <a:gd name="adj" fmla="val 6897"/>
            </a:avLst>
          </a:prstGeom>
          <a:solidFill>
            <a:srgbClr val="1F2A5C"/>
          </a:solidFill>
          <a:ln/>
        </p:spPr>
      </p:sp>
      <p:sp>
        <p:nvSpPr>
          <p:cNvPr id="10" name="Text 8"/>
          <p:cNvSpPr txBox="1"/>
          <p:nvPr/>
        </p:nvSpPr>
        <p:spPr>
          <a:xfrm>
            <a:off x="2660904" y="2450592"/>
            <a:ext cx="457200" cy="320040"/>
          </a:xfrm>
          <a:prstGeom prst="rect">
            <a:avLst/>
          </a:prstGeom>
          <a:noFill/>
          <a:ln/>
        </p:spPr>
        <p:txBody>
          <a:bodyPr wrap="square" lIns="0" tIns="0" rIns="0" bIns="0" rtlCol="0" anchor="t"/>
          <a:lstStyle/>
          <a:p>
            <a:pPr marL="0" indent="0">
              <a:buNone/>
            </a:pPr>
            <a:r>
              <a:rPr lang="en-US" sz="1300" b="1" dirty="0">
                <a:solidFill>
                  <a:srgbClr val="F2A93B"/>
                </a:solidFill>
                <a:latin typeface="Segoe UI" pitchFamily="34" charset="0"/>
                <a:ea typeface="Segoe UI" pitchFamily="34" charset="-122"/>
                <a:cs typeface="Segoe UI" pitchFamily="34" charset="-120"/>
              </a:rPr>
              <a:t>2</a:t>
            </a:r>
            <a:endParaRPr lang="en-US" sz="1300" dirty="0"/>
          </a:p>
        </p:txBody>
      </p:sp>
      <p:sp>
        <p:nvSpPr>
          <p:cNvPr id="11" name="Text 9"/>
          <p:cNvSpPr txBox="1"/>
          <p:nvPr/>
        </p:nvSpPr>
        <p:spPr>
          <a:xfrm>
            <a:off x="2660904" y="2743200"/>
            <a:ext cx="1426464" cy="914400"/>
          </a:xfrm>
          <a:prstGeom prst="rect">
            <a:avLst/>
          </a:prstGeom>
          <a:noFill/>
          <a:ln/>
        </p:spPr>
        <p:txBody>
          <a:bodyPr wrap="square" lIns="0" tIns="0" rIns="0" bIns="0" rtlCol="0" anchor="t"/>
          <a:lstStyle/>
          <a:p>
            <a:pPr marL="0" indent="0">
              <a:buNone/>
            </a:pPr>
            <a:r>
              <a:rPr lang="en-US" sz="1450" b="1" dirty="0">
                <a:solidFill>
                  <a:srgbClr val="FFFFFF"/>
                </a:solidFill>
                <a:latin typeface="Segoe UI" pitchFamily="34" charset="0"/>
                <a:ea typeface="Segoe UI" pitchFamily="34" charset="-122"/>
                <a:cs typeface="Segoe UI" pitchFamily="34" charset="-120"/>
              </a:rPr>
              <a:t>Commande en urgence</a:t>
            </a:r>
            <a:endParaRPr lang="en-US" sz="1450" dirty="0"/>
          </a:p>
        </p:txBody>
      </p:sp>
      <p:sp>
        <p:nvSpPr>
          <p:cNvPr id="12" name="Shape 10"/>
          <p:cNvSpPr/>
          <p:nvPr/>
        </p:nvSpPr>
        <p:spPr>
          <a:xfrm>
            <a:off x="4215384" y="3035808"/>
            <a:ext cx="164592" cy="0"/>
          </a:xfrm>
          <a:prstGeom prst="line">
            <a:avLst/>
          </a:prstGeom>
          <a:noFill/>
          <a:ln w="25400">
            <a:solidFill>
              <a:srgbClr val="F2A93B"/>
            </a:solidFill>
            <a:prstDash val="solid"/>
            <a:tailEnd type="triangle"/>
          </a:ln>
        </p:spPr>
      </p:sp>
      <p:sp>
        <p:nvSpPr>
          <p:cNvPr id="13" name="Shape 11"/>
          <p:cNvSpPr/>
          <p:nvPr/>
        </p:nvSpPr>
        <p:spPr>
          <a:xfrm>
            <a:off x="4398264" y="2377440"/>
            <a:ext cx="1645920" cy="1325880"/>
          </a:xfrm>
          <a:prstGeom prst="roundRect">
            <a:avLst>
              <a:gd name="adj" fmla="val 6897"/>
            </a:avLst>
          </a:prstGeom>
          <a:solidFill>
            <a:srgbClr val="1F2A5C"/>
          </a:solidFill>
          <a:ln/>
        </p:spPr>
      </p:sp>
      <p:sp>
        <p:nvSpPr>
          <p:cNvPr id="14" name="Text 12"/>
          <p:cNvSpPr txBox="1"/>
          <p:nvPr/>
        </p:nvSpPr>
        <p:spPr>
          <a:xfrm>
            <a:off x="4507992" y="2450592"/>
            <a:ext cx="457200" cy="320040"/>
          </a:xfrm>
          <a:prstGeom prst="rect">
            <a:avLst/>
          </a:prstGeom>
          <a:noFill/>
          <a:ln/>
        </p:spPr>
        <p:txBody>
          <a:bodyPr wrap="square" lIns="0" tIns="0" rIns="0" bIns="0" rtlCol="0" anchor="t"/>
          <a:lstStyle/>
          <a:p>
            <a:pPr marL="0" indent="0">
              <a:buNone/>
            </a:pPr>
            <a:r>
              <a:rPr lang="en-US" sz="1300" b="1" dirty="0">
                <a:solidFill>
                  <a:srgbClr val="F2A93B"/>
                </a:solidFill>
                <a:latin typeface="Segoe UI" pitchFamily="34" charset="0"/>
                <a:ea typeface="Segoe UI" pitchFamily="34" charset="-122"/>
                <a:cs typeface="Segoe UI" pitchFamily="34" charset="-120"/>
              </a:rPr>
              <a:t>3</a:t>
            </a:r>
            <a:endParaRPr lang="en-US" sz="1300" dirty="0"/>
          </a:p>
        </p:txBody>
      </p:sp>
      <p:sp>
        <p:nvSpPr>
          <p:cNvPr id="15" name="Text 13"/>
          <p:cNvSpPr txBox="1"/>
          <p:nvPr/>
        </p:nvSpPr>
        <p:spPr>
          <a:xfrm>
            <a:off x="4507992" y="2743200"/>
            <a:ext cx="1426464" cy="914400"/>
          </a:xfrm>
          <a:prstGeom prst="rect">
            <a:avLst/>
          </a:prstGeom>
          <a:noFill/>
          <a:ln/>
        </p:spPr>
        <p:txBody>
          <a:bodyPr wrap="square" lIns="0" tIns="0" rIns="0" bIns="0" rtlCol="0" anchor="t"/>
          <a:lstStyle/>
          <a:p>
            <a:pPr marL="0" indent="0">
              <a:buNone/>
            </a:pPr>
            <a:r>
              <a:rPr lang="en-US" sz="1450" b="1" dirty="0">
                <a:solidFill>
                  <a:srgbClr val="FFFFFF"/>
                </a:solidFill>
                <a:latin typeface="Segoe UI" pitchFamily="34" charset="0"/>
                <a:ea typeface="Segoe UI" pitchFamily="34" charset="-122"/>
                <a:cs typeface="Segoe UI" pitchFamily="34" charset="-120"/>
              </a:rPr>
              <a:t>Recherche dans le carnet d'adresses</a:t>
            </a:r>
            <a:endParaRPr lang="en-US" sz="1450" dirty="0"/>
          </a:p>
        </p:txBody>
      </p:sp>
      <p:sp>
        <p:nvSpPr>
          <p:cNvPr id="16" name="Shape 14"/>
          <p:cNvSpPr/>
          <p:nvPr/>
        </p:nvSpPr>
        <p:spPr>
          <a:xfrm>
            <a:off x="6062472" y="3035808"/>
            <a:ext cx="164592" cy="0"/>
          </a:xfrm>
          <a:prstGeom prst="line">
            <a:avLst/>
          </a:prstGeom>
          <a:noFill/>
          <a:ln w="25400">
            <a:solidFill>
              <a:srgbClr val="F2A93B"/>
            </a:solidFill>
            <a:prstDash val="solid"/>
            <a:tailEnd type="triangle"/>
          </a:ln>
        </p:spPr>
      </p:sp>
      <p:sp>
        <p:nvSpPr>
          <p:cNvPr id="17" name="Shape 15"/>
          <p:cNvSpPr/>
          <p:nvPr/>
        </p:nvSpPr>
        <p:spPr>
          <a:xfrm>
            <a:off x="6245352" y="2377440"/>
            <a:ext cx="1645920" cy="1325880"/>
          </a:xfrm>
          <a:prstGeom prst="roundRect">
            <a:avLst>
              <a:gd name="adj" fmla="val 6897"/>
            </a:avLst>
          </a:prstGeom>
          <a:solidFill>
            <a:srgbClr val="1F2A5C"/>
          </a:solidFill>
          <a:ln/>
        </p:spPr>
      </p:sp>
      <p:sp>
        <p:nvSpPr>
          <p:cNvPr id="18" name="Text 16"/>
          <p:cNvSpPr txBox="1"/>
          <p:nvPr/>
        </p:nvSpPr>
        <p:spPr>
          <a:xfrm>
            <a:off x="6355080" y="2450592"/>
            <a:ext cx="457200" cy="320040"/>
          </a:xfrm>
          <a:prstGeom prst="rect">
            <a:avLst/>
          </a:prstGeom>
          <a:noFill/>
          <a:ln/>
        </p:spPr>
        <p:txBody>
          <a:bodyPr wrap="square" lIns="0" tIns="0" rIns="0" bIns="0" rtlCol="0" anchor="t"/>
          <a:lstStyle/>
          <a:p>
            <a:pPr marL="0" indent="0">
              <a:buNone/>
            </a:pPr>
            <a:r>
              <a:rPr lang="en-US" sz="1300" b="1" dirty="0">
                <a:solidFill>
                  <a:srgbClr val="F2A93B"/>
                </a:solidFill>
                <a:latin typeface="Segoe UI" pitchFamily="34" charset="0"/>
                <a:ea typeface="Segoe UI" pitchFamily="34" charset="-122"/>
                <a:cs typeface="Segoe UI" pitchFamily="34" charset="-120"/>
              </a:rPr>
              <a:t>4</a:t>
            </a:r>
            <a:endParaRPr lang="en-US" sz="1300" dirty="0"/>
          </a:p>
        </p:txBody>
      </p:sp>
      <p:sp>
        <p:nvSpPr>
          <p:cNvPr id="19" name="Text 17"/>
          <p:cNvSpPr txBox="1"/>
          <p:nvPr/>
        </p:nvSpPr>
        <p:spPr>
          <a:xfrm>
            <a:off x="6355080" y="2743200"/>
            <a:ext cx="1426464" cy="914400"/>
          </a:xfrm>
          <a:prstGeom prst="rect">
            <a:avLst/>
          </a:prstGeom>
          <a:noFill/>
          <a:ln/>
        </p:spPr>
        <p:txBody>
          <a:bodyPr wrap="square" lIns="0" tIns="0" rIns="0" bIns="0" rtlCol="0" anchor="t"/>
          <a:lstStyle/>
          <a:p>
            <a:pPr marL="0" indent="0">
              <a:buNone/>
            </a:pPr>
            <a:r>
              <a:rPr lang="en-US" sz="1450" b="1" dirty="0">
                <a:solidFill>
                  <a:srgbClr val="FFFFFF"/>
                </a:solidFill>
                <a:latin typeface="Segoe UI" pitchFamily="34" charset="0"/>
                <a:ea typeface="Segoe UI" pitchFamily="34" charset="-122"/>
                <a:cs typeface="Segoe UI" pitchFamily="34" charset="-120"/>
              </a:rPr>
              <a:t>Mails, appels, déplacements</a:t>
            </a:r>
            <a:endParaRPr lang="en-US" sz="1450" dirty="0"/>
          </a:p>
        </p:txBody>
      </p:sp>
      <p:sp>
        <p:nvSpPr>
          <p:cNvPr id="20" name="Shape 18"/>
          <p:cNvSpPr/>
          <p:nvPr/>
        </p:nvSpPr>
        <p:spPr>
          <a:xfrm>
            <a:off x="7909560" y="3035808"/>
            <a:ext cx="164592" cy="0"/>
          </a:xfrm>
          <a:prstGeom prst="line">
            <a:avLst/>
          </a:prstGeom>
          <a:noFill/>
          <a:ln w="25400">
            <a:solidFill>
              <a:srgbClr val="F2A93B"/>
            </a:solidFill>
            <a:prstDash val="solid"/>
            <a:tailEnd type="triangle"/>
          </a:ln>
        </p:spPr>
      </p:sp>
      <p:sp>
        <p:nvSpPr>
          <p:cNvPr id="21" name="Shape 19"/>
          <p:cNvSpPr/>
          <p:nvPr/>
        </p:nvSpPr>
        <p:spPr>
          <a:xfrm>
            <a:off x="8092440" y="2377440"/>
            <a:ext cx="1645920" cy="1325880"/>
          </a:xfrm>
          <a:prstGeom prst="roundRect">
            <a:avLst>
              <a:gd name="adj" fmla="val 6897"/>
            </a:avLst>
          </a:prstGeom>
          <a:solidFill>
            <a:srgbClr val="1F2A5C"/>
          </a:solidFill>
          <a:ln/>
        </p:spPr>
      </p:sp>
      <p:sp>
        <p:nvSpPr>
          <p:cNvPr id="22" name="Text 20"/>
          <p:cNvSpPr txBox="1"/>
          <p:nvPr/>
        </p:nvSpPr>
        <p:spPr>
          <a:xfrm>
            <a:off x="8202168" y="2450592"/>
            <a:ext cx="457200" cy="320040"/>
          </a:xfrm>
          <a:prstGeom prst="rect">
            <a:avLst/>
          </a:prstGeom>
          <a:noFill/>
          <a:ln/>
        </p:spPr>
        <p:txBody>
          <a:bodyPr wrap="square" lIns="0" tIns="0" rIns="0" bIns="0" rtlCol="0" anchor="t"/>
          <a:lstStyle/>
          <a:p>
            <a:pPr marL="0" indent="0">
              <a:buNone/>
            </a:pPr>
            <a:r>
              <a:rPr lang="en-US" sz="1300" b="1" dirty="0">
                <a:solidFill>
                  <a:srgbClr val="F2A93B"/>
                </a:solidFill>
                <a:latin typeface="Segoe UI" pitchFamily="34" charset="0"/>
                <a:ea typeface="Segoe UI" pitchFamily="34" charset="-122"/>
                <a:cs typeface="Segoe UI" pitchFamily="34" charset="-120"/>
              </a:rPr>
              <a:t>5</a:t>
            </a:r>
            <a:endParaRPr lang="en-US" sz="1300" dirty="0"/>
          </a:p>
        </p:txBody>
      </p:sp>
      <p:sp>
        <p:nvSpPr>
          <p:cNvPr id="23" name="Text 21"/>
          <p:cNvSpPr txBox="1"/>
          <p:nvPr/>
        </p:nvSpPr>
        <p:spPr>
          <a:xfrm>
            <a:off x="8202168" y="2743200"/>
            <a:ext cx="1426464" cy="914400"/>
          </a:xfrm>
          <a:prstGeom prst="rect">
            <a:avLst/>
          </a:prstGeom>
          <a:noFill/>
          <a:ln/>
        </p:spPr>
        <p:txBody>
          <a:bodyPr wrap="square" lIns="0" tIns="0" rIns="0" bIns="0" rtlCol="0" anchor="t"/>
          <a:lstStyle/>
          <a:p>
            <a:pPr marL="0" indent="0">
              <a:buNone/>
            </a:pPr>
            <a:r>
              <a:rPr lang="en-US" sz="1450" b="1" dirty="0">
                <a:solidFill>
                  <a:srgbClr val="FFFFFF"/>
                </a:solidFill>
                <a:latin typeface="Segoe UI" pitchFamily="34" charset="0"/>
                <a:ea typeface="Segoe UI" pitchFamily="34" charset="-122"/>
                <a:cs typeface="Segoe UI" pitchFamily="34" charset="-120"/>
              </a:rPr>
              <a:t>Produit inadapté ou surfacturé</a:t>
            </a:r>
            <a:endParaRPr lang="en-US" sz="1450" dirty="0"/>
          </a:p>
        </p:txBody>
      </p:sp>
      <p:sp>
        <p:nvSpPr>
          <p:cNvPr id="24" name="Shape 22"/>
          <p:cNvSpPr/>
          <p:nvPr/>
        </p:nvSpPr>
        <p:spPr>
          <a:xfrm>
            <a:off x="9756648" y="3035808"/>
            <a:ext cx="164592" cy="0"/>
          </a:xfrm>
          <a:prstGeom prst="line">
            <a:avLst/>
          </a:prstGeom>
          <a:noFill/>
          <a:ln w="25400">
            <a:solidFill>
              <a:srgbClr val="F2A93B"/>
            </a:solidFill>
            <a:prstDash val="solid"/>
            <a:tailEnd type="triangle"/>
          </a:ln>
        </p:spPr>
      </p:sp>
      <p:sp>
        <p:nvSpPr>
          <p:cNvPr id="25" name="Shape 23"/>
          <p:cNvSpPr/>
          <p:nvPr/>
        </p:nvSpPr>
        <p:spPr>
          <a:xfrm>
            <a:off x="9939528" y="2377440"/>
            <a:ext cx="1645920" cy="1325880"/>
          </a:xfrm>
          <a:prstGeom prst="roundRect">
            <a:avLst>
              <a:gd name="adj" fmla="val 6897"/>
            </a:avLst>
          </a:prstGeom>
          <a:solidFill>
            <a:srgbClr val="F2A93B"/>
          </a:solidFill>
          <a:ln/>
        </p:spPr>
      </p:sp>
      <p:sp>
        <p:nvSpPr>
          <p:cNvPr id="26" name="Text 24"/>
          <p:cNvSpPr txBox="1"/>
          <p:nvPr/>
        </p:nvSpPr>
        <p:spPr>
          <a:xfrm>
            <a:off x="10049256" y="2450592"/>
            <a:ext cx="457200" cy="320040"/>
          </a:xfrm>
          <a:prstGeom prst="rect">
            <a:avLst/>
          </a:prstGeom>
          <a:noFill/>
          <a:ln/>
        </p:spPr>
        <p:txBody>
          <a:bodyPr wrap="square" lIns="0" tIns="0" rIns="0" bIns="0" rtlCol="0" anchor="t"/>
          <a:lstStyle/>
          <a:p>
            <a:pPr marL="0" indent="0">
              <a:buNone/>
            </a:pPr>
            <a:r>
              <a:rPr lang="en-US" sz="1300" b="1" dirty="0">
                <a:solidFill>
                  <a:srgbClr val="1F2A5C"/>
                </a:solidFill>
                <a:latin typeface="Segoe UI" pitchFamily="34" charset="0"/>
                <a:ea typeface="Segoe UI" pitchFamily="34" charset="-122"/>
                <a:cs typeface="Segoe UI" pitchFamily="34" charset="-120"/>
              </a:rPr>
              <a:t>6</a:t>
            </a:r>
            <a:endParaRPr lang="en-US" sz="1300" dirty="0"/>
          </a:p>
        </p:txBody>
      </p:sp>
      <p:sp>
        <p:nvSpPr>
          <p:cNvPr id="27" name="Text 25"/>
          <p:cNvSpPr txBox="1"/>
          <p:nvPr/>
        </p:nvSpPr>
        <p:spPr>
          <a:xfrm>
            <a:off x="10049256" y="2743200"/>
            <a:ext cx="1426464" cy="914400"/>
          </a:xfrm>
          <a:prstGeom prst="rect">
            <a:avLst/>
          </a:prstGeom>
          <a:noFill/>
          <a:ln/>
        </p:spPr>
        <p:txBody>
          <a:bodyPr wrap="square" lIns="0" tIns="0" rIns="0" bIns="0" rtlCol="0" anchor="t"/>
          <a:lstStyle/>
          <a:p>
            <a:pPr marL="0" indent="0">
              <a:buNone/>
            </a:pPr>
            <a:r>
              <a:rPr lang="en-US" sz="1450" b="1" dirty="0">
                <a:solidFill>
                  <a:srgbClr val="1F2A5C"/>
                </a:solidFill>
                <a:latin typeface="Segoe UI" pitchFamily="34" charset="0"/>
                <a:ea typeface="Segoe UI" pitchFamily="34" charset="-122"/>
                <a:cs typeface="Segoe UI" pitchFamily="34" charset="-120"/>
              </a:rPr>
              <a:t>Marge réduite, clients perdus</a:t>
            </a:r>
            <a:endParaRPr lang="en-US" sz="1450" dirty="0"/>
          </a:p>
        </p:txBody>
      </p:sp>
      <p:sp>
        <p:nvSpPr>
          <p:cNvPr id="28" name="Text 26"/>
          <p:cNvSpPr txBox="1"/>
          <p:nvPr/>
        </p:nvSpPr>
        <p:spPr>
          <a:xfrm>
            <a:off x="731520" y="4251960"/>
            <a:ext cx="10698480" cy="457200"/>
          </a:xfrm>
          <a:prstGeom prst="rect">
            <a:avLst/>
          </a:prstGeom>
          <a:noFill/>
          <a:ln/>
        </p:spPr>
        <p:txBody>
          <a:bodyPr wrap="square" lIns="0" tIns="0" rIns="0" bIns="0" rtlCol="0" anchor="t"/>
          <a:lstStyle/>
          <a:p>
            <a:pPr marL="0" indent="0" algn="ctr">
              <a:buNone/>
            </a:pPr>
            <a:r>
              <a:rPr lang="en-US" sz="2000" dirty="0">
                <a:solidFill>
                  <a:srgbClr val="1F2A5C"/>
                </a:solidFill>
                <a:latin typeface="Segoe UI" pitchFamily="34" charset="0"/>
                <a:ea typeface="Segoe UI" pitchFamily="34" charset="-122"/>
                <a:cs typeface="Segoe UI" pitchFamily="34" charset="-120"/>
              </a:rPr>
              <a:t>Une perte de temps, des frais supplémentaires et une marge qui diminue.</a:t>
            </a:r>
            <a:endParaRPr lang="en-US" sz="2000" dirty="0"/>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10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Problématique</a:t>
            </a:r>
            <a:endParaRPr lang="en-US" sz="3000" dirty="0"/>
          </a:p>
        </p:txBody>
      </p:sp>
      <p:sp>
        <p:nvSpPr>
          <p:cNvPr id="5" name="Text 3"/>
          <p:cNvSpPr txBox="1"/>
          <p:nvPr/>
        </p:nvSpPr>
        <p:spPr>
          <a:xfrm>
            <a:off x="731520" y="1325880"/>
            <a:ext cx="7680960" cy="1463040"/>
          </a:xfrm>
          <a:prstGeom prst="rect">
            <a:avLst/>
          </a:prstGeom>
          <a:noFill/>
          <a:ln/>
        </p:spPr>
        <p:txBody>
          <a:bodyPr wrap="square" lIns="0" tIns="0" rIns="0" bIns="0" rtlCol="0" anchor="t"/>
          <a:lstStyle/>
          <a:p>
            <a:pPr marL="0" indent="0">
              <a:buNone/>
            </a:pPr>
            <a:r>
              <a:rPr lang="en-US" sz="2400" b="1" dirty="0">
                <a:solidFill>
                  <a:srgbClr val="1F2A5C"/>
                </a:solidFill>
                <a:latin typeface="Segoe UI" pitchFamily="34" charset="0"/>
                <a:ea typeface="Segoe UI" pitchFamily="34" charset="-122"/>
                <a:cs typeface="Segoe UI" pitchFamily="34" charset="-120"/>
              </a:rPr>
              <a:t>Comment centraliser la gestion commerciale des PME et fluidifier leurs échanges B2B, notamment en situation d'urgence ?</a:t>
            </a:r>
            <a:endParaRPr lang="en-US" sz="2400" dirty="0"/>
          </a:p>
        </p:txBody>
      </p:sp>
      <p:sp>
        <p:nvSpPr>
          <p:cNvPr id="6" name="Text 4"/>
          <p:cNvSpPr txBox="1"/>
          <p:nvPr/>
        </p:nvSpPr>
        <p:spPr>
          <a:xfrm>
            <a:off x="731520" y="2971800"/>
            <a:ext cx="5486400" cy="365760"/>
          </a:xfrm>
          <a:prstGeom prst="rect">
            <a:avLst/>
          </a:prstGeom>
          <a:noFill/>
          <a:ln/>
        </p:spPr>
        <p:txBody>
          <a:bodyPr wrap="square" lIns="0" tIns="0" rIns="0" bIns="0" rtlCol="0" anchor="t"/>
          <a:lstStyle/>
          <a:p>
            <a:pPr marL="0" indent="0">
              <a:buNone/>
            </a:pPr>
            <a:r>
              <a:rPr lang="en-US" sz="1600" b="1" dirty="0">
                <a:solidFill>
                  <a:srgbClr val="A65F00"/>
                </a:solidFill>
                <a:latin typeface="Segoe UI" pitchFamily="34" charset="0"/>
                <a:ea typeface="Segoe UI" pitchFamily="34" charset="-122"/>
                <a:cs typeface="Segoe UI" pitchFamily="34" charset="-120"/>
              </a:rPr>
              <a:t>Objectif triple</a:t>
            </a:r>
            <a:endParaRPr lang="en-US" sz="1600" dirty="0"/>
          </a:p>
        </p:txBody>
      </p:sp>
      <p:sp>
        <p:nvSpPr>
          <p:cNvPr id="7" name="Shape 5"/>
          <p:cNvSpPr/>
          <p:nvPr/>
        </p:nvSpPr>
        <p:spPr>
          <a:xfrm>
            <a:off x="731520" y="3429000"/>
            <a:ext cx="3383280" cy="2697480"/>
          </a:xfrm>
          <a:prstGeom prst="roundRect">
            <a:avLst>
              <a:gd name="adj" fmla="val 3390"/>
            </a:avLst>
          </a:prstGeom>
          <a:solidFill>
            <a:srgbClr val="F4F5F8"/>
          </a:solidFill>
          <a:ln/>
        </p:spPr>
      </p:sp>
      <p:pic>
        <p:nvPicPr>
          <p:cNvPr id="8" name="Image 0" descr="C:\Users\ALEX\AppData\Local\Temp\claude\C--laragon-www-facturation\62a43aad-6d46-45af-979c-6c158c66b0c3\scratchpad\ppt3\a4\ill_empty-receipt.png"/>
          <p:cNvPicPr>
            <a:picLocks noChangeAspect="1"/>
          </p:cNvPicPr>
          <p:nvPr/>
        </p:nvPicPr>
        <p:blipFill>
          <a:blip r:embed="rId4"/>
          <a:stretch>
            <a:fillRect/>
          </a:stretch>
        </p:blipFill>
        <p:spPr>
          <a:xfrm>
            <a:off x="1327208" y="3520440"/>
            <a:ext cx="2191903" cy="1645920"/>
          </a:xfrm>
          <a:prstGeom prst="rect">
            <a:avLst/>
          </a:prstGeom>
        </p:spPr>
      </p:pic>
      <p:sp>
        <p:nvSpPr>
          <p:cNvPr id="9" name="Text 6"/>
          <p:cNvSpPr txBox="1"/>
          <p:nvPr/>
        </p:nvSpPr>
        <p:spPr>
          <a:xfrm>
            <a:off x="914400" y="5257800"/>
            <a:ext cx="3017520" cy="777240"/>
          </a:xfrm>
          <a:prstGeom prst="rect">
            <a:avLst/>
          </a:prstGeom>
          <a:noFill/>
          <a:ln/>
        </p:spPr>
        <p:txBody>
          <a:bodyPr wrap="square" lIns="0" tIns="0" rIns="0" bIns="0" rtlCol="0" anchor="ctr"/>
          <a:lstStyle/>
          <a:p>
            <a:pPr marL="0" indent="0" algn="ctr">
              <a:buNone/>
            </a:pPr>
            <a:r>
              <a:rPr lang="en-US" sz="1700" b="1" dirty="0">
                <a:solidFill>
                  <a:srgbClr val="1F2A5C"/>
                </a:solidFill>
                <a:latin typeface="Segoe UI" pitchFamily="34" charset="0"/>
                <a:ea typeface="Segoe UI" pitchFamily="34" charset="-122"/>
                <a:cs typeface="Segoe UI" pitchFamily="34" charset="-120"/>
              </a:rPr>
              <a:t>Réduire les coûts</a:t>
            </a:r>
            <a:endParaRPr lang="en-US" sz="1700" dirty="0"/>
          </a:p>
        </p:txBody>
      </p:sp>
      <p:sp>
        <p:nvSpPr>
          <p:cNvPr id="10" name="Shape 7"/>
          <p:cNvSpPr/>
          <p:nvPr/>
        </p:nvSpPr>
        <p:spPr>
          <a:xfrm>
            <a:off x="4434840" y="3429000"/>
            <a:ext cx="3383280" cy="2697480"/>
          </a:xfrm>
          <a:prstGeom prst="roundRect">
            <a:avLst>
              <a:gd name="adj" fmla="val 3390"/>
            </a:avLst>
          </a:prstGeom>
          <a:solidFill>
            <a:srgbClr val="F4F5F8"/>
          </a:solidFill>
          <a:ln/>
        </p:spPr>
      </p:sp>
      <p:pic>
        <p:nvPicPr>
          <p:cNvPr id="11" name="Image 1" descr="C:\Users\ALEX\AppData\Local\Temp\claude\C--laragon-www-facturation\62a43aad-6d46-45af-979c-6c158c66b0c3\scratchpad\ppt3\a4\ill_banner-network.png"/>
          <p:cNvPicPr>
            <a:picLocks noChangeAspect="1"/>
          </p:cNvPicPr>
          <p:nvPr/>
        </p:nvPicPr>
        <p:blipFill>
          <a:blip r:embed="rId5"/>
          <a:stretch>
            <a:fillRect/>
          </a:stretch>
        </p:blipFill>
        <p:spPr>
          <a:xfrm>
            <a:off x="4810701" y="3520440"/>
            <a:ext cx="2631558" cy="1645920"/>
          </a:xfrm>
          <a:prstGeom prst="rect">
            <a:avLst/>
          </a:prstGeom>
        </p:spPr>
      </p:pic>
      <p:sp>
        <p:nvSpPr>
          <p:cNvPr id="12" name="Text 8"/>
          <p:cNvSpPr txBox="1"/>
          <p:nvPr/>
        </p:nvSpPr>
        <p:spPr>
          <a:xfrm>
            <a:off x="4617720" y="5257800"/>
            <a:ext cx="3017520" cy="777240"/>
          </a:xfrm>
          <a:prstGeom prst="rect">
            <a:avLst/>
          </a:prstGeom>
          <a:noFill/>
          <a:ln/>
        </p:spPr>
        <p:txBody>
          <a:bodyPr wrap="square" lIns="0" tIns="0" rIns="0" bIns="0" rtlCol="0" anchor="ctr"/>
          <a:lstStyle/>
          <a:p>
            <a:pPr marL="0" indent="0" algn="ctr">
              <a:buNone/>
            </a:pPr>
            <a:r>
              <a:rPr lang="en-US" sz="1700" b="1" dirty="0">
                <a:solidFill>
                  <a:srgbClr val="1F2A5C"/>
                </a:solidFill>
                <a:latin typeface="Segoe UI" pitchFamily="34" charset="0"/>
                <a:ea typeface="Segoe UI" pitchFamily="34" charset="-122"/>
                <a:cs typeface="Segoe UI" pitchFamily="34" charset="-120"/>
              </a:rPr>
              <a:t>Éliminer les délais d'attente des partenaires</a:t>
            </a:r>
            <a:endParaRPr lang="en-US" sz="1700" dirty="0"/>
          </a:p>
        </p:txBody>
      </p:sp>
      <p:sp>
        <p:nvSpPr>
          <p:cNvPr id="13" name="Shape 9"/>
          <p:cNvSpPr/>
          <p:nvPr/>
        </p:nvSpPr>
        <p:spPr>
          <a:xfrm>
            <a:off x="8138160" y="3429000"/>
            <a:ext cx="3383280" cy="2697480"/>
          </a:xfrm>
          <a:prstGeom prst="roundRect">
            <a:avLst>
              <a:gd name="adj" fmla="val 3390"/>
            </a:avLst>
          </a:prstGeom>
          <a:solidFill>
            <a:srgbClr val="F4F5F8"/>
          </a:solidFill>
          <a:ln/>
        </p:spPr>
      </p:sp>
      <p:pic>
        <p:nvPicPr>
          <p:cNvPr id="14" name="Image 2" descr="C:\Users\ALEX\AppData\Local\Temp\claude\C--laragon-www-facturation\62a43aad-6d46-45af-979c-6c158c66b0c3\scratchpad\ppt3\a4\ill_empty-box.png"/>
          <p:cNvPicPr>
            <a:picLocks noChangeAspect="1"/>
          </p:cNvPicPr>
          <p:nvPr/>
        </p:nvPicPr>
        <p:blipFill>
          <a:blip r:embed="rId6"/>
          <a:stretch>
            <a:fillRect/>
          </a:stretch>
        </p:blipFill>
        <p:spPr>
          <a:xfrm>
            <a:off x="8733848" y="3520440"/>
            <a:ext cx="2191903" cy="1645920"/>
          </a:xfrm>
          <a:prstGeom prst="rect">
            <a:avLst/>
          </a:prstGeom>
        </p:spPr>
      </p:pic>
      <p:sp>
        <p:nvSpPr>
          <p:cNvPr id="15" name="Text 10"/>
          <p:cNvSpPr txBox="1"/>
          <p:nvPr/>
        </p:nvSpPr>
        <p:spPr>
          <a:xfrm>
            <a:off x="8321040" y="5257800"/>
            <a:ext cx="3017520" cy="777240"/>
          </a:xfrm>
          <a:prstGeom prst="rect">
            <a:avLst/>
          </a:prstGeom>
          <a:noFill/>
          <a:ln/>
        </p:spPr>
        <p:txBody>
          <a:bodyPr wrap="square" lIns="0" tIns="0" rIns="0" bIns="0" rtlCol="0" anchor="ctr"/>
          <a:lstStyle/>
          <a:p>
            <a:pPr marL="0" indent="0" algn="ctr">
              <a:buNone/>
            </a:pPr>
            <a:r>
              <a:rPr lang="en-US" sz="1700" b="1" dirty="0">
                <a:solidFill>
                  <a:srgbClr val="1F2A5C"/>
                </a:solidFill>
                <a:latin typeface="Segoe UI" pitchFamily="34" charset="0"/>
                <a:ea typeface="Segoe UI" pitchFamily="34" charset="-122"/>
                <a:cs typeface="Segoe UI" pitchFamily="34" charset="-120"/>
              </a:rPr>
              <a:t>Optimiser la gestion des stocks</a:t>
            </a:r>
            <a:endParaRPr lang="en-US" sz="1700" dirty="0"/>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11 »</a:t>
            </a:r>
            <a:endParaRPr lang="en-US" sz="1100" dirty="0"/>
          </a:p>
        </p:txBody>
      </p:sp>
      <p:pic>
        <p:nvPicPr>
          <p:cNvPr id="4" name="Image 0" descr="C:\Users\ALEX\AppData\Local\Temp\claude\C--laragon-www-facturation\62a43aad-6d46-45af-979c-6c158c66b0c3\scratchpad\ppt3\a4\ill_empty-receipt.png"/>
          <p:cNvPicPr>
            <a:picLocks noChangeAspect="1"/>
          </p:cNvPicPr>
          <p:nvPr/>
        </p:nvPicPr>
        <p:blipFill>
          <a:blip r:embed="rId4"/>
          <a:stretch>
            <a:fillRect/>
          </a:stretch>
        </p:blipFill>
        <p:spPr>
          <a:xfrm>
            <a:off x="640080" y="411480"/>
            <a:ext cx="4383806" cy="3291840"/>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03</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Étude et critique</a:t>
            </a:r>
            <a:endParaRPr lang="en-US" sz="3800" dirty="0"/>
          </a:p>
          <a:p>
            <a:pPr marL="0" indent="0" algn="r">
              <a:buNone/>
            </a:pPr>
            <a:r>
              <a:rPr lang="en-US" sz="3800" dirty="0">
                <a:solidFill>
                  <a:srgbClr val="FFFFFF"/>
                </a:solidFill>
                <a:latin typeface="Segoe UI" pitchFamily="34" charset="0"/>
                <a:ea typeface="Segoe UI" pitchFamily="34" charset="-122"/>
                <a:cs typeface="Segoe UI" pitchFamily="34" charset="-120"/>
              </a:rPr>
              <a:t>de l'existant</a:t>
            </a:r>
            <a:endParaRPr lang="en-US" sz="3800" dirty="0"/>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12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3.1 Étude de l'existant</a:t>
            </a:r>
            <a:endParaRPr lang="en-US" sz="3000" dirty="0"/>
          </a:p>
        </p:txBody>
      </p:sp>
      <p:pic>
        <p:nvPicPr>
          <p:cNvPr id="5" name="Image 0" descr="C:\Users\ALEX\AppData\Local\Temp\claude\C--laragon-www-facturation\62a43aad-6d46-45af-979c-6c158c66b0c3\scratchpad\ppt3\a4\ill_auth-hero.png"/>
          <p:cNvPicPr>
            <a:picLocks noChangeAspect="1"/>
          </p:cNvPicPr>
          <p:nvPr/>
        </p:nvPicPr>
        <p:blipFill>
          <a:blip r:embed="rId4"/>
          <a:stretch>
            <a:fillRect/>
          </a:stretch>
        </p:blipFill>
        <p:spPr>
          <a:xfrm>
            <a:off x="548640" y="1504521"/>
            <a:ext cx="5669280" cy="4489039"/>
          </a:xfrm>
          <a:prstGeom prst="rect">
            <a:avLst/>
          </a:prstGeom>
        </p:spPr>
      </p:pic>
      <p:sp>
        <p:nvSpPr>
          <p:cNvPr id="6" name="Shape 3"/>
          <p:cNvSpPr/>
          <p:nvPr/>
        </p:nvSpPr>
        <p:spPr>
          <a:xfrm>
            <a:off x="6675120" y="2286000"/>
            <a:ext cx="640080" cy="640080"/>
          </a:xfrm>
          <a:prstGeom prst="roundRect">
            <a:avLst>
              <a:gd name="adj" fmla="val 50000"/>
            </a:avLst>
          </a:prstGeom>
          <a:solidFill>
            <a:srgbClr val="1F2A5C"/>
          </a:solidFill>
          <a:ln/>
        </p:spPr>
      </p:sp>
      <p:sp>
        <p:nvSpPr>
          <p:cNvPr id="7" name="Text 4"/>
          <p:cNvSpPr txBox="1"/>
          <p:nvPr/>
        </p:nvSpPr>
        <p:spPr>
          <a:xfrm>
            <a:off x="6675120" y="228600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5"/>
          <p:cNvSpPr txBox="1"/>
          <p:nvPr/>
        </p:nvSpPr>
        <p:spPr>
          <a:xfrm>
            <a:off x="7543800" y="2240280"/>
            <a:ext cx="4023360" cy="411480"/>
          </a:xfrm>
          <a:prstGeom prst="rect">
            <a:avLst/>
          </a:prstGeom>
          <a:noFill/>
          <a:ln/>
        </p:spPr>
        <p:txBody>
          <a:bodyPr wrap="square" lIns="0" tIns="0" rIns="0" bIns="0" rtlCol="0" anchor="t"/>
          <a:lstStyle/>
          <a:p>
            <a:pPr marL="0" indent="0">
              <a:buNone/>
            </a:pPr>
            <a:r>
              <a:rPr lang="en-US" sz="2200" b="1" dirty="0">
                <a:solidFill>
                  <a:srgbClr val="1F2A5C"/>
                </a:solidFill>
                <a:latin typeface="Segoe UI" pitchFamily="34" charset="0"/>
                <a:ea typeface="Segoe UI" pitchFamily="34" charset="-122"/>
                <a:cs typeface="Segoe UI" pitchFamily="34" charset="-120"/>
              </a:rPr>
              <a:t>Vente au comptoir</a:t>
            </a:r>
            <a:endParaRPr lang="en-US" sz="2200" dirty="0"/>
          </a:p>
        </p:txBody>
      </p:sp>
      <p:sp>
        <p:nvSpPr>
          <p:cNvPr id="9" name="Text 6"/>
          <p:cNvSpPr txBox="1"/>
          <p:nvPr/>
        </p:nvSpPr>
        <p:spPr>
          <a:xfrm>
            <a:off x="7543800" y="2697480"/>
            <a:ext cx="4023360" cy="100584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Le client vient en boutique ; la vente est notée dans un registre.</a:t>
            </a:r>
            <a:endParaRPr lang="en-US" sz="1500" dirty="0"/>
          </a:p>
        </p:txBody>
      </p:sp>
      <p:sp>
        <p:nvSpPr>
          <p:cNvPr id="10" name="Shape 7"/>
          <p:cNvSpPr/>
          <p:nvPr/>
        </p:nvSpPr>
        <p:spPr>
          <a:xfrm>
            <a:off x="6675120" y="4023360"/>
            <a:ext cx="640080" cy="640080"/>
          </a:xfrm>
          <a:prstGeom prst="roundRect">
            <a:avLst>
              <a:gd name="adj" fmla="val 50000"/>
            </a:avLst>
          </a:prstGeom>
          <a:solidFill>
            <a:srgbClr val="F2A93B"/>
          </a:solidFill>
          <a:ln/>
        </p:spPr>
      </p:sp>
      <p:sp>
        <p:nvSpPr>
          <p:cNvPr id="11" name="Text 8"/>
          <p:cNvSpPr txBox="1"/>
          <p:nvPr/>
        </p:nvSpPr>
        <p:spPr>
          <a:xfrm>
            <a:off x="6675120" y="4023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2" name="Text 9"/>
          <p:cNvSpPr txBox="1"/>
          <p:nvPr/>
        </p:nvSpPr>
        <p:spPr>
          <a:xfrm>
            <a:off x="7543800" y="3977640"/>
            <a:ext cx="4023360" cy="411480"/>
          </a:xfrm>
          <a:prstGeom prst="rect">
            <a:avLst/>
          </a:prstGeom>
          <a:noFill/>
          <a:ln/>
        </p:spPr>
        <p:txBody>
          <a:bodyPr wrap="square" lIns="0" tIns="0" rIns="0" bIns="0" rtlCol="0" anchor="t"/>
          <a:lstStyle/>
          <a:p>
            <a:pPr marL="0" indent="0">
              <a:buNone/>
            </a:pPr>
            <a:r>
              <a:rPr lang="en-US" sz="2200" b="1" dirty="0">
                <a:solidFill>
                  <a:srgbClr val="A65F00"/>
                </a:solidFill>
                <a:latin typeface="Segoe UI" pitchFamily="34" charset="0"/>
                <a:ea typeface="Segoe UI" pitchFamily="34" charset="-122"/>
                <a:cs typeface="Segoe UI" pitchFamily="34" charset="-120"/>
              </a:rPr>
              <a:t>Réseautage B2B</a:t>
            </a:r>
            <a:endParaRPr lang="en-US" sz="2200" dirty="0"/>
          </a:p>
        </p:txBody>
      </p:sp>
      <p:sp>
        <p:nvSpPr>
          <p:cNvPr id="13" name="Text 10"/>
          <p:cNvSpPr txBox="1"/>
          <p:nvPr/>
        </p:nvSpPr>
        <p:spPr>
          <a:xfrm>
            <a:off x="7543800" y="4434840"/>
            <a:ext cx="4023360" cy="100584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Une entreprise cherche un fournisseur pour réapprovisionner son stock ou servir un client dans l'urgence.</a:t>
            </a:r>
            <a:endParaRPr lang="en-US" sz="1500" dirty="0"/>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13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La vente au comptoir</a:t>
            </a:r>
            <a:endParaRPr lang="en-US" sz="3000" dirty="0"/>
          </a:p>
        </p:txBody>
      </p:sp>
      <p:sp>
        <p:nvSpPr>
          <p:cNvPr id="5" name="Shape 3"/>
          <p:cNvSpPr/>
          <p:nvPr/>
        </p:nvSpPr>
        <p:spPr>
          <a:xfrm>
            <a:off x="1280160" y="2880360"/>
            <a:ext cx="9646920" cy="0"/>
          </a:xfrm>
          <a:prstGeom prst="line">
            <a:avLst/>
          </a:prstGeom>
          <a:noFill/>
          <a:ln w="38100">
            <a:solidFill>
              <a:srgbClr val="D5D9E2"/>
            </a:solidFill>
            <a:prstDash val="solid"/>
          </a:ln>
        </p:spPr>
      </p:sp>
      <p:sp>
        <p:nvSpPr>
          <p:cNvPr id="6" name="Shape 4"/>
          <p:cNvSpPr/>
          <p:nvPr/>
        </p:nvSpPr>
        <p:spPr>
          <a:xfrm>
            <a:off x="868680" y="2468880"/>
            <a:ext cx="822960" cy="822960"/>
          </a:xfrm>
          <a:prstGeom prst="ellipse">
            <a:avLst/>
          </a:prstGeom>
          <a:solidFill>
            <a:srgbClr val="1F2A5C"/>
          </a:solidFill>
          <a:ln w="38100">
            <a:solidFill>
              <a:srgbClr val="FFFFFF"/>
            </a:solidFill>
            <a:prstDash val="solid"/>
          </a:ln>
        </p:spPr>
      </p:sp>
      <p:sp>
        <p:nvSpPr>
          <p:cNvPr id="7" name="Text 5"/>
          <p:cNvSpPr txBox="1"/>
          <p:nvPr/>
        </p:nvSpPr>
        <p:spPr>
          <a:xfrm>
            <a:off x="868680" y="24688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8" name="Text 6"/>
          <p:cNvSpPr txBox="1"/>
          <p:nvPr/>
        </p:nvSpPr>
        <p:spPr>
          <a:xfrm>
            <a:off x="182880" y="352044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Le client exprime son besoin</a:t>
            </a:r>
            <a:endParaRPr lang="en-US" sz="1600" dirty="0"/>
          </a:p>
        </p:txBody>
      </p:sp>
      <p:sp>
        <p:nvSpPr>
          <p:cNvPr id="9" name="Shape 7"/>
          <p:cNvSpPr/>
          <p:nvPr/>
        </p:nvSpPr>
        <p:spPr>
          <a:xfrm>
            <a:off x="3279953" y="2468880"/>
            <a:ext cx="822960" cy="822960"/>
          </a:xfrm>
          <a:prstGeom prst="ellipse">
            <a:avLst/>
          </a:prstGeom>
          <a:solidFill>
            <a:srgbClr val="1F2A5C"/>
          </a:solidFill>
          <a:ln w="38100">
            <a:solidFill>
              <a:srgbClr val="FFFFFF"/>
            </a:solidFill>
            <a:prstDash val="solid"/>
          </a:ln>
        </p:spPr>
      </p:sp>
      <p:sp>
        <p:nvSpPr>
          <p:cNvPr id="10" name="Text 8"/>
          <p:cNvSpPr txBox="1"/>
          <p:nvPr/>
        </p:nvSpPr>
        <p:spPr>
          <a:xfrm>
            <a:off x="3279953" y="24688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txBox="1"/>
          <p:nvPr/>
        </p:nvSpPr>
        <p:spPr>
          <a:xfrm>
            <a:off x="2594153" y="352044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Le vendeur annonce le prix</a:t>
            </a:r>
            <a:endParaRPr lang="en-US" sz="1600" dirty="0"/>
          </a:p>
        </p:txBody>
      </p:sp>
      <p:sp>
        <p:nvSpPr>
          <p:cNvPr id="12" name="Shape 10"/>
          <p:cNvSpPr/>
          <p:nvPr/>
        </p:nvSpPr>
        <p:spPr>
          <a:xfrm>
            <a:off x="5691226" y="2468880"/>
            <a:ext cx="822960" cy="822960"/>
          </a:xfrm>
          <a:prstGeom prst="ellipse">
            <a:avLst/>
          </a:prstGeom>
          <a:solidFill>
            <a:srgbClr val="1F2A5C"/>
          </a:solidFill>
          <a:ln w="38100">
            <a:solidFill>
              <a:srgbClr val="FFFFFF"/>
            </a:solidFill>
            <a:prstDash val="solid"/>
          </a:ln>
        </p:spPr>
      </p:sp>
      <p:sp>
        <p:nvSpPr>
          <p:cNvPr id="13" name="Text 11"/>
          <p:cNvSpPr txBox="1"/>
          <p:nvPr/>
        </p:nvSpPr>
        <p:spPr>
          <a:xfrm>
            <a:off x="5691226" y="24688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4" name="Text 12"/>
          <p:cNvSpPr txBox="1"/>
          <p:nvPr/>
        </p:nvSpPr>
        <p:spPr>
          <a:xfrm>
            <a:off x="5005426" y="352044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Calcul du montant total</a:t>
            </a:r>
            <a:endParaRPr lang="en-US" sz="1600" dirty="0"/>
          </a:p>
        </p:txBody>
      </p:sp>
      <p:sp>
        <p:nvSpPr>
          <p:cNvPr id="15" name="Shape 13"/>
          <p:cNvSpPr/>
          <p:nvPr/>
        </p:nvSpPr>
        <p:spPr>
          <a:xfrm>
            <a:off x="8102498" y="2468880"/>
            <a:ext cx="822960" cy="822960"/>
          </a:xfrm>
          <a:prstGeom prst="ellipse">
            <a:avLst/>
          </a:prstGeom>
          <a:solidFill>
            <a:srgbClr val="1F2A5C"/>
          </a:solidFill>
          <a:ln w="38100">
            <a:solidFill>
              <a:srgbClr val="FFFFFF"/>
            </a:solidFill>
            <a:prstDash val="solid"/>
          </a:ln>
        </p:spPr>
      </p:sp>
      <p:sp>
        <p:nvSpPr>
          <p:cNvPr id="16" name="Text 14"/>
          <p:cNvSpPr txBox="1"/>
          <p:nvPr/>
        </p:nvSpPr>
        <p:spPr>
          <a:xfrm>
            <a:off x="8102498" y="24688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7" name="Text 15"/>
          <p:cNvSpPr txBox="1"/>
          <p:nvPr/>
        </p:nvSpPr>
        <p:spPr>
          <a:xfrm>
            <a:off x="7416698" y="352044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Paiement et remise d'un reçu</a:t>
            </a:r>
            <a:endParaRPr lang="en-US" sz="1600" dirty="0"/>
          </a:p>
        </p:txBody>
      </p:sp>
      <p:sp>
        <p:nvSpPr>
          <p:cNvPr id="18" name="Shape 16"/>
          <p:cNvSpPr/>
          <p:nvPr/>
        </p:nvSpPr>
        <p:spPr>
          <a:xfrm>
            <a:off x="10513771" y="2468880"/>
            <a:ext cx="822960" cy="822960"/>
          </a:xfrm>
          <a:prstGeom prst="ellipse">
            <a:avLst/>
          </a:prstGeom>
          <a:solidFill>
            <a:srgbClr val="F2A93B"/>
          </a:solidFill>
          <a:ln w="38100">
            <a:solidFill>
              <a:srgbClr val="FFFFFF"/>
            </a:solidFill>
            <a:prstDash val="solid"/>
          </a:ln>
        </p:spPr>
      </p:sp>
      <p:sp>
        <p:nvSpPr>
          <p:cNvPr id="19" name="Text 17"/>
          <p:cNvSpPr txBox="1"/>
          <p:nvPr/>
        </p:nvSpPr>
        <p:spPr>
          <a:xfrm>
            <a:off x="10513771" y="2468880"/>
            <a:ext cx="82296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20" name="Text 18"/>
          <p:cNvSpPr txBox="1"/>
          <p:nvPr/>
        </p:nvSpPr>
        <p:spPr>
          <a:xfrm>
            <a:off x="9827971" y="3520440"/>
            <a:ext cx="2194560" cy="914400"/>
          </a:xfrm>
          <a:prstGeom prst="rect">
            <a:avLst/>
          </a:prstGeom>
          <a:noFill/>
          <a:ln/>
        </p:spPr>
        <p:txBody>
          <a:bodyPr wrap="square" lIns="0" tIns="0" rIns="0" bIns="0" rtlCol="0" anchor="t"/>
          <a:lstStyle/>
          <a:p>
            <a:pPr marL="0" indent="0" algn="ctr">
              <a:buNone/>
            </a:pPr>
            <a:r>
              <a:rPr lang="en-US" sz="1600" b="1" dirty="0">
                <a:solidFill>
                  <a:srgbClr val="1F2A5C"/>
                </a:solidFill>
                <a:latin typeface="Segoe UI" pitchFamily="34" charset="0"/>
                <a:ea typeface="Segoe UI" pitchFamily="34" charset="-122"/>
                <a:cs typeface="Segoe UI" pitchFamily="34" charset="-120"/>
              </a:rPr>
              <a:t>Vente notée dans un registre</a:t>
            </a:r>
            <a:endParaRPr lang="en-US" sz="1600" dirty="0"/>
          </a:p>
        </p:txBody>
      </p:sp>
      <p:sp>
        <p:nvSpPr>
          <p:cNvPr id="21" name="Text 19"/>
          <p:cNvSpPr txBox="1"/>
          <p:nvPr/>
        </p:nvSpPr>
        <p:spPr>
          <a:xfrm>
            <a:off x="731520" y="4846320"/>
            <a:ext cx="10698480" cy="457200"/>
          </a:xfrm>
          <a:prstGeom prst="rect">
            <a:avLst/>
          </a:prstGeom>
          <a:noFill/>
          <a:ln/>
        </p:spPr>
        <p:txBody>
          <a:bodyPr wrap="square" lIns="0" tIns="0" rIns="0" bIns="0" rtlCol="0" anchor="t"/>
          <a:lstStyle/>
          <a:p>
            <a:pPr marL="0" indent="0" algn="ctr">
              <a:buNone/>
            </a:pPr>
            <a:r>
              <a:rPr lang="en-US" sz="1800" dirty="0">
                <a:solidFill>
                  <a:srgbClr val="5B6478"/>
                </a:solidFill>
                <a:latin typeface="Segoe UI" pitchFamily="34" charset="0"/>
                <a:ea typeface="Segoe UI" pitchFamily="34" charset="-122"/>
                <a:cs typeface="Segoe UI" pitchFamily="34" charset="-120"/>
              </a:rPr>
              <a:t>Le registre sert ensuite à l'inventaire et à la gestion des stocks.</a:t>
            </a:r>
            <a:endParaRPr lang="en-US" sz="1800" dirty="0"/>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14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Le réseautage B2B</a:t>
            </a:r>
            <a:endParaRPr lang="en-US" sz="3000" dirty="0"/>
          </a:p>
        </p:txBody>
      </p:sp>
      <p:sp>
        <p:nvSpPr>
          <p:cNvPr id="5" name="Shape 3"/>
          <p:cNvSpPr/>
          <p:nvPr/>
        </p:nvSpPr>
        <p:spPr>
          <a:xfrm>
            <a:off x="731520" y="1709928"/>
            <a:ext cx="640080" cy="621792"/>
          </a:xfrm>
          <a:prstGeom prst="roundRect">
            <a:avLst>
              <a:gd name="adj" fmla="val 14706"/>
            </a:avLst>
          </a:prstGeom>
          <a:solidFill>
            <a:srgbClr val="F2A93B"/>
          </a:solidFill>
          <a:ln/>
        </p:spPr>
      </p:sp>
      <p:sp>
        <p:nvSpPr>
          <p:cNvPr id="6" name="Text 4"/>
          <p:cNvSpPr txBox="1"/>
          <p:nvPr/>
        </p:nvSpPr>
        <p:spPr>
          <a:xfrm>
            <a:off x="731520" y="170992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Shape 5"/>
          <p:cNvSpPr/>
          <p:nvPr/>
        </p:nvSpPr>
        <p:spPr>
          <a:xfrm>
            <a:off x="1554480" y="1600200"/>
            <a:ext cx="4434840" cy="841248"/>
          </a:xfrm>
          <a:prstGeom prst="roundRect">
            <a:avLst>
              <a:gd name="adj" fmla="val 10870"/>
            </a:avLst>
          </a:prstGeom>
          <a:solidFill>
            <a:srgbClr val="F4F5F8"/>
          </a:solidFill>
          <a:ln/>
        </p:spPr>
      </p:sp>
      <p:sp>
        <p:nvSpPr>
          <p:cNvPr id="8" name="Text 6"/>
          <p:cNvSpPr txBox="1"/>
          <p:nvPr/>
        </p:nvSpPr>
        <p:spPr>
          <a:xfrm>
            <a:off x="1737360" y="160020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Besoin de commande</a:t>
            </a:r>
            <a:endParaRPr lang="en-US" sz="1600" dirty="0"/>
          </a:p>
        </p:txBody>
      </p:sp>
      <p:sp>
        <p:nvSpPr>
          <p:cNvPr id="9" name="Shape 7"/>
          <p:cNvSpPr/>
          <p:nvPr/>
        </p:nvSpPr>
        <p:spPr>
          <a:xfrm>
            <a:off x="731520" y="3035808"/>
            <a:ext cx="640080" cy="621792"/>
          </a:xfrm>
          <a:prstGeom prst="roundRect">
            <a:avLst>
              <a:gd name="adj" fmla="val 14706"/>
            </a:avLst>
          </a:prstGeom>
          <a:solidFill>
            <a:srgbClr val="F2A93B"/>
          </a:solidFill>
          <a:ln/>
        </p:spPr>
      </p:sp>
      <p:sp>
        <p:nvSpPr>
          <p:cNvPr id="10" name="Text 8"/>
          <p:cNvSpPr txBox="1"/>
          <p:nvPr/>
        </p:nvSpPr>
        <p:spPr>
          <a:xfrm>
            <a:off x="731520" y="303580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Shape 9"/>
          <p:cNvSpPr/>
          <p:nvPr/>
        </p:nvSpPr>
        <p:spPr>
          <a:xfrm>
            <a:off x="1554480" y="2926080"/>
            <a:ext cx="4434840" cy="841248"/>
          </a:xfrm>
          <a:prstGeom prst="roundRect">
            <a:avLst>
              <a:gd name="adj" fmla="val 10870"/>
            </a:avLst>
          </a:prstGeom>
          <a:solidFill>
            <a:srgbClr val="F4F5F8"/>
          </a:solidFill>
          <a:ln/>
        </p:spPr>
      </p:sp>
      <p:sp>
        <p:nvSpPr>
          <p:cNvPr id="12" name="Text 10"/>
          <p:cNvSpPr txBox="1"/>
          <p:nvPr/>
        </p:nvSpPr>
        <p:spPr>
          <a:xfrm>
            <a:off x="1737360" y="292608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Annonces : affiches, radio, télévision, réseaux sociaux</a:t>
            </a:r>
            <a:endParaRPr lang="en-US" sz="1600" dirty="0"/>
          </a:p>
        </p:txBody>
      </p:sp>
      <p:sp>
        <p:nvSpPr>
          <p:cNvPr id="13" name="Shape 11"/>
          <p:cNvSpPr/>
          <p:nvPr/>
        </p:nvSpPr>
        <p:spPr>
          <a:xfrm>
            <a:off x="731520" y="4361688"/>
            <a:ext cx="640080" cy="621792"/>
          </a:xfrm>
          <a:prstGeom prst="roundRect">
            <a:avLst>
              <a:gd name="adj" fmla="val 14706"/>
            </a:avLst>
          </a:prstGeom>
          <a:solidFill>
            <a:srgbClr val="F2A93B"/>
          </a:solidFill>
          <a:ln/>
        </p:spPr>
      </p:sp>
      <p:sp>
        <p:nvSpPr>
          <p:cNvPr id="14" name="Text 12"/>
          <p:cNvSpPr txBox="1"/>
          <p:nvPr/>
        </p:nvSpPr>
        <p:spPr>
          <a:xfrm>
            <a:off x="731520" y="436168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Shape 13"/>
          <p:cNvSpPr/>
          <p:nvPr/>
        </p:nvSpPr>
        <p:spPr>
          <a:xfrm>
            <a:off x="1554480" y="4251960"/>
            <a:ext cx="4434840" cy="841248"/>
          </a:xfrm>
          <a:prstGeom prst="roundRect">
            <a:avLst>
              <a:gd name="adj" fmla="val 10870"/>
            </a:avLst>
          </a:prstGeom>
          <a:solidFill>
            <a:srgbClr val="F4F5F8"/>
          </a:solidFill>
          <a:ln/>
        </p:spPr>
      </p:sp>
      <p:sp>
        <p:nvSpPr>
          <p:cNvPr id="16" name="Text 14"/>
          <p:cNvSpPr txBox="1"/>
          <p:nvPr/>
        </p:nvSpPr>
        <p:spPr>
          <a:xfrm>
            <a:off x="1737360" y="425196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Prise de contact, surtout par WhatsApp</a:t>
            </a:r>
            <a:endParaRPr lang="en-US" sz="1600" dirty="0"/>
          </a:p>
        </p:txBody>
      </p:sp>
      <p:sp>
        <p:nvSpPr>
          <p:cNvPr id="17" name="Shape 15"/>
          <p:cNvSpPr/>
          <p:nvPr/>
        </p:nvSpPr>
        <p:spPr>
          <a:xfrm>
            <a:off x="6309360" y="1709928"/>
            <a:ext cx="640080" cy="621792"/>
          </a:xfrm>
          <a:prstGeom prst="roundRect">
            <a:avLst>
              <a:gd name="adj" fmla="val 14706"/>
            </a:avLst>
          </a:prstGeom>
          <a:solidFill>
            <a:srgbClr val="F2A93B"/>
          </a:solidFill>
          <a:ln/>
        </p:spPr>
      </p:sp>
      <p:sp>
        <p:nvSpPr>
          <p:cNvPr id="18" name="Text 16"/>
          <p:cNvSpPr txBox="1"/>
          <p:nvPr/>
        </p:nvSpPr>
        <p:spPr>
          <a:xfrm>
            <a:off x="6309360" y="170992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Shape 17"/>
          <p:cNvSpPr/>
          <p:nvPr/>
        </p:nvSpPr>
        <p:spPr>
          <a:xfrm>
            <a:off x="7132320" y="1600200"/>
            <a:ext cx="4434840" cy="841248"/>
          </a:xfrm>
          <a:prstGeom prst="roundRect">
            <a:avLst>
              <a:gd name="adj" fmla="val 10870"/>
            </a:avLst>
          </a:prstGeom>
          <a:solidFill>
            <a:srgbClr val="F4F5F8"/>
          </a:solidFill>
          <a:ln/>
        </p:spPr>
      </p:sp>
      <p:sp>
        <p:nvSpPr>
          <p:cNvPr id="20" name="Text 18"/>
          <p:cNvSpPr txBox="1"/>
          <p:nvPr/>
        </p:nvSpPr>
        <p:spPr>
          <a:xfrm>
            <a:off x="7315200" y="160020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Échanges : produits, prix, quantités</a:t>
            </a:r>
            <a:endParaRPr lang="en-US" sz="1600" dirty="0"/>
          </a:p>
        </p:txBody>
      </p:sp>
      <p:sp>
        <p:nvSpPr>
          <p:cNvPr id="21" name="Shape 19"/>
          <p:cNvSpPr/>
          <p:nvPr/>
        </p:nvSpPr>
        <p:spPr>
          <a:xfrm>
            <a:off x="6309360" y="3035808"/>
            <a:ext cx="640080" cy="621792"/>
          </a:xfrm>
          <a:prstGeom prst="roundRect">
            <a:avLst>
              <a:gd name="adj" fmla="val 14706"/>
            </a:avLst>
          </a:prstGeom>
          <a:solidFill>
            <a:srgbClr val="F2A93B"/>
          </a:solidFill>
          <a:ln/>
        </p:spPr>
      </p:sp>
      <p:sp>
        <p:nvSpPr>
          <p:cNvPr id="22" name="Text 20"/>
          <p:cNvSpPr txBox="1"/>
          <p:nvPr/>
        </p:nvSpPr>
        <p:spPr>
          <a:xfrm>
            <a:off x="6309360" y="303580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23" name="Shape 21"/>
          <p:cNvSpPr/>
          <p:nvPr/>
        </p:nvSpPr>
        <p:spPr>
          <a:xfrm>
            <a:off x="7132320" y="2926080"/>
            <a:ext cx="4434840" cy="841248"/>
          </a:xfrm>
          <a:prstGeom prst="roundRect">
            <a:avLst>
              <a:gd name="adj" fmla="val 10870"/>
            </a:avLst>
          </a:prstGeom>
          <a:solidFill>
            <a:srgbClr val="F4F5F8"/>
          </a:solidFill>
          <a:ln/>
        </p:spPr>
      </p:sp>
      <p:sp>
        <p:nvSpPr>
          <p:cNvPr id="24" name="Text 22"/>
          <p:cNvSpPr txBox="1"/>
          <p:nvPr/>
        </p:nvSpPr>
        <p:spPr>
          <a:xfrm>
            <a:off x="7315200" y="292608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Commande, puis confirmation du vendeur</a:t>
            </a:r>
            <a:endParaRPr lang="en-US" sz="1600" dirty="0"/>
          </a:p>
        </p:txBody>
      </p:sp>
      <p:sp>
        <p:nvSpPr>
          <p:cNvPr id="25" name="Shape 23"/>
          <p:cNvSpPr/>
          <p:nvPr/>
        </p:nvSpPr>
        <p:spPr>
          <a:xfrm>
            <a:off x="6309360" y="4361688"/>
            <a:ext cx="640080" cy="621792"/>
          </a:xfrm>
          <a:prstGeom prst="roundRect">
            <a:avLst>
              <a:gd name="adj" fmla="val 14706"/>
            </a:avLst>
          </a:prstGeom>
          <a:solidFill>
            <a:srgbClr val="F2A93B"/>
          </a:solidFill>
          <a:ln/>
        </p:spPr>
      </p:sp>
      <p:sp>
        <p:nvSpPr>
          <p:cNvPr id="26" name="Text 24"/>
          <p:cNvSpPr txBox="1"/>
          <p:nvPr/>
        </p:nvSpPr>
        <p:spPr>
          <a:xfrm>
            <a:off x="6309360" y="4361688"/>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6</a:t>
            </a:r>
            <a:endParaRPr lang="en-US" sz="2200" dirty="0"/>
          </a:p>
        </p:txBody>
      </p:sp>
      <p:sp>
        <p:nvSpPr>
          <p:cNvPr id="27" name="Shape 25"/>
          <p:cNvSpPr/>
          <p:nvPr/>
        </p:nvSpPr>
        <p:spPr>
          <a:xfrm>
            <a:off x="7132320" y="4251960"/>
            <a:ext cx="4434840" cy="841248"/>
          </a:xfrm>
          <a:prstGeom prst="roundRect">
            <a:avLst>
              <a:gd name="adj" fmla="val 10870"/>
            </a:avLst>
          </a:prstGeom>
          <a:solidFill>
            <a:srgbClr val="F4F5F8"/>
          </a:solidFill>
          <a:ln/>
        </p:spPr>
      </p:sp>
      <p:sp>
        <p:nvSpPr>
          <p:cNvPr id="28" name="Text 26"/>
          <p:cNvSpPr txBox="1"/>
          <p:nvPr/>
        </p:nvSpPr>
        <p:spPr>
          <a:xfrm>
            <a:off x="7315200" y="4251960"/>
            <a:ext cx="4114800" cy="841248"/>
          </a:xfrm>
          <a:prstGeom prst="rect">
            <a:avLst/>
          </a:prstGeom>
          <a:noFill/>
          <a:ln/>
        </p:spPr>
        <p:txBody>
          <a:bodyPr wrap="square" lIns="0" tIns="0" rIns="0" bIns="0" rtlCol="0" anchor="ctr"/>
          <a:lstStyle/>
          <a:p>
            <a:pPr marL="0" indent="0">
              <a:buNone/>
            </a:pPr>
            <a:r>
              <a:rPr lang="en-US" sz="1600" b="1" dirty="0">
                <a:solidFill>
                  <a:srgbClr val="1F2A5C"/>
                </a:solidFill>
                <a:latin typeface="Segoe UI" pitchFamily="34" charset="0"/>
                <a:ea typeface="Segoe UI" pitchFamily="34" charset="-122"/>
                <a:cs typeface="Segoe UI" pitchFamily="34" charset="-120"/>
              </a:rPr>
              <a:t>Paiement</a:t>
            </a:r>
            <a:endParaRPr lang="en-US" sz="1600" dirty="0"/>
          </a:p>
        </p:txBody>
      </p:sp>
      <p:sp>
        <p:nvSpPr>
          <p:cNvPr id="29" name="Text 27"/>
          <p:cNvSpPr txBox="1"/>
          <p:nvPr/>
        </p:nvSpPr>
        <p:spPr>
          <a:xfrm>
            <a:off x="731520" y="5669280"/>
            <a:ext cx="10698480" cy="365760"/>
          </a:xfrm>
          <a:prstGeom prst="rect">
            <a:avLst/>
          </a:prstGeom>
          <a:noFill/>
          <a:ln/>
        </p:spPr>
        <p:txBody>
          <a:bodyPr wrap="square" lIns="0" tIns="0" rIns="0" bIns="0" rtlCol="0" anchor="t"/>
          <a:lstStyle/>
          <a:p>
            <a:pPr marL="0" indent="0">
              <a:buNone/>
            </a:pPr>
            <a:r>
              <a:rPr lang="en-US" sz="1500" i="1" dirty="0">
                <a:solidFill>
                  <a:srgbClr val="5B6478"/>
                </a:solidFill>
                <a:latin typeface="Segoe UI" pitchFamily="34" charset="0"/>
                <a:ea typeface="Segoe UI" pitchFamily="34" charset="-122"/>
                <a:cs typeface="Segoe UI" pitchFamily="34" charset="-120"/>
              </a:rPr>
              <a:t>Si aucun partenaire ne correspond, la démarche s'arrête.</a:t>
            </a:r>
            <a:endParaRPr lang="en-US" sz="1500" dirty="0"/>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15 »</a:t>
            </a:r>
            <a:endParaRPr lang="en-US" sz="1100" dirty="0"/>
          </a:p>
        </p:txBody>
      </p:sp>
      <p:sp>
        <p:nvSpPr>
          <p:cNvPr id="4" name="Text 2"/>
          <p:cNvSpPr txBox="1"/>
          <p:nvPr/>
        </p:nvSpPr>
        <p:spPr>
          <a:xfrm>
            <a:off x="11887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Dans la pratique</a:t>
            </a:r>
            <a:endParaRPr lang="en-US" sz="3000" dirty="0"/>
          </a:p>
        </p:txBody>
      </p:sp>
      <p:sp>
        <p:nvSpPr>
          <p:cNvPr id="5" name="Shape 3"/>
          <p:cNvSpPr/>
          <p:nvPr/>
        </p:nvSpPr>
        <p:spPr>
          <a:xfrm>
            <a:off x="1909877" y="1316736"/>
            <a:ext cx="1758086" cy="3675888"/>
          </a:xfrm>
          <a:prstGeom prst="rect">
            <a:avLst/>
          </a:prstGeom>
          <a:solidFill>
            <a:srgbClr val="FFFFFF"/>
          </a:solidFill>
          <a:ln w="9525">
            <a:solidFill>
              <a:srgbClr val="D5D9E2"/>
            </a:solidFill>
            <a:prstDash val="solid"/>
          </a:ln>
        </p:spPr>
      </p:sp>
      <p:pic>
        <p:nvPicPr>
          <p:cNvPr id="6" name="Image 0" descr="C:\Users\ALEX\AppData\Local\Temp\claude\C--laragon-www-facturation\62a43aad-6d46-45af-979c-6c158c66b0c3\scratchpad\ppt3\use\annexeA.jpg"/>
          <p:cNvPicPr>
            <a:picLocks noChangeAspect="1"/>
          </p:cNvPicPr>
          <p:nvPr/>
        </p:nvPicPr>
        <p:blipFill>
          <a:blip r:embed="rId4"/>
          <a:stretch>
            <a:fillRect/>
          </a:stretch>
        </p:blipFill>
        <p:spPr>
          <a:xfrm>
            <a:off x="1964741" y="1371600"/>
            <a:ext cx="1648358" cy="3566160"/>
          </a:xfrm>
          <a:prstGeom prst="rect">
            <a:avLst/>
          </a:prstGeom>
        </p:spPr>
      </p:pic>
      <p:sp>
        <p:nvSpPr>
          <p:cNvPr id="7" name="Text 4"/>
          <p:cNvSpPr txBox="1"/>
          <p:nvPr/>
        </p:nvSpPr>
        <p:spPr>
          <a:xfrm>
            <a:off x="1280160" y="5074920"/>
            <a:ext cx="3017520" cy="640080"/>
          </a:xfrm>
          <a:prstGeom prst="rect">
            <a:avLst/>
          </a:prstGeom>
          <a:noFill/>
          <a:ln/>
        </p:spPr>
        <p:txBody>
          <a:bodyPr wrap="square" lIns="0" tIns="0" rIns="0" bIns="0" rtlCol="0" anchor="t"/>
          <a:lstStyle/>
          <a:p>
            <a:pPr marL="0" indent="0" algn="ctr">
              <a:buNone/>
            </a:pPr>
            <a:r>
              <a:rPr lang="en-US" sz="1450" b="1" dirty="0">
                <a:solidFill>
                  <a:srgbClr val="1F2A5C"/>
                </a:solidFill>
                <a:latin typeface="Segoe UI" pitchFamily="34" charset="0"/>
                <a:ea typeface="Segoe UI" pitchFamily="34" charset="-122"/>
                <a:cs typeface="Segoe UI" pitchFamily="34" charset="-120"/>
              </a:rPr>
              <a:t>Catalogues de produits diffusés sur WhatsApp</a:t>
            </a:r>
            <a:endParaRPr lang="en-US" sz="1450" dirty="0"/>
          </a:p>
        </p:txBody>
      </p:sp>
      <p:sp>
        <p:nvSpPr>
          <p:cNvPr id="8" name="Text 5"/>
          <p:cNvSpPr txBox="1"/>
          <p:nvPr/>
        </p:nvSpPr>
        <p:spPr>
          <a:xfrm>
            <a:off x="1280160" y="5715000"/>
            <a:ext cx="3017520" cy="274320"/>
          </a:xfrm>
          <a:prstGeom prst="rect">
            <a:avLst/>
          </a:prstGeom>
          <a:noFill/>
          <a:ln/>
        </p:spPr>
        <p:txBody>
          <a:bodyPr wrap="square" lIns="0" tIns="0" rIns="0" bIns="0" rtlCol="0" anchor="t"/>
          <a:lstStyle/>
          <a:p>
            <a:pPr marL="0" indent="0" algn="ctr">
              <a:buNone/>
            </a:pPr>
            <a:r>
              <a:rPr lang="en-US" sz="1150" dirty="0">
                <a:solidFill>
                  <a:srgbClr val="5B6478"/>
                </a:solidFill>
                <a:latin typeface="Segoe UI" pitchFamily="34" charset="0"/>
                <a:ea typeface="Segoe UI" pitchFamily="34" charset="-122"/>
                <a:cs typeface="Segoe UI" pitchFamily="34" charset="-120"/>
              </a:rPr>
              <a:t>Annexe A</a:t>
            </a:r>
            <a:endParaRPr lang="en-US" sz="1150" dirty="0"/>
          </a:p>
        </p:txBody>
      </p:sp>
      <p:sp>
        <p:nvSpPr>
          <p:cNvPr id="9" name="Shape 6"/>
          <p:cNvSpPr/>
          <p:nvPr/>
        </p:nvSpPr>
        <p:spPr>
          <a:xfrm>
            <a:off x="4838548" y="1316736"/>
            <a:ext cx="2118665" cy="3675888"/>
          </a:xfrm>
          <a:prstGeom prst="rect">
            <a:avLst/>
          </a:prstGeom>
          <a:solidFill>
            <a:srgbClr val="FFFFFF"/>
          </a:solidFill>
          <a:ln w="9525">
            <a:solidFill>
              <a:srgbClr val="D5D9E2"/>
            </a:solidFill>
            <a:prstDash val="solid"/>
          </a:ln>
        </p:spPr>
      </p:sp>
      <p:pic>
        <p:nvPicPr>
          <p:cNvPr id="10" name="Image 1" descr="C:\Users\ALEX\AppData\Local\Temp\claude\C--laragon-www-facturation\62a43aad-6d46-45af-979c-6c158c66b0c3\scratchpad\ppt3\use\annexeB.jpg"/>
          <p:cNvPicPr>
            <a:picLocks noChangeAspect="1"/>
          </p:cNvPicPr>
          <p:nvPr/>
        </p:nvPicPr>
        <p:blipFill>
          <a:blip r:embed="rId5"/>
          <a:stretch>
            <a:fillRect/>
          </a:stretch>
        </p:blipFill>
        <p:spPr>
          <a:xfrm>
            <a:off x="4893412" y="1371600"/>
            <a:ext cx="2008937" cy="3566160"/>
          </a:xfrm>
          <a:prstGeom prst="rect">
            <a:avLst/>
          </a:prstGeom>
        </p:spPr>
      </p:pic>
      <p:sp>
        <p:nvSpPr>
          <p:cNvPr id="11" name="Text 7"/>
          <p:cNvSpPr txBox="1"/>
          <p:nvPr/>
        </p:nvSpPr>
        <p:spPr>
          <a:xfrm>
            <a:off x="4389120" y="5074920"/>
            <a:ext cx="3017520" cy="640080"/>
          </a:xfrm>
          <a:prstGeom prst="rect">
            <a:avLst/>
          </a:prstGeom>
          <a:noFill/>
          <a:ln/>
        </p:spPr>
        <p:txBody>
          <a:bodyPr wrap="square" lIns="0" tIns="0" rIns="0" bIns="0" rtlCol="0" anchor="t"/>
          <a:lstStyle/>
          <a:p>
            <a:pPr marL="0" indent="0" algn="ctr">
              <a:buNone/>
            </a:pPr>
            <a:r>
              <a:rPr lang="en-US" sz="1450" b="1" dirty="0">
                <a:solidFill>
                  <a:srgbClr val="1F2A5C"/>
                </a:solidFill>
                <a:latin typeface="Segoe UI" pitchFamily="34" charset="0"/>
                <a:ea typeface="Segoe UI" pitchFamily="34" charset="-122"/>
                <a:cs typeface="Segoe UI" pitchFamily="34" charset="-120"/>
              </a:rPr>
              <a:t>Produits à réapprovisionner notés dans un cahier</a:t>
            </a:r>
            <a:endParaRPr lang="en-US" sz="1450" dirty="0"/>
          </a:p>
        </p:txBody>
      </p:sp>
      <p:sp>
        <p:nvSpPr>
          <p:cNvPr id="12" name="Text 8"/>
          <p:cNvSpPr txBox="1"/>
          <p:nvPr/>
        </p:nvSpPr>
        <p:spPr>
          <a:xfrm>
            <a:off x="4389120" y="5715000"/>
            <a:ext cx="3017520" cy="274320"/>
          </a:xfrm>
          <a:prstGeom prst="rect">
            <a:avLst/>
          </a:prstGeom>
          <a:noFill/>
          <a:ln/>
        </p:spPr>
        <p:txBody>
          <a:bodyPr wrap="square" lIns="0" tIns="0" rIns="0" bIns="0" rtlCol="0" anchor="t"/>
          <a:lstStyle/>
          <a:p>
            <a:pPr marL="0" indent="0" algn="ctr">
              <a:buNone/>
            </a:pPr>
            <a:r>
              <a:rPr lang="en-US" sz="1150" dirty="0">
                <a:solidFill>
                  <a:srgbClr val="5B6478"/>
                </a:solidFill>
                <a:latin typeface="Segoe UI" pitchFamily="34" charset="0"/>
                <a:ea typeface="Segoe UI" pitchFamily="34" charset="-122"/>
                <a:cs typeface="Segoe UI" pitchFamily="34" charset="-120"/>
              </a:rPr>
              <a:t>Annexe B</a:t>
            </a:r>
            <a:endParaRPr lang="en-US" sz="1150" dirty="0"/>
          </a:p>
        </p:txBody>
      </p:sp>
      <p:sp>
        <p:nvSpPr>
          <p:cNvPr id="13" name="Shape 9"/>
          <p:cNvSpPr/>
          <p:nvPr/>
        </p:nvSpPr>
        <p:spPr>
          <a:xfrm>
            <a:off x="7863840" y="2011680"/>
            <a:ext cx="3657600" cy="2834640"/>
          </a:xfrm>
          <a:prstGeom prst="roundRect">
            <a:avLst>
              <a:gd name="adj" fmla="val 3871"/>
            </a:avLst>
          </a:prstGeom>
          <a:solidFill>
            <a:srgbClr val="1F2A5C"/>
          </a:solidFill>
          <a:ln/>
        </p:spPr>
      </p:sp>
      <p:sp>
        <p:nvSpPr>
          <p:cNvPr id="14" name="Text 10"/>
          <p:cNvSpPr txBox="1"/>
          <p:nvPr/>
        </p:nvSpPr>
        <p:spPr>
          <a:xfrm>
            <a:off x="8138160" y="2194560"/>
            <a:ext cx="3108960" cy="2468880"/>
          </a:xfrm>
          <a:prstGeom prst="rect">
            <a:avLst/>
          </a:prstGeom>
          <a:noFill/>
          <a:ln/>
        </p:spPr>
        <p:txBody>
          <a:bodyPr wrap="square" lIns="0" tIns="0" rIns="0" bIns="0" rtlCol="0" anchor="ctr"/>
          <a:lstStyle/>
          <a:p>
            <a:pPr marL="0" indent="0">
              <a:buNone/>
            </a:pPr>
            <a:r>
              <a:rPr lang="en-US" sz="1700" dirty="0">
                <a:solidFill>
                  <a:srgbClr val="FFFFFF"/>
                </a:solidFill>
                <a:latin typeface="Segoe UI" pitchFamily="34" charset="0"/>
                <a:ea typeface="Segoe UI" pitchFamily="34" charset="-122"/>
                <a:cs typeface="Segoe UI" pitchFamily="34" charset="-120"/>
              </a:rPr>
              <a:t>WhatsApp est le moyen privilégié pour la prise de contact et les échanges sur les produits, les prix et les quantités.</a:t>
            </a:r>
            <a:endParaRPr lang="en-US" sz="1700" dirty="0"/>
          </a:p>
        </p:txBody>
      </p:sp>
      <p:sp>
        <p:nvSpPr>
          <p:cNvPr id="15" name="Text 11"/>
          <p:cNvSpPr txBox="1"/>
          <p:nvPr/>
        </p:nvSpPr>
        <p:spPr>
          <a:xfrm>
            <a:off x="7863840" y="4983480"/>
            <a:ext cx="3657600" cy="274320"/>
          </a:xfrm>
          <a:prstGeom prst="rect">
            <a:avLst/>
          </a:prstGeom>
          <a:noFill/>
          <a:ln/>
        </p:spPr>
        <p:txBody>
          <a:bodyPr wrap="square" lIns="0" tIns="0" rIns="0" bIns="0" rtlCol="0" anchor="t"/>
          <a:lstStyle/>
          <a:p>
            <a:pPr marL="0" indent="0" algn="ctr">
              <a:buNone/>
            </a:pPr>
            <a:r>
              <a:rPr lang="en-US" sz="1150" dirty="0">
                <a:solidFill>
                  <a:srgbClr val="5B6478"/>
                </a:solidFill>
                <a:latin typeface="Segoe UI" pitchFamily="34" charset="0"/>
                <a:ea typeface="Segoe UI" pitchFamily="34" charset="-122"/>
                <a:cs typeface="Segoe UI" pitchFamily="34" charset="-120"/>
              </a:rPr>
              <a:t>Enquête, annexe C du mémoire</a:t>
            </a:r>
            <a:endParaRPr lang="en-US" sz="1150" dirty="0"/>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16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3.2 Critique de l'existant</a:t>
            </a:r>
            <a:endParaRPr lang="en-US" sz="3000" dirty="0"/>
          </a:p>
        </p:txBody>
      </p:sp>
      <p:pic>
        <p:nvPicPr>
          <p:cNvPr id="5" name="Image 0" descr="C:\Users\ALEX\AppData\Local\Temp\claude\C--laragon-www-facturation\62a43aad-6d46-45af-979c-6c158c66b0c3\scratchpad\ppt3\a4\ill_empty-inbox.png"/>
          <p:cNvPicPr>
            <a:picLocks noChangeAspect="1"/>
          </p:cNvPicPr>
          <p:nvPr/>
        </p:nvPicPr>
        <p:blipFill>
          <a:blip r:embed="rId4"/>
          <a:stretch>
            <a:fillRect/>
          </a:stretch>
        </p:blipFill>
        <p:spPr>
          <a:xfrm>
            <a:off x="4434840" y="2147344"/>
            <a:ext cx="3291840" cy="2471873"/>
          </a:xfrm>
          <a:prstGeom prst="rect">
            <a:avLst/>
          </a:prstGeom>
        </p:spPr>
      </p:pic>
      <p:sp>
        <p:nvSpPr>
          <p:cNvPr id="6" name="Text 3"/>
          <p:cNvSpPr txBox="1"/>
          <p:nvPr/>
        </p:nvSpPr>
        <p:spPr>
          <a:xfrm>
            <a:off x="731520" y="1417320"/>
            <a:ext cx="3657600" cy="36576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Côté boutique</a:t>
            </a:r>
            <a:endParaRPr lang="en-US" sz="1800" dirty="0"/>
          </a:p>
        </p:txBody>
      </p:sp>
      <p:sp>
        <p:nvSpPr>
          <p:cNvPr id="7" name="Shape 4"/>
          <p:cNvSpPr/>
          <p:nvPr/>
        </p:nvSpPr>
        <p:spPr>
          <a:xfrm>
            <a:off x="731520" y="1965960"/>
            <a:ext cx="384048" cy="384048"/>
          </a:xfrm>
          <a:prstGeom prst="roundRect">
            <a:avLst>
              <a:gd name="adj" fmla="val 19048"/>
            </a:avLst>
          </a:prstGeom>
          <a:solidFill>
            <a:srgbClr val="1F2A5C"/>
          </a:solidFill>
          <a:ln/>
        </p:spPr>
      </p:sp>
      <p:sp>
        <p:nvSpPr>
          <p:cNvPr id="8" name="Text 5"/>
          <p:cNvSpPr txBox="1"/>
          <p:nvPr/>
        </p:nvSpPr>
        <p:spPr>
          <a:xfrm>
            <a:off x="1280160" y="1892808"/>
            <a:ext cx="3017520" cy="82296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Suivi du stock difficile</a:t>
            </a:r>
            <a:endParaRPr lang="en-US" sz="1500" dirty="0"/>
          </a:p>
        </p:txBody>
      </p:sp>
      <p:sp>
        <p:nvSpPr>
          <p:cNvPr id="9" name="Shape 6"/>
          <p:cNvSpPr/>
          <p:nvPr/>
        </p:nvSpPr>
        <p:spPr>
          <a:xfrm>
            <a:off x="731520" y="2926080"/>
            <a:ext cx="384048" cy="384048"/>
          </a:xfrm>
          <a:prstGeom prst="roundRect">
            <a:avLst>
              <a:gd name="adj" fmla="val 19048"/>
            </a:avLst>
          </a:prstGeom>
          <a:solidFill>
            <a:srgbClr val="1F2A5C"/>
          </a:solidFill>
          <a:ln/>
        </p:spPr>
      </p:sp>
      <p:sp>
        <p:nvSpPr>
          <p:cNvPr id="10" name="Text 7"/>
          <p:cNvSpPr txBox="1"/>
          <p:nvPr/>
        </p:nvSpPr>
        <p:spPr>
          <a:xfrm>
            <a:off x="1280160" y="2852928"/>
            <a:ext cx="3017520" cy="82296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Inventaires longs : registre parcouru feuille par feuille</a:t>
            </a:r>
            <a:endParaRPr lang="en-US" sz="1500" dirty="0"/>
          </a:p>
        </p:txBody>
      </p:sp>
      <p:sp>
        <p:nvSpPr>
          <p:cNvPr id="11" name="Shape 8"/>
          <p:cNvSpPr/>
          <p:nvPr/>
        </p:nvSpPr>
        <p:spPr>
          <a:xfrm>
            <a:off x="731520" y="3886200"/>
            <a:ext cx="384048" cy="384048"/>
          </a:xfrm>
          <a:prstGeom prst="roundRect">
            <a:avLst>
              <a:gd name="adj" fmla="val 19048"/>
            </a:avLst>
          </a:prstGeom>
          <a:solidFill>
            <a:srgbClr val="1F2A5C"/>
          </a:solidFill>
          <a:ln/>
        </p:spPr>
      </p:sp>
      <p:sp>
        <p:nvSpPr>
          <p:cNvPr id="12" name="Text 9"/>
          <p:cNvSpPr txBox="1"/>
          <p:nvPr/>
        </p:nvSpPr>
        <p:spPr>
          <a:xfrm>
            <a:off x="1280160" y="3813048"/>
            <a:ext cx="3017520" cy="82296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Fidélisation des clients difficile</a:t>
            </a:r>
            <a:endParaRPr lang="en-US" sz="1500" dirty="0"/>
          </a:p>
        </p:txBody>
      </p:sp>
      <p:sp>
        <p:nvSpPr>
          <p:cNvPr id="13" name="Text 10"/>
          <p:cNvSpPr txBox="1"/>
          <p:nvPr/>
        </p:nvSpPr>
        <p:spPr>
          <a:xfrm>
            <a:off x="8001000" y="1417320"/>
            <a:ext cx="3657600" cy="365760"/>
          </a:xfrm>
          <a:prstGeom prst="rect">
            <a:avLst/>
          </a:prstGeom>
          <a:noFill/>
          <a:ln/>
        </p:spPr>
        <p:txBody>
          <a:bodyPr wrap="square" lIns="0" tIns="0" rIns="0" bIns="0" rtlCol="0" anchor="t"/>
          <a:lstStyle/>
          <a:p>
            <a:pPr marL="0" indent="0">
              <a:buNone/>
            </a:pPr>
            <a:r>
              <a:rPr lang="en-US" sz="1800" b="1" dirty="0">
                <a:solidFill>
                  <a:srgbClr val="A65F00"/>
                </a:solidFill>
                <a:latin typeface="Segoe UI" pitchFamily="34" charset="0"/>
                <a:ea typeface="Segoe UI" pitchFamily="34" charset="-122"/>
                <a:cs typeface="Segoe UI" pitchFamily="34" charset="-120"/>
              </a:rPr>
              <a:t>Côté B2B</a:t>
            </a:r>
            <a:endParaRPr lang="en-US" sz="1800" dirty="0"/>
          </a:p>
        </p:txBody>
      </p:sp>
      <p:sp>
        <p:nvSpPr>
          <p:cNvPr id="14" name="Shape 11"/>
          <p:cNvSpPr/>
          <p:nvPr/>
        </p:nvSpPr>
        <p:spPr>
          <a:xfrm>
            <a:off x="8001000" y="1965960"/>
            <a:ext cx="384048" cy="384048"/>
          </a:xfrm>
          <a:prstGeom prst="roundRect">
            <a:avLst>
              <a:gd name="adj" fmla="val 19048"/>
            </a:avLst>
          </a:prstGeom>
          <a:solidFill>
            <a:srgbClr val="F2A93B"/>
          </a:solidFill>
          <a:ln/>
        </p:spPr>
      </p:sp>
      <p:sp>
        <p:nvSpPr>
          <p:cNvPr id="15" name="Text 12"/>
          <p:cNvSpPr txBox="1"/>
          <p:nvPr/>
        </p:nvSpPr>
        <p:spPr>
          <a:xfrm>
            <a:off x="8549640" y="1911096"/>
            <a:ext cx="3063240" cy="73152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Offres à dénicher dans les annonces</a:t>
            </a:r>
            <a:endParaRPr lang="en-US" sz="1500" dirty="0"/>
          </a:p>
        </p:txBody>
      </p:sp>
      <p:sp>
        <p:nvSpPr>
          <p:cNvPr id="16" name="Shape 13"/>
          <p:cNvSpPr/>
          <p:nvPr/>
        </p:nvSpPr>
        <p:spPr>
          <a:xfrm>
            <a:off x="8001000" y="2752344"/>
            <a:ext cx="384048" cy="384048"/>
          </a:xfrm>
          <a:prstGeom prst="roundRect">
            <a:avLst>
              <a:gd name="adj" fmla="val 19048"/>
            </a:avLst>
          </a:prstGeom>
          <a:solidFill>
            <a:srgbClr val="F2A93B"/>
          </a:solidFill>
          <a:ln/>
        </p:spPr>
      </p:sp>
      <p:sp>
        <p:nvSpPr>
          <p:cNvPr id="17" name="Text 14"/>
          <p:cNvSpPr txBox="1"/>
          <p:nvPr/>
        </p:nvSpPr>
        <p:spPr>
          <a:xfrm>
            <a:off x="8549640" y="2697480"/>
            <a:ext cx="3063240" cy="73152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Recherche de partenaire coûteuse</a:t>
            </a:r>
            <a:endParaRPr lang="en-US" sz="1500" dirty="0"/>
          </a:p>
        </p:txBody>
      </p:sp>
      <p:sp>
        <p:nvSpPr>
          <p:cNvPr id="18" name="Shape 15"/>
          <p:cNvSpPr/>
          <p:nvPr/>
        </p:nvSpPr>
        <p:spPr>
          <a:xfrm>
            <a:off x="8001000" y="3538728"/>
            <a:ext cx="384048" cy="384048"/>
          </a:xfrm>
          <a:prstGeom prst="roundRect">
            <a:avLst>
              <a:gd name="adj" fmla="val 19048"/>
            </a:avLst>
          </a:prstGeom>
          <a:solidFill>
            <a:srgbClr val="F2A93B"/>
          </a:solidFill>
          <a:ln/>
        </p:spPr>
      </p:sp>
      <p:sp>
        <p:nvSpPr>
          <p:cNvPr id="19" name="Text 16"/>
          <p:cNvSpPr txBox="1"/>
          <p:nvPr/>
        </p:nvSpPr>
        <p:spPr>
          <a:xfrm>
            <a:off x="8549640" y="3483864"/>
            <a:ext cx="3063240" cy="73152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Offres difficiles à comparer</a:t>
            </a:r>
            <a:endParaRPr lang="en-US" sz="1500" dirty="0"/>
          </a:p>
        </p:txBody>
      </p:sp>
      <p:sp>
        <p:nvSpPr>
          <p:cNvPr id="20" name="Shape 17"/>
          <p:cNvSpPr/>
          <p:nvPr/>
        </p:nvSpPr>
        <p:spPr>
          <a:xfrm>
            <a:off x="8001000" y="4325112"/>
            <a:ext cx="384048" cy="384048"/>
          </a:xfrm>
          <a:prstGeom prst="roundRect">
            <a:avLst>
              <a:gd name="adj" fmla="val 19048"/>
            </a:avLst>
          </a:prstGeom>
          <a:solidFill>
            <a:srgbClr val="F2A93B"/>
          </a:solidFill>
          <a:ln/>
        </p:spPr>
      </p:sp>
      <p:sp>
        <p:nvSpPr>
          <p:cNvPr id="21" name="Text 18"/>
          <p:cNvSpPr txBox="1"/>
          <p:nvPr/>
        </p:nvSpPr>
        <p:spPr>
          <a:xfrm>
            <a:off x="8549640" y="4270248"/>
            <a:ext cx="3063240" cy="73152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Négociation bloquée si l'interlocuteur ne répond pas</a:t>
            </a:r>
            <a:endParaRPr lang="en-US" sz="1500" dirty="0"/>
          </a:p>
        </p:txBody>
      </p:sp>
      <p:sp>
        <p:nvSpPr>
          <p:cNvPr id="22" name="Shape 19"/>
          <p:cNvSpPr/>
          <p:nvPr/>
        </p:nvSpPr>
        <p:spPr>
          <a:xfrm>
            <a:off x="8001000" y="5111496"/>
            <a:ext cx="384048" cy="384048"/>
          </a:xfrm>
          <a:prstGeom prst="roundRect">
            <a:avLst>
              <a:gd name="adj" fmla="val 19048"/>
            </a:avLst>
          </a:prstGeom>
          <a:solidFill>
            <a:srgbClr val="F2A93B"/>
          </a:solidFill>
          <a:ln/>
        </p:spPr>
      </p:sp>
      <p:sp>
        <p:nvSpPr>
          <p:cNvPr id="23" name="Text 20"/>
          <p:cNvSpPr txBox="1"/>
          <p:nvPr/>
        </p:nvSpPr>
        <p:spPr>
          <a:xfrm>
            <a:off x="8549640" y="5056632"/>
            <a:ext cx="3063240" cy="731520"/>
          </a:xfrm>
          <a:prstGeom prst="rect">
            <a:avLst/>
          </a:prstGeom>
          <a:noFill/>
          <a:ln/>
        </p:spPr>
        <p:txBody>
          <a:bodyPr wrap="square" lIns="0" tIns="0" rIns="0" bIns="0" rtlCol="0" anchor="t"/>
          <a:lstStyle/>
          <a:p>
            <a:pPr marL="0" indent="0">
              <a:buNone/>
            </a:pPr>
            <a:r>
              <a:rPr lang="en-US" sz="1500" dirty="0">
                <a:solidFill>
                  <a:srgbClr val="1F2A44"/>
                </a:solidFill>
                <a:latin typeface="Segoe UI" pitchFamily="34" charset="0"/>
                <a:ea typeface="Segoe UI" pitchFamily="34" charset="-122"/>
                <a:cs typeface="Segoe UI" pitchFamily="34" charset="-120"/>
              </a:rPr>
              <a:t>Surfacturation en cas d'urgence</a:t>
            </a:r>
            <a:endParaRPr lang="en-US" sz="1500" dirty="0"/>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17 »</a:t>
            </a:r>
            <a:endParaRPr lang="en-US" sz="1100" dirty="0"/>
          </a:p>
        </p:txBody>
      </p:sp>
      <p:pic>
        <p:nvPicPr>
          <p:cNvPr id="4" name="Image 0" descr="C:\Users\ALEX\AppData\Local\Temp\claude\C--laragon-www-facturation\62a43aad-6d46-45af-979c-6c158c66b0c3\scratchpad\ppt3\a4\ill_banner-network.png"/>
          <p:cNvPicPr>
            <a:picLocks noChangeAspect="1"/>
          </p:cNvPicPr>
          <p:nvPr/>
        </p:nvPicPr>
        <p:blipFill>
          <a:blip r:embed="rId4"/>
          <a:stretch>
            <a:fillRect/>
          </a:stretch>
        </p:blipFill>
        <p:spPr>
          <a:xfrm>
            <a:off x="640080" y="570419"/>
            <a:ext cx="4754880" cy="2973961"/>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04</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Proposition</a:t>
            </a:r>
            <a:endParaRPr lang="en-US" sz="3800" dirty="0"/>
          </a:p>
          <a:p>
            <a:pPr marL="0" indent="0" algn="r">
              <a:buNone/>
            </a:pPr>
            <a:r>
              <a:rPr lang="en-US" sz="3800" dirty="0">
                <a:solidFill>
                  <a:srgbClr val="FFFFFF"/>
                </a:solidFill>
                <a:latin typeface="Segoe UI" pitchFamily="34" charset="0"/>
                <a:ea typeface="Segoe UI" pitchFamily="34" charset="-122"/>
                <a:cs typeface="Segoe UI" pitchFamily="34" charset="-120"/>
              </a:rPr>
              <a:t>de la solution</a:t>
            </a:r>
            <a:endParaRPr lang="en-US" sz="3800" dirty="0"/>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18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Proposition de la solution</a:t>
            </a:r>
            <a:endParaRPr lang="en-US" sz="3000" dirty="0"/>
          </a:p>
        </p:txBody>
      </p:sp>
      <p:sp>
        <p:nvSpPr>
          <p:cNvPr id="5" name="Text 3"/>
          <p:cNvSpPr txBox="1"/>
          <p:nvPr/>
        </p:nvSpPr>
        <p:spPr>
          <a:xfrm>
            <a:off x="731520" y="1325880"/>
            <a:ext cx="7589520" cy="914400"/>
          </a:xfrm>
          <a:prstGeom prst="rect">
            <a:avLst/>
          </a:prstGeom>
          <a:noFill/>
          <a:ln/>
        </p:spPr>
        <p:txBody>
          <a:bodyPr wrap="square" lIns="0" tIns="0" rIns="0" bIns="0" rtlCol="0" anchor="t"/>
          <a:lstStyle/>
          <a:p>
            <a:pPr marL="0" indent="0">
              <a:buNone/>
            </a:pPr>
            <a:r>
              <a:rPr lang="en-US" sz="1700" dirty="0">
                <a:solidFill>
                  <a:srgbClr val="1F2A44"/>
                </a:solidFill>
                <a:latin typeface="Segoe UI" pitchFamily="34" charset="0"/>
                <a:ea typeface="Segoe UI" pitchFamily="34" charset="-122"/>
                <a:cs typeface="Segoe UI" pitchFamily="34" charset="-120"/>
              </a:rPr>
              <a:t>FactuPro : une application de gestion commerciale qui intègre la gestion des boutiques et les échanges interentreprises (B2B).</a:t>
            </a:r>
            <a:endParaRPr lang="en-US" sz="1700" dirty="0"/>
          </a:p>
        </p:txBody>
      </p:sp>
      <p:sp>
        <p:nvSpPr>
          <p:cNvPr id="6" name="Shape 4"/>
          <p:cNvSpPr/>
          <p:nvPr/>
        </p:nvSpPr>
        <p:spPr>
          <a:xfrm>
            <a:off x="731520" y="2743200"/>
            <a:ext cx="2331720" cy="1234440"/>
          </a:xfrm>
          <a:prstGeom prst="roundRect">
            <a:avLst>
              <a:gd name="adj" fmla="val 8889"/>
            </a:avLst>
          </a:prstGeom>
          <a:solidFill>
            <a:srgbClr val="1F2A5C"/>
          </a:solidFill>
          <a:ln/>
        </p:spPr>
      </p:sp>
      <p:sp>
        <p:nvSpPr>
          <p:cNvPr id="7" name="Text 5"/>
          <p:cNvSpPr txBox="1"/>
          <p:nvPr/>
        </p:nvSpPr>
        <p:spPr>
          <a:xfrm>
            <a:off x="868680" y="2743200"/>
            <a:ext cx="2057400" cy="123444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Gestion de la boutique</a:t>
            </a:r>
            <a:endParaRPr lang="en-US" sz="1700" dirty="0"/>
          </a:p>
        </p:txBody>
      </p:sp>
      <p:sp>
        <p:nvSpPr>
          <p:cNvPr id="8" name="Text 6"/>
          <p:cNvSpPr txBox="1"/>
          <p:nvPr/>
        </p:nvSpPr>
        <p:spPr>
          <a:xfrm>
            <a:off x="3063240" y="2743200"/>
            <a:ext cx="457200" cy="1234440"/>
          </a:xfrm>
          <a:prstGeom prst="rect">
            <a:avLst/>
          </a:prstGeom>
          <a:noFill/>
          <a:ln/>
        </p:spPr>
        <p:txBody>
          <a:bodyPr wrap="square" lIns="0" tIns="0" rIns="0" bIns="0" rtlCol="0" anchor="ctr"/>
          <a:lstStyle/>
          <a:p>
            <a:pPr marL="0" indent="0" algn="ctr">
              <a:buNone/>
            </a:pPr>
            <a:r>
              <a:rPr lang="en-US" sz="3200" b="1" dirty="0">
                <a:solidFill>
                  <a:srgbClr val="1F2A5C"/>
                </a:solidFill>
                <a:latin typeface="Segoe UI" pitchFamily="34" charset="0"/>
                <a:ea typeface="Segoe UI" pitchFamily="34" charset="-122"/>
                <a:cs typeface="Segoe UI" pitchFamily="34" charset="-120"/>
              </a:rPr>
              <a:t>+</a:t>
            </a:r>
            <a:endParaRPr lang="en-US" sz="3200" dirty="0"/>
          </a:p>
        </p:txBody>
      </p:sp>
      <p:sp>
        <p:nvSpPr>
          <p:cNvPr id="9" name="Shape 7"/>
          <p:cNvSpPr/>
          <p:nvPr/>
        </p:nvSpPr>
        <p:spPr>
          <a:xfrm>
            <a:off x="3520440" y="2743200"/>
            <a:ext cx="2331720" cy="1234440"/>
          </a:xfrm>
          <a:prstGeom prst="roundRect">
            <a:avLst>
              <a:gd name="adj" fmla="val 8889"/>
            </a:avLst>
          </a:prstGeom>
          <a:solidFill>
            <a:srgbClr val="1F2A5C"/>
          </a:solidFill>
          <a:ln/>
        </p:spPr>
      </p:sp>
      <p:sp>
        <p:nvSpPr>
          <p:cNvPr id="10" name="Text 8"/>
          <p:cNvSpPr txBox="1"/>
          <p:nvPr/>
        </p:nvSpPr>
        <p:spPr>
          <a:xfrm>
            <a:off x="3657600" y="2743200"/>
            <a:ext cx="2057400" cy="1234440"/>
          </a:xfrm>
          <a:prstGeom prst="rect">
            <a:avLst/>
          </a:prstGeom>
          <a:noFill/>
          <a:ln/>
        </p:spPr>
        <p:txBody>
          <a:bodyPr wrap="square" lIns="0" tIns="0" rIns="0" bIns="0" rtlCol="0" anchor="ctr"/>
          <a:lstStyle/>
          <a:p>
            <a:pPr marL="0" indent="0" algn="ctr">
              <a:buNone/>
            </a:pPr>
            <a:r>
              <a:rPr lang="en-US" sz="1700" b="1" dirty="0">
                <a:solidFill>
                  <a:srgbClr val="FFFFFF"/>
                </a:solidFill>
                <a:latin typeface="Segoe UI" pitchFamily="34" charset="0"/>
                <a:ea typeface="Segoe UI" pitchFamily="34" charset="-122"/>
                <a:cs typeface="Segoe UI" pitchFamily="34" charset="-120"/>
              </a:rPr>
              <a:t>Approvisionnement</a:t>
            </a:r>
            <a:endParaRPr lang="en-US" sz="1700" dirty="0"/>
          </a:p>
        </p:txBody>
      </p:sp>
      <p:sp>
        <p:nvSpPr>
          <p:cNvPr id="11" name="Text 9"/>
          <p:cNvSpPr txBox="1"/>
          <p:nvPr/>
        </p:nvSpPr>
        <p:spPr>
          <a:xfrm>
            <a:off x="5852160" y="2743200"/>
            <a:ext cx="457200" cy="1234440"/>
          </a:xfrm>
          <a:prstGeom prst="rect">
            <a:avLst/>
          </a:prstGeom>
          <a:noFill/>
          <a:ln/>
        </p:spPr>
        <p:txBody>
          <a:bodyPr wrap="square" lIns="0" tIns="0" rIns="0" bIns="0" rtlCol="0" anchor="ctr"/>
          <a:lstStyle/>
          <a:p>
            <a:pPr marL="0" indent="0" algn="ctr">
              <a:buNone/>
            </a:pPr>
            <a:r>
              <a:rPr lang="en-US" sz="3200" b="1" dirty="0">
                <a:solidFill>
                  <a:srgbClr val="1F2A5C"/>
                </a:solidFill>
                <a:latin typeface="Segoe UI" pitchFamily="34" charset="0"/>
                <a:ea typeface="Segoe UI" pitchFamily="34" charset="-122"/>
                <a:cs typeface="Segoe UI" pitchFamily="34" charset="-120"/>
              </a:rPr>
              <a:t>+</a:t>
            </a:r>
            <a:endParaRPr lang="en-US" sz="3200" dirty="0"/>
          </a:p>
        </p:txBody>
      </p:sp>
      <p:sp>
        <p:nvSpPr>
          <p:cNvPr id="12" name="Shape 10"/>
          <p:cNvSpPr/>
          <p:nvPr/>
        </p:nvSpPr>
        <p:spPr>
          <a:xfrm>
            <a:off x="6309360" y="2743200"/>
            <a:ext cx="2331720" cy="1234440"/>
          </a:xfrm>
          <a:prstGeom prst="roundRect">
            <a:avLst>
              <a:gd name="adj" fmla="val 8889"/>
            </a:avLst>
          </a:prstGeom>
          <a:solidFill>
            <a:srgbClr val="F2A93B"/>
          </a:solidFill>
          <a:ln/>
        </p:spPr>
      </p:sp>
      <p:sp>
        <p:nvSpPr>
          <p:cNvPr id="13" name="Text 11"/>
          <p:cNvSpPr txBox="1"/>
          <p:nvPr/>
        </p:nvSpPr>
        <p:spPr>
          <a:xfrm>
            <a:off x="6446520" y="2743200"/>
            <a:ext cx="2057400" cy="1234440"/>
          </a:xfrm>
          <a:prstGeom prst="rect">
            <a:avLst/>
          </a:prstGeom>
          <a:noFill/>
          <a:ln/>
        </p:spPr>
        <p:txBody>
          <a:bodyPr wrap="square" lIns="0" tIns="0" rIns="0" bIns="0" rtlCol="0" anchor="ctr"/>
          <a:lstStyle/>
          <a:p>
            <a:pPr marL="0" indent="0" algn="ctr">
              <a:buNone/>
            </a:pPr>
            <a:r>
              <a:rPr lang="en-US" sz="1700" b="1" dirty="0">
                <a:solidFill>
                  <a:srgbClr val="1F2A5C"/>
                </a:solidFill>
                <a:latin typeface="Segoe UI" pitchFamily="34" charset="0"/>
                <a:ea typeface="Segoe UI" pitchFamily="34" charset="-122"/>
                <a:cs typeface="Segoe UI" pitchFamily="34" charset="-120"/>
              </a:rPr>
              <a:t>Échanges entre entreprises</a:t>
            </a:r>
            <a:endParaRPr lang="en-US" sz="1700" dirty="0"/>
          </a:p>
        </p:txBody>
      </p:sp>
      <p:sp>
        <p:nvSpPr>
          <p:cNvPr id="14" name="Text 12"/>
          <p:cNvSpPr txBox="1"/>
          <p:nvPr/>
        </p:nvSpPr>
        <p:spPr>
          <a:xfrm>
            <a:off x="8641080" y="2743200"/>
            <a:ext cx="457200" cy="1234440"/>
          </a:xfrm>
          <a:prstGeom prst="rect">
            <a:avLst/>
          </a:prstGeom>
          <a:noFill/>
          <a:ln/>
        </p:spPr>
        <p:txBody>
          <a:bodyPr wrap="square" lIns="0" tIns="0" rIns="0" bIns="0" rtlCol="0" anchor="ctr"/>
          <a:lstStyle/>
          <a:p>
            <a:pPr marL="0" indent="0" algn="ctr">
              <a:buNone/>
            </a:pPr>
            <a:r>
              <a:rPr lang="en-US" sz="3200" b="1" dirty="0">
                <a:solidFill>
                  <a:srgbClr val="1F2A5C"/>
                </a:solidFill>
                <a:latin typeface="Segoe UI" pitchFamily="34" charset="0"/>
                <a:ea typeface="Segoe UI" pitchFamily="34" charset="-122"/>
                <a:cs typeface="Segoe UI" pitchFamily="34" charset="-120"/>
              </a:rPr>
              <a:t>=</a:t>
            </a:r>
            <a:endParaRPr lang="en-US" sz="3200" dirty="0"/>
          </a:p>
        </p:txBody>
      </p:sp>
      <p:sp>
        <p:nvSpPr>
          <p:cNvPr id="15" name="Shape 13"/>
          <p:cNvSpPr/>
          <p:nvPr/>
        </p:nvSpPr>
        <p:spPr>
          <a:xfrm>
            <a:off x="9098280" y="2743200"/>
            <a:ext cx="2359152" cy="1234440"/>
          </a:xfrm>
          <a:prstGeom prst="roundRect">
            <a:avLst>
              <a:gd name="adj" fmla="val 8889"/>
            </a:avLst>
          </a:prstGeom>
          <a:solidFill>
            <a:srgbClr val="FFFFFF"/>
          </a:solidFill>
          <a:ln w="38100">
            <a:solidFill>
              <a:srgbClr val="F2A93B"/>
            </a:solidFill>
            <a:prstDash val="solid"/>
          </a:ln>
        </p:spPr>
      </p:sp>
      <p:sp>
        <p:nvSpPr>
          <p:cNvPr id="16" name="Text 14"/>
          <p:cNvSpPr txBox="1"/>
          <p:nvPr/>
        </p:nvSpPr>
        <p:spPr>
          <a:xfrm>
            <a:off x="9098280" y="2743200"/>
            <a:ext cx="2359152" cy="1234440"/>
          </a:xfrm>
          <a:prstGeom prst="rect">
            <a:avLst/>
          </a:prstGeom>
          <a:noFill/>
          <a:ln/>
        </p:spPr>
        <p:txBody>
          <a:bodyPr wrap="square" lIns="0" tIns="0" rIns="0" bIns="0" rtlCol="0" anchor="ctr"/>
          <a:lstStyle/>
          <a:p>
            <a:pPr marL="0" indent="0" algn="ctr">
              <a:buNone/>
            </a:pPr>
            <a:r>
              <a:rPr lang="en-US" sz="2800" b="1" dirty="0">
                <a:solidFill>
                  <a:srgbClr val="1F2A5C"/>
                </a:solidFill>
                <a:latin typeface="Segoe UI" pitchFamily="34" charset="0"/>
                <a:ea typeface="Segoe UI" pitchFamily="34" charset="-122"/>
                <a:cs typeface="Segoe UI" pitchFamily="34" charset="-120"/>
              </a:rPr>
              <a:t>FactuPro</a:t>
            </a:r>
            <a:endParaRPr lang="en-US" sz="2800" dirty="0"/>
          </a:p>
        </p:txBody>
      </p:sp>
      <p:sp>
        <p:nvSpPr>
          <p:cNvPr id="17" name="Text 15"/>
          <p:cNvSpPr txBox="1"/>
          <p:nvPr/>
        </p:nvSpPr>
        <p:spPr>
          <a:xfrm>
            <a:off x="731520" y="4572000"/>
            <a:ext cx="10789920" cy="548640"/>
          </a:xfrm>
          <a:prstGeom prst="rect">
            <a:avLst/>
          </a:prstGeom>
          <a:noFill/>
          <a:ln/>
        </p:spPr>
        <p:txBody>
          <a:bodyPr wrap="square" lIns="0" tIns="0" rIns="0" bIns="0" rtlCol="0" anchor="t"/>
          <a:lstStyle/>
          <a:p>
            <a:pPr marL="0" indent="0" algn="ctr">
              <a:buNone/>
            </a:pPr>
            <a:r>
              <a:rPr lang="en-US" sz="2100" b="1" dirty="0">
                <a:solidFill>
                  <a:srgbClr val="1F2A5C"/>
                </a:solidFill>
                <a:latin typeface="Segoe UI" pitchFamily="34" charset="0"/>
                <a:ea typeface="Segoe UI" pitchFamily="34" charset="-122"/>
                <a:cs typeface="Segoe UI" pitchFamily="34" charset="-120"/>
              </a:rPr>
              <a:t>Une seule application pour gérer son activité commerciale et faciliter les échanges B2B.</a:t>
            </a:r>
            <a:endParaRPr lang="en-US" sz="2100" dirty="0"/>
          </a:p>
        </p:txBody>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19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Les fonctionnalités</a:t>
            </a:r>
            <a:endParaRPr lang="en-US" sz="3000" dirty="0"/>
          </a:p>
        </p:txBody>
      </p:sp>
      <p:sp>
        <p:nvSpPr>
          <p:cNvPr id="5" name="Shape 3"/>
          <p:cNvSpPr/>
          <p:nvPr/>
        </p:nvSpPr>
        <p:spPr>
          <a:xfrm>
            <a:off x="731520" y="1508760"/>
            <a:ext cx="640080" cy="621792"/>
          </a:xfrm>
          <a:prstGeom prst="roundRect">
            <a:avLst>
              <a:gd name="adj" fmla="val 14706"/>
            </a:avLst>
          </a:prstGeom>
          <a:solidFill>
            <a:srgbClr val="F2A93B"/>
          </a:solidFill>
          <a:ln/>
        </p:spPr>
      </p:sp>
      <p:sp>
        <p:nvSpPr>
          <p:cNvPr id="6" name="Text 4"/>
          <p:cNvSpPr txBox="1"/>
          <p:nvPr/>
        </p:nvSpPr>
        <p:spPr>
          <a:xfrm>
            <a:off x="731520" y="150876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txBox="1"/>
          <p:nvPr/>
        </p:nvSpPr>
        <p:spPr>
          <a:xfrm>
            <a:off x="1600200" y="1463040"/>
            <a:ext cx="4480560" cy="411480"/>
          </a:xfrm>
          <a:prstGeom prst="rect">
            <a:avLst/>
          </a:prstGeom>
          <a:noFill/>
          <a:ln/>
        </p:spPr>
        <p:txBody>
          <a:bodyPr wrap="square" lIns="0" tIns="0" rIns="0" bIns="0" rtlCol="0" anchor="t"/>
          <a:lstStyle/>
          <a:p>
            <a:pPr marL="0" indent="0">
              <a:buNone/>
            </a:pPr>
            <a:r>
              <a:rPr lang="en-US" sz="1750" b="1" dirty="0">
                <a:solidFill>
                  <a:srgbClr val="1F2A5C"/>
                </a:solidFill>
                <a:latin typeface="Segoe UI" pitchFamily="34" charset="0"/>
                <a:ea typeface="Segoe UI" pitchFamily="34" charset="-122"/>
                <a:cs typeface="Segoe UI" pitchFamily="34" charset="-120"/>
              </a:rPr>
              <a:t>Centraliser les informations commerciales</a:t>
            </a:r>
            <a:endParaRPr lang="en-US" sz="1750" dirty="0"/>
          </a:p>
        </p:txBody>
      </p:sp>
      <p:sp>
        <p:nvSpPr>
          <p:cNvPr id="8" name="Text 6"/>
          <p:cNvSpPr txBox="1"/>
          <p:nvPr/>
        </p:nvSpPr>
        <p:spPr>
          <a:xfrm>
            <a:off x="1600200" y="192024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Un espace privé et sécurisé pour chaque entreprise</a:t>
            </a:r>
            <a:endParaRPr lang="en-US" sz="1450" dirty="0"/>
          </a:p>
        </p:txBody>
      </p:sp>
      <p:sp>
        <p:nvSpPr>
          <p:cNvPr id="9" name="Shape 7"/>
          <p:cNvSpPr/>
          <p:nvPr/>
        </p:nvSpPr>
        <p:spPr>
          <a:xfrm>
            <a:off x="731520" y="2971800"/>
            <a:ext cx="640080" cy="621792"/>
          </a:xfrm>
          <a:prstGeom prst="roundRect">
            <a:avLst>
              <a:gd name="adj" fmla="val 14706"/>
            </a:avLst>
          </a:prstGeom>
          <a:solidFill>
            <a:srgbClr val="F2A93B"/>
          </a:solidFill>
          <a:ln/>
        </p:spPr>
      </p:sp>
      <p:sp>
        <p:nvSpPr>
          <p:cNvPr id="10" name="Text 8"/>
          <p:cNvSpPr txBox="1"/>
          <p:nvPr/>
        </p:nvSpPr>
        <p:spPr>
          <a:xfrm>
            <a:off x="731520" y="297180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txBox="1"/>
          <p:nvPr/>
        </p:nvSpPr>
        <p:spPr>
          <a:xfrm>
            <a:off x="1600200" y="2926080"/>
            <a:ext cx="4480560" cy="411480"/>
          </a:xfrm>
          <a:prstGeom prst="rect">
            <a:avLst/>
          </a:prstGeom>
          <a:noFill/>
          <a:ln/>
        </p:spPr>
        <p:txBody>
          <a:bodyPr wrap="square" lIns="0" tIns="0" rIns="0" bIns="0" rtlCol="0" anchor="t"/>
          <a:lstStyle/>
          <a:p>
            <a:pPr marL="0" indent="0">
              <a:buNone/>
            </a:pPr>
            <a:r>
              <a:rPr lang="en-US" sz="1750" b="1" dirty="0">
                <a:solidFill>
                  <a:srgbClr val="1F2A5C"/>
                </a:solidFill>
                <a:latin typeface="Segoe UI" pitchFamily="34" charset="0"/>
                <a:ea typeface="Segoe UI" pitchFamily="34" charset="-122"/>
                <a:cs typeface="Segoe UI" pitchFamily="34" charset="-120"/>
              </a:rPr>
              <a:t>Gérer les produits et les stocks</a:t>
            </a:r>
            <a:endParaRPr lang="en-US" sz="1750" dirty="0"/>
          </a:p>
        </p:txBody>
      </p:sp>
      <p:sp>
        <p:nvSpPr>
          <p:cNvPr id="12" name="Text 10"/>
          <p:cNvSpPr txBox="1"/>
          <p:nvPr/>
        </p:nvSpPr>
        <p:spPr>
          <a:xfrm>
            <a:off x="1600200" y="338328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Ajout, modification, quantités et état des stocks</a:t>
            </a:r>
            <a:endParaRPr lang="en-US" sz="1450" dirty="0"/>
          </a:p>
        </p:txBody>
      </p:sp>
      <p:sp>
        <p:nvSpPr>
          <p:cNvPr id="13" name="Shape 11"/>
          <p:cNvSpPr/>
          <p:nvPr/>
        </p:nvSpPr>
        <p:spPr>
          <a:xfrm>
            <a:off x="731520" y="4434840"/>
            <a:ext cx="640080" cy="621792"/>
          </a:xfrm>
          <a:prstGeom prst="roundRect">
            <a:avLst>
              <a:gd name="adj" fmla="val 14706"/>
            </a:avLst>
          </a:prstGeom>
          <a:solidFill>
            <a:srgbClr val="F2A93B"/>
          </a:solidFill>
          <a:ln/>
        </p:spPr>
      </p:sp>
      <p:sp>
        <p:nvSpPr>
          <p:cNvPr id="14" name="Text 12"/>
          <p:cNvSpPr txBox="1"/>
          <p:nvPr/>
        </p:nvSpPr>
        <p:spPr>
          <a:xfrm>
            <a:off x="731520" y="443484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Text 13"/>
          <p:cNvSpPr txBox="1"/>
          <p:nvPr/>
        </p:nvSpPr>
        <p:spPr>
          <a:xfrm>
            <a:off x="1600200" y="4389120"/>
            <a:ext cx="4480560" cy="411480"/>
          </a:xfrm>
          <a:prstGeom prst="rect">
            <a:avLst/>
          </a:prstGeom>
          <a:noFill/>
          <a:ln/>
        </p:spPr>
        <p:txBody>
          <a:bodyPr wrap="square" lIns="0" tIns="0" rIns="0" bIns="0" rtlCol="0" anchor="t"/>
          <a:lstStyle/>
          <a:p>
            <a:pPr marL="0" indent="0">
              <a:buNone/>
            </a:pPr>
            <a:r>
              <a:rPr lang="en-US" sz="1750" b="1" dirty="0">
                <a:solidFill>
                  <a:srgbClr val="1F2A5C"/>
                </a:solidFill>
                <a:latin typeface="Segoe UI" pitchFamily="34" charset="0"/>
                <a:ea typeface="Segoe UI" pitchFamily="34" charset="-122"/>
                <a:cs typeface="Segoe UI" pitchFamily="34" charset="-120"/>
              </a:rPr>
              <a:t>Réaliser et suivre les ventes</a:t>
            </a:r>
            <a:endParaRPr lang="en-US" sz="1750" dirty="0"/>
          </a:p>
        </p:txBody>
      </p:sp>
      <p:sp>
        <p:nvSpPr>
          <p:cNvPr id="16" name="Text 14"/>
          <p:cNvSpPr txBox="1"/>
          <p:nvPr/>
        </p:nvSpPr>
        <p:spPr>
          <a:xfrm>
            <a:off x="1600200" y="484632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Montant calculé automatiquement, historique</a:t>
            </a:r>
            <a:endParaRPr lang="en-US" sz="1450" dirty="0"/>
          </a:p>
        </p:txBody>
      </p:sp>
      <p:sp>
        <p:nvSpPr>
          <p:cNvPr id="17" name="Shape 15"/>
          <p:cNvSpPr/>
          <p:nvPr/>
        </p:nvSpPr>
        <p:spPr>
          <a:xfrm>
            <a:off x="6309360" y="1508760"/>
            <a:ext cx="640080" cy="621792"/>
          </a:xfrm>
          <a:prstGeom prst="roundRect">
            <a:avLst>
              <a:gd name="adj" fmla="val 14706"/>
            </a:avLst>
          </a:prstGeom>
          <a:solidFill>
            <a:srgbClr val="F2A93B"/>
          </a:solidFill>
          <a:ln/>
        </p:spPr>
      </p:sp>
      <p:sp>
        <p:nvSpPr>
          <p:cNvPr id="18" name="Text 16"/>
          <p:cNvSpPr txBox="1"/>
          <p:nvPr/>
        </p:nvSpPr>
        <p:spPr>
          <a:xfrm>
            <a:off x="6309360" y="150876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Text 17"/>
          <p:cNvSpPr txBox="1"/>
          <p:nvPr/>
        </p:nvSpPr>
        <p:spPr>
          <a:xfrm>
            <a:off x="7178040" y="1463040"/>
            <a:ext cx="4480560" cy="411480"/>
          </a:xfrm>
          <a:prstGeom prst="rect">
            <a:avLst/>
          </a:prstGeom>
          <a:noFill/>
          <a:ln/>
        </p:spPr>
        <p:txBody>
          <a:bodyPr wrap="square" lIns="0" tIns="0" rIns="0" bIns="0" rtlCol="0" anchor="t"/>
          <a:lstStyle/>
          <a:p>
            <a:pPr marL="0" indent="0">
              <a:buNone/>
            </a:pPr>
            <a:r>
              <a:rPr lang="en-US" sz="1750" b="1" dirty="0">
                <a:solidFill>
                  <a:srgbClr val="A65F00"/>
                </a:solidFill>
                <a:latin typeface="Segoe UI" pitchFamily="34" charset="0"/>
                <a:ea typeface="Segoe UI" pitchFamily="34" charset="-122"/>
                <a:cs typeface="Segoe UI" pitchFamily="34" charset="-120"/>
              </a:rPr>
              <a:t>Mettre les entreprises en relation</a:t>
            </a:r>
            <a:endParaRPr lang="en-US" sz="1750" dirty="0"/>
          </a:p>
        </p:txBody>
      </p:sp>
      <p:sp>
        <p:nvSpPr>
          <p:cNvPr id="20" name="Text 18"/>
          <p:cNvSpPr txBox="1"/>
          <p:nvPr/>
        </p:nvSpPr>
        <p:spPr>
          <a:xfrm>
            <a:off x="7178040" y="192024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Rechercher, consulter, contacter une entreprise</a:t>
            </a:r>
            <a:endParaRPr lang="en-US" sz="1450" dirty="0"/>
          </a:p>
        </p:txBody>
      </p:sp>
      <p:sp>
        <p:nvSpPr>
          <p:cNvPr id="21" name="Shape 19"/>
          <p:cNvSpPr/>
          <p:nvPr/>
        </p:nvSpPr>
        <p:spPr>
          <a:xfrm>
            <a:off x="6309360" y="2971800"/>
            <a:ext cx="640080" cy="621792"/>
          </a:xfrm>
          <a:prstGeom prst="roundRect">
            <a:avLst>
              <a:gd name="adj" fmla="val 14706"/>
            </a:avLst>
          </a:prstGeom>
          <a:solidFill>
            <a:srgbClr val="F2A93B"/>
          </a:solidFill>
          <a:ln/>
        </p:spPr>
      </p:sp>
      <p:sp>
        <p:nvSpPr>
          <p:cNvPr id="22" name="Text 20"/>
          <p:cNvSpPr txBox="1"/>
          <p:nvPr/>
        </p:nvSpPr>
        <p:spPr>
          <a:xfrm>
            <a:off x="6309360" y="297180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5</a:t>
            </a:r>
            <a:endParaRPr lang="en-US" sz="2200" dirty="0"/>
          </a:p>
        </p:txBody>
      </p:sp>
      <p:sp>
        <p:nvSpPr>
          <p:cNvPr id="23" name="Text 21"/>
          <p:cNvSpPr txBox="1"/>
          <p:nvPr/>
        </p:nvSpPr>
        <p:spPr>
          <a:xfrm>
            <a:off x="7178040" y="2926080"/>
            <a:ext cx="4480560" cy="411480"/>
          </a:xfrm>
          <a:prstGeom prst="rect">
            <a:avLst/>
          </a:prstGeom>
          <a:noFill/>
          <a:ln/>
        </p:spPr>
        <p:txBody>
          <a:bodyPr wrap="square" lIns="0" tIns="0" rIns="0" bIns="0" rtlCol="0" anchor="t"/>
          <a:lstStyle/>
          <a:p>
            <a:pPr marL="0" indent="0">
              <a:buNone/>
            </a:pPr>
            <a:r>
              <a:rPr lang="en-US" sz="1750" b="1" dirty="0">
                <a:solidFill>
                  <a:srgbClr val="A65F00"/>
                </a:solidFill>
                <a:latin typeface="Segoe UI" pitchFamily="34" charset="0"/>
                <a:ea typeface="Segoe UI" pitchFamily="34" charset="-122"/>
                <a:cs typeface="Segoe UI" pitchFamily="34" charset="-120"/>
              </a:rPr>
              <a:t>Diffuser et consulter les offres B2B</a:t>
            </a:r>
            <a:endParaRPr lang="en-US" sz="1750" dirty="0"/>
          </a:p>
        </p:txBody>
      </p:sp>
      <p:sp>
        <p:nvSpPr>
          <p:cNvPr id="24" name="Text 22"/>
          <p:cNvSpPr txBox="1"/>
          <p:nvPr/>
        </p:nvSpPr>
        <p:spPr>
          <a:xfrm>
            <a:off x="7178040" y="338328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Publier, rechercher et filtrer les offres</a:t>
            </a:r>
            <a:endParaRPr lang="en-US" sz="1450" dirty="0"/>
          </a:p>
        </p:txBody>
      </p:sp>
      <p:sp>
        <p:nvSpPr>
          <p:cNvPr id="25" name="Shape 23"/>
          <p:cNvSpPr/>
          <p:nvPr/>
        </p:nvSpPr>
        <p:spPr>
          <a:xfrm>
            <a:off x="6309360" y="4434840"/>
            <a:ext cx="640080" cy="621792"/>
          </a:xfrm>
          <a:prstGeom prst="roundRect">
            <a:avLst>
              <a:gd name="adj" fmla="val 14706"/>
            </a:avLst>
          </a:prstGeom>
          <a:solidFill>
            <a:srgbClr val="F2A93B"/>
          </a:solidFill>
          <a:ln/>
        </p:spPr>
      </p:sp>
      <p:sp>
        <p:nvSpPr>
          <p:cNvPr id="26" name="Text 24"/>
          <p:cNvSpPr txBox="1"/>
          <p:nvPr/>
        </p:nvSpPr>
        <p:spPr>
          <a:xfrm>
            <a:off x="6309360" y="443484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6</a:t>
            </a:r>
            <a:endParaRPr lang="en-US" sz="2200" dirty="0"/>
          </a:p>
        </p:txBody>
      </p:sp>
      <p:sp>
        <p:nvSpPr>
          <p:cNvPr id="27" name="Text 25"/>
          <p:cNvSpPr txBox="1"/>
          <p:nvPr/>
        </p:nvSpPr>
        <p:spPr>
          <a:xfrm>
            <a:off x="7178040" y="4389120"/>
            <a:ext cx="4480560" cy="411480"/>
          </a:xfrm>
          <a:prstGeom prst="rect">
            <a:avLst/>
          </a:prstGeom>
          <a:noFill/>
          <a:ln/>
        </p:spPr>
        <p:txBody>
          <a:bodyPr wrap="square" lIns="0" tIns="0" rIns="0" bIns="0" rtlCol="0" anchor="t"/>
          <a:lstStyle/>
          <a:p>
            <a:pPr marL="0" indent="0">
              <a:buNone/>
            </a:pPr>
            <a:r>
              <a:rPr lang="en-US" sz="1750" b="1" dirty="0">
                <a:solidFill>
                  <a:srgbClr val="A65F00"/>
                </a:solidFill>
                <a:latin typeface="Segoe UI" pitchFamily="34" charset="0"/>
                <a:ea typeface="Segoe UI" pitchFamily="34" charset="-122"/>
                <a:cs typeface="Segoe UI" pitchFamily="34" charset="-120"/>
              </a:rPr>
              <a:t>Gérer les commandes entre entreprises</a:t>
            </a:r>
            <a:endParaRPr lang="en-US" sz="1750" dirty="0"/>
          </a:p>
        </p:txBody>
      </p:sp>
      <p:sp>
        <p:nvSpPr>
          <p:cNvPr id="28" name="Text 26"/>
          <p:cNvSpPr txBox="1"/>
          <p:nvPr/>
        </p:nvSpPr>
        <p:spPr>
          <a:xfrm>
            <a:off x="7178040" y="4846320"/>
            <a:ext cx="4480560" cy="45720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Envoyer, accepter ou refuser, suivre une commande</a:t>
            </a:r>
            <a:endParaRPr lang="en-US" sz="1450" dirty="0"/>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20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FactuPro en images</a:t>
            </a:r>
            <a:endParaRPr lang="en-US" sz="3000" dirty="0"/>
          </a:p>
        </p:txBody>
      </p:sp>
      <p:sp>
        <p:nvSpPr>
          <p:cNvPr id="5" name="Shape 3"/>
          <p:cNvSpPr/>
          <p:nvPr/>
        </p:nvSpPr>
        <p:spPr>
          <a:xfrm>
            <a:off x="676656" y="1362456"/>
            <a:ext cx="5504688" cy="3586480"/>
          </a:xfrm>
          <a:prstGeom prst="rect">
            <a:avLst/>
          </a:prstGeom>
          <a:solidFill>
            <a:srgbClr val="FFFFFF"/>
          </a:solidFill>
          <a:ln w="9525">
            <a:solidFill>
              <a:srgbClr val="D5D9E2"/>
            </a:solidFill>
            <a:prstDash val="solid"/>
          </a:ln>
        </p:spPr>
      </p:sp>
      <p:pic>
        <p:nvPicPr>
          <p:cNvPr id="6" name="Image 0" descr="C:\Users\ALEX\AppData\Local\Temp\claude\C--laragon-www-facturation\62a43aad-6d46-45af-979c-6c158c66b0c3\scratchpad\ppt3\use\produits.jpg"/>
          <p:cNvPicPr>
            <a:picLocks noChangeAspect="1"/>
          </p:cNvPicPr>
          <p:nvPr/>
        </p:nvPicPr>
        <p:blipFill>
          <a:blip r:embed="rId4"/>
          <a:stretch>
            <a:fillRect/>
          </a:stretch>
        </p:blipFill>
        <p:spPr>
          <a:xfrm>
            <a:off x="731520" y="1417320"/>
            <a:ext cx="5394960" cy="3476752"/>
          </a:xfrm>
          <a:prstGeom prst="rect">
            <a:avLst/>
          </a:prstGeom>
        </p:spPr>
      </p:pic>
      <p:sp>
        <p:nvSpPr>
          <p:cNvPr id="7" name="Shape 4"/>
          <p:cNvSpPr/>
          <p:nvPr/>
        </p:nvSpPr>
        <p:spPr>
          <a:xfrm>
            <a:off x="731520" y="5076952"/>
            <a:ext cx="457200" cy="438912"/>
          </a:xfrm>
          <a:prstGeom prst="roundRect">
            <a:avLst>
              <a:gd name="adj" fmla="val 20833"/>
            </a:avLst>
          </a:prstGeom>
          <a:solidFill>
            <a:srgbClr val="F2A93B"/>
          </a:solidFill>
          <a:ln/>
        </p:spPr>
      </p:sp>
      <p:sp>
        <p:nvSpPr>
          <p:cNvPr id="8" name="Text 5"/>
          <p:cNvSpPr txBox="1"/>
          <p:nvPr/>
        </p:nvSpPr>
        <p:spPr>
          <a:xfrm>
            <a:off x="731520" y="5076952"/>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9" name="Text 6"/>
          <p:cNvSpPr txBox="1"/>
          <p:nvPr/>
        </p:nvSpPr>
        <p:spPr>
          <a:xfrm>
            <a:off x="1325880" y="5031232"/>
            <a:ext cx="4754880" cy="548640"/>
          </a:xfrm>
          <a:prstGeom prst="rect">
            <a:avLst/>
          </a:prstGeom>
          <a:noFill/>
          <a:ln/>
        </p:spPr>
        <p:txBody>
          <a:bodyPr wrap="square" lIns="0" tIns="0" rIns="0" bIns="0" rtlCol="0" anchor="t"/>
          <a:lstStyle/>
          <a:p>
            <a:pPr marL="0" indent="0">
              <a:buNone/>
            </a:pPr>
            <a:r>
              <a:rPr lang="en-US" sz="1350" b="1" dirty="0">
                <a:solidFill>
                  <a:srgbClr val="1F2A5C"/>
                </a:solidFill>
                <a:latin typeface="Segoe UI" pitchFamily="34" charset="0"/>
                <a:ea typeface="Segoe UI" pitchFamily="34" charset="-122"/>
                <a:cs typeface="Segoe UI" pitchFamily="34" charset="-120"/>
              </a:rPr>
              <a:t>Déstockage B2B : une case à cocher propose le produit aux autres entreprises</a:t>
            </a:r>
            <a:endParaRPr lang="en-US" sz="1350" dirty="0"/>
          </a:p>
        </p:txBody>
      </p:sp>
      <p:sp>
        <p:nvSpPr>
          <p:cNvPr id="10" name="Shape 7"/>
          <p:cNvSpPr/>
          <p:nvPr/>
        </p:nvSpPr>
        <p:spPr>
          <a:xfrm>
            <a:off x="6528816" y="2093976"/>
            <a:ext cx="4115137" cy="2029968"/>
          </a:xfrm>
          <a:prstGeom prst="rect">
            <a:avLst/>
          </a:prstGeom>
          <a:solidFill>
            <a:srgbClr val="FFFFFF"/>
          </a:solidFill>
          <a:ln w="9525">
            <a:solidFill>
              <a:srgbClr val="D5D9E2"/>
            </a:solidFill>
            <a:prstDash val="solid"/>
          </a:ln>
        </p:spPr>
      </p:sp>
      <p:pic>
        <p:nvPicPr>
          <p:cNvPr id="11" name="Image 1" descr="C:\Users\ALEX\AppData\Local\Temp\claude\C--laragon-www-facturation\62a43aad-6d46-45af-979c-6c158c66b0c3\scratchpad\ppt3\use\annonces.jpg"/>
          <p:cNvPicPr>
            <a:picLocks noChangeAspect="1"/>
          </p:cNvPicPr>
          <p:nvPr/>
        </p:nvPicPr>
        <p:blipFill>
          <a:blip r:embed="rId5"/>
          <a:stretch>
            <a:fillRect/>
          </a:stretch>
        </p:blipFill>
        <p:spPr>
          <a:xfrm>
            <a:off x="6583680" y="2148840"/>
            <a:ext cx="4005409" cy="1920240"/>
          </a:xfrm>
          <a:prstGeom prst="rect">
            <a:avLst/>
          </a:prstGeom>
        </p:spPr>
      </p:pic>
      <p:sp>
        <p:nvSpPr>
          <p:cNvPr id="12" name="Shape 8"/>
          <p:cNvSpPr/>
          <p:nvPr/>
        </p:nvSpPr>
        <p:spPr>
          <a:xfrm>
            <a:off x="6583680" y="4233672"/>
            <a:ext cx="457200" cy="438912"/>
          </a:xfrm>
          <a:prstGeom prst="roundRect">
            <a:avLst>
              <a:gd name="adj" fmla="val 20833"/>
            </a:avLst>
          </a:prstGeom>
          <a:solidFill>
            <a:srgbClr val="F2A93B"/>
          </a:solidFill>
          <a:ln/>
        </p:spPr>
      </p:sp>
      <p:sp>
        <p:nvSpPr>
          <p:cNvPr id="13" name="Text 9"/>
          <p:cNvSpPr txBox="1"/>
          <p:nvPr/>
        </p:nvSpPr>
        <p:spPr>
          <a:xfrm>
            <a:off x="6583680" y="4233672"/>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4" name="Text 10"/>
          <p:cNvSpPr txBox="1"/>
          <p:nvPr/>
        </p:nvSpPr>
        <p:spPr>
          <a:xfrm>
            <a:off x="7178040" y="4233672"/>
            <a:ext cx="4389120" cy="438912"/>
          </a:xfrm>
          <a:prstGeom prst="rect">
            <a:avLst/>
          </a:prstGeom>
          <a:noFill/>
          <a:ln/>
        </p:spPr>
        <p:txBody>
          <a:bodyPr wrap="square" lIns="0" tIns="0" rIns="0" bIns="0" rtlCol="0" anchor="ctr"/>
          <a:lstStyle/>
          <a:p>
            <a:pPr marL="0" indent="0">
              <a:buNone/>
            </a:pPr>
            <a:r>
              <a:rPr lang="en-US" sz="1350" b="1" dirty="0">
                <a:solidFill>
                  <a:srgbClr val="1F2A5C"/>
                </a:solidFill>
                <a:latin typeface="Segoe UI" pitchFamily="34" charset="0"/>
                <a:ea typeface="Segoe UI" pitchFamily="34" charset="-122"/>
                <a:cs typeface="Segoe UI" pitchFamily="34" charset="-120"/>
              </a:rPr>
              <a:t>Annonces : appels d'offres et partenariats</a:t>
            </a:r>
            <a:endParaRPr lang="en-US" sz="1350" dirty="0"/>
          </a:p>
        </p:txBody>
      </p:sp>
      <p:sp>
        <p:nvSpPr>
          <p:cNvPr id="15" name="Shape 11"/>
          <p:cNvSpPr/>
          <p:nvPr/>
        </p:nvSpPr>
        <p:spPr>
          <a:xfrm>
            <a:off x="6528816" y="4745736"/>
            <a:ext cx="4976755" cy="1024128"/>
          </a:xfrm>
          <a:prstGeom prst="rect">
            <a:avLst/>
          </a:prstGeom>
          <a:solidFill>
            <a:srgbClr val="FFFFFF"/>
          </a:solidFill>
          <a:ln w="9525">
            <a:solidFill>
              <a:srgbClr val="D5D9E2"/>
            </a:solidFill>
            <a:prstDash val="solid"/>
          </a:ln>
        </p:spPr>
      </p:sp>
      <p:pic>
        <p:nvPicPr>
          <p:cNvPr id="16" name="Image 2" descr="C:\Users\ALEX\AppData\Local\Temp\claude\C--laragon-www-facturation\62a43aad-6d46-45af-979c-6c158c66b0c3\scratchpad\ppt3\crop\annuaire.jpg"/>
          <p:cNvPicPr>
            <a:picLocks noChangeAspect="1"/>
          </p:cNvPicPr>
          <p:nvPr/>
        </p:nvPicPr>
        <p:blipFill>
          <a:blip r:embed="rId6"/>
          <a:stretch>
            <a:fillRect/>
          </a:stretch>
        </p:blipFill>
        <p:spPr>
          <a:xfrm>
            <a:off x="6583680" y="4800600"/>
            <a:ext cx="4867027" cy="914400"/>
          </a:xfrm>
          <a:prstGeom prst="rect">
            <a:avLst/>
          </a:prstGeom>
        </p:spPr>
      </p:pic>
      <p:sp>
        <p:nvSpPr>
          <p:cNvPr id="17" name="Shape 12"/>
          <p:cNvSpPr/>
          <p:nvPr/>
        </p:nvSpPr>
        <p:spPr>
          <a:xfrm>
            <a:off x="6583680" y="5852160"/>
            <a:ext cx="457200" cy="438912"/>
          </a:xfrm>
          <a:prstGeom prst="roundRect">
            <a:avLst>
              <a:gd name="adj" fmla="val 20833"/>
            </a:avLst>
          </a:prstGeom>
          <a:solidFill>
            <a:srgbClr val="F2A93B"/>
          </a:solidFill>
          <a:ln/>
        </p:spPr>
      </p:sp>
      <p:sp>
        <p:nvSpPr>
          <p:cNvPr id="18" name="Text 13"/>
          <p:cNvSpPr txBox="1"/>
          <p:nvPr/>
        </p:nvSpPr>
        <p:spPr>
          <a:xfrm>
            <a:off x="6583680" y="5852160"/>
            <a:ext cx="457200" cy="438912"/>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9" name="Text 14"/>
          <p:cNvSpPr txBox="1"/>
          <p:nvPr/>
        </p:nvSpPr>
        <p:spPr>
          <a:xfrm>
            <a:off x="7178040" y="5852160"/>
            <a:ext cx="4389120" cy="438912"/>
          </a:xfrm>
          <a:prstGeom prst="rect">
            <a:avLst/>
          </a:prstGeom>
          <a:noFill/>
          <a:ln/>
        </p:spPr>
        <p:txBody>
          <a:bodyPr wrap="square" lIns="0" tIns="0" rIns="0" bIns="0" rtlCol="0" anchor="ctr"/>
          <a:lstStyle/>
          <a:p>
            <a:pPr marL="0" indent="0">
              <a:buNone/>
            </a:pPr>
            <a:r>
              <a:rPr lang="en-US" sz="1350" b="1" dirty="0">
                <a:solidFill>
                  <a:srgbClr val="1F2A5C"/>
                </a:solidFill>
                <a:latin typeface="Segoe UI" pitchFamily="34" charset="0"/>
                <a:ea typeface="Segoe UI" pitchFamily="34" charset="-122"/>
                <a:cs typeface="Segoe UI" pitchFamily="34" charset="-120"/>
              </a:rPr>
              <a:t>Réseau : distance, fiabilité et réactivité des entreprises</a:t>
            </a:r>
            <a:endParaRPr lang="en-US" sz="1350" dirty="0"/>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21 »</a:t>
            </a:r>
            <a:endParaRPr lang="en-US" sz="1100" dirty="0"/>
          </a:p>
        </p:txBody>
      </p:sp>
      <p:pic>
        <p:nvPicPr>
          <p:cNvPr id="4" name="Image 0" descr="C:\Users\ALEX\AppData\Local\Temp\claude\C--laragon-www-facturation\62a43aad-6d46-45af-979c-6c158c66b0c3\scratchpad\ppt3\a4\ill_banner-growth.png"/>
          <p:cNvPicPr>
            <a:picLocks noChangeAspect="1"/>
          </p:cNvPicPr>
          <p:nvPr/>
        </p:nvPicPr>
        <p:blipFill>
          <a:blip r:embed="rId4"/>
          <a:stretch>
            <a:fillRect/>
          </a:stretch>
        </p:blipFill>
        <p:spPr>
          <a:xfrm>
            <a:off x="640080" y="570419"/>
            <a:ext cx="4754880" cy="2973961"/>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05</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Analyse et conception</a:t>
            </a:r>
            <a:endParaRPr lang="en-US" sz="38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22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La méthode MERISE</a:t>
            </a:r>
            <a:endParaRPr lang="en-US" sz="3000" dirty="0"/>
          </a:p>
        </p:txBody>
      </p:sp>
      <p:sp>
        <p:nvSpPr>
          <p:cNvPr id="5" name="Shape 3"/>
          <p:cNvSpPr/>
          <p:nvPr/>
        </p:nvSpPr>
        <p:spPr>
          <a:xfrm>
            <a:off x="1554480" y="2606040"/>
            <a:ext cx="9052560" cy="0"/>
          </a:xfrm>
          <a:prstGeom prst="line">
            <a:avLst/>
          </a:prstGeom>
          <a:noFill/>
          <a:ln w="38100">
            <a:solidFill>
              <a:srgbClr val="D5D9E2"/>
            </a:solidFill>
            <a:prstDash val="solid"/>
          </a:ln>
        </p:spPr>
      </p:sp>
      <p:sp>
        <p:nvSpPr>
          <p:cNvPr id="6" name="Shape 4"/>
          <p:cNvSpPr/>
          <p:nvPr/>
        </p:nvSpPr>
        <p:spPr>
          <a:xfrm>
            <a:off x="685800" y="2011680"/>
            <a:ext cx="1737360" cy="1188720"/>
          </a:xfrm>
          <a:prstGeom prst="roundRect">
            <a:avLst>
              <a:gd name="adj" fmla="val 10769"/>
            </a:avLst>
          </a:prstGeom>
          <a:solidFill>
            <a:srgbClr val="1F2A5C"/>
          </a:solidFill>
          <a:ln/>
        </p:spPr>
      </p:sp>
      <p:sp>
        <p:nvSpPr>
          <p:cNvPr id="7" name="Text 5"/>
          <p:cNvSpPr txBox="1"/>
          <p:nvPr/>
        </p:nvSpPr>
        <p:spPr>
          <a:xfrm>
            <a:off x="685800" y="2011680"/>
            <a:ext cx="173736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Segoe UI" pitchFamily="34" charset="0"/>
                <a:ea typeface="Segoe UI" pitchFamily="34" charset="-122"/>
                <a:cs typeface="Segoe UI" pitchFamily="34" charset="-120"/>
              </a:rPr>
              <a:t>MCD</a:t>
            </a:r>
            <a:endParaRPr lang="en-US" sz="3000" dirty="0"/>
          </a:p>
        </p:txBody>
      </p:sp>
      <p:sp>
        <p:nvSpPr>
          <p:cNvPr id="8" name="Text 6"/>
          <p:cNvSpPr txBox="1"/>
          <p:nvPr/>
        </p:nvSpPr>
        <p:spPr>
          <a:xfrm>
            <a:off x="182880" y="338328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Quelles données ?</a:t>
            </a:r>
            <a:endParaRPr lang="en-US" sz="1700" dirty="0"/>
          </a:p>
        </p:txBody>
      </p:sp>
      <p:sp>
        <p:nvSpPr>
          <p:cNvPr id="9" name="Shape 7"/>
          <p:cNvSpPr/>
          <p:nvPr/>
        </p:nvSpPr>
        <p:spPr>
          <a:xfrm>
            <a:off x="3703320" y="2011680"/>
            <a:ext cx="1737360" cy="1188720"/>
          </a:xfrm>
          <a:prstGeom prst="roundRect">
            <a:avLst>
              <a:gd name="adj" fmla="val 10769"/>
            </a:avLst>
          </a:prstGeom>
          <a:solidFill>
            <a:srgbClr val="F2A93B"/>
          </a:solidFill>
          <a:ln/>
        </p:spPr>
      </p:sp>
      <p:sp>
        <p:nvSpPr>
          <p:cNvPr id="10" name="Text 8"/>
          <p:cNvSpPr txBox="1"/>
          <p:nvPr/>
        </p:nvSpPr>
        <p:spPr>
          <a:xfrm>
            <a:off x="3703320" y="2011680"/>
            <a:ext cx="1737360" cy="1188720"/>
          </a:xfrm>
          <a:prstGeom prst="rect">
            <a:avLst/>
          </a:prstGeom>
          <a:noFill/>
          <a:ln/>
        </p:spPr>
        <p:txBody>
          <a:bodyPr wrap="square" lIns="0" tIns="0" rIns="0" bIns="0" rtlCol="0" anchor="ctr"/>
          <a:lstStyle/>
          <a:p>
            <a:pPr marL="0" indent="0" algn="ctr">
              <a:buNone/>
            </a:pPr>
            <a:r>
              <a:rPr lang="en-US" sz="3000" b="1" dirty="0">
                <a:solidFill>
                  <a:srgbClr val="1F2A5C"/>
                </a:solidFill>
                <a:latin typeface="Segoe UI" pitchFamily="34" charset="0"/>
                <a:ea typeface="Segoe UI" pitchFamily="34" charset="-122"/>
                <a:cs typeface="Segoe UI" pitchFamily="34" charset="-120"/>
              </a:rPr>
              <a:t>MCT</a:t>
            </a:r>
            <a:endParaRPr lang="en-US" sz="3000" dirty="0"/>
          </a:p>
        </p:txBody>
      </p:sp>
      <p:sp>
        <p:nvSpPr>
          <p:cNvPr id="11" name="Text 9"/>
          <p:cNvSpPr txBox="1"/>
          <p:nvPr/>
        </p:nvSpPr>
        <p:spPr>
          <a:xfrm>
            <a:off x="3200400" y="338328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Quels traitements ?</a:t>
            </a:r>
            <a:endParaRPr lang="en-US" sz="1700" dirty="0"/>
          </a:p>
        </p:txBody>
      </p:sp>
      <p:sp>
        <p:nvSpPr>
          <p:cNvPr id="12" name="Shape 10"/>
          <p:cNvSpPr/>
          <p:nvPr/>
        </p:nvSpPr>
        <p:spPr>
          <a:xfrm>
            <a:off x="6720840" y="2011680"/>
            <a:ext cx="1737360" cy="1188720"/>
          </a:xfrm>
          <a:prstGeom prst="roundRect">
            <a:avLst>
              <a:gd name="adj" fmla="val 10769"/>
            </a:avLst>
          </a:prstGeom>
          <a:solidFill>
            <a:srgbClr val="1F2A5C"/>
          </a:solidFill>
          <a:ln/>
        </p:spPr>
      </p:sp>
      <p:sp>
        <p:nvSpPr>
          <p:cNvPr id="13" name="Text 11"/>
          <p:cNvSpPr txBox="1"/>
          <p:nvPr/>
        </p:nvSpPr>
        <p:spPr>
          <a:xfrm>
            <a:off x="6720840" y="2011680"/>
            <a:ext cx="1737360" cy="1188720"/>
          </a:xfrm>
          <a:prstGeom prst="rect">
            <a:avLst/>
          </a:prstGeom>
          <a:noFill/>
          <a:ln/>
        </p:spPr>
        <p:txBody>
          <a:bodyPr wrap="square" lIns="0" tIns="0" rIns="0" bIns="0" rtlCol="0" anchor="ctr"/>
          <a:lstStyle/>
          <a:p>
            <a:pPr marL="0" indent="0" algn="ctr">
              <a:buNone/>
            </a:pPr>
            <a:r>
              <a:rPr lang="en-US" sz="3000" b="1" dirty="0">
                <a:solidFill>
                  <a:srgbClr val="FFFFFF"/>
                </a:solidFill>
                <a:latin typeface="Segoe UI" pitchFamily="34" charset="0"/>
                <a:ea typeface="Segoe UI" pitchFamily="34" charset="-122"/>
                <a:cs typeface="Segoe UI" pitchFamily="34" charset="-120"/>
              </a:rPr>
              <a:t>MLD</a:t>
            </a:r>
            <a:endParaRPr lang="en-US" sz="3000" dirty="0"/>
          </a:p>
        </p:txBody>
      </p:sp>
      <p:sp>
        <p:nvSpPr>
          <p:cNvPr id="14" name="Text 12"/>
          <p:cNvSpPr txBox="1"/>
          <p:nvPr/>
        </p:nvSpPr>
        <p:spPr>
          <a:xfrm>
            <a:off x="6217920" y="338328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Quelles tables ?</a:t>
            </a:r>
            <a:endParaRPr lang="en-US" sz="1700" dirty="0"/>
          </a:p>
        </p:txBody>
      </p:sp>
      <p:sp>
        <p:nvSpPr>
          <p:cNvPr id="15" name="Shape 13"/>
          <p:cNvSpPr/>
          <p:nvPr/>
        </p:nvSpPr>
        <p:spPr>
          <a:xfrm>
            <a:off x="9738360" y="2011680"/>
            <a:ext cx="1737360" cy="1188720"/>
          </a:xfrm>
          <a:prstGeom prst="roundRect">
            <a:avLst>
              <a:gd name="adj" fmla="val 10769"/>
            </a:avLst>
          </a:prstGeom>
          <a:solidFill>
            <a:srgbClr val="F2A93B"/>
          </a:solidFill>
          <a:ln/>
        </p:spPr>
      </p:sp>
      <p:sp>
        <p:nvSpPr>
          <p:cNvPr id="16" name="Text 14"/>
          <p:cNvSpPr txBox="1"/>
          <p:nvPr/>
        </p:nvSpPr>
        <p:spPr>
          <a:xfrm>
            <a:off x="9738360" y="2011680"/>
            <a:ext cx="1737360" cy="1188720"/>
          </a:xfrm>
          <a:prstGeom prst="rect">
            <a:avLst/>
          </a:prstGeom>
          <a:noFill/>
          <a:ln/>
        </p:spPr>
        <p:txBody>
          <a:bodyPr wrap="square" lIns="0" tIns="0" rIns="0" bIns="0" rtlCol="0" anchor="ctr"/>
          <a:lstStyle/>
          <a:p>
            <a:pPr marL="0" indent="0" algn="ctr">
              <a:buNone/>
            </a:pPr>
            <a:r>
              <a:rPr lang="en-US" sz="3000" b="1" dirty="0">
                <a:solidFill>
                  <a:srgbClr val="1F2A5C"/>
                </a:solidFill>
                <a:latin typeface="Segoe UI" pitchFamily="34" charset="0"/>
                <a:ea typeface="Segoe UI" pitchFamily="34" charset="-122"/>
                <a:cs typeface="Segoe UI" pitchFamily="34" charset="-120"/>
              </a:rPr>
              <a:t>MOT</a:t>
            </a:r>
            <a:endParaRPr lang="en-US" sz="3000" dirty="0"/>
          </a:p>
        </p:txBody>
      </p:sp>
      <p:sp>
        <p:nvSpPr>
          <p:cNvPr id="17" name="Text 15"/>
          <p:cNvSpPr txBox="1"/>
          <p:nvPr/>
        </p:nvSpPr>
        <p:spPr>
          <a:xfrm>
            <a:off x="9235440" y="3383280"/>
            <a:ext cx="2743200" cy="411480"/>
          </a:xfrm>
          <a:prstGeom prst="rect">
            <a:avLst/>
          </a:prstGeom>
          <a:noFill/>
          <a:ln/>
        </p:spPr>
        <p:txBody>
          <a:bodyPr wrap="square" lIns="0" tIns="0" rIns="0" bIns="0" rtlCol="0" anchor="t"/>
          <a:lstStyle/>
          <a:p>
            <a:pPr marL="0" indent="0" algn="ctr">
              <a:buNone/>
            </a:pPr>
            <a:r>
              <a:rPr lang="en-US" sz="1700" b="1" dirty="0">
                <a:solidFill>
                  <a:srgbClr val="1F2A5C"/>
                </a:solidFill>
                <a:latin typeface="Segoe UI" pitchFamily="34" charset="0"/>
                <a:ea typeface="Segoe UI" pitchFamily="34" charset="-122"/>
                <a:cs typeface="Segoe UI" pitchFamily="34" charset="-120"/>
              </a:rPr>
              <a:t>Qui, où, quand ?</a:t>
            </a:r>
            <a:endParaRPr lang="en-US" sz="1700" dirty="0"/>
          </a:p>
        </p:txBody>
      </p:sp>
      <p:sp>
        <p:nvSpPr>
          <p:cNvPr id="18" name="Text 16"/>
          <p:cNvSpPr txBox="1"/>
          <p:nvPr/>
        </p:nvSpPr>
        <p:spPr>
          <a:xfrm>
            <a:off x="914400" y="4343400"/>
            <a:ext cx="1097280" cy="822960"/>
          </a:xfrm>
          <a:prstGeom prst="rect">
            <a:avLst/>
          </a:prstGeom>
          <a:noFill/>
          <a:ln/>
        </p:spPr>
        <p:txBody>
          <a:bodyPr wrap="square" lIns="0" tIns="0" rIns="0" bIns="0" rtlCol="0" anchor="ctr"/>
          <a:lstStyle/>
          <a:p>
            <a:pPr marL="0" indent="0">
              <a:buNone/>
            </a:pPr>
            <a:r>
              <a:rPr lang="en-US" sz="4400" b="1" dirty="0">
                <a:solidFill>
                  <a:srgbClr val="A65F00"/>
                </a:solidFill>
                <a:latin typeface="Segoe UI" pitchFamily="34" charset="0"/>
                <a:ea typeface="Segoe UI" pitchFamily="34" charset="-122"/>
                <a:cs typeface="Segoe UI" pitchFamily="34" charset="-120"/>
              </a:rPr>
              <a:t>13</a:t>
            </a:r>
            <a:endParaRPr lang="en-US" sz="4400" dirty="0"/>
          </a:p>
        </p:txBody>
      </p:sp>
      <p:sp>
        <p:nvSpPr>
          <p:cNvPr id="19" name="Text 17"/>
          <p:cNvSpPr txBox="1"/>
          <p:nvPr/>
        </p:nvSpPr>
        <p:spPr>
          <a:xfrm>
            <a:off x="2011680" y="4343400"/>
            <a:ext cx="2286000" cy="822960"/>
          </a:xfrm>
          <a:prstGeom prst="rect">
            <a:avLst/>
          </a:prstGeom>
          <a:noFill/>
          <a:ln/>
        </p:spPr>
        <p:txBody>
          <a:bodyPr wrap="square" lIns="0" tIns="0" rIns="0" bIns="0" rtlCol="0" anchor="ctr"/>
          <a:lstStyle/>
          <a:p>
            <a:pPr marL="0" indent="0">
              <a:buNone/>
            </a:pPr>
            <a:r>
              <a:rPr lang="en-US" sz="1700" dirty="0">
                <a:solidFill>
                  <a:srgbClr val="1F2A5C"/>
                </a:solidFill>
                <a:latin typeface="Segoe UI" pitchFamily="34" charset="0"/>
                <a:ea typeface="Segoe UI" pitchFamily="34" charset="-122"/>
                <a:cs typeface="Segoe UI" pitchFamily="34" charset="-120"/>
              </a:rPr>
              <a:t>règles de gestion</a:t>
            </a:r>
            <a:endParaRPr lang="en-US" sz="1700" dirty="0"/>
          </a:p>
        </p:txBody>
      </p:sp>
      <p:sp>
        <p:nvSpPr>
          <p:cNvPr id="20" name="Text 18"/>
          <p:cNvSpPr txBox="1"/>
          <p:nvPr/>
        </p:nvSpPr>
        <p:spPr>
          <a:xfrm>
            <a:off x="4480560" y="4343400"/>
            <a:ext cx="1097280" cy="822960"/>
          </a:xfrm>
          <a:prstGeom prst="rect">
            <a:avLst/>
          </a:prstGeom>
          <a:noFill/>
          <a:ln/>
        </p:spPr>
        <p:txBody>
          <a:bodyPr wrap="square" lIns="0" tIns="0" rIns="0" bIns="0" rtlCol="0" anchor="ctr"/>
          <a:lstStyle/>
          <a:p>
            <a:pPr marL="0" indent="0">
              <a:buNone/>
            </a:pPr>
            <a:r>
              <a:rPr lang="en-US" sz="4400" b="1" dirty="0">
                <a:solidFill>
                  <a:srgbClr val="A65F00"/>
                </a:solidFill>
                <a:latin typeface="Segoe UI" pitchFamily="34" charset="0"/>
                <a:ea typeface="Segoe UI" pitchFamily="34" charset="-122"/>
                <a:cs typeface="Segoe UI" pitchFamily="34" charset="-120"/>
              </a:rPr>
              <a:t>17</a:t>
            </a:r>
            <a:endParaRPr lang="en-US" sz="4400" dirty="0"/>
          </a:p>
        </p:txBody>
      </p:sp>
      <p:sp>
        <p:nvSpPr>
          <p:cNvPr id="21" name="Text 19"/>
          <p:cNvSpPr txBox="1"/>
          <p:nvPr/>
        </p:nvSpPr>
        <p:spPr>
          <a:xfrm>
            <a:off x="5577840" y="4343400"/>
            <a:ext cx="2286000" cy="822960"/>
          </a:xfrm>
          <a:prstGeom prst="rect">
            <a:avLst/>
          </a:prstGeom>
          <a:noFill/>
          <a:ln/>
        </p:spPr>
        <p:txBody>
          <a:bodyPr wrap="square" lIns="0" tIns="0" rIns="0" bIns="0" rtlCol="0" anchor="ctr"/>
          <a:lstStyle/>
          <a:p>
            <a:pPr marL="0" indent="0">
              <a:buNone/>
            </a:pPr>
            <a:r>
              <a:rPr lang="en-US" sz="1700" dirty="0">
                <a:solidFill>
                  <a:srgbClr val="1F2A5C"/>
                </a:solidFill>
                <a:latin typeface="Segoe UI" pitchFamily="34" charset="0"/>
                <a:ea typeface="Segoe UI" pitchFamily="34" charset="-122"/>
                <a:cs typeface="Segoe UI" pitchFamily="34" charset="-120"/>
              </a:rPr>
              <a:t>relations dans le MLD</a:t>
            </a:r>
            <a:endParaRPr lang="en-US" sz="1700" dirty="0"/>
          </a:p>
        </p:txBody>
      </p:sp>
      <p:sp>
        <p:nvSpPr>
          <p:cNvPr id="22" name="Text 20"/>
          <p:cNvSpPr txBox="1"/>
          <p:nvPr/>
        </p:nvSpPr>
        <p:spPr>
          <a:xfrm>
            <a:off x="8046720" y="4343400"/>
            <a:ext cx="1097280" cy="822960"/>
          </a:xfrm>
          <a:prstGeom prst="rect">
            <a:avLst/>
          </a:prstGeom>
          <a:noFill/>
          <a:ln/>
        </p:spPr>
        <p:txBody>
          <a:bodyPr wrap="square" lIns="0" tIns="0" rIns="0" bIns="0" rtlCol="0" anchor="ctr"/>
          <a:lstStyle/>
          <a:p>
            <a:pPr marL="0" indent="0">
              <a:buNone/>
            </a:pPr>
            <a:r>
              <a:rPr lang="en-US" sz="4400" b="1" dirty="0">
                <a:solidFill>
                  <a:srgbClr val="A65F00"/>
                </a:solidFill>
                <a:latin typeface="Segoe UI" pitchFamily="34" charset="0"/>
                <a:ea typeface="Segoe UI" pitchFamily="34" charset="-122"/>
                <a:cs typeface="Segoe UI" pitchFamily="34" charset="-120"/>
              </a:rPr>
              <a:t>2</a:t>
            </a:r>
            <a:endParaRPr lang="en-US" sz="4400" dirty="0"/>
          </a:p>
        </p:txBody>
      </p:sp>
      <p:sp>
        <p:nvSpPr>
          <p:cNvPr id="23" name="Text 21"/>
          <p:cNvSpPr txBox="1"/>
          <p:nvPr/>
        </p:nvSpPr>
        <p:spPr>
          <a:xfrm>
            <a:off x="9144000" y="4343400"/>
            <a:ext cx="2286000" cy="822960"/>
          </a:xfrm>
          <a:prstGeom prst="rect">
            <a:avLst/>
          </a:prstGeom>
          <a:noFill/>
          <a:ln/>
        </p:spPr>
        <p:txBody>
          <a:bodyPr wrap="square" lIns="0" tIns="0" rIns="0" bIns="0" rtlCol="0" anchor="ctr"/>
          <a:lstStyle/>
          <a:p>
            <a:pPr marL="0" indent="0">
              <a:buNone/>
            </a:pPr>
            <a:r>
              <a:rPr lang="en-US" sz="1700" dirty="0">
                <a:solidFill>
                  <a:srgbClr val="1F2A5C"/>
                </a:solidFill>
                <a:latin typeface="Segoe UI" pitchFamily="34" charset="0"/>
                <a:ea typeface="Segoe UI" pitchFamily="34" charset="-122"/>
                <a:cs typeface="Segoe UI" pitchFamily="34" charset="-120"/>
              </a:rPr>
              <a:t>modules métier au MCT</a:t>
            </a:r>
            <a:endParaRPr lang="en-US" sz="1700" dirty="0"/>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23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Les acteurs externes</a:t>
            </a:r>
            <a:endParaRPr lang="en-US" sz="3000" dirty="0"/>
          </a:p>
        </p:txBody>
      </p:sp>
      <p:sp>
        <p:nvSpPr>
          <p:cNvPr id="5" name="Shape 3"/>
          <p:cNvSpPr/>
          <p:nvPr/>
        </p:nvSpPr>
        <p:spPr>
          <a:xfrm>
            <a:off x="3566160" y="1828800"/>
            <a:ext cx="5029200" cy="5029200"/>
          </a:xfrm>
          <a:prstGeom prst="ellipse">
            <a:avLst/>
          </a:prstGeom>
          <a:ln w="38100">
            <a:solidFill>
              <a:srgbClr val="1F2A5C"/>
            </a:solidFill>
            <a:prstDash val="solid"/>
          </a:ln>
        </p:spPr>
      </p:sp>
      <p:pic>
        <p:nvPicPr>
          <p:cNvPr id="6" name="Image 0" descr="C:\Users\ALEX\AppData\Local\Temp\claude\C--laragon-www-facturation\62a43aad-6d46-45af-979c-6c158c66b0c3\scratchpad\ppt3\a4\ill_banner-network.png"/>
          <p:cNvPicPr>
            <a:picLocks noChangeAspect="1"/>
          </p:cNvPicPr>
          <p:nvPr/>
        </p:nvPicPr>
        <p:blipFill>
          <a:blip r:embed="rId4"/>
          <a:stretch>
            <a:fillRect/>
          </a:stretch>
        </p:blipFill>
        <p:spPr>
          <a:xfrm>
            <a:off x="4480560" y="3022508"/>
            <a:ext cx="3200400" cy="2001705"/>
          </a:xfrm>
          <a:prstGeom prst="rect">
            <a:avLst/>
          </a:prstGeom>
        </p:spPr>
      </p:pic>
      <p:sp>
        <p:nvSpPr>
          <p:cNvPr id="7" name="Shape 4"/>
          <p:cNvSpPr/>
          <p:nvPr/>
        </p:nvSpPr>
        <p:spPr>
          <a:xfrm>
            <a:off x="1097280" y="2103120"/>
            <a:ext cx="2560320" cy="731520"/>
          </a:xfrm>
          <a:prstGeom prst="roundRect">
            <a:avLst>
              <a:gd name="adj" fmla="val 17500"/>
            </a:avLst>
          </a:prstGeom>
          <a:solidFill>
            <a:srgbClr val="1F2A5C"/>
          </a:solidFill>
          <a:ln/>
        </p:spPr>
      </p:sp>
      <p:sp>
        <p:nvSpPr>
          <p:cNvPr id="8" name="Text 5"/>
          <p:cNvSpPr txBox="1"/>
          <p:nvPr/>
        </p:nvSpPr>
        <p:spPr>
          <a:xfrm>
            <a:off x="1097280" y="2103120"/>
            <a:ext cx="25603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Administrateur</a:t>
            </a:r>
            <a:endParaRPr lang="en-US" sz="1600" dirty="0"/>
          </a:p>
        </p:txBody>
      </p:sp>
      <p:sp>
        <p:nvSpPr>
          <p:cNvPr id="9" name="Shape 6"/>
          <p:cNvSpPr/>
          <p:nvPr/>
        </p:nvSpPr>
        <p:spPr>
          <a:xfrm>
            <a:off x="8686800" y="2103120"/>
            <a:ext cx="2560320" cy="731520"/>
          </a:xfrm>
          <a:prstGeom prst="roundRect">
            <a:avLst>
              <a:gd name="adj" fmla="val 17500"/>
            </a:avLst>
          </a:prstGeom>
          <a:solidFill>
            <a:srgbClr val="F2A93B"/>
          </a:solidFill>
          <a:ln/>
        </p:spPr>
      </p:sp>
      <p:sp>
        <p:nvSpPr>
          <p:cNvPr id="10" name="Text 7"/>
          <p:cNvSpPr txBox="1"/>
          <p:nvPr/>
        </p:nvSpPr>
        <p:spPr>
          <a:xfrm>
            <a:off x="8686800" y="2103120"/>
            <a:ext cx="2560320" cy="7315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Client au comptant</a:t>
            </a:r>
            <a:endParaRPr lang="en-US" sz="1600" dirty="0"/>
          </a:p>
        </p:txBody>
      </p:sp>
      <p:sp>
        <p:nvSpPr>
          <p:cNvPr id="11" name="Shape 8"/>
          <p:cNvSpPr/>
          <p:nvPr/>
        </p:nvSpPr>
        <p:spPr>
          <a:xfrm>
            <a:off x="1097280" y="4754880"/>
            <a:ext cx="2560320" cy="731520"/>
          </a:xfrm>
          <a:prstGeom prst="roundRect">
            <a:avLst>
              <a:gd name="adj" fmla="val 17500"/>
            </a:avLst>
          </a:prstGeom>
          <a:solidFill>
            <a:srgbClr val="F2A93B"/>
          </a:solidFill>
          <a:ln/>
        </p:spPr>
      </p:sp>
      <p:sp>
        <p:nvSpPr>
          <p:cNvPr id="12" name="Text 9"/>
          <p:cNvSpPr txBox="1"/>
          <p:nvPr/>
        </p:nvSpPr>
        <p:spPr>
          <a:xfrm>
            <a:off x="1097280" y="4754880"/>
            <a:ext cx="2560320" cy="731520"/>
          </a:xfrm>
          <a:prstGeom prst="rect">
            <a:avLst/>
          </a:prstGeom>
          <a:noFill/>
          <a:ln/>
        </p:spPr>
        <p:txBody>
          <a:bodyPr wrap="square" lIns="0" tIns="0" rIns="0" bIns="0" rtlCol="0" anchor="ctr"/>
          <a:lstStyle/>
          <a:p>
            <a:pPr marL="0" indent="0" algn="ctr">
              <a:buNone/>
            </a:pPr>
            <a:r>
              <a:rPr lang="en-US" sz="1600" b="1" dirty="0">
                <a:solidFill>
                  <a:srgbClr val="1F2A5C"/>
                </a:solidFill>
                <a:latin typeface="Segoe UI" pitchFamily="34" charset="0"/>
                <a:ea typeface="Segoe UI" pitchFamily="34" charset="-122"/>
                <a:cs typeface="Segoe UI" pitchFamily="34" charset="-120"/>
              </a:rPr>
              <a:t>Entreprise vendeuse</a:t>
            </a:r>
            <a:endParaRPr lang="en-US" sz="1600" dirty="0"/>
          </a:p>
        </p:txBody>
      </p:sp>
      <p:sp>
        <p:nvSpPr>
          <p:cNvPr id="13" name="Shape 10"/>
          <p:cNvSpPr/>
          <p:nvPr/>
        </p:nvSpPr>
        <p:spPr>
          <a:xfrm>
            <a:off x="8686800" y="4754880"/>
            <a:ext cx="2560320" cy="731520"/>
          </a:xfrm>
          <a:prstGeom prst="roundRect">
            <a:avLst>
              <a:gd name="adj" fmla="val 17500"/>
            </a:avLst>
          </a:prstGeom>
          <a:solidFill>
            <a:srgbClr val="1F2A5C"/>
          </a:solidFill>
          <a:ln/>
        </p:spPr>
      </p:sp>
      <p:sp>
        <p:nvSpPr>
          <p:cNvPr id="14" name="Text 11"/>
          <p:cNvSpPr txBox="1"/>
          <p:nvPr/>
        </p:nvSpPr>
        <p:spPr>
          <a:xfrm>
            <a:off x="8686800" y="4754880"/>
            <a:ext cx="2560320" cy="7315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Entreprise acheteuse</a:t>
            </a:r>
            <a:endParaRPr lang="en-US" sz="1600" dirty="0"/>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24 »</a:t>
            </a:r>
            <a:endParaRPr lang="en-US" sz="1100" dirty="0"/>
          </a:p>
        </p:txBody>
      </p:sp>
      <p:sp>
        <p:nvSpPr>
          <p:cNvPr id="4" name="Text 2"/>
          <p:cNvSpPr txBox="1"/>
          <p:nvPr/>
        </p:nvSpPr>
        <p:spPr>
          <a:xfrm>
            <a:off x="1188720" y="457200"/>
            <a:ext cx="5486400" cy="548640"/>
          </a:xfrm>
          <a:prstGeom prst="rect">
            <a:avLst/>
          </a:prstGeom>
          <a:noFill/>
          <a:ln/>
        </p:spPr>
        <p:txBody>
          <a:bodyPr wrap="square" lIns="0" tIns="0" rIns="0" bIns="0" rtlCol="0" anchor="t"/>
          <a:lstStyle/>
          <a:p>
            <a:pPr marL="0" indent="0">
              <a:buNone/>
            </a:pPr>
            <a:r>
              <a:rPr lang="en-US" sz="2600" dirty="0">
                <a:solidFill>
                  <a:srgbClr val="1F2A5C"/>
                </a:solidFill>
                <a:latin typeface="Segoe UI" pitchFamily="34" charset="0"/>
                <a:ea typeface="Segoe UI" pitchFamily="34" charset="-122"/>
                <a:cs typeface="Segoe UI" pitchFamily="34" charset="-120"/>
              </a:rPr>
              <a:t>MCD du système étudié</a:t>
            </a:r>
            <a:endParaRPr lang="en-US" sz="2600" dirty="0"/>
          </a:p>
        </p:txBody>
      </p:sp>
      <p:sp>
        <p:nvSpPr>
          <p:cNvPr id="5" name="Shape 3"/>
          <p:cNvSpPr/>
          <p:nvPr/>
        </p:nvSpPr>
        <p:spPr>
          <a:xfrm>
            <a:off x="2349113" y="1042416"/>
            <a:ext cx="7463294" cy="5367528"/>
          </a:xfrm>
          <a:prstGeom prst="rect">
            <a:avLst/>
          </a:prstGeom>
          <a:solidFill>
            <a:srgbClr val="FFFFFF"/>
          </a:solidFill>
          <a:ln w="9525">
            <a:solidFill>
              <a:srgbClr val="D5D9E2"/>
            </a:solidFill>
            <a:prstDash val="solid"/>
          </a:ln>
        </p:spPr>
      </p:sp>
      <p:pic>
        <p:nvPicPr>
          <p:cNvPr id="6" name="Image 0" descr="C:\Users\ALEX\AppData\Local\Temp\claude\C--laragon-www-facturation\62a43aad-6d46-45af-979c-6c158c66b0c3\scratchpad\ppt3\use\mcd.jpg"/>
          <p:cNvPicPr>
            <a:picLocks noChangeAspect="1"/>
          </p:cNvPicPr>
          <p:nvPr/>
        </p:nvPicPr>
        <p:blipFill>
          <a:blip r:embed="rId4"/>
          <a:stretch>
            <a:fillRect/>
          </a:stretch>
        </p:blipFill>
        <p:spPr>
          <a:xfrm>
            <a:off x="2403977" y="1097280"/>
            <a:ext cx="7353566" cy="5257800"/>
          </a:xfrm>
          <a:prstGeom prst="rect">
            <a:avLst/>
          </a:prstGeom>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25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Zoom : la commande B2B</a:t>
            </a:r>
            <a:endParaRPr lang="en-US" sz="3000" dirty="0"/>
          </a:p>
        </p:txBody>
      </p:sp>
      <p:sp>
        <p:nvSpPr>
          <p:cNvPr id="5" name="Shape 3"/>
          <p:cNvSpPr/>
          <p:nvPr/>
        </p:nvSpPr>
        <p:spPr>
          <a:xfrm>
            <a:off x="2194560" y="1938528"/>
            <a:ext cx="0" cy="3694176"/>
          </a:xfrm>
          <a:prstGeom prst="line">
            <a:avLst/>
          </a:prstGeom>
          <a:noFill/>
          <a:ln w="19050">
            <a:solidFill>
              <a:srgbClr val="5B6478"/>
            </a:solidFill>
            <a:prstDash val="solid"/>
          </a:ln>
        </p:spPr>
      </p:sp>
      <p:sp>
        <p:nvSpPr>
          <p:cNvPr id="6" name="Shape 4"/>
          <p:cNvSpPr/>
          <p:nvPr/>
        </p:nvSpPr>
        <p:spPr>
          <a:xfrm>
            <a:off x="937260" y="1463040"/>
            <a:ext cx="2514600" cy="475488"/>
          </a:xfrm>
          <a:prstGeom prst="roundRect">
            <a:avLst>
              <a:gd name="adj" fmla="val 15385"/>
            </a:avLst>
          </a:prstGeom>
          <a:solidFill>
            <a:srgbClr val="FFFFFF"/>
          </a:solidFill>
          <a:ln w="19050">
            <a:solidFill>
              <a:srgbClr val="1F2A5C"/>
            </a:solidFill>
            <a:prstDash val="solid"/>
          </a:ln>
        </p:spPr>
      </p:sp>
      <p:sp>
        <p:nvSpPr>
          <p:cNvPr id="7" name="Text 5"/>
          <p:cNvSpPr txBox="1"/>
          <p:nvPr/>
        </p:nvSpPr>
        <p:spPr>
          <a:xfrm>
            <a:off x="937260" y="1463040"/>
            <a:ext cx="251460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Entreprise (acheteuse)</a:t>
            </a:r>
            <a:endParaRPr lang="en-US" sz="1400" dirty="0"/>
          </a:p>
        </p:txBody>
      </p:sp>
      <p:sp>
        <p:nvSpPr>
          <p:cNvPr id="8" name="Shape 6"/>
          <p:cNvSpPr/>
          <p:nvPr/>
        </p:nvSpPr>
        <p:spPr>
          <a:xfrm>
            <a:off x="1463040" y="2194560"/>
            <a:ext cx="1463040" cy="402336"/>
          </a:xfrm>
          <a:prstGeom prst="ellipse">
            <a:avLst/>
          </a:prstGeom>
          <a:solidFill>
            <a:srgbClr val="FFF4E2"/>
          </a:solidFill>
          <a:ln w="19050">
            <a:solidFill>
              <a:srgbClr val="F2A93B"/>
            </a:solidFill>
            <a:prstDash val="solid"/>
          </a:ln>
        </p:spPr>
      </p:sp>
      <p:sp>
        <p:nvSpPr>
          <p:cNvPr id="9" name="Text 7"/>
          <p:cNvSpPr txBox="1"/>
          <p:nvPr/>
        </p:nvSpPr>
        <p:spPr>
          <a:xfrm>
            <a:off x="1463040" y="2194560"/>
            <a:ext cx="146304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Passer</a:t>
            </a:r>
            <a:endParaRPr lang="en-US" sz="1250" dirty="0"/>
          </a:p>
        </p:txBody>
      </p:sp>
      <p:sp>
        <p:nvSpPr>
          <p:cNvPr id="10" name="Text 8"/>
          <p:cNvSpPr txBox="1"/>
          <p:nvPr/>
        </p:nvSpPr>
        <p:spPr>
          <a:xfrm>
            <a:off x="1627632" y="1947672"/>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11" name="Text 9"/>
          <p:cNvSpPr txBox="1"/>
          <p:nvPr/>
        </p:nvSpPr>
        <p:spPr>
          <a:xfrm>
            <a:off x="1627632" y="2596896"/>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1,1</a:t>
            </a:r>
            <a:endParaRPr lang="en-US" sz="1250" dirty="0"/>
          </a:p>
        </p:txBody>
      </p:sp>
      <p:sp>
        <p:nvSpPr>
          <p:cNvPr id="12" name="Shape 10"/>
          <p:cNvSpPr/>
          <p:nvPr/>
        </p:nvSpPr>
        <p:spPr>
          <a:xfrm>
            <a:off x="937260" y="2852928"/>
            <a:ext cx="2514600" cy="475488"/>
          </a:xfrm>
          <a:prstGeom prst="roundRect">
            <a:avLst>
              <a:gd name="adj" fmla="val 15385"/>
            </a:avLst>
          </a:prstGeom>
          <a:solidFill>
            <a:srgbClr val="1F2A5C"/>
          </a:solidFill>
          <a:ln w="19050">
            <a:solidFill>
              <a:srgbClr val="1F2A5C"/>
            </a:solidFill>
            <a:prstDash val="solid"/>
          </a:ln>
        </p:spPr>
      </p:sp>
      <p:sp>
        <p:nvSpPr>
          <p:cNvPr id="13" name="Text 11"/>
          <p:cNvSpPr txBox="1"/>
          <p:nvPr/>
        </p:nvSpPr>
        <p:spPr>
          <a:xfrm>
            <a:off x="937260" y="2852928"/>
            <a:ext cx="2514600"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Commande_B2B</a:t>
            </a:r>
            <a:endParaRPr lang="en-US" sz="1400" dirty="0"/>
          </a:p>
        </p:txBody>
      </p:sp>
      <p:sp>
        <p:nvSpPr>
          <p:cNvPr id="14" name="Shape 12"/>
          <p:cNvSpPr/>
          <p:nvPr/>
        </p:nvSpPr>
        <p:spPr>
          <a:xfrm>
            <a:off x="1463040" y="3584448"/>
            <a:ext cx="1463040" cy="402336"/>
          </a:xfrm>
          <a:prstGeom prst="ellipse">
            <a:avLst/>
          </a:prstGeom>
          <a:solidFill>
            <a:srgbClr val="FFF4E2"/>
          </a:solidFill>
          <a:ln w="19050">
            <a:solidFill>
              <a:srgbClr val="F2A93B"/>
            </a:solidFill>
            <a:prstDash val="solid"/>
          </a:ln>
        </p:spPr>
      </p:sp>
      <p:sp>
        <p:nvSpPr>
          <p:cNvPr id="15" name="Text 13"/>
          <p:cNvSpPr txBox="1"/>
          <p:nvPr/>
        </p:nvSpPr>
        <p:spPr>
          <a:xfrm>
            <a:off x="1463040" y="3584448"/>
            <a:ext cx="146304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Composer</a:t>
            </a:r>
            <a:endParaRPr lang="en-US" sz="1250" dirty="0"/>
          </a:p>
        </p:txBody>
      </p:sp>
      <p:sp>
        <p:nvSpPr>
          <p:cNvPr id="16" name="Text 14"/>
          <p:cNvSpPr txBox="1"/>
          <p:nvPr/>
        </p:nvSpPr>
        <p:spPr>
          <a:xfrm>
            <a:off x="1627632" y="3337560"/>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17" name="Text 15"/>
          <p:cNvSpPr txBox="1"/>
          <p:nvPr/>
        </p:nvSpPr>
        <p:spPr>
          <a:xfrm>
            <a:off x="1627632" y="3986784"/>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1,1</a:t>
            </a:r>
            <a:endParaRPr lang="en-US" sz="1250" dirty="0"/>
          </a:p>
        </p:txBody>
      </p:sp>
      <p:sp>
        <p:nvSpPr>
          <p:cNvPr id="18" name="Shape 16"/>
          <p:cNvSpPr/>
          <p:nvPr/>
        </p:nvSpPr>
        <p:spPr>
          <a:xfrm>
            <a:off x="937260" y="4242816"/>
            <a:ext cx="2514600" cy="475488"/>
          </a:xfrm>
          <a:prstGeom prst="roundRect">
            <a:avLst>
              <a:gd name="adj" fmla="val 15385"/>
            </a:avLst>
          </a:prstGeom>
          <a:solidFill>
            <a:srgbClr val="FFFFFF"/>
          </a:solidFill>
          <a:ln w="19050">
            <a:solidFill>
              <a:srgbClr val="1F2A5C"/>
            </a:solidFill>
            <a:prstDash val="solid"/>
          </a:ln>
        </p:spPr>
      </p:sp>
      <p:sp>
        <p:nvSpPr>
          <p:cNvPr id="19" name="Text 17"/>
          <p:cNvSpPr txBox="1"/>
          <p:nvPr/>
        </p:nvSpPr>
        <p:spPr>
          <a:xfrm>
            <a:off x="937260" y="4242816"/>
            <a:ext cx="251460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Ligne_Commande_B2B</a:t>
            </a:r>
            <a:endParaRPr lang="en-US" sz="1400" dirty="0"/>
          </a:p>
        </p:txBody>
      </p:sp>
      <p:sp>
        <p:nvSpPr>
          <p:cNvPr id="20" name="Shape 18"/>
          <p:cNvSpPr/>
          <p:nvPr/>
        </p:nvSpPr>
        <p:spPr>
          <a:xfrm>
            <a:off x="1463040" y="4974336"/>
            <a:ext cx="1463040" cy="402336"/>
          </a:xfrm>
          <a:prstGeom prst="ellipse">
            <a:avLst/>
          </a:prstGeom>
          <a:solidFill>
            <a:srgbClr val="FFF4E2"/>
          </a:solidFill>
          <a:ln w="19050">
            <a:solidFill>
              <a:srgbClr val="F2A93B"/>
            </a:solidFill>
            <a:prstDash val="solid"/>
          </a:ln>
        </p:spPr>
      </p:sp>
      <p:sp>
        <p:nvSpPr>
          <p:cNvPr id="21" name="Text 19"/>
          <p:cNvSpPr txBox="1"/>
          <p:nvPr/>
        </p:nvSpPr>
        <p:spPr>
          <a:xfrm>
            <a:off x="1463040" y="4974336"/>
            <a:ext cx="146304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Concerner</a:t>
            </a:r>
            <a:endParaRPr lang="en-US" sz="1250" dirty="0"/>
          </a:p>
        </p:txBody>
      </p:sp>
      <p:sp>
        <p:nvSpPr>
          <p:cNvPr id="22" name="Text 20"/>
          <p:cNvSpPr txBox="1"/>
          <p:nvPr/>
        </p:nvSpPr>
        <p:spPr>
          <a:xfrm>
            <a:off x="1627632" y="4727448"/>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1,1</a:t>
            </a:r>
            <a:endParaRPr lang="en-US" sz="1250" dirty="0"/>
          </a:p>
        </p:txBody>
      </p:sp>
      <p:sp>
        <p:nvSpPr>
          <p:cNvPr id="23" name="Text 21"/>
          <p:cNvSpPr txBox="1"/>
          <p:nvPr/>
        </p:nvSpPr>
        <p:spPr>
          <a:xfrm>
            <a:off x="1627632" y="5376672"/>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24" name="Shape 22"/>
          <p:cNvSpPr/>
          <p:nvPr/>
        </p:nvSpPr>
        <p:spPr>
          <a:xfrm>
            <a:off x="937260" y="5632704"/>
            <a:ext cx="2514600" cy="475488"/>
          </a:xfrm>
          <a:prstGeom prst="roundRect">
            <a:avLst>
              <a:gd name="adj" fmla="val 15385"/>
            </a:avLst>
          </a:prstGeom>
          <a:solidFill>
            <a:srgbClr val="FFFFFF"/>
          </a:solidFill>
          <a:ln w="19050">
            <a:solidFill>
              <a:srgbClr val="1F2A5C"/>
            </a:solidFill>
            <a:prstDash val="solid"/>
          </a:ln>
        </p:spPr>
      </p:sp>
      <p:sp>
        <p:nvSpPr>
          <p:cNvPr id="25" name="Text 23"/>
          <p:cNvSpPr txBox="1"/>
          <p:nvPr/>
        </p:nvSpPr>
        <p:spPr>
          <a:xfrm>
            <a:off x="937260" y="5632704"/>
            <a:ext cx="251460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Produit</a:t>
            </a:r>
            <a:endParaRPr lang="en-US" sz="1400" dirty="0"/>
          </a:p>
        </p:txBody>
      </p:sp>
      <p:sp>
        <p:nvSpPr>
          <p:cNvPr id="26" name="Shape 24"/>
          <p:cNvSpPr/>
          <p:nvPr/>
        </p:nvSpPr>
        <p:spPr>
          <a:xfrm>
            <a:off x="3451860" y="3090672"/>
            <a:ext cx="525780" cy="0"/>
          </a:xfrm>
          <a:prstGeom prst="line">
            <a:avLst/>
          </a:prstGeom>
          <a:noFill/>
          <a:ln w="19050">
            <a:solidFill>
              <a:srgbClr val="5B6478"/>
            </a:solidFill>
            <a:prstDash val="solid"/>
          </a:ln>
        </p:spPr>
      </p:sp>
      <p:sp>
        <p:nvSpPr>
          <p:cNvPr id="27" name="Shape 25"/>
          <p:cNvSpPr/>
          <p:nvPr/>
        </p:nvSpPr>
        <p:spPr>
          <a:xfrm>
            <a:off x="3977640" y="1828800"/>
            <a:ext cx="0" cy="2286000"/>
          </a:xfrm>
          <a:prstGeom prst="line">
            <a:avLst/>
          </a:prstGeom>
          <a:noFill/>
          <a:ln w="19050">
            <a:solidFill>
              <a:srgbClr val="5B6478"/>
            </a:solidFill>
            <a:prstDash val="solid"/>
          </a:ln>
        </p:spPr>
      </p:sp>
      <p:sp>
        <p:nvSpPr>
          <p:cNvPr id="28" name="Shape 26"/>
          <p:cNvSpPr/>
          <p:nvPr/>
        </p:nvSpPr>
        <p:spPr>
          <a:xfrm>
            <a:off x="3977640" y="1828800"/>
            <a:ext cx="937260" cy="0"/>
          </a:xfrm>
          <a:prstGeom prst="line">
            <a:avLst/>
          </a:prstGeom>
          <a:noFill/>
          <a:ln w="19050">
            <a:solidFill>
              <a:srgbClr val="5B6478"/>
            </a:solidFill>
            <a:prstDash val="solid"/>
          </a:ln>
        </p:spPr>
      </p:sp>
      <p:sp>
        <p:nvSpPr>
          <p:cNvPr id="29" name="Shape 27"/>
          <p:cNvSpPr/>
          <p:nvPr/>
        </p:nvSpPr>
        <p:spPr>
          <a:xfrm>
            <a:off x="6515100" y="1828800"/>
            <a:ext cx="1440180" cy="0"/>
          </a:xfrm>
          <a:prstGeom prst="line">
            <a:avLst/>
          </a:prstGeom>
          <a:noFill/>
          <a:ln w="19050">
            <a:solidFill>
              <a:srgbClr val="5B6478"/>
            </a:solidFill>
            <a:prstDash val="solid"/>
          </a:ln>
        </p:spPr>
      </p:sp>
      <p:sp>
        <p:nvSpPr>
          <p:cNvPr id="30" name="Shape 28"/>
          <p:cNvSpPr/>
          <p:nvPr/>
        </p:nvSpPr>
        <p:spPr>
          <a:xfrm>
            <a:off x="4914900" y="1627632"/>
            <a:ext cx="1600200" cy="402336"/>
          </a:xfrm>
          <a:prstGeom prst="ellipse">
            <a:avLst/>
          </a:prstGeom>
          <a:solidFill>
            <a:srgbClr val="FFF4E2"/>
          </a:solidFill>
          <a:ln w="19050">
            <a:solidFill>
              <a:srgbClr val="F2A93B"/>
            </a:solidFill>
            <a:prstDash val="solid"/>
          </a:ln>
        </p:spPr>
      </p:sp>
      <p:sp>
        <p:nvSpPr>
          <p:cNvPr id="31" name="Text 29"/>
          <p:cNvSpPr txBox="1"/>
          <p:nvPr/>
        </p:nvSpPr>
        <p:spPr>
          <a:xfrm>
            <a:off x="4914900" y="1627632"/>
            <a:ext cx="160020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Valider</a:t>
            </a:r>
            <a:endParaRPr lang="en-US" sz="1250" dirty="0"/>
          </a:p>
        </p:txBody>
      </p:sp>
      <p:sp>
        <p:nvSpPr>
          <p:cNvPr id="32" name="Shape 30"/>
          <p:cNvSpPr/>
          <p:nvPr/>
        </p:nvSpPr>
        <p:spPr>
          <a:xfrm>
            <a:off x="7955280" y="1591056"/>
            <a:ext cx="2651760" cy="475488"/>
          </a:xfrm>
          <a:prstGeom prst="roundRect">
            <a:avLst>
              <a:gd name="adj" fmla="val 15385"/>
            </a:avLst>
          </a:prstGeom>
          <a:solidFill>
            <a:srgbClr val="FFFFFF"/>
          </a:solidFill>
          <a:ln w="19050">
            <a:solidFill>
              <a:srgbClr val="1F2A5C"/>
            </a:solidFill>
            <a:prstDash val="solid"/>
          </a:ln>
        </p:spPr>
      </p:sp>
      <p:sp>
        <p:nvSpPr>
          <p:cNvPr id="33" name="Text 31"/>
          <p:cNvSpPr txBox="1"/>
          <p:nvPr/>
        </p:nvSpPr>
        <p:spPr>
          <a:xfrm>
            <a:off x="7955280" y="1591056"/>
            <a:ext cx="265176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Entreprise (vendeuse)</a:t>
            </a:r>
            <a:endParaRPr lang="en-US" sz="1400" dirty="0"/>
          </a:p>
        </p:txBody>
      </p:sp>
      <p:sp>
        <p:nvSpPr>
          <p:cNvPr id="34" name="Text 32"/>
          <p:cNvSpPr txBox="1"/>
          <p:nvPr/>
        </p:nvSpPr>
        <p:spPr>
          <a:xfrm>
            <a:off x="4069080" y="1545336"/>
            <a:ext cx="502920" cy="246888"/>
          </a:xfrm>
          <a:prstGeom prst="rect">
            <a:avLst/>
          </a:prstGeom>
          <a:noFill/>
          <a:ln/>
        </p:spPr>
        <p:txBody>
          <a:bodyPr wrap="square" lIns="0" tIns="0" rIns="0" bIns="0" rtlCol="0" anchor="ctr"/>
          <a:lstStyle/>
          <a:p>
            <a:pPr marL="0" indent="0" algn="l">
              <a:buNone/>
            </a:pPr>
            <a:r>
              <a:rPr lang="en-US" sz="1250" b="1" dirty="0">
                <a:solidFill>
                  <a:srgbClr val="A65F00"/>
                </a:solidFill>
                <a:latin typeface="Segoe UI" pitchFamily="34" charset="0"/>
                <a:ea typeface="Segoe UI" pitchFamily="34" charset="-122"/>
                <a:cs typeface="Segoe UI" pitchFamily="34" charset="-120"/>
              </a:rPr>
              <a:t>1,1</a:t>
            </a:r>
            <a:endParaRPr lang="en-US" sz="1250" dirty="0"/>
          </a:p>
        </p:txBody>
      </p:sp>
      <p:sp>
        <p:nvSpPr>
          <p:cNvPr id="35" name="Text 33"/>
          <p:cNvSpPr txBox="1"/>
          <p:nvPr/>
        </p:nvSpPr>
        <p:spPr>
          <a:xfrm>
            <a:off x="7406640" y="1545336"/>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36" name="Shape 34"/>
          <p:cNvSpPr/>
          <p:nvPr/>
        </p:nvSpPr>
        <p:spPr>
          <a:xfrm>
            <a:off x="3977640" y="2971800"/>
            <a:ext cx="937260" cy="0"/>
          </a:xfrm>
          <a:prstGeom prst="line">
            <a:avLst/>
          </a:prstGeom>
          <a:noFill/>
          <a:ln w="19050">
            <a:solidFill>
              <a:srgbClr val="5B6478"/>
            </a:solidFill>
            <a:prstDash val="solid"/>
          </a:ln>
        </p:spPr>
      </p:sp>
      <p:sp>
        <p:nvSpPr>
          <p:cNvPr id="37" name="Shape 35"/>
          <p:cNvSpPr/>
          <p:nvPr/>
        </p:nvSpPr>
        <p:spPr>
          <a:xfrm>
            <a:off x="6515100" y="2971800"/>
            <a:ext cx="1440180" cy="0"/>
          </a:xfrm>
          <a:prstGeom prst="line">
            <a:avLst/>
          </a:prstGeom>
          <a:noFill/>
          <a:ln w="19050">
            <a:solidFill>
              <a:srgbClr val="5B6478"/>
            </a:solidFill>
            <a:prstDash val="solid"/>
          </a:ln>
        </p:spPr>
      </p:sp>
      <p:sp>
        <p:nvSpPr>
          <p:cNvPr id="38" name="Shape 36"/>
          <p:cNvSpPr/>
          <p:nvPr/>
        </p:nvSpPr>
        <p:spPr>
          <a:xfrm>
            <a:off x="4914900" y="2770632"/>
            <a:ext cx="1600200" cy="402336"/>
          </a:xfrm>
          <a:prstGeom prst="ellipse">
            <a:avLst/>
          </a:prstGeom>
          <a:solidFill>
            <a:srgbClr val="FFF4E2"/>
          </a:solidFill>
          <a:ln w="19050">
            <a:solidFill>
              <a:srgbClr val="F2A93B"/>
            </a:solidFill>
            <a:prstDash val="solid"/>
          </a:ln>
        </p:spPr>
      </p:sp>
      <p:sp>
        <p:nvSpPr>
          <p:cNvPr id="39" name="Text 37"/>
          <p:cNvSpPr txBox="1"/>
          <p:nvPr/>
        </p:nvSpPr>
        <p:spPr>
          <a:xfrm>
            <a:off x="4914900" y="2770632"/>
            <a:ext cx="160020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Provenir</a:t>
            </a:r>
            <a:endParaRPr lang="en-US" sz="1250" dirty="0"/>
          </a:p>
        </p:txBody>
      </p:sp>
      <p:sp>
        <p:nvSpPr>
          <p:cNvPr id="40" name="Shape 38"/>
          <p:cNvSpPr/>
          <p:nvPr/>
        </p:nvSpPr>
        <p:spPr>
          <a:xfrm>
            <a:off x="7955280" y="2734056"/>
            <a:ext cx="2651760" cy="475488"/>
          </a:xfrm>
          <a:prstGeom prst="roundRect">
            <a:avLst>
              <a:gd name="adj" fmla="val 15385"/>
            </a:avLst>
          </a:prstGeom>
          <a:solidFill>
            <a:srgbClr val="FFFFFF"/>
          </a:solidFill>
          <a:ln w="19050">
            <a:solidFill>
              <a:srgbClr val="1F2A5C"/>
            </a:solidFill>
            <a:prstDash val="solid"/>
          </a:ln>
        </p:spPr>
      </p:sp>
      <p:sp>
        <p:nvSpPr>
          <p:cNvPr id="41" name="Text 39"/>
          <p:cNvSpPr txBox="1"/>
          <p:nvPr/>
        </p:nvSpPr>
        <p:spPr>
          <a:xfrm>
            <a:off x="7955280" y="2734056"/>
            <a:ext cx="265176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Notification_B2B</a:t>
            </a:r>
            <a:endParaRPr lang="en-US" sz="1400" dirty="0"/>
          </a:p>
        </p:txBody>
      </p:sp>
      <p:sp>
        <p:nvSpPr>
          <p:cNvPr id="42" name="Text 40"/>
          <p:cNvSpPr txBox="1"/>
          <p:nvPr/>
        </p:nvSpPr>
        <p:spPr>
          <a:xfrm>
            <a:off x="4069080" y="2688336"/>
            <a:ext cx="502920" cy="246888"/>
          </a:xfrm>
          <a:prstGeom prst="rect">
            <a:avLst/>
          </a:prstGeom>
          <a:noFill/>
          <a:ln/>
        </p:spPr>
        <p:txBody>
          <a:bodyPr wrap="square" lIns="0" tIns="0" rIns="0" bIns="0" rtlCol="0" anchor="ctr"/>
          <a:lstStyle/>
          <a:p>
            <a:pPr marL="0" indent="0" algn="l">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43" name="Text 41"/>
          <p:cNvSpPr txBox="1"/>
          <p:nvPr/>
        </p:nvSpPr>
        <p:spPr>
          <a:xfrm>
            <a:off x="7406640" y="2688336"/>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0,1</a:t>
            </a:r>
            <a:endParaRPr lang="en-US" sz="1250" dirty="0"/>
          </a:p>
        </p:txBody>
      </p:sp>
      <p:sp>
        <p:nvSpPr>
          <p:cNvPr id="44" name="Shape 42"/>
          <p:cNvSpPr/>
          <p:nvPr/>
        </p:nvSpPr>
        <p:spPr>
          <a:xfrm>
            <a:off x="3977640" y="4114800"/>
            <a:ext cx="937260" cy="0"/>
          </a:xfrm>
          <a:prstGeom prst="line">
            <a:avLst/>
          </a:prstGeom>
          <a:noFill/>
          <a:ln w="19050">
            <a:solidFill>
              <a:srgbClr val="5B6478"/>
            </a:solidFill>
            <a:prstDash val="solid"/>
          </a:ln>
        </p:spPr>
      </p:sp>
      <p:sp>
        <p:nvSpPr>
          <p:cNvPr id="45" name="Shape 43"/>
          <p:cNvSpPr/>
          <p:nvPr/>
        </p:nvSpPr>
        <p:spPr>
          <a:xfrm>
            <a:off x="6515100" y="4114800"/>
            <a:ext cx="1440180" cy="0"/>
          </a:xfrm>
          <a:prstGeom prst="line">
            <a:avLst/>
          </a:prstGeom>
          <a:noFill/>
          <a:ln w="19050">
            <a:solidFill>
              <a:srgbClr val="5B6478"/>
            </a:solidFill>
            <a:prstDash val="solid"/>
          </a:ln>
        </p:spPr>
      </p:sp>
      <p:sp>
        <p:nvSpPr>
          <p:cNvPr id="46" name="Shape 44"/>
          <p:cNvSpPr/>
          <p:nvPr/>
        </p:nvSpPr>
        <p:spPr>
          <a:xfrm>
            <a:off x="4914900" y="3913632"/>
            <a:ext cx="1600200" cy="402336"/>
          </a:xfrm>
          <a:prstGeom prst="ellipse">
            <a:avLst/>
          </a:prstGeom>
          <a:solidFill>
            <a:srgbClr val="FFF4E2"/>
          </a:solidFill>
          <a:ln w="19050">
            <a:solidFill>
              <a:srgbClr val="F2A93B"/>
            </a:solidFill>
            <a:prstDash val="solid"/>
          </a:ln>
        </p:spPr>
      </p:sp>
      <p:sp>
        <p:nvSpPr>
          <p:cNvPr id="47" name="Text 45"/>
          <p:cNvSpPr txBox="1"/>
          <p:nvPr/>
        </p:nvSpPr>
        <p:spPr>
          <a:xfrm>
            <a:off x="4914900" y="3913632"/>
            <a:ext cx="1600200" cy="402336"/>
          </a:xfrm>
          <a:prstGeom prst="rect">
            <a:avLst/>
          </a:prstGeom>
          <a:noFill/>
          <a:ln/>
        </p:spPr>
        <p:txBody>
          <a:bodyPr wrap="square" lIns="0" tIns="0" rIns="0" bIns="0" rtlCol="0" anchor="ctr"/>
          <a:lstStyle/>
          <a:p>
            <a:pPr marL="0" indent="0" algn="ctr">
              <a:buNone/>
            </a:pPr>
            <a:r>
              <a:rPr lang="en-US" sz="1250" i="1" dirty="0">
                <a:solidFill>
                  <a:srgbClr val="1F2A44"/>
                </a:solidFill>
                <a:latin typeface="Segoe UI" pitchFamily="34" charset="0"/>
                <a:ea typeface="Segoe UI" pitchFamily="34" charset="-122"/>
                <a:cs typeface="Segoe UI" pitchFamily="34" charset="-120"/>
              </a:rPr>
              <a:t>Etre_Etablie</a:t>
            </a:r>
            <a:endParaRPr lang="en-US" sz="1250" dirty="0"/>
          </a:p>
        </p:txBody>
      </p:sp>
      <p:sp>
        <p:nvSpPr>
          <p:cNvPr id="48" name="Shape 46"/>
          <p:cNvSpPr/>
          <p:nvPr/>
        </p:nvSpPr>
        <p:spPr>
          <a:xfrm>
            <a:off x="7955280" y="3877056"/>
            <a:ext cx="2651760" cy="475488"/>
          </a:xfrm>
          <a:prstGeom prst="roundRect">
            <a:avLst>
              <a:gd name="adj" fmla="val 15385"/>
            </a:avLst>
          </a:prstGeom>
          <a:solidFill>
            <a:srgbClr val="FFFFFF"/>
          </a:solidFill>
          <a:ln w="19050">
            <a:solidFill>
              <a:srgbClr val="1F2A5C"/>
            </a:solidFill>
            <a:prstDash val="solid"/>
          </a:ln>
        </p:spPr>
      </p:sp>
      <p:sp>
        <p:nvSpPr>
          <p:cNvPr id="49" name="Text 47"/>
          <p:cNvSpPr txBox="1"/>
          <p:nvPr/>
        </p:nvSpPr>
        <p:spPr>
          <a:xfrm>
            <a:off x="7955280" y="3877056"/>
            <a:ext cx="2651760" cy="475488"/>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Facture</a:t>
            </a:r>
            <a:endParaRPr lang="en-US" sz="1400" dirty="0"/>
          </a:p>
        </p:txBody>
      </p:sp>
      <p:sp>
        <p:nvSpPr>
          <p:cNvPr id="50" name="Text 48"/>
          <p:cNvSpPr txBox="1"/>
          <p:nvPr/>
        </p:nvSpPr>
        <p:spPr>
          <a:xfrm>
            <a:off x="4069080" y="3831336"/>
            <a:ext cx="502920" cy="246888"/>
          </a:xfrm>
          <a:prstGeom prst="rect">
            <a:avLst/>
          </a:prstGeom>
          <a:noFill/>
          <a:ln/>
        </p:spPr>
        <p:txBody>
          <a:bodyPr wrap="square" lIns="0" tIns="0" rIns="0" bIns="0" rtlCol="0" anchor="ctr"/>
          <a:lstStyle/>
          <a:p>
            <a:pPr marL="0" indent="0" algn="l">
              <a:buNone/>
            </a:pPr>
            <a:r>
              <a:rPr lang="en-US" sz="1250" b="1" dirty="0">
                <a:solidFill>
                  <a:srgbClr val="A65F00"/>
                </a:solidFill>
                <a:latin typeface="Segoe UI" pitchFamily="34" charset="0"/>
                <a:ea typeface="Segoe UI" pitchFamily="34" charset="-122"/>
                <a:cs typeface="Segoe UI" pitchFamily="34" charset="-120"/>
              </a:rPr>
              <a:t>0,n</a:t>
            </a:r>
            <a:endParaRPr lang="en-US" sz="1250" dirty="0"/>
          </a:p>
        </p:txBody>
      </p:sp>
      <p:sp>
        <p:nvSpPr>
          <p:cNvPr id="51" name="Text 49"/>
          <p:cNvSpPr txBox="1"/>
          <p:nvPr/>
        </p:nvSpPr>
        <p:spPr>
          <a:xfrm>
            <a:off x="7406640" y="3831336"/>
            <a:ext cx="502920" cy="246888"/>
          </a:xfrm>
          <a:prstGeom prst="rect">
            <a:avLst/>
          </a:prstGeom>
          <a:noFill/>
          <a:ln/>
        </p:spPr>
        <p:txBody>
          <a:bodyPr wrap="square" lIns="0" tIns="0" rIns="0" bIns="0" rtlCol="0" anchor="ctr"/>
          <a:lstStyle/>
          <a:p>
            <a:pPr marL="0" indent="0" algn="r">
              <a:buNone/>
            </a:pPr>
            <a:r>
              <a:rPr lang="en-US" sz="1250" b="1" dirty="0">
                <a:solidFill>
                  <a:srgbClr val="A65F00"/>
                </a:solidFill>
                <a:latin typeface="Segoe UI" pitchFamily="34" charset="0"/>
                <a:ea typeface="Segoe UI" pitchFamily="34" charset="-122"/>
                <a:cs typeface="Segoe UI" pitchFamily="34" charset="-120"/>
              </a:rPr>
              <a:t>0,1</a:t>
            </a:r>
            <a:endParaRPr lang="en-US" sz="1250" dirty="0"/>
          </a:p>
        </p:txBody>
      </p:sp>
      <p:sp>
        <p:nvSpPr>
          <p:cNvPr id="52" name="Shape 50"/>
          <p:cNvSpPr/>
          <p:nvPr/>
        </p:nvSpPr>
        <p:spPr>
          <a:xfrm>
            <a:off x="3977640" y="4892040"/>
            <a:ext cx="7543800" cy="1143000"/>
          </a:xfrm>
          <a:prstGeom prst="roundRect">
            <a:avLst>
              <a:gd name="adj" fmla="val 8000"/>
            </a:avLst>
          </a:prstGeom>
          <a:solidFill>
            <a:srgbClr val="F4F5F8"/>
          </a:solidFill>
          <a:ln/>
        </p:spPr>
      </p:sp>
      <p:sp>
        <p:nvSpPr>
          <p:cNvPr id="53" name="Text 51"/>
          <p:cNvSpPr txBox="1"/>
          <p:nvPr/>
        </p:nvSpPr>
        <p:spPr>
          <a:xfrm>
            <a:off x="4206240" y="4937760"/>
            <a:ext cx="7132320" cy="1051560"/>
          </a:xfrm>
          <a:prstGeom prst="rect">
            <a:avLst/>
          </a:prstGeom>
          <a:noFill/>
          <a:ln/>
        </p:spPr>
        <p:txBody>
          <a:bodyPr wrap="square" lIns="0" tIns="0" rIns="0" bIns="0" rtlCol="0" anchor="ctr"/>
          <a:lstStyle/>
          <a:p>
            <a:pPr marL="0" indent="0">
              <a:buNone/>
            </a:pPr>
            <a:r>
              <a:rPr lang="en-US" sz="1350" b="1" dirty="0">
                <a:solidFill>
                  <a:srgbClr val="1F2A5C"/>
                </a:solidFill>
                <a:latin typeface="Segoe UI" pitchFamily="34" charset="0"/>
                <a:ea typeface="Segoe UI" pitchFamily="34" charset="-122"/>
                <a:cs typeface="Segoe UI" pitchFamily="34" charset="-120"/>
              </a:rPr>
              <a:t>Une seule entité Entreprise, avec deux rôles : acheteuse et vendeuse.</a:t>
            </a:r>
            <a:endParaRPr lang="en-US" sz="1350" dirty="0"/>
          </a:p>
          <a:p>
            <a:pPr marL="0" indent="0">
              <a:buNone/>
            </a:pPr>
            <a:r>
              <a:rPr lang="en-US" sz="1350" dirty="0">
                <a:solidFill>
                  <a:srgbClr val="1F2A44"/>
                </a:solidFill>
                <a:latin typeface="Segoe UI" pitchFamily="34" charset="0"/>
                <a:ea typeface="Segoe UI" pitchFamily="34" charset="-122"/>
                <a:cs typeface="Segoe UI" pitchFamily="34" charset="-120"/>
              </a:rPr>
              <a:t>RG6 et RG7 : une commande est passée par une seule entreprise acheteuse et adressée à une seule entreprise vendeuse, qui la valide ou la refuse.</a:t>
            </a:r>
            <a:endParaRPr lang="en-US" sz="1350" dirty="0"/>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26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MCT du module réseautage B2B</a:t>
            </a:r>
            <a:endParaRPr lang="en-US" sz="3000" dirty="0"/>
          </a:p>
        </p:txBody>
      </p:sp>
      <p:sp>
        <p:nvSpPr>
          <p:cNvPr id="5" name="Shape 3"/>
          <p:cNvSpPr/>
          <p:nvPr/>
        </p:nvSpPr>
        <p:spPr>
          <a:xfrm>
            <a:off x="7329812" y="996696"/>
            <a:ext cx="3719816" cy="5276088"/>
          </a:xfrm>
          <a:prstGeom prst="rect">
            <a:avLst/>
          </a:prstGeom>
          <a:solidFill>
            <a:srgbClr val="FFFFFF"/>
          </a:solidFill>
          <a:ln w="9525">
            <a:solidFill>
              <a:srgbClr val="D5D9E2"/>
            </a:solidFill>
            <a:prstDash val="solid"/>
          </a:ln>
        </p:spPr>
      </p:sp>
      <p:pic>
        <p:nvPicPr>
          <p:cNvPr id="6" name="Image 0" descr="C:\Users\ALEX\AppData\Local\Temp\claude\C--laragon-www-facturation\62a43aad-6d46-45af-979c-6c158c66b0c3\scratchpad\ppt3\use\mct.jpg"/>
          <p:cNvPicPr>
            <a:picLocks noChangeAspect="1"/>
          </p:cNvPicPr>
          <p:nvPr/>
        </p:nvPicPr>
        <p:blipFill>
          <a:blip r:embed="rId4"/>
          <a:stretch>
            <a:fillRect/>
          </a:stretch>
        </p:blipFill>
        <p:spPr>
          <a:xfrm>
            <a:off x="7384676" y="1051560"/>
            <a:ext cx="3610088" cy="5166360"/>
          </a:xfrm>
          <a:prstGeom prst="rect">
            <a:avLst/>
          </a:prstGeom>
        </p:spPr>
      </p:pic>
      <p:sp>
        <p:nvSpPr>
          <p:cNvPr id="7" name="Shape 4"/>
          <p:cNvSpPr/>
          <p:nvPr/>
        </p:nvSpPr>
        <p:spPr>
          <a:xfrm>
            <a:off x="731520" y="1554480"/>
            <a:ext cx="566928" cy="548640"/>
          </a:xfrm>
          <a:prstGeom prst="roundRect">
            <a:avLst>
              <a:gd name="adj" fmla="val 16667"/>
            </a:avLst>
          </a:prstGeom>
          <a:solidFill>
            <a:srgbClr val="F2A93B"/>
          </a:solidFill>
          <a:ln/>
        </p:spPr>
      </p:sp>
      <p:sp>
        <p:nvSpPr>
          <p:cNvPr id="8" name="Text 5"/>
          <p:cNvSpPr txBox="1"/>
          <p:nvPr/>
        </p:nvSpPr>
        <p:spPr>
          <a:xfrm>
            <a:off x="731520" y="1554480"/>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9" name="Text 6"/>
          <p:cNvSpPr txBox="1"/>
          <p:nvPr/>
        </p:nvSpPr>
        <p:spPr>
          <a:xfrm>
            <a:off x="1508760" y="1508760"/>
            <a:ext cx="512064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Lancement de la commande</a:t>
            </a:r>
            <a:endParaRPr lang="en-US" sz="1800" dirty="0"/>
          </a:p>
        </p:txBody>
      </p:sp>
      <p:sp>
        <p:nvSpPr>
          <p:cNvPr id="10" name="Text 7"/>
          <p:cNvSpPr txBox="1"/>
          <p:nvPr/>
        </p:nvSpPr>
        <p:spPr>
          <a:xfrm>
            <a:off x="1508760" y="1901952"/>
            <a:ext cx="5120640" cy="54864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Recherche du partenaire et du produit</a:t>
            </a:r>
            <a:endParaRPr lang="en-US" sz="1450" dirty="0"/>
          </a:p>
        </p:txBody>
      </p:sp>
      <p:sp>
        <p:nvSpPr>
          <p:cNvPr id="11" name="Shape 8"/>
          <p:cNvSpPr/>
          <p:nvPr/>
        </p:nvSpPr>
        <p:spPr>
          <a:xfrm>
            <a:off x="731520" y="2670048"/>
            <a:ext cx="566928" cy="548640"/>
          </a:xfrm>
          <a:prstGeom prst="roundRect">
            <a:avLst>
              <a:gd name="adj" fmla="val 16667"/>
            </a:avLst>
          </a:prstGeom>
          <a:solidFill>
            <a:srgbClr val="F2A93B"/>
          </a:solidFill>
          <a:ln/>
        </p:spPr>
      </p:sp>
      <p:sp>
        <p:nvSpPr>
          <p:cNvPr id="12" name="Text 9"/>
          <p:cNvSpPr txBox="1"/>
          <p:nvPr/>
        </p:nvSpPr>
        <p:spPr>
          <a:xfrm>
            <a:off x="731520" y="2670048"/>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0"/>
          <p:cNvSpPr txBox="1"/>
          <p:nvPr/>
        </p:nvSpPr>
        <p:spPr>
          <a:xfrm>
            <a:off x="1508760" y="2624328"/>
            <a:ext cx="512064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Réception et vérification</a:t>
            </a:r>
            <a:endParaRPr lang="en-US" sz="1800" dirty="0"/>
          </a:p>
        </p:txBody>
      </p:sp>
      <p:sp>
        <p:nvSpPr>
          <p:cNvPr id="14" name="Text 11"/>
          <p:cNvSpPr txBox="1"/>
          <p:nvPr/>
        </p:nvSpPr>
        <p:spPr>
          <a:xfrm>
            <a:off x="1508760" y="3017520"/>
            <a:ext cx="5120640" cy="54864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Stock disponible : commande validée ; rupture : refusée</a:t>
            </a:r>
            <a:endParaRPr lang="en-US" sz="1450" dirty="0"/>
          </a:p>
        </p:txBody>
      </p:sp>
      <p:sp>
        <p:nvSpPr>
          <p:cNvPr id="15" name="Shape 12"/>
          <p:cNvSpPr/>
          <p:nvPr/>
        </p:nvSpPr>
        <p:spPr>
          <a:xfrm>
            <a:off x="731520" y="3785616"/>
            <a:ext cx="566928" cy="548640"/>
          </a:xfrm>
          <a:prstGeom prst="roundRect">
            <a:avLst>
              <a:gd name="adj" fmla="val 16667"/>
            </a:avLst>
          </a:prstGeom>
          <a:solidFill>
            <a:srgbClr val="F2A93B"/>
          </a:solidFill>
          <a:ln/>
        </p:spPr>
      </p:sp>
      <p:sp>
        <p:nvSpPr>
          <p:cNvPr id="16" name="Text 13"/>
          <p:cNvSpPr txBox="1"/>
          <p:nvPr/>
        </p:nvSpPr>
        <p:spPr>
          <a:xfrm>
            <a:off x="731520" y="3785616"/>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7" name="Text 14"/>
          <p:cNvSpPr txBox="1"/>
          <p:nvPr/>
        </p:nvSpPr>
        <p:spPr>
          <a:xfrm>
            <a:off x="1508760" y="3739896"/>
            <a:ext cx="512064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Facturation</a:t>
            </a:r>
            <a:endParaRPr lang="en-US" sz="1800" dirty="0"/>
          </a:p>
        </p:txBody>
      </p:sp>
      <p:sp>
        <p:nvSpPr>
          <p:cNvPr id="18" name="Text 15"/>
          <p:cNvSpPr txBox="1"/>
          <p:nvPr/>
        </p:nvSpPr>
        <p:spPr>
          <a:xfrm>
            <a:off x="1508760" y="4133088"/>
            <a:ext cx="5120640" cy="54864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Calcul du montant et génération de la facture</a:t>
            </a:r>
            <a:endParaRPr lang="en-US" sz="1450" dirty="0"/>
          </a:p>
        </p:txBody>
      </p:sp>
      <p:sp>
        <p:nvSpPr>
          <p:cNvPr id="19" name="Shape 16"/>
          <p:cNvSpPr/>
          <p:nvPr/>
        </p:nvSpPr>
        <p:spPr>
          <a:xfrm>
            <a:off x="731520" y="4901184"/>
            <a:ext cx="566928" cy="548640"/>
          </a:xfrm>
          <a:prstGeom prst="roundRect">
            <a:avLst>
              <a:gd name="adj" fmla="val 16667"/>
            </a:avLst>
          </a:prstGeom>
          <a:solidFill>
            <a:srgbClr val="F2A93B"/>
          </a:solidFill>
          <a:ln/>
        </p:spPr>
      </p:sp>
      <p:sp>
        <p:nvSpPr>
          <p:cNvPr id="20" name="Text 17"/>
          <p:cNvSpPr txBox="1"/>
          <p:nvPr/>
        </p:nvSpPr>
        <p:spPr>
          <a:xfrm>
            <a:off x="731520" y="4901184"/>
            <a:ext cx="566928"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1" name="Text 18"/>
          <p:cNvSpPr txBox="1"/>
          <p:nvPr/>
        </p:nvSpPr>
        <p:spPr>
          <a:xfrm>
            <a:off x="1508760" y="4855464"/>
            <a:ext cx="5120640" cy="384048"/>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Paiement</a:t>
            </a:r>
            <a:endParaRPr lang="en-US" sz="1800" dirty="0"/>
          </a:p>
        </p:txBody>
      </p:sp>
      <p:sp>
        <p:nvSpPr>
          <p:cNvPr id="22" name="Text 19"/>
          <p:cNvSpPr txBox="1"/>
          <p:nvPr/>
        </p:nvSpPr>
        <p:spPr>
          <a:xfrm>
            <a:off x="1508760" y="5248656"/>
            <a:ext cx="5120640" cy="54864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Règlement enregistré, ou relance de paiement</a:t>
            </a:r>
            <a:endParaRPr lang="en-US" sz="1450" dirty="0"/>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27 »</a:t>
            </a:r>
            <a:endParaRPr lang="en-US" sz="1100" dirty="0"/>
          </a:p>
        </p:txBody>
      </p:sp>
      <p:pic>
        <p:nvPicPr>
          <p:cNvPr id="4" name="Image 0" descr="C:\Users\ALEX\AppData\Local\Temp\claude\C--laragon-www-facturation\62a43aad-6d46-45af-979c-6c158c66b0c3\scratchpad\ppt3\a4\ill_banner-sales.png"/>
          <p:cNvPicPr>
            <a:picLocks noChangeAspect="1"/>
          </p:cNvPicPr>
          <p:nvPr/>
        </p:nvPicPr>
        <p:blipFill>
          <a:blip r:embed="rId4"/>
          <a:stretch>
            <a:fillRect/>
          </a:stretch>
        </p:blipFill>
        <p:spPr>
          <a:xfrm>
            <a:off x="640080" y="570419"/>
            <a:ext cx="4754880" cy="2973961"/>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06</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Mise en œuvre</a:t>
            </a:r>
            <a:endParaRPr lang="en-US" sz="3800" dirty="0"/>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28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Outils et technologies</a:t>
            </a:r>
            <a:endParaRPr lang="en-US" sz="3000" dirty="0"/>
          </a:p>
        </p:txBody>
      </p:sp>
      <p:sp>
        <p:nvSpPr>
          <p:cNvPr id="5" name="Shape 3"/>
          <p:cNvSpPr/>
          <p:nvPr/>
        </p:nvSpPr>
        <p:spPr>
          <a:xfrm>
            <a:off x="777240" y="1554480"/>
            <a:ext cx="1554480" cy="1554480"/>
          </a:xfrm>
          <a:prstGeom prst="roundRect">
            <a:avLst>
              <a:gd name="adj" fmla="val 8235"/>
            </a:avLst>
          </a:prstGeom>
          <a:solidFill>
            <a:srgbClr val="FFFFFF"/>
          </a:solidFill>
          <a:ln w="12700">
            <a:solidFill>
              <a:srgbClr val="D5D9E2"/>
            </a:solidFill>
            <a:prstDash val="solid"/>
          </a:ln>
        </p:spPr>
      </p:sp>
      <p:pic>
        <p:nvPicPr>
          <p:cNvPr id="6" name="Image 0" descr="preencoded.png"/>
          <p:cNvPicPr>
            <a:picLocks noChangeAspect="1"/>
          </p:cNvPicPr>
          <p:nvPr/>
        </p:nvPicPr>
        <p:blipFill>
          <a:blip r:embed="rId4"/>
          <a:stretch>
            <a:fillRect/>
          </a:stretch>
        </p:blipFill>
        <p:spPr>
          <a:xfrm>
            <a:off x="1143000" y="1920240"/>
            <a:ext cx="822960" cy="822960"/>
          </a:xfrm>
          <a:prstGeom prst="rect">
            <a:avLst/>
          </a:prstGeom>
        </p:spPr>
      </p:pic>
      <p:sp>
        <p:nvSpPr>
          <p:cNvPr id="7" name="Text 4"/>
          <p:cNvSpPr txBox="1"/>
          <p:nvPr/>
        </p:nvSpPr>
        <p:spPr>
          <a:xfrm>
            <a:off x="6400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PHP 8.3</a:t>
            </a:r>
            <a:endParaRPr lang="en-US" sz="1400" dirty="0"/>
          </a:p>
        </p:txBody>
      </p:sp>
      <p:sp>
        <p:nvSpPr>
          <p:cNvPr id="8" name="Shape 5"/>
          <p:cNvSpPr/>
          <p:nvPr/>
        </p:nvSpPr>
        <p:spPr>
          <a:xfrm>
            <a:off x="2606040" y="1554480"/>
            <a:ext cx="1554480" cy="1554480"/>
          </a:xfrm>
          <a:prstGeom prst="roundRect">
            <a:avLst>
              <a:gd name="adj" fmla="val 8235"/>
            </a:avLst>
          </a:prstGeom>
          <a:solidFill>
            <a:srgbClr val="FFFFFF"/>
          </a:solidFill>
          <a:ln w="12700">
            <a:solidFill>
              <a:srgbClr val="D5D9E2"/>
            </a:solidFill>
            <a:prstDash val="solid"/>
          </a:ln>
        </p:spPr>
      </p:sp>
      <p:pic>
        <p:nvPicPr>
          <p:cNvPr id="9" name="Image 1" descr="preencoded.png"/>
          <p:cNvPicPr>
            <a:picLocks noChangeAspect="1"/>
          </p:cNvPicPr>
          <p:nvPr/>
        </p:nvPicPr>
        <p:blipFill>
          <a:blip r:embed="rId5"/>
          <a:stretch>
            <a:fillRect/>
          </a:stretch>
        </p:blipFill>
        <p:spPr>
          <a:xfrm>
            <a:off x="2971800" y="1920240"/>
            <a:ext cx="822960" cy="822960"/>
          </a:xfrm>
          <a:prstGeom prst="rect">
            <a:avLst/>
          </a:prstGeom>
        </p:spPr>
      </p:pic>
      <p:sp>
        <p:nvSpPr>
          <p:cNvPr id="10" name="Text 6"/>
          <p:cNvSpPr txBox="1"/>
          <p:nvPr/>
        </p:nvSpPr>
        <p:spPr>
          <a:xfrm>
            <a:off x="24688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MySQL 8.0</a:t>
            </a:r>
            <a:endParaRPr lang="en-US" sz="1400" dirty="0"/>
          </a:p>
        </p:txBody>
      </p:sp>
      <p:sp>
        <p:nvSpPr>
          <p:cNvPr id="11" name="Shape 7"/>
          <p:cNvSpPr/>
          <p:nvPr/>
        </p:nvSpPr>
        <p:spPr>
          <a:xfrm>
            <a:off x="4434840" y="1554480"/>
            <a:ext cx="1554480" cy="1554480"/>
          </a:xfrm>
          <a:prstGeom prst="roundRect">
            <a:avLst>
              <a:gd name="adj" fmla="val 8235"/>
            </a:avLst>
          </a:prstGeom>
          <a:solidFill>
            <a:srgbClr val="FFFFFF"/>
          </a:solidFill>
          <a:ln w="12700">
            <a:solidFill>
              <a:srgbClr val="D5D9E2"/>
            </a:solidFill>
            <a:prstDash val="solid"/>
          </a:ln>
        </p:spPr>
      </p:sp>
      <p:pic>
        <p:nvPicPr>
          <p:cNvPr id="12" name="Image 2" descr="preencoded.png"/>
          <p:cNvPicPr>
            <a:picLocks noChangeAspect="1"/>
          </p:cNvPicPr>
          <p:nvPr/>
        </p:nvPicPr>
        <p:blipFill>
          <a:blip r:embed="rId6"/>
          <a:stretch>
            <a:fillRect/>
          </a:stretch>
        </p:blipFill>
        <p:spPr>
          <a:xfrm>
            <a:off x="4800600" y="1920240"/>
            <a:ext cx="822960" cy="822960"/>
          </a:xfrm>
          <a:prstGeom prst="rect">
            <a:avLst/>
          </a:prstGeom>
        </p:spPr>
      </p:pic>
      <p:sp>
        <p:nvSpPr>
          <p:cNvPr id="13" name="Text 8"/>
          <p:cNvSpPr txBox="1"/>
          <p:nvPr/>
        </p:nvSpPr>
        <p:spPr>
          <a:xfrm>
            <a:off x="42976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Apache</a:t>
            </a:r>
            <a:endParaRPr lang="en-US" sz="1400" dirty="0"/>
          </a:p>
        </p:txBody>
      </p:sp>
      <p:sp>
        <p:nvSpPr>
          <p:cNvPr id="14" name="Shape 9"/>
          <p:cNvSpPr/>
          <p:nvPr/>
        </p:nvSpPr>
        <p:spPr>
          <a:xfrm>
            <a:off x="6263640" y="1554480"/>
            <a:ext cx="1554480" cy="1554480"/>
          </a:xfrm>
          <a:prstGeom prst="roundRect">
            <a:avLst>
              <a:gd name="adj" fmla="val 8235"/>
            </a:avLst>
          </a:prstGeom>
          <a:solidFill>
            <a:srgbClr val="FFFFFF"/>
          </a:solidFill>
          <a:ln w="12700">
            <a:solidFill>
              <a:srgbClr val="D5D9E2"/>
            </a:solidFill>
            <a:prstDash val="solid"/>
          </a:ln>
        </p:spPr>
      </p:sp>
      <p:pic>
        <p:nvPicPr>
          <p:cNvPr id="15" name="Image 3" descr="preencoded.png"/>
          <p:cNvPicPr>
            <a:picLocks noChangeAspect="1"/>
          </p:cNvPicPr>
          <p:nvPr/>
        </p:nvPicPr>
        <p:blipFill>
          <a:blip r:embed="rId7"/>
          <a:stretch>
            <a:fillRect/>
          </a:stretch>
        </p:blipFill>
        <p:spPr>
          <a:xfrm>
            <a:off x="6629400" y="1920240"/>
            <a:ext cx="822960" cy="822960"/>
          </a:xfrm>
          <a:prstGeom prst="rect">
            <a:avLst/>
          </a:prstGeom>
        </p:spPr>
      </p:pic>
      <p:sp>
        <p:nvSpPr>
          <p:cNvPr id="16" name="Text 10"/>
          <p:cNvSpPr txBox="1"/>
          <p:nvPr/>
        </p:nvSpPr>
        <p:spPr>
          <a:xfrm>
            <a:off x="61264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phpMyAdmin</a:t>
            </a:r>
            <a:endParaRPr lang="en-US" sz="1400" dirty="0"/>
          </a:p>
        </p:txBody>
      </p:sp>
      <p:sp>
        <p:nvSpPr>
          <p:cNvPr id="17" name="Shape 11"/>
          <p:cNvSpPr/>
          <p:nvPr/>
        </p:nvSpPr>
        <p:spPr>
          <a:xfrm>
            <a:off x="8092440" y="1554480"/>
            <a:ext cx="1554480" cy="1554480"/>
          </a:xfrm>
          <a:prstGeom prst="roundRect">
            <a:avLst>
              <a:gd name="adj" fmla="val 8235"/>
            </a:avLst>
          </a:prstGeom>
          <a:solidFill>
            <a:srgbClr val="FFFFFF"/>
          </a:solidFill>
          <a:ln w="12700">
            <a:solidFill>
              <a:srgbClr val="D5D9E2"/>
            </a:solidFill>
            <a:prstDash val="solid"/>
          </a:ln>
        </p:spPr>
      </p:sp>
      <p:pic>
        <p:nvPicPr>
          <p:cNvPr id="18" name="Image 4" descr="preencoded.png"/>
          <p:cNvPicPr>
            <a:picLocks noChangeAspect="1"/>
          </p:cNvPicPr>
          <p:nvPr/>
        </p:nvPicPr>
        <p:blipFill>
          <a:blip r:embed="rId8"/>
          <a:stretch>
            <a:fillRect/>
          </a:stretch>
        </p:blipFill>
        <p:spPr>
          <a:xfrm>
            <a:off x="8458200" y="1920240"/>
            <a:ext cx="822960" cy="822960"/>
          </a:xfrm>
          <a:prstGeom prst="rect">
            <a:avLst/>
          </a:prstGeom>
        </p:spPr>
      </p:pic>
      <p:sp>
        <p:nvSpPr>
          <p:cNvPr id="19" name="Text 12"/>
          <p:cNvSpPr txBox="1"/>
          <p:nvPr/>
        </p:nvSpPr>
        <p:spPr>
          <a:xfrm>
            <a:off x="79552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Docker Compose</a:t>
            </a:r>
            <a:endParaRPr lang="en-US" sz="1400" dirty="0"/>
          </a:p>
        </p:txBody>
      </p:sp>
      <p:sp>
        <p:nvSpPr>
          <p:cNvPr id="20" name="Shape 13"/>
          <p:cNvSpPr/>
          <p:nvPr/>
        </p:nvSpPr>
        <p:spPr>
          <a:xfrm>
            <a:off x="9921240" y="1554480"/>
            <a:ext cx="1554480" cy="1554480"/>
          </a:xfrm>
          <a:prstGeom prst="roundRect">
            <a:avLst>
              <a:gd name="adj" fmla="val 8235"/>
            </a:avLst>
          </a:prstGeom>
          <a:solidFill>
            <a:srgbClr val="FFFFFF"/>
          </a:solidFill>
          <a:ln w="12700">
            <a:solidFill>
              <a:srgbClr val="D5D9E2"/>
            </a:solidFill>
            <a:prstDash val="solid"/>
          </a:ln>
        </p:spPr>
      </p:sp>
      <p:pic>
        <p:nvPicPr>
          <p:cNvPr id="21" name="Image 5" descr="preencoded.png"/>
          <p:cNvPicPr>
            <a:picLocks noChangeAspect="1"/>
          </p:cNvPicPr>
          <p:nvPr/>
        </p:nvPicPr>
        <p:blipFill>
          <a:blip r:embed="rId9"/>
          <a:stretch>
            <a:fillRect/>
          </a:stretch>
        </p:blipFill>
        <p:spPr>
          <a:xfrm>
            <a:off x="10287000" y="1920240"/>
            <a:ext cx="822960" cy="822960"/>
          </a:xfrm>
          <a:prstGeom prst="rect">
            <a:avLst/>
          </a:prstGeom>
        </p:spPr>
      </p:pic>
      <p:sp>
        <p:nvSpPr>
          <p:cNvPr id="22" name="Text 14"/>
          <p:cNvSpPr txBox="1"/>
          <p:nvPr/>
        </p:nvSpPr>
        <p:spPr>
          <a:xfrm>
            <a:off x="9784080" y="320040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Leaflet / OSM</a:t>
            </a:r>
            <a:endParaRPr lang="en-US" sz="1400" dirty="0"/>
          </a:p>
        </p:txBody>
      </p:sp>
      <p:sp>
        <p:nvSpPr>
          <p:cNvPr id="23" name="Shape 15"/>
          <p:cNvSpPr/>
          <p:nvPr/>
        </p:nvSpPr>
        <p:spPr>
          <a:xfrm>
            <a:off x="777240" y="3703320"/>
            <a:ext cx="1554480" cy="1554480"/>
          </a:xfrm>
          <a:prstGeom prst="roundRect">
            <a:avLst>
              <a:gd name="adj" fmla="val 8235"/>
            </a:avLst>
          </a:prstGeom>
          <a:solidFill>
            <a:srgbClr val="FFFFFF"/>
          </a:solidFill>
          <a:ln w="12700">
            <a:solidFill>
              <a:srgbClr val="D5D9E2"/>
            </a:solidFill>
            <a:prstDash val="solid"/>
          </a:ln>
        </p:spPr>
      </p:sp>
      <p:pic>
        <p:nvPicPr>
          <p:cNvPr id="24" name="Image 6" descr="preencoded.png"/>
          <p:cNvPicPr>
            <a:picLocks noChangeAspect="1"/>
          </p:cNvPicPr>
          <p:nvPr/>
        </p:nvPicPr>
        <p:blipFill>
          <a:blip r:embed="rId10"/>
          <a:stretch>
            <a:fillRect/>
          </a:stretch>
        </p:blipFill>
        <p:spPr>
          <a:xfrm>
            <a:off x="1143000" y="4069080"/>
            <a:ext cx="822960" cy="822960"/>
          </a:xfrm>
          <a:prstGeom prst="rect">
            <a:avLst/>
          </a:prstGeom>
        </p:spPr>
      </p:pic>
      <p:sp>
        <p:nvSpPr>
          <p:cNvPr id="25" name="Text 16"/>
          <p:cNvSpPr txBox="1"/>
          <p:nvPr/>
        </p:nvSpPr>
        <p:spPr>
          <a:xfrm>
            <a:off x="6400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HTML5</a:t>
            </a:r>
            <a:endParaRPr lang="en-US" sz="1400" dirty="0"/>
          </a:p>
        </p:txBody>
      </p:sp>
      <p:sp>
        <p:nvSpPr>
          <p:cNvPr id="26" name="Shape 17"/>
          <p:cNvSpPr/>
          <p:nvPr/>
        </p:nvSpPr>
        <p:spPr>
          <a:xfrm>
            <a:off x="2606040" y="3703320"/>
            <a:ext cx="1554480" cy="1554480"/>
          </a:xfrm>
          <a:prstGeom prst="roundRect">
            <a:avLst>
              <a:gd name="adj" fmla="val 8235"/>
            </a:avLst>
          </a:prstGeom>
          <a:solidFill>
            <a:srgbClr val="FFFFFF"/>
          </a:solidFill>
          <a:ln w="12700">
            <a:solidFill>
              <a:srgbClr val="D5D9E2"/>
            </a:solidFill>
            <a:prstDash val="solid"/>
          </a:ln>
        </p:spPr>
      </p:sp>
      <p:pic>
        <p:nvPicPr>
          <p:cNvPr id="27" name="Image 7" descr="preencoded.png"/>
          <p:cNvPicPr>
            <a:picLocks noChangeAspect="1"/>
          </p:cNvPicPr>
          <p:nvPr/>
        </p:nvPicPr>
        <p:blipFill>
          <a:blip r:embed="rId11"/>
          <a:stretch>
            <a:fillRect/>
          </a:stretch>
        </p:blipFill>
        <p:spPr>
          <a:xfrm>
            <a:off x="2971800" y="4069080"/>
            <a:ext cx="822960" cy="822960"/>
          </a:xfrm>
          <a:prstGeom prst="rect">
            <a:avLst/>
          </a:prstGeom>
        </p:spPr>
      </p:pic>
      <p:sp>
        <p:nvSpPr>
          <p:cNvPr id="28" name="Text 18"/>
          <p:cNvSpPr txBox="1"/>
          <p:nvPr/>
        </p:nvSpPr>
        <p:spPr>
          <a:xfrm>
            <a:off x="24688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CSS</a:t>
            </a:r>
            <a:endParaRPr lang="en-US" sz="1400" dirty="0"/>
          </a:p>
        </p:txBody>
      </p:sp>
      <p:sp>
        <p:nvSpPr>
          <p:cNvPr id="29" name="Shape 19"/>
          <p:cNvSpPr/>
          <p:nvPr/>
        </p:nvSpPr>
        <p:spPr>
          <a:xfrm>
            <a:off x="4434840" y="3703320"/>
            <a:ext cx="1554480" cy="1554480"/>
          </a:xfrm>
          <a:prstGeom prst="roundRect">
            <a:avLst>
              <a:gd name="adj" fmla="val 8235"/>
            </a:avLst>
          </a:prstGeom>
          <a:solidFill>
            <a:srgbClr val="FFFFFF"/>
          </a:solidFill>
          <a:ln w="12700">
            <a:solidFill>
              <a:srgbClr val="D5D9E2"/>
            </a:solidFill>
            <a:prstDash val="solid"/>
          </a:ln>
        </p:spPr>
      </p:sp>
      <p:pic>
        <p:nvPicPr>
          <p:cNvPr id="30" name="Image 8" descr="preencoded.png"/>
          <p:cNvPicPr>
            <a:picLocks noChangeAspect="1"/>
          </p:cNvPicPr>
          <p:nvPr/>
        </p:nvPicPr>
        <p:blipFill>
          <a:blip r:embed="rId12"/>
          <a:stretch>
            <a:fillRect/>
          </a:stretch>
        </p:blipFill>
        <p:spPr>
          <a:xfrm>
            <a:off x="4800600" y="4069080"/>
            <a:ext cx="822960" cy="822960"/>
          </a:xfrm>
          <a:prstGeom prst="rect">
            <a:avLst/>
          </a:prstGeom>
        </p:spPr>
      </p:pic>
      <p:sp>
        <p:nvSpPr>
          <p:cNvPr id="31" name="Text 20"/>
          <p:cNvSpPr txBox="1"/>
          <p:nvPr/>
        </p:nvSpPr>
        <p:spPr>
          <a:xfrm>
            <a:off x="42976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JavaScript</a:t>
            </a:r>
            <a:endParaRPr lang="en-US" sz="1400" dirty="0"/>
          </a:p>
        </p:txBody>
      </p:sp>
      <p:sp>
        <p:nvSpPr>
          <p:cNvPr id="32" name="Shape 21"/>
          <p:cNvSpPr/>
          <p:nvPr/>
        </p:nvSpPr>
        <p:spPr>
          <a:xfrm>
            <a:off x="6263640" y="3703320"/>
            <a:ext cx="1554480" cy="1554480"/>
          </a:xfrm>
          <a:prstGeom prst="roundRect">
            <a:avLst>
              <a:gd name="adj" fmla="val 8235"/>
            </a:avLst>
          </a:prstGeom>
          <a:solidFill>
            <a:srgbClr val="FFFFFF"/>
          </a:solidFill>
          <a:ln w="12700">
            <a:solidFill>
              <a:srgbClr val="D5D9E2"/>
            </a:solidFill>
            <a:prstDash val="solid"/>
          </a:ln>
        </p:spPr>
      </p:sp>
      <p:pic>
        <p:nvPicPr>
          <p:cNvPr id="33" name="Image 9" descr="preencoded.png"/>
          <p:cNvPicPr>
            <a:picLocks noChangeAspect="1"/>
          </p:cNvPicPr>
          <p:nvPr/>
        </p:nvPicPr>
        <p:blipFill>
          <a:blip r:embed="rId13"/>
          <a:stretch>
            <a:fillRect/>
          </a:stretch>
        </p:blipFill>
        <p:spPr>
          <a:xfrm>
            <a:off x="6629400" y="4069080"/>
            <a:ext cx="822960" cy="822960"/>
          </a:xfrm>
          <a:prstGeom prst="rect">
            <a:avLst/>
          </a:prstGeom>
        </p:spPr>
      </p:pic>
      <p:sp>
        <p:nvSpPr>
          <p:cNvPr id="34" name="Text 22"/>
          <p:cNvSpPr txBox="1"/>
          <p:nvPr/>
        </p:nvSpPr>
        <p:spPr>
          <a:xfrm>
            <a:off x="61264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VS Code</a:t>
            </a:r>
            <a:endParaRPr lang="en-US" sz="1400" dirty="0"/>
          </a:p>
        </p:txBody>
      </p:sp>
      <p:sp>
        <p:nvSpPr>
          <p:cNvPr id="35" name="Shape 23"/>
          <p:cNvSpPr/>
          <p:nvPr/>
        </p:nvSpPr>
        <p:spPr>
          <a:xfrm>
            <a:off x="8092440" y="3703320"/>
            <a:ext cx="1554480" cy="1554480"/>
          </a:xfrm>
          <a:prstGeom prst="roundRect">
            <a:avLst>
              <a:gd name="adj" fmla="val 8235"/>
            </a:avLst>
          </a:prstGeom>
          <a:solidFill>
            <a:srgbClr val="FFFFFF"/>
          </a:solidFill>
          <a:ln w="12700">
            <a:solidFill>
              <a:srgbClr val="D5D9E2"/>
            </a:solidFill>
            <a:prstDash val="solid"/>
          </a:ln>
        </p:spPr>
      </p:sp>
      <p:pic>
        <p:nvPicPr>
          <p:cNvPr id="36" name="Image 10" descr="C:\laragon\www\facturation\Nouveau dossier\Git img.png"/>
          <p:cNvPicPr>
            <a:picLocks noChangeAspect="1"/>
          </p:cNvPicPr>
          <p:nvPr/>
        </p:nvPicPr>
        <p:blipFill>
          <a:blip r:embed="rId14"/>
          <a:stretch>
            <a:fillRect/>
          </a:stretch>
        </p:blipFill>
        <p:spPr>
          <a:xfrm>
            <a:off x="8458200" y="4069080"/>
            <a:ext cx="822960" cy="822960"/>
          </a:xfrm>
          <a:prstGeom prst="rect">
            <a:avLst/>
          </a:prstGeom>
        </p:spPr>
      </p:pic>
      <p:sp>
        <p:nvSpPr>
          <p:cNvPr id="37" name="Text 24"/>
          <p:cNvSpPr txBox="1"/>
          <p:nvPr/>
        </p:nvSpPr>
        <p:spPr>
          <a:xfrm>
            <a:off x="79552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Git</a:t>
            </a:r>
            <a:endParaRPr lang="en-US" sz="1400" dirty="0"/>
          </a:p>
        </p:txBody>
      </p:sp>
      <p:sp>
        <p:nvSpPr>
          <p:cNvPr id="38" name="Shape 25"/>
          <p:cNvSpPr/>
          <p:nvPr/>
        </p:nvSpPr>
        <p:spPr>
          <a:xfrm>
            <a:off x="9921240" y="3703320"/>
            <a:ext cx="1554480" cy="1554480"/>
          </a:xfrm>
          <a:prstGeom prst="roundRect">
            <a:avLst>
              <a:gd name="adj" fmla="val 8235"/>
            </a:avLst>
          </a:prstGeom>
          <a:solidFill>
            <a:srgbClr val="FFFFFF"/>
          </a:solidFill>
          <a:ln w="12700">
            <a:solidFill>
              <a:srgbClr val="D5D9E2"/>
            </a:solidFill>
            <a:prstDash val="solid"/>
          </a:ln>
        </p:spPr>
      </p:sp>
      <p:pic>
        <p:nvPicPr>
          <p:cNvPr id="39" name="Image 11" descr="preencoded.png"/>
          <p:cNvPicPr>
            <a:picLocks noChangeAspect="1"/>
          </p:cNvPicPr>
          <p:nvPr/>
        </p:nvPicPr>
        <p:blipFill>
          <a:blip r:embed="rId15"/>
          <a:stretch>
            <a:fillRect/>
          </a:stretch>
        </p:blipFill>
        <p:spPr>
          <a:xfrm>
            <a:off x="10287000" y="4069080"/>
            <a:ext cx="822960" cy="822960"/>
          </a:xfrm>
          <a:prstGeom prst="rect">
            <a:avLst/>
          </a:prstGeom>
        </p:spPr>
      </p:pic>
      <p:sp>
        <p:nvSpPr>
          <p:cNvPr id="40" name="Text 26"/>
          <p:cNvSpPr txBox="1"/>
          <p:nvPr/>
        </p:nvSpPr>
        <p:spPr>
          <a:xfrm>
            <a:off x="9784080" y="5349240"/>
            <a:ext cx="1828800" cy="320040"/>
          </a:xfrm>
          <a:prstGeom prst="rect">
            <a:avLst/>
          </a:prstGeom>
          <a:noFill/>
          <a:ln/>
        </p:spPr>
        <p:txBody>
          <a:bodyPr wrap="square" lIns="0" tIns="0" rIns="0" bIns="0" rtlCol="0" anchor="t"/>
          <a:lstStyle/>
          <a:p>
            <a:pPr marL="0" indent="0" algn="ctr">
              <a:buNone/>
            </a:pPr>
            <a:r>
              <a:rPr lang="en-US" sz="1400" b="1" dirty="0">
                <a:solidFill>
                  <a:srgbClr val="1F2A5C"/>
                </a:solidFill>
                <a:latin typeface="Segoe UI" pitchFamily="34" charset="0"/>
                <a:ea typeface="Segoe UI" pitchFamily="34" charset="-122"/>
                <a:cs typeface="Segoe UI" pitchFamily="34" charset="-120"/>
              </a:rPr>
              <a:t>Composer</a:t>
            </a:r>
            <a:endParaRPr lang="en-US" sz="1400" dirty="0"/>
          </a:p>
        </p:txBody>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29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Architecture de l'application</a:t>
            </a:r>
            <a:endParaRPr lang="en-US" sz="3000" dirty="0"/>
          </a:p>
        </p:txBody>
      </p:sp>
      <p:sp>
        <p:nvSpPr>
          <p:cNvPr id="5" name="Shape 3"/>
          <p:cNvSpPr/>
          <p:nvPr/>
        </p:nvSpPr>
        <p:spPr>
          <a:xfrm>
            <a:off x="914400" y="1417320"/>
            <a:ext cx="5394960" cy="502920"/>
          </a:xfrm>
          <a:prstGeom prst="roundRect">
            <a:avLst>
              <a:gd name="adj" fmla="val 14545"/>
            </a:avLst>
          </a:prstGeom>
          <a:solidFill>
            <a:srgbClr val="FFFFFF"/>
          </a:solidFill>
          <a:ln w="19050">
            <a:solidFill>
              <a:srgbClr val="1F2A5C"/>
            </a:solidFill>
            <a:prstDash val="solid"/>
          </a:ln>
        </p:spPr>
      </p:sp>
      <p:sp>
        <p:nvSpPr>
          <p:cNvPr id="6" name="Text 4"/>
          <p:cNvSpPr txBox="1"/>
          <p:nvPr/>
        </p:nvSpPr>
        <p:spPr>
          <a:xfrm>
            <a:off x="914400" y="1417320"/>
            <a:ext cx="5394960" cy="502920"/>
          </a:xfrm>
          <a:prstGeom prst="rect">
            <a:avLst/>
          </a:prstGeom>
          <a:noFill/>
          <a:ln/>
        </p:spPr>
        <p:txBody>
          <a:bodyPr wrap="square" lIns="0" tIns="0" rIns="0" bIns="0" rtlCol="0" anchor="ctr"/>
          <a:lstStyle/>
          <a:p>
            <a:pPr marL="0" indent="0" algn="ctr">
              <a:buNone/>
            </a:pPr>
            <a:r>
              <a:rPr lang="en-US" sz="1500" b="1" dirty="0">
                <a:solidFill>
                  <a:srgbClr val="1F2A5C"/>
                </a:solidFill>
                <a:latin typeface="Segoe UI" pitchFamily="34" charset="0"/>
                <a:ea typeface="Segoe UI" pitchFamily="34" charset="-122"/>
                <a:cs typeface="Segoe UI" pitchFamily="34" charset="-120"/>
              </a:rPr>
              <a:t>Navigateur de l'utilisateur</a:t>
            </a:r>
            <a:endParaRPr lang="en-US" sz="1500" dirty="0"/>
          </a:p>
        </p:txBody>
      </p:sp>
      <p:sp>
        <p:nvSpPr>
          <p:cNvPr id="7" name="Shape 5"/>
          <p:cNvSpPr/>
          <p:nvPr/>
        </p:nvSpPr>
        <p:spPr>
          <a:xfrm>
            <a:off x="640080" y="2286000"/>
            <a:ext cx="5943600" cy="3931920"/>
          </a:xfrm>
          <a:prstGeom prst="roundRect">
            <a:avLst>
              <a:gd name="adj" fmla="val 930"/>
            </a:avLst>
          </a:prstGeom>
          <a:ln w="15875">
            <a:solidFill>
              <a:srgbClr val="5B6478"/>
            </a:solidFill>
            <a:prstDash val="dash"/>
          </a:ln>
        </p:spPr>
      </p:sp>
      <p:sp>
        <p:nvSpPr>
          <p:cNvPr id="8" name="Text 6"/>
          <p:cNvSpPr txBox="1"/>
          <p:nvPr/>
        </p:nvSpPr>
        <p:spPr>
          <a:xfrm>
            <a:off x="777240" y="2340864"/>
            <a:ext cx="2743200" cy="274320"/>
          </a:xfrm>
          <a:prstGeom prst="rect">
            <a:avLst/>
          </a:prstGeom>
          <a:noFill/>
          <a:ln/>
        </p:spPr>
        <p:txBody>
          <a:bodyPr wrap="square" lIns="0" tIns="0" rIns="0" bIns="0" rtlCol="0" anchor="t"/>
          <a:lstStyle/>
          <a:p>
            <a:pPr marL="0" indent="0">
              <a:buNone/>
            </a:pPr>
            <a:r>
              <a:rPr lang="en-US" sz="1200" b="1" dirty="0">
                <a:solidFill>
                  <a:srgbClr val="5B6478"/>
                </a:solidFill>
                <a:latin typeface="Segoe UI" pitchFamily="34" charset="0"/>
                <a:ea typeface="Segoe UI" pitchFamily="34" charset="-122"/>
                <a:cs typeface="Segoe UI" pitchFamily="34" charset="-120"/>
              </a:rPr>
              <a:t>Docker Compose</a:t>
            </a:r>
            <a:endParaRPr lang="en-US" sz="1200" dirty="0"/>
          </a:p>
        </p:txBody>
      </p:sp>
      <p:sp>
        <p:nvSpPr>
          <p:cNvPr id="9" name="Shape 7"/>
          <p:cNvSpPr/>
          <p:nvPr/>
        </p:nvSpPr>
        <p:spPr>
          <a:xfrm>
            <a:off x="914400" y="2651760"/>
            <a:ext cx="5394960" cy="2240280"/>
          </a:xfrm>
          <a:prstGeom prst="roundRect">
            <a:avLst>
              <a:gd name="adj" fmla="val 2041"/>
            </a:avLst>
          </a:prstGeom>
          <a:solidFill>
            <a:srgbClr val="FFF4E2"/>
          </a:solidFill>
          <a:ln/>
        </p:spPr>
      </p:sp>
      <p:sp>
        <p:nvSpPr>
          <p:cNvPr id="10" name="Text 8"/>
          <p:cNvSpPr txBox="1"/>
          <p:nvPr/>
        </p:nvSpPr>
        <p:spPr>
          <a:xfrm>
            <a:off x="1051560" y="2688336"/>
            <a:ext cx="4572000" cy="274320"/>
          </a:xfrm>
          <a:prstGeom prst="rect">
            <a:avLst/>
          </a:prstGeom>
          <a:noFill/>
          <a:ln/>
        </p:spPr>
        <p:txBody>
          <a:bodyPr wrap="square" lIns="0" tIns="0" rIns="0" bIns="0" rtlCol="0" anchor="t"/>
          <a:lstStyle/>
          <a:p>
            <a:pPr marL="0" indent="0">
              <a:buNone/>
            </a:pPr>
            <a:r>
              <a:rPr lang="en-US" sz="1200" b="1" dirty="0">
                <a:solidFill>
                  <a:srgbClr val="A65F00"/>
                </a:solidFill>
                <a:latin typeface="Segoe UI" pitchFamily="34" charset="0"/>
                <a:ea typeface="Segoe UI" pitchFamily="34" charset="-122"/>
                <a:cs typeface="Segoe UI" pitchFamily="34" charset="-120"/>
              </a:rPr>
              <a:t>Apache + PHP 8.3 (architecture MVC)</a:t>
            </a:r>
            <a:endParaRPr lang="en-US" sz="1200" dirty="0"/>
          </a:p>
        </p:txBody>
      </p:sp>
      <p:sp>
        <p:nvSpPr>
          <p:cNvPr id="11" name="Shape 9"/>
          <p:cNvSpPr/>
          <p:nvPr/>
        </p:nvSpPr>
        <p:spPr>
          <a:xfrm>
            <a:off x="1188720" y="3017520"/>
            <a:ext cx="2194560" cy="457200"/>
          </a:xfrm>
          <a:prstGeom prst="roundRect">
            <a:avLst>
              <a:gd name="adj" fmla="val 16000"/>
            </a:avLst>
          </a:prstGeom>
          <a:solidFill>
            <a:srgbClr val="FFFFFF"/>
          </a:solidFill>
          <a:ln w="19050">
            <a:solidFill>
              <a:srgbClr val="1F2A5C"/>
            </a:solidFill>
            <a:prstDash val="solid"/>
          </a:ln>
        </p:spPr>
      </p:sp>
      <p:sp>
        <p:nvSpPr>
          <p:cNvPr id="12" name="Text 10"/>
          <p:cNvSpPr txBox="1"/>
          <p:nvPr/>
        </p:nvSpPr>
        <p:spPr>
          <a:xfrm>
            <a:off x="1188720" y="3017520"/>
            <a:ext cx="2194560" cy="457200"/>
          </a:xfrm>
          <a:prstGeom prst="rect">
            <a:avLst/>
          </a:prstGeom>
          <a:noFill/>
          <a:ln/>
        </p:spPr>
        <p:txBody>
          <a:bodyPr wrap="square" lIns="0" tIns="0" rIns="0" bIns="0" rtlCol="0" anchor="ctr"/>
          <a:lstStyle/>
          <a:p>
            <a:pPr marL="0" indent="0" algn="ctr">
              <a:buNone/>
            </a:pPr>
            <a:r>
              <a:rPr lang="en-US" sz="1500" b="1" dirty="0">
                <a:solidFill>
                  <a:srgbClr val="1F2A5C"/>
                </a:solidFill>
                <a:latin typeface="Segoe UI" pitchFamily="34" charset="0"/>
                <a:ea typeface="Segoe UI" pitchFamily="34" charset="-122"/>
                <a:cs typeface="Segoe UI" pitchFamily="34" charset="-120"/>
              </a:rPr>
              <a:t>Contrôleur</a:t>
            </a:r>
            <a:endParaRPr lang="en-US" sz="1500" dirty="0"/>
          </a:p>
        </p:txBody>
      </p:sp>
      <p:sp>
        <p:nvSpPr>
          <p:cNvPr id="13" name="Shape 11"/>
          <p:cNvSpPr/>
          <p:nvPr/>
        </p:nvSpPr>
        <p:spPr>
          <a:xfrm>
            <a:off x="3931920" y="3017520"/>
            <a:ext cx="2194560" cy="457200"/>
          </a:xfrm>
          <a:prstGeom prst="roundRect">
            <a:avLst>
              <a:gd name="adj" fmla="val 16000"/>
            </a:avLst>
          </a:prstGeom>
          <a:solidFill>
            <a:srgbClr val="FFFFFF"/>
          </a:solidFill>
          <a:ln w="19050">
            <a:solidFill>
              <a:srgbClr val="1F2A5C"/>
            </a:solidFill>
            <a:prstDash val="solid"/>
          </a:ln>
        </p:spPr>
      </p:sp>
      <p:sp>
        <p:nvSpPr>
          <p:cNvPr id="14" name="Text 12"/>
          <p:cNvSpPr txBox="1"/>
          <p:nvPr/>
        </p:nvSpPr>
        <p:spPr>
          <a:xfrm>
            <a:off x="3931920" y="3017520"/>
            <a:ext cx="2194560" cy="457200"/>
          </a:xfrm>
          <a:prstGeom prst="rect">
            <a:avLst/>
          </a:prstGeom>
          <a:noFill/>
          <a:ln/>
        </p:spPr>
        <p:txBody>
          <a:bodyPr wrap="square" lIns="0" tIns="0" rIns="0" bIns="0" rtlCol="0" anchor="ctr"/>
          <a:lstStyle/>
          <a:p>
            <a:pPr marL="0" indent="0" algn="ctr">
              <a:buNone/>
            </a:pPr>
            <a:r>
              <a:rPr lang="en-US" sz="1500" b="1" dirty="0">
                <a:solidFill>
                  <a:srgbClr val="1F2A5C"/>
                </a:solidFill>
                <a:latin typeface="Segoe UI" pitchFamily="34" charset="0"/>
                <a:ea typeface="Segoe UI" pitchFamily="34" charset="-122"/>
                <a:cs typeface="Segoe UI" pitchFamily="34" charset="-120"/>
              </a:rPr>
              <a:t>Vue</a:t>
            </a:r>
            <a:endParaRPr lang="en-US" sz="1500" dirty="0"/>
          </a:p>
        </p:txBody>
      </p:sp>
      <p:sp>
        <p:nvSpPr>
          <p:cNvPr id="15" name="Shape 13"/>
          <p:cNvSpPr/>
          <p:nvPr/>
        </p:nvSpPr>
        <p:spPr>
          <a:xfrm>
            <a:off x="1188720" y="3675888"/>
            <a:ext cx="2194560" cy="457200"/>
          </a:xfrm>
          <a:prstGeom prst="roundRect">
            <a:avLst>
              <a:gd name="adj" fmla="val 16000"/>
            </a:avLst>
          </a:prstGeom>
          <a:solidFill>
            <a:srgbClr val="FFFFFF"/>
          </a:solidFill>
          <a:ln w="19050">
            <a:solidFill>
              <a:srgbClr val="1F2A5C"/>
            </a:solidFill>
            <a:prstDash val="solid"/>
          </a:ln>
        </p:spPr>
      </p:sp>
      <p:sp>
        <p:nvSpPr>
          <p:cNvPr id="16" name="Text 14"/>
          <p:cNvSpPr txBox="1"/>
          <p:nvPr/>
        </p:nvSpPr>
        <p:spPr>
          <a:xfrm>
            <a:off x="1188720" y="3675888"/>
            <a:ext cx="2194560" cy="457200"/>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Modèle / logique métier</a:t>
            </a:r>
            <a:endParaRPr lang="en-US" sz="1400" dirty="0"/>
          </a:p>
        </p:txBody>
      </p:sp>
      <p:sp>
        <p:nvSpPr>
          <p:cNvPr id="17" name="Shape 15"/>
          <p:cNvSpPr/>
          <p:nvPr/>
        </p:nvSpPr>
        <p:spPr>
          <a:xfrm>
            <a:off x="1188720" y="4334256"/>
            <a:ext cx="2194560" cy="411480"/>
          </a:xfrm>
          <a:prstGeom prst="roundRect">
            <a:avLst>
              <a:gd name="adj" fmla="val 17778"/>
            </a:avLst>
          </a:prstGeom>
          <a:solidFill>
            <a:srgbClr val="FFFFFF"/>
          </a:solidFill>
          <a:ln w="19050">
            <a:solidFill>
              <a:srgbClr val="1F2A5C"/>
            </a:solidFill>
            <a:prstDash val="solid"/>
          </a:ln>
        </p:spPr>
      </p:sp>
      <p:sp>
        <p:nvSpPr>
          <p:cNvPr id="18" name="Text 16"/>
          <p:cNvSpPr txBox="1"/>
          <p:nvPr/>
        </p:nvSpPr>
        <p:spPr>
          <a:xfrm>
            <a:off x="1188720" y="4334256"/>
            <a:ext cx="2194560" cy="411480"/>
          </a:xfrm>
          <a:prstGeom prst="rect">
            <a:avLst/>
          </a:prstGeom>
          <a:noFill/>
          <a:ln/>
        </p:spPr>
        <p:txBody>
          <a:bodyPr wrap="square" lIns="0" tIns="0" rIns="0" bIns="0" rtlCol="0" anchor="ctr"/>
          <a:lstStyle/>
          <a:p>
            <a:pPr marL="0" indent="0" algn="ctr">
              <a:buNone/>
            </a:pPr>
            <a:r>
              <a:rPr lang="en-US" sz="1400" b="1" dirty="0">
                <a:solidFill>
                  <a:srgbClr val="1F2A5C"/>
                </a:solidFill>
                <a:latin typeface="Segoe UI" pitchFamily="34" charset="0"/>
                <a:ea typeface="Segoe UI" pitchFamily="34" charset="-122"/>
                <a:cs typeface="Segoe UI" pitchFamily="34" charset="-120"/>
              </a:rPr>
              <a:t>PDO</a:t>
            </a:r>
            <a:endParaRPr lang="en-US" sz="1400" dirty="0"/>
          </a:p>
        </p:txBody>
      </p:sp>
      <p:sp>
        <p:nvSpPr>
          <p:cNvPr id="19" name="Shape 17"/>
          <p:cNvSpPr/>
          <p:nvPr/>
        </p:nvSpPr>
        <p:spPr>
          <a:xfrm>
            <a:off x="1188720" y="5257800"/>
            <a:ext cx="2194560" cy="502920"/>
          </a:xfrm>
          <a:prstGeom prst="roundRect">
            <a:avLst>
              <a:gd name="adj" fmla="val 14545"/>
            </a:avLst>
          </a:prstGeom>
          <a:solidFill>
            <a:srgbClr val="1F2A5C"/>
          </a:solidFill>
          <a:ln w="19050">
            <a:solidFill>
              <a:srgbClr val="1F2A5C"/>
            </a:solidFill>
            <a:prstDash val="solid"/>
          </a:ln>
        </p:spPr>
      </p:sp>
      <p:sp>
        <p:nvSpPr>
          <p:cNvPr id="20" name="Text 18"/>
          <p:cNvSpPr txBox="1"/>
          <p:nvPr/>
        </p:nvSpPr>
        <p:spPr>
          <a:xfrm>
            <a:off x="1188720" y="5257800"/>
            <a:ext cx="2194560" cy="502920"/>
          </a:xfrm>
          <a:prstGeom prst="rect">
            <a:avLst/>
          </a:prstGeom>
          <a:noFill/>
          <a:ln/>
        </p:spPr>
        <p:txBody>
          <a:bodyPr wrap="square" lIns="0" tIns="0" rIns="0" bIns="0"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MySQL 8.0</a:t>
            </a:r>
            <a:endParaRPr lang="en-US" sz="1500" dirty="0"/>
          </a:p>
        </p:txBody>
      </p:sp>
      <p:sp>
        <p:nvSpPr>
          <p:cNvPr id="21" name="Shape 19"/>
          <p:cNvSpPr/>
          <p:nvPr/>
        </p:nvSpPr>
        <p:spPr>
          <a:xfrm>
            <a:off x="3931920" y="5257800"/>
            <a:ext cx="2194560" cy="502920"/>
          </a:xfrm>
          <a:prstGeom prst="roundRect">
            <a:avLst>
              <a:gd name="adj" fmla="val 14545"/>
            </a:avLst>
          </a:prstGeom>
          <a:solidFill>
            <a:srgbClr val="FFFFFF"/>
          </a:solidFill>
          <a:ln w="19050">
            <a:solidFill>
              <a:srgbClr val="D5D9E2"/>
            </a:solidFill>
            <a:prstDash val="solid"/>
          </a:ln>
        </p:spPr>
      </p:sp>
      <p:sp>
        <p:nvSpPr>
          <p:cNvPr id="22" name="Text 20"/>
          <p:cNvSpPr txBox="1"/>
          <p:nvPr/>
        </p:nvSpPr>
        <p:spPr>
          <a:xfrm>
            <a:off x="3931920" y="5257800"/>
            <a:ext cx="2194560" cy="502920"/>
          </a:xfrm>
          <a:prstGeom prst="rect">
            <a:avLst/>
          </a:prstGeom>
          <a:noFill/>
          <a:ln/>
        </p:spPr>
        <p:txBody>
          <a:bodyPr wrap="square" lIns="0" tIns="0" rIns="0" bIns="0" rtlCol="0" anchor="ctr"/>
          <a:lstStyle/>
          <a:p>
            <a:pPr marL="0" indent="0" algn="ctr">
              <a:buNone/>
            </a:pPr>
            <a:r>
              <a:rPr lang="en-US" sz="1400" b="1" dirty="0">
                <a:solidFill>
                  <a:srgbClr val="5B6478"/>
                </a:solidFill>
                <a:latin typeface="Segoe UI" pitchFamily="34" charset="0"/>
                <a:ea typeface="Segoe UI" pitchFamily="34" charset="-122"/>
                <a:cs typeface="Segoe UI" pitchFamily="34" charset="-120"/>
              </a:rPr>
              <a:t>phpMyAdmin</a:t>
            </a:r>
            <a:endParaRPr lang="en-US" sz="1400" dirty="0"/>
          </a:p>
        </p:txBody>
      </p:sp>
      <p:sp>
        <p:nvSpPr>
          <p:cNvPr id="23" name="Shape 21"/>
          <p:cNvSpPr/>
          <p:nvPr/>
        </p:nvSpPr>
        <p:spPr>
          <a:xfrm>
            <a:off x="2286000" y="1920240"/>
            <a:ext cx="0" cy="1097280"/>
          </a:xfrm>
          <a:prstGeom prst="line">
            <a:avLst/>
          </a:prstGeom>
          <a:noFill/>
          <a:ln w="19050">
            <a:solidFill>
              <a:srgbClr val="1F2A5C"/>
            </a:solidFill>
            <a:prstDash val="solid"/>
            <a:tailEnd type="triangle"/>
          </a:ln>
        </p:spPr>
      </p:sp>
      <p:sp>
        <p:nvSpPr>
          <p:cNvPr id="24" name="Text 22"/>
          <p:cNvSpPr txBox="1"/>
          <p:nvPr/>
        </p:nvSpPr>
        <p:spPr>
          <a:xfrm>
            <a:off x="2377440" y="1947672"/>
            <a:ext cx="1463040" cy="274320"/>
          </a:xfrm>
          <a:prstGeom prst="rect">
            <a:avLst/>
          </a:prstGeom>
          <a:noFill/>
          <a:ln/>
        </p:spPr>
        <p:txBody>
          <a:bodyPr wrap="square" lIns="0" tIns="0" rIns="0" bIns="0" rtlCol="0" anchor="t"/>
          <a:lstStyle/>
          <a:p>
            <a:pPr marL="0" indent="0">
              <a:buNone/>
            </a:pPr>
            <a:r>
              <a:rPr lang="en-US" sz="1150" i="1" dirty="0">
                <a:solidFill>
                  <a:srgbClr val="5B6478"/>
                </a:solidFill>
                <a:latin typeface="Segoe UI" pitchFamily="34" charset="0"/>
                <a:ea typeface="Segoe UI" pitchFamily="34" charset="-122"/>
                <a:cs typeface="Segoe UI" pitchFamily="34" charset="-120"/>
              </a:rPr>
              <a:t>requête HTTP</a:t>
            </a:r>
            <a:endParaRPr lang="en-US" sz="1150" dirty="0"/>
          </a:p>
        </p:txBody>
      </p:sp>
      <p:sp>
        <p:nvSpPr>
          <p:cNvPr id="25" name="Shape 23"/>
          <p:cNvSpPr/>
          <p:nvPr/>
        </p:nvSpPr>
        <p:spPr>
          <a:xfrm flipV="1">
            <a:off x="5029200" y="1920240"/>
            <a:ext cx="0" cy="1097280"/>
          </a:xfrm>
          <a:prstGeom prst="line">
            <a:avLst/>
          </a:prstGeom>
          <a:noFill/>
          <a:ln w="19050">
            <a:solidFill>
              <a:srgbClr val="1F2A5C"/>
            </a:solidFill>
            <a:prstDash val="solid"/>
            <a:tailEnd type="triangle"/>
          </a:ln>
        </p:spPr>
      </p:sp>
      <p:sp>
        <p:nvSpPr>
          <p:cNvPr id="26" name="Text 24"/>
          <p:cNvSpPr txBox="1"/>
          <p:nvPr/>
        </p:nvSpPr>
        <p:spPr>
          <a:xfrm>
            <a:off x="5120640" y="1947672"/>
            <a:ext cx="1188720" cy="274320"/>
          </a:xfrm>
          <a:prstGeom prst="rect">
            <a:avLst/>
          </a:prstGeom>
          <a:noFill/>
          <a:ln/>
        </p:spPr>
        <p:txBody>
          <a:bodyPr wrap="square" lIns="0" tIns="0" rIns="0" bIns="0" rtlCol="0" anchor="t"/>
          <a:lstStyle/>
          <a:p>
            <a:pPr marL="0" indent="0">
              <a:buNone/>
            </a:pPr>
            <a:r>
              <a:rPr lang="en-US" sz="1150" i="1" dirty="0">
                <a:solidFill>
                  <a:srgbClr val="5B6478"/>
                </a:solidFill>
                <a:latin typeface="Segoe UI" pitchFamily="34" charset="0"/>
                <a:ea typeface="Segoe UI" pitchFamily="34" charset="-122"/>
                <a:cs typeface="Segoe UI" pitchFamily="34" charset="-120"/>
              </a:rPr>
              <a:t>page HTML</a:t>
            </a:r>
            <a:endParaRPr lang="en-US" sz="1150" dirty="0"/>
          </a:p>
        </p:txBody>
      </p:sp>
      <p:sp>
        <p:nvSpPr>
          <p:cNvPr id="27" name="Shape 25"/>
          <p:cNvSpPr/>
          <p:nvPr/>
        </p:nvSpPr>
        <p:spPr>
          <a:xfrm>
            <a:off x="3383280" y="3246120"/>
            <a:ext cx="548640" cy="0"/>
          </a:xfrm>
          <a:prstGeom prst="line">
            <a:avLst/>
          </a:prstGeom>
          <a:noFill/>
          <a:ln w="19050">
            <a:solidFill>
              <a:srgbClr val="1F2A5C"/>
            </a:solidFill>
            <a:prstDash val="solid"/>
            <a:tailEnd type="triangle"/>
          </a:ln>
        </p:spPr>
      </p:sp>
      <p:sp>
        <p:nvSpPr>
          <p:cNvPr id="28" name="Shape 26"/>
          <p:cNvSpPr/>
          <p:nvPr/>
        </p:nvSpPr>
        <p:spPr>
          <a:xfrm>
            <a:off x="2286000" y="3474720"/>
            <a:ext cx="0" cy="201168"/>
          </a:xfrm>
          <a:prstGeom prst="line">
            <a:avLst/>
          </a:prstGeom>
          <a:noFill/>
          <a:ln w="19050">
            <a:solidFill>
              <a:srgbClr val="1F2A5C"/>
            </a:solidFill>
            <a:prstDash val="solid"/>
            <a:headEnd type="triangle"/>
            <a:tailEnd type="triangle"/>
          </a:ln>
        </p:spPr>
      </p:sp>
      <p:sp>
        <p:nvSpPr>
          <p:cNvPr id="29" name="Shape 27"/>
          <p:cNvSpPr/>
          <p:nvPr/>
        </p:nvSpPr>
        <p:spPr>
          <a:xfrm>
            <a:off x="2286000" y="4133088"/>
            <a:ext cx="0" cy="201168"/>
          </a:xfrm>
          <a:prstGeom prst="line">
            <a:avLst/>
          </a:prstGeom>
          <a:noFill/>
          <a:ln w="19050">
            <a:solidFill>
              <a:srgbClr val="1F2A5C"/>
            </a:solidFill>
            <a:prstDash val="solid"/>
            <a:headEnd type="triangle"/>
            <a:tailEnd type="triangle"/>
          </a:ln>
        </p:spPr>
      </p:sp>
      <p:sp>
        <p:nvSpPr>
          <p:cNvPr id="30" name="Shape 28"/>
          <p:cNvSpPr/>
          <p:nvPr/>
        </p:nvSpPr>
        <p:spPr>
          <a:xfrm>
            <a:off x="2286000" y="4745736"/>
            <a:ext cx="0" cy="512064"/>
          </a:xfrm>
          <a:prstGeom prst="line">
            <a:avLst/>
          </a:prstGeom>
          <a:noFill/>
          <a:ln w="19050">
            <a:solidFill>
              <a:srgbClr val="1F2A5C"/>
            </a:solidFill>
            <a:prstDash val="solid"/>
            <a:headEnd type="triangle"/>
            <a:tailEnd type="triangle"/>
          </a:ln>
        </p:spPr>
      </p:sp>
      <p:sp>
        <p:nvSpPr>
          <p:cNvPr id="31" name="Shape 29"/>
          <p:cNvSpPr/>
          <p:nvPr/>
        </p:nvSpPr>
        <p:spPr>
          <a:xfrm>
            <a:off x="3383280" y="5504688"/>
            <a:ext cx="548640" cy="0"/>
          </a:xfrm>
          <a:prstGeom prst="line">
            <a:avLst/>
          </a:prstGeom>
          <a:noFill/>
          <a:ln w="19050">
            <a:solidFill>
              <a:srgbClr val="D5D9E2"/>
            </a:solidFill>
            <a:prstDash val="solid"/>
          </a:ln>
        </p:spPr>
      </p:sp>
      <p:sp>
        <p:nvSpPr>
          <p:cNvPr id="32" name="Shape 30"/>
          <p:cNvSpPr/>
          <p:nvPr/>
        </p:nvSpPr>
        <p:spPr>
          <a:xfrm>
            <a:off x="7086600" y="2313432"/>
            <a:ext cx="146304" cy="146304"/>
          </a:xfrm>
          <a:prstGeom prst="roundRect">
            <a:avLst>
              <a:gd name="adj" fmla="val 50000"/>
            </a:avLst>
          </a:prstGeom>
          <a:solidFill>
            <a:srgbClr val="F2A93B"/>
          </a:solidFill>
          <a:ln/>
        </p:spPr>
      </p:sp>
      <p:sp>
        <p:nvSpPr>
          <p:cNvPr id="33" name="Text 31"/>
          <p:cNvSpPr txBox="1"/>
          <p:nvPr/>
        </p:nvSpPr>
        <p:spPr>
          <a:xfrm>
            <a:off x="7360920" y="2240280"/>
            <a:ext cx="4206240" cy="320040"/>
          </a:xfrm>
          <a:prstGeom prst="rect">
            <a:avLst/>
          </a:prstGeom>
          <a:noFill/>
          <a:ln/>
        </p:spPr>
        <p:txBody>
          <a:bodyPr wrap="square" lIns="0" tIns="0" rIns="0" bIns="0" rtlCol="0" anchor="t"/>
          <a:lstStyle/>
          <a:p>
            <a:pPr marL="0" indent="0">
              <a:buNone/>
            </a:pPr>
            <a:r>
              <a:rPr lang="en-US" sz="1500" b="1" dirty="0">
                <a:solidFill>
                  <a:srgbClr val="1F2A5C"/>
                </a:solidFill>
                <a:latin typeface="Segoe UI" pitchFamily="34" charset="0"/>
                <a:ea typeface="Segoe UI" pitchFamily="34" charset="-122"/>
                <a:cs typeface="Segoe UI" pitchFamily="34" charset="-120"/>
              </a:rPr>
              <a:t>PDO</a:t>
            </a:r>
            <a:endParaRPr lang="en-US" sz="1500" dirty="0"/>
          </a:p>
        </p:txBody>
      </p:sp>
      <p:sp>
        <p:nvSpPr>
          <p:cNvPr id="34" name="Text 32"/>
          <p:cNvSpPr txBox="1"/>
          <p:nvPr/>
        </p:nvSpPr>
        <p:spPr>
          <a:xfrm>
            <a:off x="7360920" y="2560320"/>
            <a:ext cx="4206240" cy="457200"/>
          </a:xfrm>
          <a:prstGeom prst="rect">
            <a:avLst/>
          </a:prstGeom>
          <a:noFill/>
          <a:ln/>
        </p:spPr>
        <p:txBody>
          <a:bodyPr wrap="square" lIns="0" tIns="0" rIns="0" bIns="0" rtlCol="0" anchor="t"/>
          <a:lstStyle/>
          <a:p>
            <a:pPr marL="0" indent="0">
              <a:buNone/>
            </a:pPr>
            <a:r>
              <a:rPr lang="en-US" sz="1300" dirty="0">
                <a:solidFill>
                  <a:srgbClr val="5B6478"/>
                </a:solidFill>
                <a:latin typeface="Segoe UI" pitchFamily="34" charset="0"/>
                <a:ea typeface="Segoe UI" pitchFamily="34" charset="-122"/>
                <a:cs typeface="Segoe UI" pitchFamily="34" charset="-120"/>
              </a:rPr>
              <a:t>Requêtes préparées contre les injections SQL</a:t>
            </a:r>
            <a:endParaRPr lang="en-US" sz="1300" dirty="0"/>
          </a:p>
        </p:txBody>
      </p:sp>
      <p:sp>
        <p:nvSpPr>
          <p:cNvPr id="35" name="Shape 33"/>
          <p:cNvSpPr/>
          <p:nvPr/>
        </p:nvSpPr>
        <p:spPr>
          <a:xfrm>
            <a:off x="7086600" y="3154680"/>
            <a:ext cx="146304" cy="146304"/>
          </a:xfrm>
          <a:prstGeom prst="roundRect">
            <a:avLst>
              <a:gd name="adj" fmla="val 50000"/>
            </a:avLst>
          </a:prstGeom>
          <a:solidFill>
            <a:srgbClr val="F2A93B"/>
          </a:solidFill>
          <a:ln/>
        </p:spPr>
      </p:sp>
      <p:sp>
        <p:nvSpPr>
          <p:cNvPr id="36" name="Text 34"/>
          <p:cNvSpPr txBox="1"/>
          <p:nvPr/>
        </p:nvSpPr>
        <p:spPr>
          <a:xfrm>
            <a:off x="7360920" y="3081528"/>
            <a:ext cx="4206240" cy="320040"/>
          </a:xfrm>
          <a:prstGeom prst="rect">
            <a:avLst/>
          </a:prstGeom>
          <a:noFill/>
          <a:ln/>
        </p:spPr>
        <p:txBody>
          <a:bodyPr wrap="square" lIns="0" tIns="0" rIns="0" bIns="0" rtlCol="0" anchor="t"/>
          <a:lstStyle/>
          <a:p>
            <a:pPr marL="0" indent="0">
              <a:buNone/>
            </a:pPr>
            <a:r>
              <a:rPr lang="en-US" sz="1500" b="1" dirty="0">
                <a:solidFill>
                  <a:srgbClr val="1F2A5C"/>
                </a:solidFill>
                <a:latin typeface="Segoe UI" pitchFamily="34" charset="0"/>
                <a:ea typeface="Segoe UI" pitchFamily="34" charset="-122"/>
                <a:cs typeface="Segoe UI" pitchFamily="34" charset="-120"/>
              </a:rPr>
              <a:t>Interrogation périodique</a:t>
            </a:r>
            <a:endParaRPr lang="en-US" sz="1500" dirty="0"/>
          </a:p>
        </p:txBody>
      </p:sp>
      <p:sp>
        <p:nvSpPr>
          <p:cNvPr id="37" name="Text 35"/>
          <p:cNvSpPr txBox="1"/>
          <p:nvPr/>
        </p:nvSpPr>
        <p:spPr>
          <a:xfrm>
            <a:off x="7360920" y="3401568"/>
            <a:ext cx="4206240" cy="457200"/>
          </a:xfrm>
          <a:prstGeom prst="rect">
            <a:avLst/>
          </a:prstGeom>
          <a:noFill/>
          <a:ln/>
        </p:spPr>
        <p:txBody>
          <a:bodyPr wrap="square" lIns="0" tIns="0" rIns="0" bIns="0" rtlCol="0" anchor="t"/>
          <a:lstStyle/>
          <a:p>
            <a:pPr marL="0" indent="0">
              <a:buNone/>
            </a:pPr>
            <a:r>
              <a:rPr lang="en-US" sz="1300" dirty="0">
                <a:solidFill>
                  <a:srgbClr val="5B6478"/>
                </a:solidFill>
                <a:latin typeface="Segoe UI" pitchFamily="34" charset="0"/>
                <a:ea typeface="Segoe UI" pitchFamily="34" charset="-122"/>
                <a:cs typeface="Segoe UI" pitchFamily="34" charset="-120"/>
              </a:rPr>
              <a:t>Messages et notifications B2B rafraîchis à intervalles réguliers (JavaScript)</a:t>
            </a:r>
            <a:endParaRPr lang="en-US" sz="1300" dirty="0"/>
          </a:p>
        </p:txBody>
      </p:sp>
      <p:sp>
        <p:nvSpPr>
          <p:cNvPr id="38" name="Shape 36"/>
          <p:cNvSpPr/>
          <p:nvPr/>
        </p:nvSpPr>
        <p:spPr>
          <a:xfrm>
            <a:off x="7086600" y="3995928"/>
            <a:ext cx="146304" cy="146304"/>
          </a:xfrm>
          <a:prstGeom prst="roundRect">
            <a:avLst>
              <a:gd name="adj" fmla="val 50000"/>
            </a:avLst>
          </a:prstGeom>
          <a:solidFill>
            <a:srgbClr val="F2A93B"/>
          </a:solidFill>
          <a:ln/>
        </p:spPr>
      </p:sp>
      <p:sp>
        <p:nvSpPr>
          <p:cNvPr id="39" name="Text 37"/>
          <p:cNvSpPr txBox="1"/>
          <p:nvPr/>
        </p:nvSpPr>
        <p:spPr>
          <a:xfrm>
            <a:off x="7360920" y="3922776"/>
            <a:ext cx="4206240" cy="320040"/>
          </a:xfrm>
          <a:prstGeom prst="rect">
            <a:avLst/>
          </a:prstGeom>
          <a:noFill/>
          <a:ln/>
        </p:spPr>
        <p:txBody>
          <a:bodyPr wrap="square" lIns="0" tIns="0" rIns="0" bIns="0" rtlCol="0" anchor="t"/>
          <a:lstStyle/>
          <a:p>
            <a:pPr marL="0" indent="0">
              <a:buNone/>
            </a:pPr>
            <a:r>
              <a:rPr lang="en-US" sz="1500" b="1" dirty="0">
                <a:solidFill>
                  <a:srgbClr val="1F2A5C"/>
                </a:solidFill>
                <a:latin typeface="Segoe UI" pitchFamily="34" charset="0"/>
                <a:ea typeface="Segoe UI" pitchFamily="34" charset="-122"/>
                <a:cs typeface="Segoe UI" pitchFamily="34" charset="-120"/>
              </a:rPr>
              <a:t>Leaflet / OpenStreetMap</a:t>
            </a:r>
            <a:endParaRPr lang="en-US" sz="1500" dirty="0"/>
          </a:p>
        </p:txBody>
      </p:sp>
      <p:sp>
        <p:nvSpPr>
          <p:cNvPr id="40" name="Text 38"/>
          <p:cNvSpPr txBox="1"/>
          <p:nvPr/>
        </p:nvSpPr>
        <p:spPr>
          <a:xfrm>
            <a:off x="7360920" y="4242816"/>
            <a:ext cx="4206240" cy="457200"/>
          </a:xfrm>
          <a:prstGeom prst="rect">
            <a:avLst/>
          </a:prstGeom>
          <a:noFill/>
          <a:ln/>
        </p:spPr>
        <p:txBody>
          <a:bodyPr wrap="square" lIns="0" tIns="0" rIns="0" bIns="0" rtlCol="0" anchor="t"/>
          <a:lstStyle/>
          <a:p>
            <a:pPr marL="0" indent="0">
              <a:buNone/>
            </a:pPr>
            <a:r>
              <a:rPr lang="en-US" sz="1300" dirty="0">
                <a:solidFill>
                  <a:srgbClr val="5B6478"/>
                </a:solidFill>
                <a:latin typeface="Segoe UI" pitchFamily="34" charset="0"/>
                <a:ea typeface="Segoe UI" pitchFamily="34" charset="-122"/>
                <a:cs typeface="Segoe UI" pitchFamily="34" charset="-120"/>
              </a:rPr>
              <a:t>Carte et position des entreprises</a:t>
            </a:r>
            <a:endParaRPr lang="en-US" sz="1300" dirty="0"/>
          </a:p>
        </p:txBody>
      </p:sp>
      <p:sp>
        <p:nvSpPr>
          <p:cNvPr id="41" name="Shape 39"/>
          <p:cNvSpPr/>
          <p:nvPr/>
        </p:nvSpPr>
        <p:spPr>
          <a:xfrm>
            <a:off x="7086600" y="4837176"/>
            <a:ext cx="146304" cy="146304"/>
          </a:xfrm>
          <a:prstGeom prst="roundRect">
            <a:avLst>
              <a:gd name="adj" fmla="val 50000"/>
            </a:avLst>
          </a:prstGeom>
          <a:solidFill>
            <a:srgbClr val="F2A93B"/>
          </a:solidFill>
          <a:ln/>
        </p:spPr>
      </p:sp>
      <p:sp>
        <p:nvSpPr>
          <p:cNvPr id="42" name="Text 40"/>
          <p:cNvSpPr txBox="1"/>
          <p:nvPr/>
        </p:nvSpPr>
        <p:spPr>
          <a:xfrm>
            <a:off x="7360920" y="4764024"/>
            <a:ext cx="4206240" cy="320040"/>
          </a:xfrm>
          <a:prstGeom prst="rect">
            <a:avLst/>
          </a:prstGeom>
          <a:noFill/>
          <a:ln/>
        </p:spPr>
        <p:txBody>
          <a:bodyPr wrap="square" lIns="0" tIns="0" rIns="0" bIns="0" rtlCol="0" anchor="t"/>
          <a:lstStyle/>
          <a:p>
            <a:pPr marL="0" indent="0">
              <a:buNone/>
            </a:pPr>
            <a:r>
              <a:rPr lang="en-US" sz="1500" b="1" dirty="0">
                <a:solidFill>
                  <a:srgbClr val="1F2A5C"/>
                </a:solidFill>
                <a:latin typeface="Segoe UI" pitchFamily="34" charset="0"/>
                <a:ea typeface="Segoe UI" pitchFamily="34" charset="-122"/>
                <a:cs typeface="Segoe UI" pitchFamily="34" charset="-120"/>
              </a:rPr>
              <a:t>PHPMailer et phpdotenv</a:t>
            </a:r>
            <a:endParaRPr lang="en-US" sz="1500" dirty="0"/>
          </a:p>
        </p:txBody>
      </p:sp>
      <p:sp>
        <p:nvSpPr>
          <p:cNvPr id="43" name="Text 41"/>
          <p:cNvSpPr txBox="1"/>
          <p:nvPr/>
        </p:nvSpPr>
        <p:spPr>
          <a:xfrm>
            <a:off x="7360920" y="5084064"/>
            <a:ext cx="4206240" cy="457200"/>
          </a:xfrm>
          <a:prstGeom prst="rect">
            <a:avLst/>
          </a:prstGeom>
          <a:noFill/>
          <a:ln/>
        </p:spPr>
        <p:txBody>
          <a:bodyPr wrap="square" lIns="0" tIns="0" rIns="0" bIns="0" rtlCol="0" anchor="t"/>
          <a:lstStyle/>
          <a:p>
            <a:pPr marL="0" indent="0">
              <a:buNone/>
            </a:pPr>
            <a:r>
              <a:rPr lang="en-US" sz="1300" dirty="0">
                <a:solidFill>
                  <a:srgbClr val="5B6478"/>
                </a:solidFill>
                <a:latin typeface="Segoe UI" pitchFamily="34" charset="0"/>
                <a:ea typeface="Segoe UI" pitchFamily="34" charset="-122"/>
                <a:cs typeface="Segoe UI" pitchFamily="34" charset="-120"/>
              </a:rPr>
              <a:t>E-mails (mot de passe oublié) ; paramètres sensibles dans .env</a:t>
            </a:r>
            <a:endParaRPr lang="en-US" sz="1300" dirty="0"/>
          </a:p>
        </p:txBody>
      </p:sp>
      <p:sp>
        <p:nvSpPr>
          <p:cNvPr id="44" name="Shape 42"/>
          <p:cNvSpPr/>
          <p:nvPr/>
        </p:nvSpPr>
        <p:spPr>
          <a:xfrm>
            <a:off x="7086600" y="5678424"/>
            <a:ext cx="146304" cy="146304"/>
          </a:xfrm>
          <a:prstGeom prst="roundRect">
            <a:avLst>
              <a:gd name="adj" fmla="val 50000"/>
            </a:avLst>
          </a:prstGeom>
          <a:solidFill>
            <a:srgbClr val="F2A93B"/>
          </a:solidFill>
          <a:ln/>
        </p:spPr>
      </p:sp>
      <p:sp>
        <p:nvSpPr>
          <p:cNvPr id="45" name="Text 43"/>
          <p:cNvSpPr txBox="1"/>
          <p:nvPr/>
        </p:nvSpPr>
        <p:spPr>
          <a:xfrm>
            <a:off x="7360920" y="5605272"/>
            <a:ext cx="4206240" cy="320040"/>
          </a:xfrm>
          <a:prstGeom prst="rect">
            <a:avLst/>
          </a:prstGeom>
          <a:noFill/>
          <a:ln/>
        </p:spPr>
        <p:txBody>
          <a:bodyPr wrap="square" lIns="0" tIns="0" rIns="0" bIns="0" rtlCol="0" anchor="t"/>
          <a:lstStyle/>
          <a:p>
            <a:pPr marL="0" indent="0">
              <a:buNone/>
            </a:pPr>
            <a:r>
              <a:rPr lang="en-US" sz="1500" b="1" dirty="0">
                <a:solidFill>
                  <a:srgbClr val="1F2A5C"/>
                </a:solidFill>
                <a:latin typeface="Segoe UI" pitchFamily="34" charset="0"/>
                <a:ea typeface="Segoe UI" pitchFamily="34" charset="-122"/>
                <a:cs typeface="Segoe UI" pitchFamily="34" charset="-120"/>
              </a:rPr>
              <a:t>Factures PDF</a:t>
            </a:r>
            <a:endParaRPr lang="en-US" sz="1500" dirty="0"/>
          </a:p>
        </p:txBody>
      </p:sp>
      <p:sp>
        <p:nvSpPr>
          <p:cNvPr id="46" name="Text 44"/>
          <p:cNvSpPr txBox="1"/>
          <p:nvPr/>
        </p:nvSpPr>
        <p:spPr>
          <a:xfrm>
            <a:off x="7360920" y="5925312"/>
            <a:ext cx="4206240" cy="457200"/>
          </a:xfrm>
          <a:prstGeom prst="rect">
            <a:avLst/>
          </a:prstGeom>
          <a:noFill/>
          <a:ln/>
        </p:spPr>
        <p:txBody>
          <a:bodyPr wrap="square" lIns="0" tIns="0" rIns="0" bIns="0" rtlCol="0" anchor="t"/>
          <a:lstStyle/>
          <a:p>
            <a:pPr marL="0" indent="0">
              <a:buNone/>
            </a:pPr>
            <a:r>
              <a:rPr lang="en-US" sz="1300" dirty="0">
                <a:solidFill>
                  <a:srgbClr val="5B6478"/>
                </a:solidFill>
                <a:latin typeface="Segoe UI" pitchFamily="34" charset="0"/>
                <a:ea typeface="Segoe UI" pitchFamily="34" charset="-122"/>
                <a:cs typeface="Segoe UI" pitchFamily="34" charset="-120"/>
              </a:rPr>
              <a:t>Impression de la facture par le navigateur</a:t>
            </a:r>
            <a:endParaRPr lang="en-US" sz="1300" dirty="0"/>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30 »</a:t>
            </a:r>
            <a:endParaRPr lang="en-US" sz="1100" dirty="0"/>
          </a:p>
        </p:txBody>
      </p:sp>
      <p:pic>
        <p:nvPicPr>
          <p:cNvPr id="4" name="Image 0" descr="C:\Users\ALEX\AppData\Local\Temp\claude\C--laragon-www-facturation\62a43aad-6d46-45af-979c-6c158c66b0c3\scratchpad\ppt3\a4\ill_auth-hero.png"/>
          <p:cNvPicPr>
            <a:picLocks noChangeAspect="1"/>
          </p:cNvPicPr>
          <p:nvPr/>
        </p:nvPicPr>
        <p:blipFill>
          <a:blip r:embed="rId4"/>
          <a:stretch>
            <a:fillRect/>
          </a:stretch>
        </p:blipFill>
        <p:spPr>
          <a:xfrm>
            <a:off x="640080" y="411480"/>
            <a:ext cx="4157318" cy="3291840"/>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07</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Démonstration</a:t>
            </a:r>
            <a:endParaRPr lang="en-US" sz="3800" dirty="0"/>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31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Un approvisionnement B2B de bout en bout</a:t>
            </a:r>
            <a:endParaRPr lang="en-US" sz="3000" dirty="0"/>
          </a:p>
        </p:txBody>
      </p:sp>
      <p:sp>
        <p:nvSpPr>
          <p:cNvPr id="5" name="Text 3"/>
          <p:cNvSpPr txBox="1"/>
          <p:nvPr/>
        </p:nvSpPr>
        <p:spPr>
          <a:xfrm>
            <a:off x="731520" y="1600200"/>
            <a:ext cx="3657600" cy="365760"/>
          </a:xfrm>
          <a:prstGeom prst="rect">
            <a:avLst/>
          </a:prstGeom>
          <a:noFill/>
          <a:ln/>
        </p:spPr>
        <p:txBody>
          <a:bodyPr wrap="square" lIns="0" tIns="0" rIns="0" bIns="0" rtlCol="0" anchor="t"/>
          <a:lstStyle/>
          <a:p>
            <a:pPr marL="0" indent="0">
              <a:buNone/>
            </a:pPr>
            <a:r>
              <a:rPr lang="en-US" sz="1700" b="1" dirty="0">
                <a:solidFill>
                  <a:srgbClr val="1F2A5C"/>
                </a:solidFill>
                <a:latin typeface="Segoe UI" pitchFamily="34" charset="0"/>
                <a:ea typeface="Segoe UI" pitchFamily="34" charset="-122"/>
                <a:cs typeface="Segoe UI" pitchFamily="34" charset="-120"/>
              </a:rPr>
              <a:t>Entreprise acheteuse</a:t>
            </a:r>
            <a:endParaRPr lang="en-US" sz="1700" dirty="0"/>
          </a:p>
        </p:txBody>
      </p:sp>
      <p:sp>
        <p:nvSpPr>
          <p:cNvPr id="6" name="Text 4"/>
          <p:cNvSpPr txBox="1"/>
          <p:nvPr/>
        </p:nvSpPr>
        <p:spPr>
          <a:xfrm>
            <a:off x="731520" y="3703320"/>
            <a:ext cx="3657600" cy="365760"/>
          </a:xfrm>
          <a:prstGeom prst="rect">
            <a:avLst/>
          </a:prstGeom>
          <a:noFill/>
          <a:ln/>
        </p:spPr>
        <p:txBody>
          <a:bodyPr wrap="square" lIns="0" tIns="0" rIns="0" bIns="0" rtlCol="0" anchor="t"/>
          <a:lstStyle/>
          <a:p>
            <a:pPr marL="0" indent="0">
              <a:buNone/>
            </a:pPr>
            <a:r>
              <a:rPr lang="en-US" sz="1700" b="1" dirty="0">
                <a:solidFill>
                  <a:srgbClr val="A65F00"/>
                </a:solidFill>
                <a:latin typeface="Segoe UI" pitchFamily="34" charset="0"/>
                <a:ea typeface="Segoe UI" pitchFamily="34" charset="-122"/>
                <a:cs typeface="Segoe UI" pitchFamily="34" charset="-120"/>
              </a:rPr>
              <a:t>Entreprise vendeuse</a:t>
            </a:r>
            <a:endParaRPr lang="en-US" sz="1700" dirty="0"/>
          </a:p>
        </p:txBody>
      </p:sp>
      <p:sp>
        <p:nvSpPr>
          <p:cNvPr id="7" name="Shape 5"/>
          <p:cNvSpPr/>
          <p:nvPr/>
        </p:nvSpPr>
        <p:spPr>
          <a:xfrm>
            <a:off x="731520" y="2103120"/>
            <a:ext cx="2423160" cy="1143000"/>
          </a:xfrm>
          <a:prstGeom prst="roundRect">
            <a:avLst>
              <a:gd name="adj" fmla="val 9600"/>
            </a:avLst>
          </a:prstGeom>
          <a:solidFill>
            <a:srgbClr val="1F2A5C"/>
          </a:solidFill>
          <a:ln/>
        </p:spPr>
      </p:sp>
      <p:sp>
        <p:nvSpPr>
          <p:cNvPr id="8" name="Text 6"/>
          <p:cNvSpPr txBox="1"/>
          <p:nvPr/>
        </p:nvSpPr>
        <p:spPr>
          <a:xfrm>
            <a:off x="896112" y="2194560"/>
            <a:ext cx="457200" cy="320040"/>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1</a:t>
            </a:r>
            <a:endParaRPr lang="en-US" sz="1400" dirty="0"/>
          </a:p>
        </p:txBody>
      </p:sp>
      <p:sp>
        <p:nvSpPr>
          <p:cNvPr id="9" name="Text 7"/>
          <p:cNvSpPr txBox="1"/>
          <p:nvPr/>
        </p:nvSpPr>
        <p:spPr>
          <a:xfrm>
            <a:off x="896112" y="2487168"/>
            <a:ext cx="2103120" cy="73152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Rechercher une offre</a:t>
            </a:r>
            <a:endParaRPr lang="en-US" sz="1550" dirty="0"/>
          </a:p>
        </p:txBody>
      </p:sp>
      <p:sp>
        <p:nvSpPr>
          <p:cNvPr id="10" name="Shape 8"/>
          <p:cNvSpPr/>
          <p:nvPr/>
        </p:nvSpPr>
        <p:spPr>
          <a:xfrm>
            <a:off x="3520440" y="2103120"/>
            <a:ext cx="2423160" cy="1143000"/>
          </a:xfrm>
          <a:prstGeom prst="roundRect">
            <a:avLst>
              <a:gd name="adj" fmla="val 9600"/>
            </a:avLst>
          </a:prstGeom>
          <a:solidFill>
            <a:srgbClr val="1F2A5C"/>
          </a:solidFill>
          <a:ln/>
        </p:spPr>
      </p:sp>
      <p:sp>
        <p:nvSpPr>
          <p:cNvPr id="11" name="Text 9"/>
          <p:cNvSpPr txBox="1"/>
          <p:nvPr/>
        </p:nvSpPr>
        <p:spPr>
          <a:xfrm>
            <a:off x="3685032" y="2194560"/>
            <a:ext cx="457200" cy="320040"/>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2</a:t>
            </a:r>
            <a:endParaRPr lang="en-US" sz="1400" dirty="0"/>
          </a:p>
        </p:txBody>
      </p:sp>
      <p:sp>
        <p:nvSpPr>
          <p:cNvPr id="12" name="Text 10"/>
          <p:cNvSpPr txBox="1"/>
          <p:nvPr/>
        </p:nvSpPr>
        <p:spPr>
          <a:xfrm>
            <a:off x="3685032" y="2487168"/>
            <a:ext cx="2103120" cy="73152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Consulter le fournisseur</a:t>
            </a:r>
            <a:endParaRPr lang="en-US" sz="1550" dirty="0"/>
          </a:p>
        </p:txBody>
      </p:sp>
      <p:sp>
        <p:nvSpPr>
          <p:cNvPr id="13" name="Shape 11"/>
          <p:cNvSpPr/>
          <p:nvPr/>
        </p:nvSpPr>
        <p:spPr>
          <a:xfrm>
            <a:off x="6309360" y="2103120"/>
            <a:ext cx="2423160" cy="1143000"/>
          </a:xfrm>
          <a:prstGeom prst="roundRect">
            <a:avLst>
              <a:gd name="adj" fmla="val 9600"/>
            </a:avLst>
          </a:prstGeom>
          <a:solidFill>
            <a:srgbClr val="1F2A5C"/>
          </a:solidFill>
          <a:ln/>
        </p:spPr>
      </p:sp>
      <p:sp>
        <p:nvSpPr>
          <p:cNvPr id="14" name="Text 12"/>
          <p:cNvSpPr txBox="1"/>
          <p:nvPr/>
        </p:nvSpPr>
        <p:spPr>
          <a:xfrm>
            <a:off x="6473952" y="2194560"/>
            <a:ext cx="457200" cy="320040"/>
          </a:xfrm>
          <a:prstGeom prst="rect">
            <a:avLst/>
          </a:prstGeom>
          <a:noFill/>
          <a:ln/>
        </p:spPr>
        <p:txBody>
          <a:bodyPr wrap="square" lIns="0" tIns="0" rIns="0" bIns="0" rtlCol="0" anchor="t"/>
          <a:lstStyle/>
          <a:p>
            <a:pPr marL="0" indent="0">
              <a:buNone/>
            </a:pPr>
            <a:r>
              <a:rPr lang="en-US" sz="1400" b="1" dirty="0">
                <a:solidFill>
                  <a:srgbClr val="F2A93B"/>
                </a:solidFill>
                <a:latin typeface="Segoe UI" pitchFamily="34" charset="0"/>
                <a:ea typeface="Segoe UI" pitchFamily="34" charset="-122"/>
                <a:cs typeface="Segoe UI" pitchFamily="34" charset="-120"/>
              </a:rPr>
              <a:t>3</a:t>
            </a:r>
            <a:endParaRPr lang="en-US" sz="1400" dirty="0"/>
          </a:p>
        </p:txBody>
      </p:sp>
      <p:sp>
        <p:nvSpPr>
          <p:cNvPr id="15" name="Text 13"/>
          <p:cNvSpPr txBox="1"/>
          <p:nvPr/>
        </p:nvSpPr>
        <p:spPr>
          <a:xfrm>
            <a:off x="6473952" y="2487168"/>
            <a:ext cx="2103120" cy="731520"/>
          </a:xfrm>
          <a:prstGeom prst="rect">
            <a:avLst/>
          </a:prstGeom>
          <a:noFill/>
          <a:ln/>
        </p:spPr>
        <p:txBody>
          <a:bodyPr wrap="square" lIns="0" tIns="0" rIns="0" bIns="0" rtlCol="0" anchor="t"/>
          <a:lstStyle/>
          <a:p>
            <a:pPr marL="0" indent="0">
              <a:buNone/>
            </a:pPr>
            <a:r>
              <a:rPr lang="en-US" sz="1550" b="1" dirty="0">
                <a:solidFill>
                  <a:srgbClr val="FFFFFF"/>
                </a:solidFill>
                <a:latin typeface="Segoe UI" pitchFamily="34" charset="0"/>
                <a:ea typeface="Segoe UI" pitchFamily="34" charset="-122"/>
                <a:cs typeface="Segoe UI" pitchFamily="34" charset="-120"/>
              </a:rPr>
              <a:t>Passer la commande B2B</a:t>
            </a:r>
            <a:endParaRPr lang="en-US" sz="1550" dirty="0"/>
          </a:p>
        </p:txBody>
      </p:sp>
      <p:sp>
        <p:nvSpPr>
          <p:cNvPr id="16" name="Shape 14"/>
          <p:cNvSpPr/>
          <p:nvPr/>
        </p:nvSpPr>
        <p:spPr>
          <a:xfrm>
            <a:off x="6309360" y="4206240"/>
            <a:ext cx="2423160" cy="1143000"/>
          </a:xfrm>
          <a:prstGeom prst="roundRect">
            <a:avLst>
              <a:gd name="adj" fmla="val 9600"/>
            </a:avLst>
          </a:prstGeom>
          <a:solidFill>
            <a:srgbClr val="F2A93B"/>
          </a:solidFill>
          <a:ln/>
        </p:spPr>
      </p:sp>
      <p:sp>
        <p:nvSpPr>
          <p:cNvPr id="17" name="Text 15"/>
          <p:cNvSpPr txBox="1"/>
          <p:nvPr/>
        </p:nvSpPr>
        <p:spPr>
          <a:xfrm>
            <a:off x="6473952" y="4297680"/>
            <a:ext cx="457200" cy="320040"/>
          </a:xfrm>
          <a:prstGeom prst="rect">
            <a:avLst/>
          </a:prstGeom>
          <a:noFill/>
          <a:ln/>
        </p:spPr>
        <p:txBody>
          <a:bodyPr wrap="square" lIns="0" tIns="0" rIns="0" bIns="0" rtlCol="0" anchor="t"/>
          <a:lstStyle/>
          <a:p>
            <a:pPr marL="0" indent="0">
              <a:buNone/>
            </a:pPr>
            <a:r>
              <a:rPr lang="en-US" sz="1400" b="1" dirty="0">
                <a:solidFill>
                  <a:srgbClr val="1F2A5C"/>
                </a:solidFill>
                <a:latin typeface="Segoe UI" pitchFamily="34" charset="0"/>
                <a:ea typeface="Segoe UI" pitchFamily="34" charset="-122"/>
                <a:cs typeface="Segoe UI" pitchFamily="34" charset="-120"/>
              </a:rPr>
              <a:t>4</a:t>
            </a:r>
            <a:endParaRPr lang="en-US" sz="1400" dirty="0"/>
          </a:p>
        </p:txBody>
      </p:sp>
      <p:sp>
        <p:nvSpPr>
          <p:cNvPr id="18" name="Text 16"/>
          <p:cNvSpPr txBox="1"/>
          <p:nvPr/>
        </p:nvSpPr>
        <p:spPr>
          <a:xfrm>
            <a:off x="6473952" y="4590288"/>
            <a:ext cx="2103120" cy="731520"/>
          </a:xfrm>
          <a:prstGeom prst="rect">
            <a:avLst/>
          </a:prstGeom>
          <a:noFill/>
          <a:ln/>
        </p:spPr>
        <p:txBody>
          <a:bodyPr wrap="square" lIns="0" tIns="0" rIns="0" bIns="0" rtlCol="0" anchor="t"/>
          <a:lstStyle/>
          <a:p>
            <a:pPr marL="0" indent="0">
              <a:buNone/>
            </a:pPr>
            <a:r>
              <a:rPr lang="en-US" sz="1550" b="1" dirty="0">
                <a:solidFill>
                  <a:srgbClr val="1F2A5C"/>
                </a:solidFill>
                <a:latin typeface="Segoe UI" pitchFamily="34" charset="0"/>
                <a:ea typeface="Segoe UI" pitchFamily="34" charset="-122"/>
                <a:cs typeface="Segoe UI" pitchFamily="34" charset="-120"/>
              </a:rPr>
              <a:t>Recevoir la commande</a:t>
            </a:r>
            <a:endParaRPr lang="en-US" sz="1550" dirty="0"/>
          </a:p>
        </p:txBody>
      </p:sp>
      <p:sp>
        <p:nvSpPr>
          <p:cNvPr id="19" name="Shape 17"/>
          <p:cNvSpPr/>
          <p:nvPr/>
        </p:nvSpPr>
        <p:spPr>
          <a:xfrm>
            <a:off x="9098280" y="4206240"/>
            <a:ext cx="2423160" cy="1143000"/>
          </a:xfrm>
          <a:prstGeom prst="roundRect">
            <a:avLst>
              <a:gd name="adj" fmla="val 9600"/>
            </a:avLst>
          </a:prstGeom>
          <a:solidFill>
            <a:srgbClr val="F2A93B"/>
          </a:solidFill>
          <a:ln/>
        </p:spPr>
      </p:sp>
      <p:sp>
        <p:nvSpPr>
          <p:cNvPr id="20" name="Text 18"/>
          <p:cNvSpPr txBox="1"/>
          <p:nvPr/>
        </p:nvSpPr>
        <p:spPr>
          <a:xfrm>
            <a:off x="9262872" y="4297680"/>
            <a:ext cx="457200" cy="320040"/>
          </a:xfrm>
          <a:prstGeom prst="rect">
            <a:avLst/>
          </a:prstGeom>
          <a:noFill/>
          <a:ln/>
        </p:spPr>
        <p:txBody>
          <a:bodyPr wrap="square" lIns="0" tIns="0" rIns="0" bIns="0" rtlCol="0" anchor="t"/>
          <a:lstStyle/>
          <a:p>
            <a:pPr marL="0" indent="0">
              <a:buNone/>
            </a:pPr>
            <a:r>
              <a:rPr lang="en-US" sz="1400" b="1" dirty="0">
                <a:solidFill>
                  <a:srgbClr val="1F2A5C"/>
                </a:solidFill>
                <a:latin typeface="Segoe UI" pitchFamily="34" charset="0"/>
                <a:ea typeface="Segoe UI" pitchFamily="34" charset="-122"/>
                <a:cs typeface="Segoe UI" pitchFamily="34" charset="-120"/>
              </a:rPr>
              <a:t>5</a:t>
            </a:r>
            <a:endParaRPr lang="en-US" sz="1400" dirty="0"/>
          </a:p>
        </p:txBody>
      </p:sp>
      <p:sp>
        <p:nvSpPr>
          <p:cNvPr id="21" name="Text 19"/>
          <p:cNvSpPr txBox="1"/>
          <p:nvPr/>
        </p:nvSpPr>
        <p:spPr>
          <a:xfrm>
            <a:off x="9262872" y="4590288"/>
            <a:ext cx="2103120" cy="731520"/>
          </a:xfrm>
          <a:prstGeom prst="rect">
            <a:avLst/>
          </a:prstGeom>
          <a:noFill/>
          <a:ln/>
        </p:spPr>
        <p:txBody>
          <a:bodyPr wrap="square" lIns="0" tIns="0" rIns="0" bIns="0" rtlCol="0" anchor="t"/>
          <a:lstStyle/>
          <a:p>
            <a:pPr marL="0" indent="0">
              <a:buNone/>
            </a:pPr>
            <a:r>
              <a:rPr lang="en-US" sz="1550" b="1" dirty="0">
                <a:solidFill>
                  <a:srgbClr val="1F2A5C"/>
                </a:solidFill>
                <a:latin typeface="Segoe UI" pitchFamily="34" charset="0"/>
                <a:ea typeface="Segoe UI" pitchFamily="34" charset="-122"/>
                <a:cs typeface="Segoe UI" pitchFamily="34" charset="-120"/>
              </a:rPr>
              <a:t>Vérifier le stock, accepter ou refuser</a:t>
            </a:r>
            <a:endParaRPr lang="en-US" sz="1550" dirty="0"/>
          </a:p>
        </p:txBody>
      </p:sp>
      <p:sp>
        <p:nvSpPr>
          <p:cNvPr id="22" name="Shape 20"/>
          <p:cNvSpPr/>
          <p:nvPr/>
        </p:nvSpPr>
        <p:spPr>
          <a:xfrm>
            <a:off x="3172968" y="2670048"/>
            <a:ext cx="329184" cy="0"/>
          </a:xfrm>
          <a:prstGeom prst="line">
            <a:avLst/>
          </a:prstGeom>
          <a:noFill/>
          <a:ln w="25400">
            <a:solidFill>
              <a:srgbClr val="F2A93B"/>
            </a:solidFill>
            <a:prstDash val="solid"/>
            <a:tailEnd type="triangle"/>
          </a:ln>
        </p:spPr>
      </p:sp>
      <p:sp>
        <p:nvSpPr>
          <p:cNvPr id="23" name="Shape 21"/>
          <p:cNvSpPr/>
          <p:nvPr/>
        </p:nvSpPr>
        <p:spPr>
          <a:xfrm>
            <a:off x="5961888" y="2670048"/>
            <a:ext cx="329184" cy="0"/>
          </a:xfrm>
          <a:prstGeom prst="line">
            <a:avLst/>
          </a:prstGeom>
          <a:noFill/>
          <a:ln w="25400">
            <a:solidFill>
              <a:srgbClr val="F2A93B"/>
            </a:solidFill>
            <a:prstDash val="solid"/>
            <a:tailEnd type="triangle"/>
          </a:ln>
        </p:spPr>
      </p:sp>
      <p:sp>
        <p:nvSpPr>
          <p:cNvPr id="24" name="Shape 22"/>
          <p:cNvSpPr/>
          <p:nvPr/>
        </p:nvSpPr>
        <p:spPr>
          <a:xfrm>
            <a:off x="7516368" y="3264408"/>
            <a:ext cx="0" cy="923544"/>
          </a:xfrm>
          <a:prstGeom prst="line">
            <a:avLst/>
          </a:prstGeom>
          <a:noFill/>
          <a:ln w="25400">
            <a:solidFill>
              <a:srgbClr val="F2A93B"/>
            </a:solidFill>
            <a:prstDash val="solid"/>
            <a:tailEnd type="triangle"/>
          </a:ln>
        </p:spPr>
      </p:sp>
      <p:sp>
        <p:nvSpPr>
          <p:cNvPr id="25" name="Shape 23"/>
          <p:cNvSpPr/>
          <p:nvPr/>
        </p:nvSpPr>
        <p:spPr>
          <a:xfrm>
            <a:off x="8750808" y="4773168"/>
            <a:ext cx="329184" cy="0"/>
          </a:xfrm>
          <a:prstGeom prst="line">
            <a:avLst/>
          </a:prstGeom>
          <a:noFill/>
          <a:ln w="25400">
            <a:solidFill>
              <a:srgbClr val="F2A93B"/>
            </a:solidFill>
            <a:prstDash val="solid"/>
            <a:tailEnd type="triangle"/>
          </a:ln>
        </p:spPr>
      </p:sp>
      <p:sp>
        <p:nvSpPr>
          <p:cNvPr id="26" name="Text 24"/>
          <p:cNvSpPr txBox="1"/>
          <p:nvPr/>
        </p:nvSpPr>
        <p:spPr>
          <a:xfrm>
            <a:off x="731520" y="5623560"/>
            <a:ext cx="7315200" cy="365760"/>
          </a:xfrm>
          <a:prstGeom prst="rect">
            <a:avLst/>
          </a:prstGeom>
          <a:noFill/>
          <a:ln/>
        </p:spPr>
        <p:txBody>
          <a:bodyPr wrap="square" lIns="0" tIns="0" rIns="0" bIns="0" rtlCol="0" anchor="t"/>
          <a:lstStyle/>
          <a:p>
            <a:pPr marL="0" indent="0">
              <a:buNone/>
            </a:pPr>
            <a:r>
              <a:rPr lang="en-US" sz="1400" i="1" dirty="0">
                <a:solidFill>
                  <a:srgbClr val="5B6478"/>
                </a:solidFill>
                <a:latin typeface="Segoe UI" pitchFamily="34" charset="0"/>
                <a:ea typeface="Segoe UI" pitchFamily="34" charset="-122"/>
                <a:cs typeface="Segoe UI" pitchFamily="34" charset="-120"/>
              </a:rPr>
              <a:t>La vente au </a:t>
            </a:r>
            <a:r>
              <a:rPr lang="en-US" sz="1400" i="1" dirty="0" err="1">
                <a:solidFill>
                  <a:srgbClr val="5B6478"/>
                </a:solidFill>
                <a:latin typeface="Segoe UI" pitchFamily="34" charset="0"/>
                <a:ea typeface="Segoe UI" pitchFamily="34" charset="-122"/>
                <a:cs typeface="Segoe UI" pitchFamily="34" charset="-120"/>
              </a:rPr>
              <a:t>comptoir</a:t>
            </a:r>
            <a:r>
              <a:rPr lang="en-US" sz="1400" i="1" dirty="0">
                <a:solidFill>
                  <a:srgbClr val="5B6478"/>
                </a:solidFill>
                <a:latin typeface="Segoe UI" pitchFamily="34" charset="0"/>
                <a:ea typeface="Segoe UI" pitchFamily="34" charset="-122"/>
                <a:cs typeface="Segoe UI" pitchFamily="34" charset="-120"/>
              </a:rPr>
              <a:t> sera </a:t>
            </a:r>
            <a:r>
              <a:rPr lang="en-US" sz="1400" i="1" dirty="0" err="1">
                <a:solidFill>
                  <a:srgbClr val="5B6478"/>
                </a:solidFill>
                <a:latin typeface="Segoe UI" pitchFamily="34" charset="0"/>
                <a:ea typeface="Segoe UI" pitchFamily="34" charset="-122"/>
                <a:cs typeface="Segoe UI" pitchFamily="34" charset="-120"/>
              </a:rPr>
              <a:t>montrée</a:t>
            </a:r>
            <a:r>
              <a:rPr lang="en-US" sz="1400" i="1" dirty="0">
                <a:solidFill>
                  <a:srgbClr val="5B6478"/>
                </a:solidFill>
                <a:latin typeface="Segoe UI" pitchFamily="34" charset="0"/>
                <a:ea typeface="Segoe UI" pitchFamily="34" charset="-122"/>
                <a:cs typeface="Segoe UI" pitchFamily="34" charset="-120"/>
              </a:rPr>
              <a:t> </a:t>
            </a:r>
            <a:r>
              <a:rPr lang="en-US" sz="1400" i="1" dirty="0" err="1">
                <a:solidFill>
                  <a:srgbClr val="5B6478"/>
                </a:solidFill>
                <a:latin typeface="Segoe UI" pitchFamily="34" charset="0"/>
                <a:ea typeface="Segoe UI" pitchFamily="34" charset="-122"/>
                <a:cs typeface="Segoe UI" pitchFamily="34" charset="-120"/>
              </a:rPr>
              <a:t>rapidement</a:t>
            </a:r>
            <a:r>
              <a:rPr lang="en-US" sz="1400" i="1" dirty="0">
                <a:solidFill>
                  <a:srgbClr val="5B6478"/>
                </a:solidFill>
                <a:latin typeface="Segoe UI" pitchFamily="34" charset="0"/>
                <a:ea typeface="Segoe UI" pitchFamily="34" charset="-122"/>
                <a:cs typeface="Segoe UI" pitchFamily="34" charset="-120"/>
              </a:rPr>
              <a:t> à la fin.</a:t>
            </a:r>
            <a:endParaRPr lang="en-US" sz="1400" dirty="0"/>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32 »</a:t>
            </a:r>
            <a:endParaRPr lang="en-US" sz="1100" dirty="0"/>
          </a:p>
        </p:txBody>
      </p:sp>
      <p:pic>
        <p:nvPicPr>
          <p:cNvPr id="4" name="Image 0" descr="C:\Users\ALEX\AppData\Local\Temp\claude\C--laragon-www-facturation\62a43aad-6d46-45af-979c-6c158c66b0c3\scratchpad\ppt3\a4\ill_empty-done.png"/>
          <p:cNvPicPr>
            <a:picLocks noChangeAspect="1"/>
          </p:cNvPicPr>
          <p:nvPr/>
        </p:nvPicPr>
        <p:blipFill>
          <a:blip r:embed="rId4"/>
          <a:stretch>
            <a:fillRect/>
          </a:stretch>
        </p:blipFill>
        <p:spPr>
          <a:xfrm>
            <a:off x="640080" y="411480"/>
            <a:ext cx="4383806" cy="3291840"/>
          </a:xfrm>
          <a:prstGeom prst="rect">
            <a:avLst/>
          </a:prstGeom>
        </p:spPr>
      </p:pic>
      <p:sp>
        <p:nvSpPr>
          <p:cNvPr id="5" name="Shape 2"/>
          <p:cNvSpPr/>
          <p:nvPr/>
        </p:nvSpPr>
        <p:spPr>
          <a:xfrm>
            <a:off x="10378440" y="3611880"/>
            <a:ext cx="1143000" cy="914400"/>
          </a:xfrm>
          <a:prstGeom prst="roundRect">
            <a:avLst>
              <a:gd name="adj" fmla="val 10000"/>
            </a:avLst>
          </a:prstGeom>
          <a:solidFill>
            <a:srgbClr val="F2A93B"/>
          </a:solidFill>
          <a:ln/>
        </p:spPr>
      </p:sp>
      <p:sp>
        <p:nvSpPr>
          <p:cNvPr id="6" name="Text 3"/>
          <p:cNvSpPr txBox="1"/>
          <p:nvPr/>
        </p:nvSpPr>
        <p:spPr>
          <a:xfrm>
            <a:off x="10378440" y="3611880"/>
            <a:ext cx="1143000"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08</a:t>
            </a:r>
            <a:endParaRPr lang="en-US" sz="4000" dirty="0"/>
          </a:p>
        </p:txBody>
      </p:sp>
      <p:sp>
        <p:nvSpPr>
          <p:cNvPr id="7" name="Text 4"/>
          <p:cNvSpPr txBox="1"/>
          <p:nvPr/>
        </p:nvSpPr>
        <p:spPr>
          <a:xfrm>
            <a:off x="4572000" y="4663440"/>
            <a:ext cx="6949440" cy="1097280"/>
          </a:xfrm>
          <a:prstGeom prst="rect">
            <a:avLst/>
          </a:prstGeom>
          <a:noFill/>
          <a:ln/>
        </p:spPr>
        <p:txBody>
          <a:bodyPr wrap="square" lIns="0" tIns="0" rIns="0" bIns="0" rtlCol="0" anchor="t"/>
          <a:lstStyle/>
          <a:p>
            <a:pPr marL="0" indent="0" algn="r">
              <a:buNone/>
            </a:pPr>
            <a:r>
              <a:rPr lang="en-US" sz="3800" dirty="0">
                <a:solidFill>
                  <a:srgbClr val="FFFFFF"/>
                </a:solidFill>
                <a:latin typeface="Segoe UI" pitchFamily="34" charset="0"/>
                <a:ea typeface="Segoe UI" pitchFamily="34" charset="-122"/>
                <a:cs typeface="Segoe UI" pitchFamily="34" charset="-120"/>
              </a:rPr>
              <a:t>Bilan et conclusion</a:t>
            </a:r>
            <a:endParaRPr lang="en-US" sz="3800" dirty="0"/>
          </a:p>
        </p:txBody>
      </p:sp>
    </p:spTree>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name="Slide 3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33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Difficultés rencontrées</a:t>
            </a:r>
            <a:endParaRPr lang="en-US" sz="3000" dirty="0"/>
          </a:p>
        </p:txBody>
      </p:sp>
      <p:sp>
        <p:nvSpPr>
          <p:cNvPr id="5" name="Shape 3"/>
          <p:cNvSpPr/>
          <p:nvPr/>
        </p:nvSpPr>
        <p:spPr>
          <a:xfrm>
            <a:off x="731520" y="1600200"/>
            <a:ext cx="640080" cy="621792"/>
          </a:xfrm>
          <a:prstGeom prst="roundRect">
            <a:avLst>
              <a:gd name="adj" fmla="val 14706"/>
            </a:avLst>
          </a:prstGeom>
          <a:solidFill>
            <a:srgbClr val="F2A93B"/>
          </a:solidFill>
          <a:ln/>
        </p:spPr>
      </p:sp>
      <p:sp>
        <p:nvSpPr>
          <p:cNvPr id="6" name="Text 4"/>
          <p:cNvSpPr txBox="1"/>
          <p:nvPr/>
        </p:nvSpPr>
        <p:spPr>
          <a:xfrm>
            <a:off x="731520" y="160020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txBox="1"/>
          <p:nvPr/>
        </p:nvSpPr>
        <p:spPr>
          <a:xfrm>
            <a:off x="1600200" y="1508760"/>
            <a:ext cx="384048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Modélisation MERISE</a:t>
            </a:r>
            <a:endParaRPr lang="en-US" sz="1800" dirty="0"/>
          </a:p>
        </p:txBody>
      </p:sp>
      <p:sp>
        <p:nvSpPr>
          <p:cNvPr id="8" name="Text 6"/>
          <p:cNvSpPr txBox="1"/>
          <p:nvPr/>
        </p:nvSpPr>
        <p:spPr>
          <a:xfrm>
            <a:off x="1600200" y="1920240"/>
            <a:ext cx="3840480" cy="8229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Cardinalités multiples et règles de gestion strictes</a:t>
            </a:r>
            <a:endParaRPr lang="en-US" sz="1450" dirty="0"/>
          </a:p>
        </p:txBody>
      </p:sp>
      <p:sp>
        <p:nvSpPr>
          <p:cNvPr id="9" name="Shape 7"/>
          <p:cNvSpPr/>
          <p:nvPr/>
        </p:nvSpPr>
        <p:spPr>
          <a:xfrm>
            <a:off x="5486400" y="1920240"/>
            <a:ext cx="502920" cy="0"/>
          </a:xfrm>
          <a:prstGeom prst="line">
            <a:avLst/>
          </a:prstGeom>
          <a:noFill/>
          <a:ln w="25400">
            <a:solidFill>
              <a:srgbClr val="F2A93B"/>
            </a:solidFill>
            <a:prstDash val="solid"/>
            <a:tailEnd type="triangle"/>
          </a:ln>
        </p:spPr>
      </p:sp>
      <p:sp>
        <p:nvSpPr>
          <p:cNvPr id="10" name="Shape 8"/>
          <p:cNvSpPr/>
          <p:nvPr/>
        </p:nvSpPr>
        <p:spPr>
          <a:xfrm>
            <a:off x="6172200" y="1463040"/>
            <a:ext cx="5349240" cy="1280160"/>
          </a:xfrm>
          <a:prstGeom prst="roundRect">
            <a:avLst>
              <a:gd name="adj" fmla="val 7143"/>
            </a:avLst>
          </a:prstGeom>
          <a:solidFill>
            <a:srgbClr val="F4F5F8"/>
          </a:solidFill>
          <a:ln/>
        </p:spPr>
      </p:sp>
      <p:sp>
        <p:nvSpPr>
          <p:cNvPr id="11" name="Text 9"/>
          <p:cNvSpPr txBox="1"/>
          <p:nvPr/>
        </p:nvSpPr>
        <p:spPr>
          <a:xfrm>
            <a:off x="6400800" y="1463040"/>
            <a:ext cx="4937760" cy="1280160"/>
          </a:xfrm>
          <a:prstGeom prst="rect">
            <a:avLst/>
          </a:prstGeom>
          <a:noFill/>
          <a:ln/>
        </p:spPr>
        <p:txBody>
          <a:bodyPr wrap="square" lIns="0" tIns="0" rIns="0" bIns="0" rtlCol="0" anchor="ctr"/>
          <a:lstStyle/>
          <a:p>
            <a:pPr marL="0" indent="0">
              <a:buNone/>
            </a:pPr>
            <a:r>
              <a:rPr lang="en-US" sz="1500" dirty="0">
                <a:solidFill>
                  <a:srgbClr val="1F2A44"/>
                </a:solidFill>
                <a:latin typeface="Segoe UI" pitchFamily="34" charset="0"/>
                <a:ea typeface="Segoe UI" pitchFamily="34" charset="-122"/>
                <a:cs typeface="Segoe UI" pitchFamily="34" charset="-120"/>
              </a:rPr>
              <a:t>Validation itérative avec le directeur de mémoire, jusqu'à une structure cohérente et normalisée</a:t>
            </a:r>
            <a:endParaRPr lang="en-US" sz="1500" dirty="0"/>
          </a:p>
        </p:txBody>
      </p:sp>
      <p:sp>
        <p:nvSpPr>
          <p:cNvPr id="12" name="Shape 10"/>
          <p:cNvSpPr/>
          <p:nvPr/>
        </p:nvSpPr>
        <p:spPr>
          <a:xfrm>
            <a:off x="731520" y="3200400"/>
            <a:ext cx="640080" cy="621792"/>
          </a:xfrm>
          <a:prstGeom prst="roundRect">
            <a:avLst>
              <a:gd name="adj" fmla="val 14706"/>
            </a:avLst>
          </a:prstGeom>
          <a:solidFill>
            <a:srgbClr val="F2A93B"/>
          </a:solidFill>
          <a:ln/>
        </p:spPr>
      </p:sp>
      <p:sp>
        <p:nvSpPr>
          <p:cNvPr id="13" name="Text 11"/>
          <p:cNvSpPr txBox="1"/>
          <p:nvPr/>
        </p:nvSpPr>
        <p:spPr>
          <a:xfrm>
            <a:off x="731520" y="320040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4" name="Text 12"/>
          <p:cNvSpPr txBox="1"/>
          <p:nvPr/>
        </p:nvSpPr>
        <p:spPr>
          <a:xfrm>
            <a:off x="1600200" y="3108960"/>
            <a:ext cx="384048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Gestion du temps</a:t>
            </a:r>
            <a:endParaRPr lang="en-US" sz="1800" dirty="0"/>
          </a:p>
        </p:txBody>
      </p:sp>
      <p:sp>
        <p:nvSpPr>
          <p:cNvPr id="15" name="Text 13"/>
          <p:cNvSpPr txBox="1"/>
          <p:nvPr/>
        </p:nvSpPr>
        <p:spPr>
          <a:xfrm>
            <a:off x="1600200" y="3520440"/>
            <a:ext cx="3840480" cy="8229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Projet mené en parallèle du stage et des cours</a:t>
            </a:r>
            <a:endParaRPr lang="en-US" sz="1450" dirty="0"/>
          </a:p>
        </p:txBody>
      </p:sp>
      <p:sp>
        <p:nvSpPr>
          <p:cNvPr id="16" name="Shape 14"/>
          <p:cNvSpPr/>
          <p:nvPr/>
        </p:nvSpPr>
        <p:spPr>
          <a:xfrm>
            <a:off x="5486400" y="3520440"/>
            <a:ext cx="502920" cy="0"/>
          </a:xfrm>
          <a:prstGeom prst="line">
            <a:avLst/>
          </a:prstGeom>
          <a:noFill/>
          <a:ln w="25400">
            <a:solidFill>
              <a:srgbClr val="F2A93B"/>
            </a:solidFill>
            <a:prstDash val="solid"/>
            <a:tailEnd type="triangle"/>
          </a:ln>
        </p:spPr>
      </p:sp>
      <p:sp>
        <p:nvSpPr>
          <p:cNvPr id="17" name="Shape 15"/>
          <p:cNvSpPr/>
          <p:nvPr/>
        </p:nvSpPr>
        <p:spPr>
          <a:xfrm>
            <a:off x="6172200" y="3063240"/>
            <a:ext cx="5349240" cy="1280160"/>
          </a:xfrm>
          <a:prstGeom prst="roundRect">
            <a:avLst>
              <a:gd name="adj" fmla="val 7143"/>
            </a:avLst>
          </a:prstGeom>
          <a:solidFill>
            <a:srgbClr val="F4F5F8"/>
          </a:solidFill>
          <a:ln/>
        </p:spPr>
      </p:sp>
      <p:sp>
        <p:nvSpPr>
          <p:cNvPr id="18" name="Text 16"/>
          <p:cNvSpPr txBox="1"/>
          <p:nvPr/>
        </p:nvSpPr>
        <p:spPr>
          <a:xfrm>
            <a:off x="6400800" y="3063240"/>
            <a:ext cx="4937760" cy="1280160"/>
          </a:xfrm>
          <a:prstGeom prst="rect">
            <a:avLst/>
          </a:prstGeom>
          <a:noFill/>
          <a:ln/>
        </p:spPr>
        <p:txBody>
          <a:bodyPr wrap="square" lIns="0" tIns="0" rIns="0" bIns="0" rtlCol="0" anchor="ctr"/>
          <a:lstStyle/>
          <a:p>
            <a:pPr marL="0" indent="0">
              <a:buNone/>
            </a:pPr>
            <a:r>
              <a:rPr lang="en-US" sz="1500" dirty="0">
                <a:solidFill>
                  <a:srgbClr val="1F2A44"/>
                </a:solidFill>
                <a:latin typeface="Segoe UI" pitchFamily="34" charset="0"/>
                <a:ea typeface="Segoe UI" pitchFamily="34" charset="-122"/>
                <a:cs typeface="Segoe UI" pitchFamily="34" charset="-120"/>
              </a:rPr>
              <a:t>Travail découpé en étapes, validées section par section</a:t>
            </a:r>
            <a:endParaRPr lang="en-US" sz="1500" dirty="0"/>
          </a:p>
        </p:txBody>
      </p:sp>
      <p:sp>
        <p:nvSpPr>
          <p:cNvPr id="19" name="Shape 17"/>
          <p:cNvSpPr/>
          <p:nvPr/>
        </p:nvSpPr>
        <p:spPr>
          <a:xfrm>
            <a:off x="731520" y="4800600"/>
            <a:ext cx="640080" cy="621792"/>
          </a:xfrm>
          <a:prstGeom prst="roundRect">
            <a:avLst>
              <a:gd name="adj" fmla="val 14706"/>
            </a:avLst>
          </a:prstGeom>
          <a:solidFill>
            <a:srgbClr val="F2A93B"/>
          </a:solidFill>
          <a:ln/>
        </p:spPr>
      </p:sp>
      <p:sp>
        <p:nvSpPr>
          <p:cNvPr id="20" name="Text 18"/>
          <p:cNvSpPr txBox="1"/>
          <p:nvPr/>
        </p:nvSpPr>
        <p:spPr>
          <a:xfrm>
            <a:off x="731520" y="4800600"/>
            <a:ext cx="640080" cy="621792"/>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21" name="Text 19"/>
          <p:cNvSpPr txBox="1"/>
          <p:nvPr/>
        </p:nvSpPr>
        <p:spPr>
          <a:xfrm>
            <a:off x="1600200" y="4709160"/>
            <a:ext cx="3840480" cy="411480"/>
          </a:xfrm>
          <a:prstGeom prst="rect">
            <a:avLst/>
          </a:prstGeom>
          <a:noFill/>
          <a:ln/>
        </p:spPr>
        <p:txBody>
          <a:bodyPr wrap="square" lIns="0" tIns="0" rIns="0" bIns="0" rtlCol="0" anchor="t"/>
          <a:lstStyle/>
          <a:p>
            <a:pPr marL="0" indent="0">
              <a:buNone/>
            </a:pPr>
            <a:r>
              <a:rPr lang="en-US" sz="1800" b="1" dirty="0">
                <a:solidFill>
                  <a:srgbClr val="1F2A5C"/>
                </a:solidFill>
                <a:latin typeface="Segoe UI" pitchFamily="34" charset="0"/>
                <a:ea typeface="Segoe UI" pitchFamily="34" charset="-122"/>
                <a:cs typeface="Segoe UI" pitchFamily="34" charset="-120"/>
              </a:rPr>
              <a:t>Échanges B2B et notifications</a:t>
            </a:r>
            <a:endParaRPr lang="en-US" sz="1800" dirty="0"/>
          </a:p>
        </p:txBody>
      </p:sp>
      <p:sp>
        <p:nvSpPr>
          <p:cNvPr id="22" name="Text 20"/>
          <p:cNvSpPr txBox="1"/>
          <p:nvPr/>
        </p:nvSpPr>
        <p:spPr>
          <a:xfrm>
            <a:off x="1600200" y="5120640"/>
            <a:ext cx="3840480" cy="822960"/>
          </a:xfrm>
          <a:prstGeom prst="rect">
            <a:avLst/>
          </a:prstGeom>
          <a:noFill/>
          <a:ln/>
        </p:spPr>
        <p:txBody>
          <a:bodyPr wrap="square" lIns="0" tIns="0" rIns="0" bIns="0" rtlCol="0" anchor="t"/>
          <a:lstStyle/>
          <a:p>
            <a:pPr marL="0" indent="0">
              <a:buNone/>
            </a:pPr>
            <a:r>
              <a:rPr lang="en-US" sz="1450" dirty="0">
                <a:solidFill>
                  <a:srgbClr val="5B6478"/>
                </a:solidFill>
                <a:latin typeface="Segoe UI" pitchFamily="34" charset="0"/>
                <a:ea typeface="Segoe UI" pitchFamily="34" charset="-122"/>
                <a:cs typeface="Segoe UI" pitchFamily="34" charset="-120"/>
              </a:rPr>
              <a:t>Un apprentissage technique supplémentaire</a:t>
            </a:r>
            <a:endParaRPr lang="en-US" sz="1450" dirty="0"/>
          </a:p>
        </p:txBody>
      </p:sp>
      <p:sp>
        <p:nvSpPr>
          <p:cNvPr id="23" name="Shape 21"/>
          <p:cNvSpPr/>
          <p:nvPr/>
        </p:nvSpPr>
        <p:spPr>
          <a:xfrm>
            <a:off x="5486400" y="5120640"/>
            <a:ext cx="502920" cy="0"/>
          </a:xfrm>
          <a:prstGeom prst="line">
            <a:avLst/>
          </a:prstGeom>
          <a:noFill/>
          <a:ln w="25400">
            <a:solidFill>
              <a:srgbClr val="F2A93B"/>
            </a:solidFill>
            <a:prstDash val="solid"/>
            <a:tailEnd type="triangle"/>
          </a:ln>
        </p:spPr>
      </p:sp>
      <p:sp>
        <p:nvSpPr>
          <p:cNvPr id="24" name="Shape 22"/>
          <p:cNvSpPr/>
          <p:nvPr/>
        </p:nvSpPr>
        <p:spPr>
          <a:xfrm>
            <a:off x="6172200" y="4663440"/>
            <a:ext cx="5349240" cy="1280160"/>
          </a:xfrm>
          <a:prstGeom prst="roundRect">
            <a:avLst>
              <a:gd name="adj" fmla="val 7143"/>
            </a:avLst>
          </a:prstGeom>
          <a:solidFill>
            <a:srgbClr val="F4F5F8"/>
          </a:solidFill>
          <a:ln/>
        </p:spPr>
      </p:sp>
      <p:sp>
        <p:nvSpPr>
          <p:cNvPr id="25" name="Text 23"/>
          <p:cNvSpPr txBox="1"/>
          <p:nvPr/>
        </p:nvSpPr>
        <p:spPr>
          <a:xfrm>
            <a:off x="6400800" y="4663440"/>
            <a:ext cx="4937760" cy="1280160"/>
          </a:xfrm>
          <a:prstGeom prst="rect">
            <a:avLst/>
          </a:prstGeom>
          <a:noFill/>
          <a:ln/>
        </p:spPr>
        <p:txBody>
          <a:bodyPr wrap="square" lIns="0" tIns="0" rIns="0" bIns="0" rtlCol="0" anchor="ctr"/>
          <a:lstStyle/>
          <a:p>
            <a:pPr marL="0" indent="0">
              <a:buNone/>
            </a:pPr>
            <a:r>
              <a:rPr lang="en-US" sz="1500" dirty="0">
                <a:solidFill>
                  <a:srgbClr val="1F2A44"/>
                </a:solidFill>
                <a:latin typeface="Segoe UI" pitchFamily="34" charset="0"/>
                <a:ea typeface="Segoe UI" pitchFamily="34" charset="-122"/>
                <a:cs typeface="Segoe UI" pitchFamily="34" charset="-120"/>
              </a:rPr>
              <a:t>Recherche documentaire ciblée et accompagnement de l'équipe technique de TAD Dev</a:t>
            </a:r>
            <a:endParaRPr lang="en-US" sz="1500" dirty="0"/>
          </a:p>
        </p:txBody>
      </p:sp>
    </p:spTree>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name="Slide 3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34 »</a:t>
            </a:r>
            <a:endParaRPr lang="en-US" sz="1100" dirty="0"/>
          </a:p>
        </p:txBody>
      </p:sp>
      <p:sp>
        <p:nvSpPr>
          <p:cNvPr id="4" name="Text 2"/>
          <p:cNvSpPr txBox="1"/>
          <p:nvPr/>
        </p:nvSpPr>
        <p:spPr>
          <a:xfrm>
            <a:off x="731520" y="502920"/>
            <a:ext cx="7680960" cy="685800"/>
          </a:xfrm>
          <a:prstGeom prst="rect">
            <a:avLst/>
          </a:prstGeom>
          <a:noFill/>
          <a:ln/>
        </p:spPr>
        <p:txBody>
          <a:bodyPr wrap="square" lIns="0" tIns="0" rIns="0" bIns="0" rtlCol="0" anchor="ctr"/>
          <a:lstStyle/>
          <a:p>
            <a:pPr marL="0" indent="0" algn="l">
              <a:buNone/>
            </a:pPr>
            <a:r>
              <a:rPr lang="en-US" sz="3000" dirty="0">
                <a:solidFill>
                  <a:srgbClr val="1F2A5C"/>
                </a:solidFill>
                <a:latin typeface="Segoe UI" pitchFamily="34" charset="0"/>
                <a:ea typeface="Segoe UI" pitchFamily="34" charset="-122"/>
                <a:cs typeface="Segoe UI" pitchFamily="34" charset="-120"/>
              </a:rPr>
              <a:t>Perspectives d'évolution</a:t>
            </a:r>
            <a:endParaRPr lang="en-US" sz="3000" dirty="0"/>
          </a:p>
        </p:txBody>
      </p:sp>
      <p:sp>
        <p:nvSpPr>
          <p:cNvPr id="5" name="Text 3"/>
          <p:cNvSpPr txBox="1"/>
          <p:nvPr/>
        </p:nvSpPr>
        <p:spPr>
          <a:xfrm>
            <a:off x="731520" y="1188720"/>
            <a:ext cx="8229600" cy="365760"/>
          </a:xfrm>
          <a:prstGeom prst="rect">
            <a:avLst/>
          </a:prstGeom>
          <a:noFill/>
          <a:ln/>
        </p:spPr>
        <p:txBody>
          <a:bodyPr wrap="square" lIns="0" tIns="0" rIns="0" bIns="0" rtlCol="0" anchor="t"/>
          <a:lstStyle/>
          <a:p>
            <a:pPr marL="0" indent="0">
              <a:buNone/>
            </a:pPr>
            <a:r>
              <a:rPr lang="en-US" sz="1500" i="1" dirty="0">
                <a:solidFill>
                  <a:srgbClr val="5B6478"/>
                </a:solidFill>
                <a:latin typeface="Segoe UI" pitchFamily="34" charset="0"/>
                <a:ea typeface="Segoe UI" pitchFamily="34" charset="-122"/>
                <a:cs typeface="Segoe UI" pitchFamily="34" charset="-120"/>
              </a:rPr>
              <a:t>Évolutions envisagées, pas encore disponibles dans FactuPro.</a:t>
            </a:r>
            <a:endParaRPr lang="en-US" sz="1500" dirty="0"/>
          </a:p>
        </p:txBody>
      </p:sp>
      <p:sp>
        <p:nvSpPr>
          <p:cNvPr id="6" name="Shape 4"/>
          <p:cNvSpPr/>
          <p:nvPr/>
        </p:nvSpPr>
        <p:spPr>
          <a:xfrm>
            <a:off x="731520" y="1874520"/>
            <a:ext cx="5257800" cy="1691640"/>
          </a:xfrm>
          <a:prstGeom prst="roundRect">
            <a:avLst>
              <a:gd name="adj" fmla="val 6486"/>
            </a:avLst>
          </a:prstGeom>
          <a:solidFill>
            <a:srgbClr val="1F2A5C"/>
          </a:solidFill>
          <a:ln/>
        </p:spPr>
      </p:sp>
      <p:sp>
        <p:nvSpPr>
          <p:cNvPr id="7" name="Text 5"/>
          <p:cNvSpPr txBox="1"/>
          <p:nvPr/>
        </p:nvSpPr>
        <p:spPr>
          <a:xfrm>
            <a:off x="1005840" y="2057400"/>
            <a:ext cx="4709160" cy="411480"/>
          </a:xfrm>
          <a:prstGeom prst="rect">
            <a:avLst/>
          </a:prstGeom>
          <a:noFill/>
          <a:ln/>
        </p:spPr>
        <p:txBody>
          <a:bodyPr wrap="square" lIns="0" tIns="0" rIns="0" bIns="0" rtlCol="0" anchor="t"/>
          <a:lstStyle/>
          <a:p>
            <a:pPr marL="0" indent="0">
              <a:buNone/>
            </a:pPr>
            <a:r>
              <a:rPr lang="en-US" sz="1900" b="1" dirty="0">
                <a:solidFill>
                  <a:srgbClr val="FFFFFF"/>
                </a:solidFill>
                <a:latin typeface="Segoe UI" pitchFamily="34" charset="0"/>
                <a:ea typeface="Segoe UI" pitchFamily="34" charset="-122"/>
                <a:cs typeface="Segoe UI" pitchFamily="34" charset="-120"/>
              </a:rPr>
              <a:t>Paiement mobile</a:t>
            </a:r>
            <a:endParaRPr lang="en-US" sz="1900" dirty="0"/>
          </a:p>
        </p:txBody>
      </p:sp>
      <p:sp>
        <p:nvSpPr>
          <p:cNvPr id="8" name="Text 6"/>
          <p:cNvSpPr txBox="1"/>
          <p:nvPr/>
        </p:nvSpPr>
        <p:spPr>
          <a:xfrm>
            <a:off x="1005840" y="2514600"/>
            <a:ext cx="4709160" cy="960120"/>
          </a:xfrm>
          <a:prstGeom prst="rect">
            <a:avLst/>
          </a:prstGeom>
          <a:noFill/>
          <a:ln/>
        </p:spPr>
        <p:txBody>
          <a:bodyPr wrap="square" lIns="0" tIns="0" rIns="0" bIns="0" rtlCol="0" anchor="t"/>
          <a:lstStyle/>
          <a:p>
            <a:pPr marL="0" indent="0">
              <a:buNone/>
            </a:pPr>
            <a:r>
              <a:rPr lang="en-US" sz="1500" dirty="0">
                <a:solidFill>
                  <a:srgbClr val="FFFFFF"/>
                </a:solidFill>
                <a:latin typeface="Segoe UI" pitchFamily="34" charset="0"/>
                <a:ea typeface="Segoe UI" pitchFamily="34" charset="-122"/>
                <a:cs typeface="Segoe UI" pitchFamily="34" charset="-120"/>
              </a:rPr>
              <a:t>Flooz et T-Money, très répandus au Togo, pour régler les transactions, notamment en B2B</a:t>
            </a:r>
            <a:endParaRPr lang="en-US" sz="1500" dirty="0"/>
          </a:p>
        </p:txBody>
      </p:sp>
      <p:sp>
        <p:nvSpPr>
          <p:cNvPr id="9" name="Shape 7"/>
          <p:cNvSpPr/>
          <p:nvPr/>
        </p:nvSpPr>
        <p:spPr>
          <a:xfrm>
            <a:off x="6309360" y="1874520"/>
            <a:ext cx="5257800" cy="1691640"/>
          </a:xfrm>
          <a:prstGeom prst="roundRect">
            <a:avLst>
              <a:gd name="adj" fmla="val 6486"/>
            </a:avLst>
          </a:prstGeom>
          <a:solidFill>
            <a:srgbClr val="F2A93B"/>
          </a:solidFill>
          <a:ln/>
        </p:spPr>
      </p:sp>
      <p:sp>
        <p:nvSpPr>
          <p:cNvPr id="10" name="Text 8"/>
          <p:cNvSpPr txBox="1"/>
          <p:nvPr/>
        </p:nvSpPr>
        <p:spPr>
          <a:xfrm>
            <a:off x="6583680" y="2057400"/>
            <a:ext cx="4709160" cy="411480"/>
          </a:xfrm>
          <a:prstGeom prst="rect">
            <a:avLst/>
          </a:prstGeom>
          <a:noFill/>
          <a:ln/>
        </p:spPr>
        <p:txBody>
          <a:bodyPr wrap="square" lIns="0" tIns="0" rIns="0" bIns="0" rtlCol="0" anchor="t"/>
          <a:lstStyle/>
          <a:p>
            <a:pPr marL="0" indent="0">
              <a:buNone/>
            </a:pPr>
            <a:r>
              <a:rPr lang="en-US" sz="1900" b="1" dirty="0">
                <a:solidFill>
                  <a:srgbClr val="1F2A5C"/>
                </a:solidFill>
                <a:latin typeface="Segoe UI" pitchFamily="34" charset="0"/>
                <a:ea typeface="Segoe UI" pitchFamily="34" charset="-122"/>
                <a:cs typeface="Segoe UI" pitchFamily="34" charset="-120"/>
              </a:rPr>
              <a:t>Application mobile</a:t>
            </a:r>
            <a:endParaRPr lang="en-US" sz="1900" dirty="0"/>
          </a:p>
        </p:txBody>
      </p:sp>
      <p:sp>
        <p:nvSpPr>
          <p:cNvPr id="11" name="Text 9"/>
          <p:cNvSpPr txBox="1"/>
          <p:nvPr/>
        </p:nvSpPr>
        <p:spPr>
          <a:xfrm>
            <a:off x="6583680" y="2514600"/>
            <a:ext cx="4709160" cy="960120"/>
          </a:xfrm>
          <a:prstGeom prst="rect">
            <a:avLst/>
          </a:prstGeom>
          <a:noFill/>
          <a:ln/>
        </p:spPr>
        <p:txBody>
          <a:bodyPr wrap="square" lIns="0" tIns="0" rIns="0" bIns="0" rtlCol="0" anchor="t"/>
          <a:lstStyle/>
          <a:p>
            <a:pPr marL="0" indent="0">
              <a:buNone/>
            </a:pPr>
            <a:r>
              <a:rPr lang="en-US" sz="1500" dirty="0">
                <a:solidFill>
                  <a:srgbClr val="1F2A5C"/>
                </a:solidFill>
                <a:latin typeface="Segoe UI" pitchFamily="34" charset="0"/>
                <a:ea typeface="Segoe UI" pitchFamily="34" charset="-122"/>
                <a:cs typeface="Segoe UI" pitchFamily="34" charset="-120"/>
              </a:rPr>
              <a:t>Suivre ventes, stocks et commandes en tout lieu, sans ordinateur</a:t>
            </a:r>
            <a:endParaRPr lang="en-US" sz="1500" dirty="0"/>
          </a:p>
        </p:txBody>
      </p:sp>
      <p:sp>
        <p:nvSpPr>
          <p:cNvPr id="12" name="Shape 10"/>
          <p:cNvSpPr/>
          <p:nvPr/>
        </p:nvSpPr>
        <p:spPr>
          <a:xfrm>
            <a:off x="731520" y="3886200"/>
            <a:ext cx="5257800" cy="1691640"/>
          </a:xfrm>
          <a:prstGeom prst="roundRect">
            <a:avLst>
              <a:gd name="adj" fmla="val 6486"/>
            </a:avLst>
          </a:prstGeom>
          <a:solidFill>
            <a:srgbClr val="F2A93B"/>
          </a:solidFill>
          <a:ln/>
        </p:spPr>
      </p:sp>
      <p:sp>
        <p:nvSpPr>
          <p:cNvPr id="13" name="Text 11"/>
          <p:cNvSpPr txBox="1"/>
          <p:nvPr/>
        </p:nvSpPr>
        <p:spPr>
          <a:xfrm>
            <a:off x="1005840" y="4069080"/>
            <a:ext cx="4709160" cy="411480"/>
          </a:xfrm>
          <a:prstGeom prst="rect">
            <a:avLst/>
          </a:prstGeom>
          <a:noFill/>
          <a:ln/>
        </p:spPr>
        <p:txBody>
          <a:bodyPr wrap="square" lIns="0" tIns="0" rIns="0" bIns="0" rtlCol="0" anchor="t"/>
          <a:lstStyle/>
          <a:p>
            <a:pPr marL="0" indent="0">
              <a:buNone/>
            </a:pPr>
            <a:r>
              <a:rPr lang="en-US" sz="1900" b="1" dirty="0">
                <a:solidFill>
                  <a:srgbClr val="1F2A5C"/>
                </a:solidFill>
                <a:latin typeface="Segoe UI" pitchFamily="34" charset="0"/>
                <a:ea typeface="Segoe UI" pitchFamily="34" charset="-122"/>
                <a:cs typeface="Segoe UI" pitchFamily="34" charset="-120"/>
              </a:rPr>
              <a:t>Statistiques avancées</a:t>
            </a:r>
            <a:endParaRPr lang="en-US" sz="1900" dirty="0"/>
          </a:p>
        </p:txBody>
      </p:sp>
      <p:sp>
        <p:nvSpPr>
          <p:cNvPr id="14" name="Text 12"/>
          <p:cNvSpPr txBox="1"/>
          <p:nvPr/>
        </p:nvSpPr>
        <p:spPr>
          <a:xfrm>
            <a:off x="1005840" y="4526280"/>
            <a:ext cx="4709160" cy="960120"/>
          </a:xfrm>
          <a:prstGeom prst="rect">
            <a:avLst/>
          </a:prstGeom>
          <a:noFill/>
          <a:ln/>
        </p:spPr>
        <p:txBody>
          <a:bodyPr wrap="square" lIns="0" tIns="0" rIns="0" bIns="0" rtlCol="0" anchor="t"/>
          <a:lstStyle/>
          <a:p>
            <a:pPr marL="0" indent="0">
              <a:buNone/>
            </a:pPr>
            <a:r>
              <a:rPr lang="en-US" sz="1500" dirty="0">
                <a:solidFill>
                  <a:srgbClr val="1F2A5C"/>
                </a:solidFill>
                <a:latin typeface="Segoe UI" pitchFamily="34" charset="0"/>
                <a:ea typeface="Segoe UI" pitchFamily="34" charset="-122"/>
                <a:cs typeface="Segoe UI" pitchFamily="34" charset="-120"/>
              </a:rPr>
              <a:t>Indicateurs de performance commerciale et prévisions de vente</a:t>
            </a:r>
            <a:endParaRPr lang="en-US" sz="1500" dirty="0"/>
          </a:p>
        </p:txBody>
      </p:sp>
      <p:sp>
        <p:nvSpPr>
          <p:cNvPr id="15" name="Shape 13"/>
          <p:cNvSpPr/>
          <p:nvPr/>
        </p:nvSpPr>
        <p:spPr>
          <a:xfrm>
            <a:off x="6309360" y="3886200"/>
            <a:ext cx="5257800" cy="1691640"/>
          </a:xfrm>
          <a:prstGeom prst="roundRect">
            <a:avLst>
              <a:gd name="adj" fmla="val 6486"/>
            </a:avLst>
          </a:prstGeom>
          <a:solidFill>
            <a:srgbClr val="1F2A5C"/>
          </a:solidFill>
          <a:ln/>
        </p:spPr>
      </p:sp>
      <p:sp>
        <p:nvSpPr>
          <p:cNvPr id="16" name="Text 14"/>
          <p:cNvSpPr txBox="1"/>
          <p:nvPr/>
        </p:nvSpPr>
        <p:spPr>
          <a:xfrm>
            <a:off x="6583680" y="4069080"/>
            <a:ext cx="4709160" cy="411480"/>
          </a:xfrm>
          <a:prstGeom prst="rect">
            <a:avLst/>
          </a:prstGeom>
          <a:noFill/>
          <a:ln/>
        </p:spPr>
        <p:txBody>
          <a:bodyPr wrap="square" lIns="0" tIns="0" rIns="0" bIns="0" rtlCol="0" anchor="t"/>
          <a:lstStyle/>
          <a:p>
            <a:pPr marL="0" indent="0">
              <a:buNone/>
            </a:pPr>
            <a:r>
              <a:rPr lang="en-US" sz="1900" b="1" dirty="0">
                <a:solidFill>
                  <a:srgbClr val="FFFFFF"/>
                </a:solidFill>
                <a:latin typeface="Segoe UI" pitchFamily="34" charset="0"/>
                <a:ea typeface="Segoe UI" pitchFamily="34" charset="-122"/>
                <a:cs typeface="Segoe UI" pitchFamily="34" charset="-120"/>
              </a:rPr>
              <a:t>Notation entre entreprises</a:t>
            </a:r>
            <a:endParaRPr lang="en-US" sz="1900" dirty="0"/>
          </a:p>
        </p:txBody>
      </p:sp>
      <p:sp>
        <p:nvSpPr>
          <p:cNvPr id="17" name="Text 15"/>
          <p:cNvSpPr txBox="1"/>
          <p:nvPr/>
        </p:nvSpPr>
        <p:spPr>
          <a:xfrm>
            <a:off x="6583680" y="4526280"/>
            <a:ext cx="4709160" cy="960120"/>
          </a:xfrm>
          <a:prstGeom prst="rect">
            <a:avLst/>
          </a:prstGeom>
          <a:noFill/>
          <a:ln/>
        </p:spPr>
        <p:txBody>
          <a:bodyPr wrap="square" lIns="0" tIns="0" rIns="0" bIns="0" rtlCol="0" anchor="t"/>
          <a:lstStyle/>
          <a:p>
            <a:pPr marL="0" indent="0">
              <a:buNone/>
            </a:pPr>
            <a:r>
              <a:rPr lang="en-US" sz="1500" dirty="0">
                <a:solidFill>
                  <a:srgbClr val="FFFFFF"/>
                </a:solidFill>
                <a:latin typeface="Segoe UI" pitchFamily="34" charset="0"/>
                <a:ea typeface="Segoe UI" pitchFamily="34" charset="-122"/>
                <a:cs typeface="Segoe UI" pitchFamily="34" charset="-120"/>
              </a:rPr>
              <a:t>Avis mutuels pour enrichir le score de fiabilité déjà présent dans le modèle de données</a:t>
            </a:r>
            <a:endParaRPr lang="en-US" sz="1500" dirty="0"/>
          </a:p>
        </p:txBody>
      </p:sp>
    </p:spTree>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name="Slide 3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35 »</a:t>
            </a:r>
            <a:endParaRPr lang="en-US" sz="1100" dirty="0"/>
          </a:p>
        </p:txBody>
      </p:sp>
      <p:pic>
        <p:nvPicPr>
          <p:cNvPr id="4" name="Image 0" descr="C:\Users\ALEX\AppData\Local\Temp\claude\C--laragon-www-facturation\62a43aad-6d46-45af-979c-6c158c66b0c3\scratchpad\ppt3\a4\ill_banner-growth.png"/>
          <p:cNvPicPr>
            <a:picLocks noChangeAspect="1"/>
          </p:cNvPicPr>
          <p:nvPr/>
        </p:nvPicPr>
        <p:blipFill>
          <a:blip r:embed="rId4"/>
          <a:stretch>
            <a:fillRect/>
          </a:stretch>
        </p:blipFill>
        <p:spPr>
          <a:xfrm>
            <a:off x="4956899" y="320040"/>
            <a:ext cx="2339163" cy="1463040"/>
          </a:xfrm>
          <a:prstGeom prst="rect">
            <a:avLst/>
          </a:prstGeom>
        </p:spPr>
      </p:pic>
      <p:sp>
        <p:nvSpPr>
          <p:cNvPr id="5" name="Text 2"/>
          <p:cNvSpPr txBox="1"/>
          <p:nvPr/>
        </p:nvSpPr>
        <p:spPr>
          <a:xfrm>
            <a:off x="731520" y="1828800"/>
            <a:ext cx="10698480" cy="640080"/>
          </a:xfrm>
          <a:prstGeom prst="rect">
            <a:avLst/>
          </a:prstGeom>
          <a:noFill/>
          <a:ln/>
        </p:spPr>
        <p:txBody>
          <a:bodyPr wrap="square" lIns="0" tIns="0" rIns="0" bIns="0" rtlCol="0" anchor="t"/>
          <a:lstStyle/>
          <a:p>
            <a:pPr marL="0" indent="0" algn="ctr">
              <a:buNone/>
            </a:pPr>
            <a:r>
              <a:rPr lang="en-US" sz="3200" dirty="0">
                <a:solidFill>
                  <a:srgbClr val="FFFFFF"/>
                </a:solidFill>
                <a:latin typeface="Segoe UI" pitchFamily="34" charset="0"/>
                <a:ea typeface="Segoe UI" pitchFamily="34" charset="-122"/>
                <a:cs typeface="Segoe UI" pitchFamily="34" charset="-120"/>
              </a:rPr>
              <a:t>Conclusion</a:t>
            </a:r>
            <a:endParaRPr lang="en-US" sz="3200" dirty="0"/>
          </a:p>
        </p:txBody>
      </p:sp>
      <p:sp>
        <p:nvSpPr>
          <p:cNvPr id="6" name="Text 3"/>
          <p:cNvSpPr txBox="1"/>
          <p:nvPr/>
        </p:nvSpPr>
        <p:spPr>
          <a:xfrm>
            <a:off x="1188720" y="2606040"/>
            <a:ext cx="9784080" cy="2743200"/>
          </a:xfrm>
          <a:prstGeom prst="rect">
            <a:avLst/>
          </a:prstGeom>
          <a:noFill/>
          <a:ln/>
        </p:spPr>
        <p:txBody>
          <a:bodyPr wrap="square" lIns="0" tIns="0" rIns="0" bIns="0" rtlCol="0" anchor="t"/>
          <a:lstStyle/>
          <a:p>
            <a:pPr marL="0" indent="0" algn="just">
              <a:buNone/>
            </a:pPr>
            <a:r>
              <a:rPr lang="en-US" sz="1650" dirty="0">
                <a:solidFill>
                  <a:srgbClr val="FFFFFF"/>
                </a:solidFill>
                <a:latin typeface="Segoe UI" pitchFamily="34" charset="0"/>
                <a:ea typeface="Segoe UI" pitchFamily="34" charset="-122"/>
                <a:cs typeface="Segoe UI" pitchFamily="34" charset="-120"/>
              </a:rPr>
              <a:t>Ce mémoire retrace la conception et la réalisation de FactuPro, une plateforme web de gestion de boutiques et d'intégration B2B qui couvre le cycle commercial, de l'entrée des produits jusqu'à la facturation. Ses objectifs : centraliser les données commerciales, automatiser les calculs et les documents, suivre les stocks, assurer la traçabilité des transactions et faciliter les échanges entre entreprises. Un projet mené de bout en bout, de l'analyse du besoin jusqu'à la réalisation technique, avec la méthode MERISE.</a:t>
            </a:r>
            <a:endParaRPr lang="en-US" sz="1650" dirty="0"/>
          </a:p>
        </p:txBody>
      </p:sp>
    </p:spTree>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name="Slide 3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596128" y="6510528"/>
            <a:ext cx="1005840" cy="566928"/>
          </a:xfrm>
          <a:prstGeom prst="roundRect">
            <a:avLst>
              <a:gd name="adj" fmla="val 48387"/>
            </a:avLst>
          </a:prstGeom>
          <a:solidFill>
            <a:srgbClr val="F2A93B"/>
          </a:solidFill>
          <a:ln/>
        </p:spPr>
      </p:sp>
      <p:sp>
        <p:nvSpPr>
          <p:cNvPr id="3" name="Text 1"/>
          <p:cNvSpPr txBox="1"/>
          <p:nvPr/>
        </p:nvSpPr>
        <p:spPr>
          <a:xfrm>
            <a:off x="5596128" y="6519672"/>
            <a:ext cx="1005840" cy="310896"/>
          </a:xfrm>
          <a:prstGeom prst="rect">
            <a:avLst/>
          </a:prstGeom>
          <a:noFill/>
          <a:ln/>
        </p:spPr>
        <p:txBody>
          <a:bodyPr wrap="square" lIns="0" tIns="0" rIns="0" bIns="0" rtlCol="0" anchor="ctr"/>
          <a:lstStyle/>
          <a:p>
            <a:pPr marL="0" indent="0" algn="ctr">
              <a:buNone/>
            </a:pPr>
            <a:r>
              <a:rPr lang="en-US" sz="1100" b="1" dirty="0">
                <a:solidFill>
                  <a:srgbClr val="1F2A5C"/>
                </a:solidFill>
                <a:latin typeface="Segoe UI" pitchFamily="34" charset="0"/>
                <a:ea typeface="Segoe UI" pitchFamily="34" charset="-122"/>
                <a:cs typeface="Segoe UI" pitchFamily="34" charset="-120"/>
              </a:rPr>
              <a:t>« 36 »</a:t>
            </a:r>
            <a:endParaRPr lang="en-US" sz="1100" dirty="0"/>
          </a:p>
        </p:txBody>
      </p:sp>
      <p:sp>
        <p:nvSpPr>
          <p:cNvPr id="4" name="Text 2"/>
          <p:cNvSpPr txBox="1"/>
          <p:nvPr/>
        </p:nvSpPr>
        <p:spPr>
          <a:xfrm>
            <a:off x="731520" y="1554480"/>
            <a:ext cx="6400800" cy="1188720"/>
          </a:xfrm>
          <a:prstGeom prst="rect">
            <a:avLst/>
          </a:prstGeom>
          <a:noFill/>
          <a:ln/>
        </p:spPr>
        <p:txBody>
          <a:bodyPr wrap="square" lIns="0" tIns="0" rIns="0" bIns="0" rtlCol="0" anchor="b"/>
          <a:lstStyle/>
          <a:p>
            <a:pPr marL="0" indent="0">
              <a:buNone/>
            </a:pPr>
            <a:r>
              <a:rPr lang="en-US" sz="6000" b="1" dirty="0">
                <a:solidFill>
                  <a:srgbClr val="FFFFFF"/>
                </a:solidFill>
                <a:latin typeface="Segoe UI" pitchFamily="34" charset="0"/>
                <a:ea typeface="Segoe UI" pitchFamily="34" charset="-122"/>
                <a:cs typeface="Segoe UI" pitchFamily="34" charset="-120"/>
              </a:rPr>
              <a:t>Merci !</a:t>
            </a:r>
            <a:endParaRPr lang="en-US" sz="6000" dirty="0"/>
          </a:p>
        </p:txBody>
      </p:sp>
      <p:sp>
        <p:nvSpPr>
          <p:cNvPr id="5" name="Text 3"/>
          <p:cNvSpPr txBox="1"/>
          <p:nvPr/>
        </p:nvSpPr>
        <p:spPr>
          <a:xfrm>
            <a:off x="731520" y="2880360"/>
            <a:ext cx="6583680" cy="914400"/>
          </a:xfrm>
          <a:prstGeom prst="rect">
            <a:avLst/>
          </a:prstGeom>
          <a:noFill/>
          <a:ln/>
        </p:spPr>
        <p:txBody>
          <a:bodyPr wrap="square" lIns="0" tIns="0" rIns="0" bIns="0" rtlCol="0" anchor="t"/>
          <a:lstStyle/>
          <a:p>
            <a:pPr marL="0" indent="0">
              <a:buNone/>
            </a:pPr>
            <a:r>
              <a:rPr lang="en-US" sz="2000" b="1" dirty="0">
                <a:solidFill>
                  <a:srgbClr val="F2A93B"/>
                </a:solidFill>
                <a:latin typeface="Segoe UI" pitchFamily="34" charset="0"/>
                <a:ea typeface="Segoe UI" pitchFamily="34" charset="-122"/>
                <a:cs typeface="Segoe UI" pitchFamily="34" charset="-120"/>
              </a:rPr>
              <a:t>FactuPro : gérer son activité, trouver ses partenaires, échanger.</a:t>
            </a:r>
            <a:endParaRPr lang="en-US" sz="2000" dirty="0"/>
          </a:p>
        </p:txBody>
      </p:sp>
      <p:sp>
        <p:nvSpPr>
          <p:cNvPr id="6" name="Text 4"/>
          <p:cNvSpPr txBox="1"/>
          <p:nvPr/>
        </p:nvSpPr>
        <p:spPr>
          <a:xfrm>
            <a:off x="731520" y="3931920"/>
            <a:ext cx="6400800" cy="457200"/>
          </a:xfrm>
          <a:prstGeom prst="rect">
            <a:avLst/>
          </a:prstGeom>
          <a:noFill/>
          <a:ln/>
        </p:spPr>
        <p:txBody>
          <a:bodyPr wrap="square" lIns="0" tIns="0" rIns="0" bIns="0" rtlCol="0" anchor="t"/>
          <a:lstStyle/>
          <a:p>
            <a:pPr marL="0" indent="0">
              <a:buNone/>
            </a:pPr>
            <a:r>
              <a:rPr lang="en-US" sz="1800" dirty="0">
                <a:solidFill>
                  <a:srgbClr val="FFFFFF"/>
                </a:solidFill>
                <a:latin typeface="Segoe UI" pitchFamily="34" charset="0"/>
                <a:ea typeface="Segoe UI" pitchFamily="34" charset="-122"/>
                <a:cs typeface="Segoe UI" pitchFamily="34" charset="-120"/>
              </a:rPr>
              <a:t>Je suis à votre disposition pour vos questions.</a:t>
            </a:r>
            <a:endParaRPr lang="en-US" sz="1800" dirty="0"/>
          </a:p>
        </p:txBody>
      </p:sp>
      <p:pic>
        <p:nvPicPr>
          <p:cNvPr id="7" name="Image 0" descr="C:\Users\ALEX\AppData\Local\Temp\claude\C--laragon-www-facturation\62a43aad-6d46-45af-979c-6c158c66b0c3\scratchpad\ppt3\a4\ill_auth-hero.png"/>
          <p:cNvPicPr>
            <a:picLocks noChangeAspect="1"/>
          </p:cNvPicPr>
          <p:nvPr/>
        </p:nvPicPr>
        <p:blipFill>
          <a:blip r:embed="rId4"/>
          <a:stretch>
            <a:fillRect/>
          </a:stretch>
        </p:blipFill>
        <p:spPr>
          <a:xfrm>
            <a:off x="7863840" y="1708473"/>
            <a:ext cx="4114800" cy="3258173"/>
          </a:xfrm>
          <a:prstGeom prst="rect">
            <a:avLst/>
          </a:prstGeom>
        </p:spPr>
      </p:pic>
    </p:spTree>
  </p:cSld>
  <p:clrMapOvr>
    <a:masterClrMapping/>
  </p:clrMapOvr>
  <p:transition spd="med">
    <p:fade/>
  </p:transition>
</p:sld>
</file>

<file path=ppt/theme/theme1.xml><?xml version="1.0" encoding="utf-8"?>
<a:theme xmlns:a="http://schemas.openxmlformats.org/drawingml/2006/main" name="Soutenance FactuPro">
  <a:themeElements>
    <a:clrScheme name="Soutenance FactuPro">
      <a:dk1>
        <a:srgbClr val="1F2A44"/>
      </a:dk1>
      <a:lt1>
        <a:srgbClr val="FFFFFF"/>
      </a:lt1>
      <a:dk2>
        <a:srgbClr val="1F2A5C"/>
      </a:dk2>
      <a:lt2>
        <a:srgbClr val="F4F5F8"/>
      </a:lt2>
      <a:accent1>
        <a:srgbClr val="F2A93B"/>
      </a:accent1>
      <a:accent2>
        <a:srgbClr val="1F2A5C"/>
      </a:accent2>
      <a:accent3>
        <a:srgbClr val="5B6478"/>
      </a:accent3>
      <a:accent4>
        <a:srgbClr val="F7C37A"/>
      </a:accent4>
      <a:accent5>
        <a:srgbClr val="FFF4E2"/>
      </a:accent5>
      <a:accent6>
        <a:srgbClr val="8A94A6"/>
      </a:accent6>
      <a:hlink>
        <a:srgbClr val="1F2A5C"/>
      </a:hlink>
      <a:folHlink>
        <a:srgbClr val="2D3F7A"/>
      </a:folHlink>
    </a:clrScheme>
    <a:fontScheme name="Soutenance FactuPro">
      <a:majorFont>
        <a:latin typeface="Segoe U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3204</Words>
  <Application>Microsoft Office PowerPoint</Application>
  <PresentationFormat>Grand écran</PresentationFormat>
  <Paragraphs>440</Paragraphs>
  <Slides>38</Slides>
  <Notes>38</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38</vt:i4>
      </vt:variant>
    </vt:vector>
  </HeadingPairs>
  <TitlesOfParts>
    <vt:vector size="41" baseType="lpstr">
      <vt:lpstr>Arial</vt:lpstr>
      <vt:lpstr>Segoe UI</vt:lpstr>
      <vt:lpstr>Soutenance FactuPro</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Soutenance de mémoire : FactuPro</dc:title>
  <dc:subject>PptxGenJS Presentation</dc:subject>
  <dc:creator>AYANOU Tété Yao Alexandre</dc:creator>
  <cp:lastModifiedBy>Reine KOTOKOU</cp:lastModifiedBy>
  <cp:revision>2</cp:revision>
  <dcterms:created xsi:type="dcterms:W3CDTF">2026-10-07T03:25:29Z</dcterms:created>
  <dcterms:modified xsi:type="dcterms:W3CDTF">2026-10-07T03:43:04Z</dcterms:modified>
</cp:coreProperties>
</file>