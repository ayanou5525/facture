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oblème" id="{76f0fc99-e761-f74a-89d7-139fa8fa5350}">
          <p14:sldIdLst>
            <p14:sldId id="256"/>
            <p14:sldId id="257"/>
            <p14:sldId id="258"/>
          </p14:sldIdLst>
        </p14:section>
        <p14:section name="Analyse" id="{1e35eb10-8cba-a2c3-58f9-beecc9e84cbb}">
          <p14:sldIdLst>
            <p14:sldId id="259"/>
          </p14:sldIdLst>
        </p14:section>
        <p14:section name="Solution" id="{30967e4f-98d5-72cd-ae68-2857877c5228}">
          <p14:sldIdLst>
            <p14:sldId id="260"/>
          </p14:sldIdLst>
        </p14:section>
        <p14:section name="Conception" id="{862a1941-a5ca-b96a-4c7f-8efa0dd0ebb2}">
          <p14:sldIdLst>
            <p14:sldId id="261"/>
            <p14:sldId id="262"/>
          </p14:sldIdLst>
        </p14:section>
        <p14:section name="Résultats" id="{34c1b187-2d91-04d5-24f1-ebda9db7e48a}">
          <p14:sldIdLst>
            <p14:sldId id="263"/>
            <p14:sldId id="264"/>
            <p14:sldId id="265"/>
          </p14:sldIdLst>
        </p14:section>
        <p14:section name="Perspectives" id="{3b15c99f-bb25-475b-633c-43d4fc87fb6f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Accroche orale : « Et si je vous disais que le principal problème d'une boutique n'est pas de vendre ? »
Puis se présenter brièvement et annoncer le projet : FactuPro, réalisé pendant le stage chez TAD IT Consulting (branche TAD Dev).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Une PME vend chaque jour, mais ses informations sont réparties entre cahiers de ventes, fichiers, messages WhatsApp, appels et documents (catalogue, commandes, factures).
- Conséquence : il est difficile de suivre les opérations commerciales.
- Exemple tiré du mémoire : en cas de rupture de stock, la PME cherche un fournisseur en urgence par téléphone ou en se déplaçant ; elle subit parfois une surfacturation, une marge réduite, voire la perte d'un client.
- Transition : d'où la question centrale de ce travail.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Lire la problématique.
- Trois mots-clés guident la solution : centraliser l'information, suivre les opérations, connecter les entreprises entre elles.
- Objectif général (mémoire) : doter les PME d'une plateforme web pour gérer leurs principales activités commerciales et faciliter leurs échanges avec d'autres entreprises.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Étude de l'existant (chapitre « Étude préalable » du mémoire) : cinq activités observées.
- Chaque activité repose sur son propre support : cahiers et catalogue, cahier de ventes, appels et déplacements, bouche-à-oreille et WhatsApp, reçus et factures.
- Critique de l'existant : dépendance aux relations personnelles, multiplicité des supports, gestion des produits et des stocks peu centralisée.
- Les données existent déjà ; aucun outil ne les relie.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FactuPro répond à la dispersion par une plateforme web unique : chaque entreprise dispose de son espace privé.
- Volet boutique (bleu) : gestion des accès (comptes, rôles Admin / Utilisateur), produits et stocks, ventes au comptoir, facturation.
- Volet réseau B2B (orange) : annuaire et annonces entre entreprises, commandes B2B, notifications.
- Transition : comment cette solution a été conçue.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Analyse de l'existant : observation des pratiques, documents des PME (cahier de ventes, catalogue, commandes, factures) et interviews, recensés dans la grille de détermination des données.
- MERISE : dictionnaire des données et matrice des dépendances fonctionnelles, puis :
  · MCD : les données et leurs relations (entités Entreprise, Produit, Vente, Commande B2B, Facture, Client, Annonce, Notification) ;
  · MCT : les traitements déclenchés par des événements ;
  · MLD : traduction en 11 tables relationnelles (règles de passage : entité → table, (1,N) → clé étrangère, (N,N) → table de liaison) ;
  · MOT : qui exécute quoi, où et quand.
- Puis implémentation dans MySQL et développement de l'application.
- Exemple de règle si demandé : une commande B2B est passée par une entreprise acheteuse et validée ou refusée par une entreprise vendeuse.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Front-end : HTML5, CSS3 et JavaScript natifs, sans framework.
- Back-end : PHP 8.3 natif sur Apache ; code organisé en contrôleurs, modèles et vues (inspiré du MVC) ; accès aux données par PDO avec requêtes préparées, pour se protéger des injections SQL.
- Données : MySQL 8.0, base relationnelle issue du MLD.
- Infrastructure : Docker Compose (serveur Apache/PHP, MySQL, phpMyAdmin) : même environnement en développement et en production.
- Services : PHPMailer pour les emails (confirmation d'inscription, mot de passe oublié), phpdotenv pour les paramètres sensibles (.env), Leaflet / OpenStreetMap pour la carte et le calcul des distances entre entreprises.
- Justification : technologies maîtrisées, légères et adaptées à une PME.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Pourquoi ces trois écrans :
- Tableau de bord : la centralisation en un coup d'œil (chiffre d'affaires, ventes, alertes de stock, commandes B2B à valider, activité récente).
- Produits et stocks : codes-barres, seuil d'alerte (le riz est signalé à 4 unités), option « Déstockage B2B » avec un prix B2B.
- Annonces B2B : appels d'offres et partenariats publiés par les entreprises, avec la distance calculée (« à 3,8 km »).
- Basculer ensuite sur la démonstration en direct si elle est prévue.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Chaque ligne reprend une faiblesse de l'existant et la réponse apportée par FactuPro.
- Pas de chiffres de performance : le projet n'a pas fait l'objet d'une mesure en conditions réelles ; on parle de résultats fonctionnels.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Centraliser : toutes les informations commerciales de l'entreprise au même endroit.
- Suivre : produits, ventes, stocks (mise à jour automatique après une vente) et commandes.
- Connecter : annuaire, annonces et commandes entre entreprises.
- Structurer : chaque opération suit un processus défini (vente → facture, commande → validation).
- Ces résultats répondent aux objectifs spécifiques du mémoire.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À gauche : ce que FactuPro fait déjà.
- À droite : des évolutions futures, pas encore développées :
  · intégrer les paiements mobiles Flooz et T-Money, très utilisés au Togo ;
  · une application mobile pour suivre l'activité en tout lieu ;
  · un tableau de bord statistique avancé, avec prévisions de vente ;
  · un système de notation et d'avis entre entreprises, pour enrichir le score de fiabilité déjà prévu dans le modèle de données.
- Limite technique à citer si demandé : messagerie et notifications par interrogation périodique (polling) plutôt qu'en temps réel (WebSocket).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Rappeler le fil : un problème réel (informations dispersées), une solution conçue avec MERISE, une application réellement développée : FactuPro.
- Ce projet m'a permis de mener un développement de bout en bout, de l'analyse à l'application.
- Remercier le jury et ouvrir aux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_SOMBR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15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548640" y="64190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FactuPro · Soutenance BTS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BR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FactuPro · Soutenance BTS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slideLayout" Target="../slideLayouts/slideLayout3.xml"/><Relationship Id="rId1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FactuPro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15468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50" kern="0" dirty="0">
                <a:solidFill>
                  <a:schemeClr val="bg2"/>
                </a:solidFill>
              </a:rPr>
              <a:t>SYSTÈME DE GESTION DE BOUTIQUES ET D'INTÉGRATION B2B : SUIVI DES OPÉRATIONS COMMERCIALES DES PME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852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Soutenance de BTS — Informatique de Gestion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1"/>
                </a:solidFill>
              </a:rPr>
              <a:t>LE PROBLÈME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si le principal problème d'une boutique n'était pas de vendre 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828800" y="3200400"/>
            <a:ext cx="3200629" cy="502920"/>
          </a:xfrm>
          <a:prstGeom prst="line">
            <a:avLst/>
          </a:prstGeom>
          <a:noFill/>
          <a:ln w="19050">
            <a:solidFill>
              <a:srgbClr val="AEB8CC"/>
            </a:solidFill>
            <a:prstDash val="solid"/>
            <a:tailEnd type="triangle"/>
          </a:ln>
        </p:spPr>
      </p:sp>
      <p:sp>
        <p:nvSpPr>
          <p:cNvPr id="5" name="Cahiers pastille"/>
          <p:cNvSpPr/>
          <p:nvPr/>
        </p:nvSpPr>
        <p:spPr>
          <a:xfrm>
            <a:off x="1389888" y="1783080"/>
            <a:ext cx="868680" cy="86868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6" name="Cahiers icô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7058" y="2000250"/>
            <a:ext cx="434340" cy="4343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743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Cahiers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3962095" y="3200400"/>
            <a:ext cx="1600657" cy="502920"/>
          </a:xfrm>
          <a:prstGeom prst="line">
            <a:avLst/>
          </a:prstGeom>
          <a:noFill/>
          <a:ln w="19050">
            <a:solidFill>
              <a:srgbClr val="AEB8CC"/>
            </a:solidFill>
            <a:prstDash val="solid"/>
            <a:tailEnd type="triangle"/>
          </a:ln>
        </p:spPr>
      </p:sp>
      <p:sp>
        <p:nvSpPr>
          <p:cNvPr id="9" name="Fichiers pastille"/>
          <p:cNvSpPr/>
          <p:nvPr/>
        </p:nvSpPr>
        <p:spPr>
          <a:xfrm>
            <a:off x="3523183" y="1783080"/>
            <a:ext cx="868680" cy="86868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0" name="Fichiers icô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0353" y="2000250"/>
            <a:ext cx="434340" cy="4343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956255" y="2743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Fichiers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6096305" y="3200400"/>
            <a:ext cx="914" cy="502920"/>
          </a:xfrm>
          <a:prstGeom prst="line">
            <a:avLst/>
          </a:prstGeom>
          <a:noFill/>
          <a:ln w="19050">
            <a:solidFill>
              <a:srgbClr val="AEB8CC"/>
            </a:solidFill>
            <a:prstDash val="solid"/>
            <a:tailEnd type="triangle"/>
          </a:ln>
        </p:spPr>
      </p:sp>
      <p:sp>
        <p:nvSpPr>
          <p:cNvPr id="13" name="Messagerie pastille"/>
          <p:cNvSpPr/>
          <p:nvPr/>
        </p:nvSpPr>
        <p:spPr>
          <a:xfrm>
            <a:off x="5657393" y="1783080"/>
            <a:ext cx="868680" cy="86868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4" name="Messagerie icô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4563" y="2000250"/>
            <a:ext cx="434340" cy="43434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090465" y="2743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Messagerie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 flipH="1">
            <a:off x="6629629" y="3200400"/>
            <a:ext cx="1599971" cy="502920"/>
          </a:xfrm>
          <a:prstGeom prst="line">
            <a:avLst/>
          </a:prstGeom>
          <a:noFill/>
          <a:ln w="19050">
            <a:solidFill>
              <a:srgbClr val="AEB8CC"/>
            </a:solidFill>
            <a:prstDash val="solid"/>
            <a:tailEnd type="triangle"/>
          </a:ln>
        </p:spPr>
      </p:sp>
      <p:sp>
        <p:nvSpPr>
          <p:cNvPr id="17" name="Appels pastille"/>
          <p:cNvSpPr/>
          <p:nvPr/>
        </p:nvSpPr>
        <p:spPr>
          <a:xfrm>
            <a:off x="7790688" y="1783080"/>
            <a:ext cx="868680" cy="86868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8" name="Appels icô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7858" y="2000250"/>
            <a:ext cx="434340" cy="43434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223760" y="2743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Appels</a:t>
            </a:r>
            <a:endParaRPr lang="en-US" sz="1800" dirty="0"/>
          </a:p>
        </p:txBody>
      </p:sp>
      <p:sp>
        <p:nvSpPr>
          <p:cNvPr id="20" name="Shape 14"/>
          <p:cNvSpPr/>
          <p:nvPr/>
        </p:nvSpPr>
        <p:spPr>
          <a:xfrm flipH="1">
            <a:off x="7162952" y="3200400"/>
            <a:ext cx="3199943" cy="502920"/>
          </a:xfrm>
          <a:prstGeom prst="line">
            <a:avLst/>
          </a:prstGeom>
          <a:noFill/>
          <a:ln w="19050">
            <a:solidFill>
              <a:srgbClr val="AEB8CC"/>
            </a:solidFill>
            <a:prstDash val="solid"/>
            <a:tailEnd type="triangle"/>
          </a:ln>
        </p:spPr>
      </p:sp>
      <p:sp>
        <p:nvSpPr>
          <p:cNvPr id="21" name="Documents pastille"/>
          <p:cNvSpPr/>
          <p:nvPr/>
        </p:nvSpPr>
        <p:spPr>
          <a:xfrm>
            <a:off x="9923983" y="1783080"/>
            <a:ext cx="868680" cy="86868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22" name="Documents icô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1153" y="2000250"/>
            <a:ext cx="434340" cy="43434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9357055" y="2743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Documents</a:t>
            </a:r>
            <a:endParaRPr lang="en-US" sz="1800" dirty="0"/>
          </a:p>
        </p:txBody>
      </p:sp>
      <p:sp>
        <p:nvSpPr>
          <p:cNvPr id="24" name="Shape 17"/>
          <p:cNvSpPr/>
          <p:nvPr/>
        </p:nvSpPr>
        <p:spPr>
          <a:xfrm>
            <a:off x="3353105" y="3749040"/>
            <a:ext cx="5486400" cy="73152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25" name="Text 18"/>
          <p:cNvSpPr txBox="1"/>
          <p:nvPr/>
        </p:nvSpPr>
        <p:spPr>
          <a:xfrm>
            <a:off x="3353105" y="37490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INFORMATIONS DISPERSÉES</a:t>
            </a:r>
            <a:endParaRPr lang="en-US" sz="2200" dirty="0"/>
          </a:p>
        </p:txBody>
      </p:sp>
      <p:sp>
        <p:nvSpPr>
          <p:cNvPr id="26" name="Shape 19"/>
          <p:cNvSpPr/>
          <p:nvPr/>
        </p:nvSpPr>
        <p:spPr>
          <a:xfrm>
            <a:off x="6096305" y="4526280"/>
            <a:ext cx="914" cy="502920"/>
          </a:xfrm>
          <a:prstGeom prst="line">
            <a:avLst/>
          </a:prstGeom>
          <a:noFill/>
          <a:ln w="25400">
            <a:solidFill>
              <a:srgbClr val="AEB8CC"/>
            </a:solidFill>
            <a:prstDash val="solid"/>
            <a:tailEnd type="triangle"/>
          </a:ln>
        </p:spPr>
      </p:sp>
      <p:sp>
        <p:nvSpPr>
          <p:cNvPr id="27" name="Text 20"/>
          <p:cNvSpPr txBox="1"/>
          <p:nvPr/>
        </p:nvSpPr>
        <p:spPr>
          <a:xfrm>
            <a:off x="548640" y="51206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Difficulté à suivre les opérations commerciales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1"/>
                </a:solidFill>
              </a:rPr>
              <a:t>PROBLÉMATIQUE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question centrale</a:t>
            </a:r>
            <a:endParaRPr lang="en-US" sz="3600" dirty="0"/>
          </a:p>
        </p:txBody>
      </p:sp>
      <p:sp>
        <p:nvSpPr>
          <p:cNvPr id="4" name="Problématique"/>
          <p:cNvSpPr/>
          <p:nvPr/>
        </p:nvSpPr>
        <p:spPr>
          <a:xfrm>
            <a:off x="548640" y="1691640"/>
            <a:ext cx="11094415" cy="2103120"/>
          </a:xfrm>
          <a:prstGeom prst="roundRect">
            <a:avLst>
              <a:gd name="adj" fmla="val 4348"/>
            </a:avLst>
          </a:prstGeom>
          <a:solidFill>
            <a:schemeClr val="tx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280160" y="1691640"/>
            <a:ext cx="963137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i="1" dirty="0">
                <a:solidFill>
                  <a:schemeClr val="bg1"/>
                </a:solidFill>
              </a:rPr>
              <a:t>Comment centraliser et mieux maîtriser les informations liées aux opérations commerciales d'une PME grâce à une solution informatique ?</a:t>
            </a:r>
            <a:endParaRPr lang="en-US" sz="2700" dirty="0"/>
          </a:p>
        </p:txBody>
      </p:sp>
      <p:sp>
        <p:nvSpPr>
          <p:cNvPr id="6" name="CENTRALISER pastille"/>
          <p:cNvSpPr/>
          <p:nvPr/>
        </p:nvSpPr>
        <p:spPr>
          <a:xfrm>
            <a:off x="2969057" y="4251960"/>
            <a:ext cx="768096" cy="768096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CENTRALISER icô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61081" y="4443984"/>
            <a:ext cx="384048" cy="38404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981505" y="51663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spc="150" kern="0" dirty="0">
                <a:solidFill>
                  <a:schemeClr val="accent1"/>
                </a:solidFill>
              </a:rPr>
              <a:t>CENTRALISER</a:t>
            </a:r>
            <a:endParaRPr lang="en-US" sz="2600" dirty="0"/>
          </a:p>
        </p:txBody>
      </p:sp>
      <p:sp>
        <p:nvSpPr>
          <p:cNvPr id="9" name="SUIVRE pastille"/>
          <p:cNvSpPr/>
          <p:nvPr/>
        </p:nvSpPr>
        <p:spPr>
          <a:xfrm>
            <a:off x="5712257" y="4251960"/>
            <a:ext cx="768096" cy="768096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SUIVRE icô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4281" y="4443984"/>
            <a:ext cx="384048" cy="38404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724705" y="51663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spc="150" kern="0" dirty="0">
                <a:solidFill>
                  <a:schemeClr val="accent1"/>
                </a:solidFill>
              </a:rPr>
              <a:t>SUIVRE</a:t>
            </a:r>
            <a:endParaRPr lang="en-US" sz="2600" dirty="0"/>
          </a:p>
        </p:txBody>
      </p:sp>
      <p:sp>
        <p:nvSpPr>
          <p:cNvPr id="12" name="CONNECTER pastille"/>
          <p:cNvSpPr/>
          <p:nvPr/>
        </p:nvSpPr>
        <p:spPr>
          <a:xfrm>
            <a:off x="8455457" y="4251960"/>
            <a:ext cx="768096" cy="768096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CONNECTER icô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7481" y="4443984"/>
            <a:ext cx="384048" cy="38404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467905" y="51663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spc="150" kern="0" dirty="0">
                <a:solidFill>
                  <a:schemeClr val="accent2"/>
                </a:solidFill>
              </a:rPr>
              <a:t>CONNECTER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1"/>
                </a:solidFill>
              </a:rPr>
              <a:t>L'EXISTANT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FactuPro</a:t>
            </a:r>
            <a:endParaRPr lang="en-US" sz="3600" dirty="0"/>
          </a:p>
        </p:txBody>
      </p:sp>
      <p:sp>
        <p:nvSpPr>
          <p:cNvPr id="4" name="Produits / stocks"/>
          <p:cNvSpPr/>
          <p:nvPr/>
        </p:nvSpPr>
        <p:spPr>
          <a:xfrm>
            <a:off x="548640" y="1828800"/>
            <a:ext cx="2036003" cy="2651760"/>
          </a:xfrm>
          <a:prstGeom prst="roundRect">
            <a:avLst>
              <a:gd name="adj" fmla="val 4491"/>
            </a:avLst>
          </a:prstGeom>
          <a:solidFill>
            <a:schemeClr val="bg2"/>
          </a:solidFill>
          <a:ln/>
        </p:spPr>
      </p:sp>
      <p:sp>
        <p:nvSpPr>
          <p:cNvPr id="5" name="Produits / stocks pastille"/>
          <p:cNvSpPr/>
          <p:nvPr/>
        </p:nvSpPr>
        <p:spPr>
          <a:xfrm>
            <a:off x="1155162" y="2194560"/>
            <a:ext cx="822960" cy="82296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6" name="Produits / stocks icô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0902" y="2400300"/>
            <a:ext cx="411480" cy="411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85216" y="3200400"/>
            <a:ext cx="196285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Produits / stocks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657600"/>
            <a:ext cx="176168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Cahier, catalogue</a:t>
            </a:r>
            <a:endParaRPr lang="en-US" sz="1500" dirty="0"/>
          </a:p>
        </p:txBody>
      </p:sp>
      <p:sp>
        <p:nvSpPr>
          <p:cNvPr id="9" name="Vente au comptoir"/>
          <p:cNvSpPr/>
          <p:nvPr/>
        </p:nvSpPr>
        <p:spPr>
          <a:xfrm>
            <a:off x="2813243" y="1828800"/>
            <a:ext cx="2036003" cy="2651760"/>
          </a:xfrm>
          <a:prstGeom prst="roundRect">
            <a:avLst>
              <a:gd name="adj" fmla="val 4491"/>
            </a:avLst>
          </a:prstGeom>
          <a:solidFill>
            <a:schemeClr val="bg2"/>
          </a:solidFill>
          <a:ln/>
        </p:spPr>
      </p:sp>
      <p:sp>
        <p:nvSpPr>
          <p:cNvPr id="10" name="Vente au comptoir pastille"/>
          <p:cNvSpPr/>
          <p:nvPr/>
        </p:nvSpPr>
        <p:spPr>
          <a:xfrm>
            <a:off x="3419765" y="2194560"/>
            <a:ext cx="822960" cy="82296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1" name="Vente au comptoir icô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5505" y="240030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849819" y="3200400"/>
            <a:ext cx="196285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Vente au comptoir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2950403" y="3657600"/>
            <a:ext cx="176168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Cahier de ventes</a:t>
            </a:r>
            <a:endParaRPr lang="en-US" sz="1500" dirty="0"/>
          </a:p>
        </p:txBody>
      </p:sp>
      <p:sp>
        <p:nvSpPr>
          <p:cNvPr id="14" name="Approvisionnement"/>
          <p:cNvSpPr/>
          <p:nvPr/>
        </p:nvSpPr>
        <p:spPr>
          <a:xfrm>
            <a:off x="5077846" y="1828800"/>
            <a:ext cx="2036003" cy="2651760"/>
          </a:xfrm>
          <a:prstGeom prst="roundRect">
            <a:avLst>
              <a:gd name="adj" fmla="val 4491"/>
            </a:avLst>
          </a:prstGeom>
          <a:solidFill>
            <a:schemeClr val="bg2"/>
          </a:solidFill>
          <a:ln/>
        </p:spPr>
      </p:sp>
      <p:sp>
        <p:nvSpPr>
          <p:cNvPr id="15" name="Approvisionnement pastille"/>
          <p:cNvSpPr/>
          <p:nvPr/>
        </p:nvSpPr>
        <p:spPr>
          <a:xfrm>
            <a:off x="5684368" y="2194560"/>
            <a:ext cx="822960" cy="82296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6" name="Approvisionnement icô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0108" y="240030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114422" y="3200400"/>
            <a:ext cx="196285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Approvisionnement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5215006" y="3657600"/>
            <a:ext cx="176168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Appels, déplacements</a:t>
            </a:r>
            <a:endParaRPr lang="en-US" sz="1500" dirty="0"/>
          </a:p>
        </p:txBody>
      </p:sp>
      <p:sp>
        <p:nvSpPr>
          <p:cNvPr id="19" name="Échanges B2B"/>
          <p:cNvSpPr/>
          <p:nvPr/>
        </p:nvSpPr>
        <p:spPr>
          <a:xfrm>
            <a:off x="7342449" y="1828800"/>
            <a:ext cx="2036003" cy="2651760"/>
          </a:xfrm>
          <a:prstGeom prst="roundRect">
            <a:avLst>
              <a:gd name="adj" fmla="val 4491"/>
            </a:avLst>
          </a:prstGeom>
          <a:solidFill>
            <a:schemeClr val="bg2"/>
          </a:solidFill>
          <a:ln/>
        </p:spPr>
      </p:sp>
      <p:sp>
        <p:nvSpPr>
          <p:cNvPr id="20" name="Échanges B2B pastille"/>
          <p:cNvSpPr/>
          <p:nvPr/>
        </p:nvSpPr>
        <p:spPr>
          <a:xfrm>
            <a:off x="7948971" y="2194560"/>
            <a:ext cx="822960" cy="82296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21" name="Échanges B2B icô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4711" y="2400300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379025" y="3200400"/>
            <a:ext cx="196285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Échanges B2B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7479609" y="3657600"/>
            <a:ext cx="176168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Bouche-à-oreille, WhatsApp</a:t>
            </a:r>
            <a:endParaRPr lang="en-US" sz="1500" dirty="0"/>
          </a:p>
        </p:txBody>
      </p:sp>
      <p:sp>
        <p:nvSpPr>
          <p:cNvPr id="24" name="Facturation"/>
          <p:cNvSpPr/>
          <p:nvPr/>
        </p:nvSpPr>
        <p:spPr>
          <a:xfrm>
            <a:off x="9607052" y="1828800"/>
            <a:ext cx="2036003" cy="2651760"/>
          </a:xfrm>
          <a:prstGeom prst="roundRect">
            <a:avLst>
              <a:gd name="adj" fmla="val 4491"/>
            </a:avLst>
          </a:prstGeom>
          <a:solidFill>
            <a:schemeClr val="bg2"/>
          </a:solidFill>
          <a:ln/>
        </p:spPr>
      </p:sp>
      <p:sp>
        <p:nvSpPr>
          <p:cNvPr id="25" name="Facturation pastille"/>
          <p:cNvSpPr/>
          <p:nvPr/>
        </p:nvSpPr>
        <p:spPr>
          <a:xfrm>
            <a:off x="10213574" y="2194560"/>
            <a:ext cx="822960" cy="82296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26" name="Facturation icô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19314" y="2400300"/>
            <a:ext cx="411480" cy="41148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9643628" y="3200400"/>
            <a:ext cx="196285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Facturation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9744212" y="3657600"/>
            <a:ext cx="176168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Reçus, factures</a:t>
            </a:r>
            <a:endParaRPr lang="en-US" sz="1500" dirty="0"/>
          </a:p>
        </p:txBody>
      </p:sp>
      <p:sp>
        <p:nvSpPr>
          <p:cNvPr id="29" name="Shape 22"/>
          <p:cNvSpPr/>
          <p:nvPr/>
        </p:nvSpPr>
        <p:spPr>
          <a:xfrm>
            <a:off x="1984248" y="4983480"/>
            <a:ext cx="8229600" cy="8229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>
            <a:solidFill>
              <a:schemeClr val="accent4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31720" y="5212080"/>
            <a:ext cx="365760" cy="36576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2880360" y="498348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Un support par activité, aucun lien entre elles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1"/>
                </a:solidFill>
              </a:rPr>
              <a:t>LA SOLUTION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FactuPro : une plateforme unique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794760" y="2217420"/>
            <a:ext cx="2301545" cy="1211580"/>
          </a:xfrm>
          <a:prstGeom prst="line">
            <a:avLst/>
          </a:prstGeom>
          <a:noFill/>
          <a:ln w="25400">
            <a:solidFill>
              <a:srgbClr val="C3CC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94760" y="3429000"/>
            <a:ext cx="2301545" cy="914"/>
          </a:xfrm>
          <a:prstGeom prst="line">
            <a:avLst/>
          </a:prstGeom>
          <a:noFill/>
          <a:ln w="25400">
            <a:solidFill>
              <a:srgbClr val="C3CC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3794760" y="3429000"/>
            <a:ext cx="2301545" cy="1211580"/>
          </a:xfrm>
          <a:prstGeom prst="line">
            <a:avLst/>
          </a:prstGeom>
          <a:noFill/>
          <a:ln w="25400">
            <a:solidFill>
              <a:srgbClr val="C3CC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6096305" y="2217420"/>
            <a:ext cx="2300630" cy="1211580"/>
          </a:xfrm>
          <a:prstGeom prst="line">
            <a:avLst/>
          </a:prstGeom>
          <a:noFill/>
          <a:ln w="25400">
            <a:solidFill>
              <a:srgbClr val="C3CC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>
            <a:off x="6096305" y="3429000"/>
            <a:ext cx="2300630" cy="914"/>
          </a:xfrm>
          <a:prstGeom prst="line">
            <a:avLst/>
          </a:prstGeom>
          <a:noFill/>
          <a:ln w="25400">
            <a:solidFill>
              <a:srgbClr val="C3CC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 flipV="1">
            <a:off x="6096305" y="3429000"/>
            <a:ext cx="2300630" cy="1211580"/>
          </a:xfrm>
          <a:prstGeom prst="line">
            <a:avLst/>
          </a:prstGeom>
          <a:noFill/>
          <a:ln w="25400">
            <a:solidFill>
              <a:srgbClr val="C3C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6096305" y="3429000"/>
            <a:ext cx="914" cy="1828800"/>
          </a:xfrm>
          <a:prstGeom prst="line">
            <a:avLst/>
          </a:prstGeom>
          <a:noFill/>
          <a:ln w="25400">
            <a:solidFill>
              <a:srgbClr val="C3CCDC"/>
            </a:solidFill>
            <a:prstDash val="solid"/>
          </a:ln>
        </p:spPr>
      </p:sp>
      <p:sp>
        <p:nvSpPr>
          <p:cNvPr id="11" name="FactuPro"/>
          <p:cNvSpPr/>
          <p:nvPr/>
        </p:nvSpPr>
        <p:spPr>
          <a:xfrm>
            <a:off x="4953305" y="2286000"/>
            <a:ext cx="2286000" cy="2286000"/>
          </a:xfrm>
          <a:prstGeom prst="ellipse">
            <a:avLst/>
          </a:prstGeom>
          <a:solidFill>
            <a:schemeClr val="tx2"/>
          </a:solidFill>
          <a:ln w="50800">
            <a:solidFill>
              <a:schemeClr val="bg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53305" y="22860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FactuPro</a:t>
            </a:r>
            <a:endParaRPr lang="en-US" sz="2600" dirty="0"/>
          </a:p>
        </p:txBody>
      </p:sp>
      <p:sp>
        <p:nvSpPr>
          <p:cNvPr id="13" name="Gestion des accès"/>
          <p:cNvSpPr/>
          <p:nvPr/>
        </p:nvSpPr>
        <p:spPr>
          <a:xfrm>
            <a:off x="548640" y="1783080"/>
            <a:ext cx="324612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</p:sp>
      <p:sp>
        <p:nvSpPr>
          <p:cNvPr id="14" name="Gestion des accès pastille"/>
          <p:cNvSpPr/>
          <p:nvPr/>
        </p:nvSpPr>
        <p:spPr>
          <a:xfrm>
            <a:off x="749808" y="19431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Gestion des accès icô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080260"/>
            <a:ext cx="274320" cy="27432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463040" y="178308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Gestion des accès</a:t>
            </a:r>
            <a:endParaRPr lang="en-US" sz="1800" dirty="0"/>
          </a:p>
        </p:txBody>
      </p:sp>
      <p:sp>
        <p:nvSpPr>
          <p:cNvPr id="17" name="Produits et stocks"/>
          <p:cNvSpPr/>
          <p:nvPr/>
        </p:nvSpPr>
        <p:spPr>
          <a:xfrm>
            <a:off x="548640" y="2994660"/>
            <a:ext cx="324612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</p:sp>
      <p:sp>
        <p:nvSpPr>
          <p:cNvPr id="18" name="Produits et stocks pastille"/>
          <p:cNvSpPr/>
          <p:nvPr/>
        </p:nvSpPr>
        <p:spPr>
          <a:xfrm>
            <a:off x="749808" y="31546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Produits et stocks icô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3291840"/>
            <a:ext cx="274320" cy="27432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1463040" y="299466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Produits et stocks</a:t>
            </a:r>
            <a:endParaRPr lang="en-US" sz="1800" dirty="0"/>
          </a:p>
        </p:txBody>
      </p:sp>
      <p:sp>
        <p:nvSpPr>
          <p:cNvPr id="21" name="Ventes"/>
          <p:cNvSpPr/>
          <p:nvPr/>
        </p:nvSpPr>
        <p:spPr>
          <a:xfrm>
            <a:off x="548640" y="4206240"/>
            <a:ext cx="324612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</p:sp>
      <p:sp>
        <p:nvSpPr>
          <p:cNvPr id="22" name="Ventes pastille"/>
          <p:cNvSpPr/>
          <p:nvPr/>
        </p:nvSpPr>
        <p:spPr>
          <a:xfrm>
            <a:off x="749808" y="43662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Ventes icô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4503420"/>
            <a:ext cx="274320" cy="27432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1463040" y="42062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Ventes</a:t>
            </a:r>
            <a:endParaRPr lang="en-US" sz="1800" dirty="0"/>
          </a:p>
        </p:txBody>
      </p:sp>
      <p:sp>
        <p:nvSpPr>
          <p:cNvPr id="25" name="Réseau B2B"/>
          <p:cNvSpPr/>
          <p:nvPr/>
        </p:nvSpPr>
        <p:spPr>
          <a:xfrm>
            <a:off x="8396935" y="1783080"/>
            <a:ext cx="324612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</p:sp>
      <p:sp>
        <p:nvSpPr>
          <p:cNvPr id="26" name="Réseau B2B pastille"/>
          <p:cNvSpPr/>
          <p:nvPr/>
        </p:nvSpPr>
        <p:spPr>
          <a:xfrm>
            <a:off x="8598103" y="194310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7" name="Réseau B2B icô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5263" y="2080260"/>
            <a:ext cx="274320" cy="27432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9311335" y="178308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Réseau B2B</a:t>
            </a:r>
            <a:endParaRPr lang="en-US" sz="1800" dirty="0"/>
          </a:p>
        </p:txBody>
      </p:sp>
      <p:sp>
        <p:nvSpPr>
          <p:cNvPr id="29" name="Commandes B2B"/>
          <p:cNvSpPr/>
          <p:nvPr/>
        </p:nvSpPr>
        <p:spPr>
          <a:xfrm>
            <a:off x="8396935" y="2994660"/>
            <a:ext cx="324612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</p:sp>
      <p:sp>
        <p:nvSpPr>
          <p:cNvPr id="30" name="Commandes B2B pastille"/>
          <p:cNvSpPr/>
          <p:nvPr/>
        </p:nvSpPr>
        <p:spPr>
          <a:xfrm>
            <a:off x="8598103" y="315468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1" name="Commandes B2B icô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5263" y="3291840"/>
            <a:ext cx="274320" cy="27432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9311335" y="299466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Commandes B2B</a:t>
            </a:r>
            <a:endParaRPr lang="en-US" sz="1800" dirty="0"/>
          </a:p>
        </p:txBody>
      </p:sp>
      <p:sp>
        <p:nvSpPr>
          <p:cNvPr id="33" name="Notifications"/>
          <p:cNvSpPr/>
          <p:nvPr/>
        </p:nvSpPr>
        <p:spPr>
          <a:xfrm>
            <a:off x="8396935" y="4206240"/>
            <a:ext cx="324612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</p:sp>
      <p:sp>
        <p:nvSpPr>
          <p:cNvPr id="34" name="Notifications pastille"/>
          <p:cNvSpPr/>
          <p:nvPr/>
        </p:nvSpPr>
        <p:spPr>
          <a:xfrm>
            <a:off x="8598103" y="436626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5" name="Notifications icône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35263" y="4503420"/>
            <a:ext cx="274320" cy="274320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9311335" y="42062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Notifications</a:t>
            </a:r>
            <a:endParaRPr lang="en-US" sz="1800" dirty="0"/>
          </a:p>
        </p:txBody>
      </p:sp>
      <p:sp>
        <p:nvSpPr>
          <p:cNvPr id="37" name="Facturation"/>
          <p:cNvSpPr/>
          <p:nvPr/>
        </p:nvSpPr>
        <p:spPr>
          <a:xfrm>
            <a:off x="4473245" y="5257800"/>
            <a:ext cx="324612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</p:sp>
      <p:sp>
        <p:nvSpPr>
          <p:cNvPr id="38" name="Facturation pastille"/>
          <p:cNvSpPr/>
          <p:nvPr/>
        </p:nvSpPr>
        <p:spPr>
          <a:xfrm>
            <a:off x="4674413" y="54178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9" name="Facturation icône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1573" y="5554980"/>
            <a:ext cx="274320" cy="274320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5387645" y="525780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Facturation</a:t>
            </a:r>
            <a:endParaRPr lang="en-US" sz="1800" dirty="0"/>
          </a:p>
        </p:txBody>
      </p:sp>
      <p:sp>
        <p:nvSpPr>
          <p:cNvPr id="41" name="Shape 32"/>
          <p:cNvSpPr/>
          <p:nvPr/>
        </p:nvSpPr>
        <p:spPr>
          <a:xfrm>
            <a:off x="548640" y="5532120"/>
            <a:ext cx="137160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2" name="Text 33"/>
          <p:cNvSpPr txBox="1"/>
          <p:nvPr/>
        </p:nvSpPr>
        <p:spPr>
          <a:xfrm>
            <a:off x="548640" y="55321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Boutique</a:t>
            </a:r>
            <a:endParaRPr lang="en-US" sz="1200" dirty="0"/>
          </a:p>
        </p:txBody>
      </p:sp>
      <p:sp>
        <p:nvSpPr>
          <p:cNvPr id="43" name="Shape 34"/>
          <p:cNvSpPr/>
          <p:nvPr/>
        </p:nvSpPr>
        <p:spPr>
          <a:xfrm>
            <a:off x="10271455" y="5532120"/>
            <a:ext cx="1371600" cy="32918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4" name="Text 35"/>
          <p:cNvSpPr txBox="1"/>
          <p:nvPr/>
        </p:nvSpPr>
        <p:spPr>
          <a:xfrm>
            <a:off x="10271455" y="55321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Réseau B2B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1"/>
                </a:solidFill>
              </a:rPr>
              <a:t>CONCEPTION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l'analyse à la conception</a:t>
            </a:r>
            <a:endParaRPr lang="en-US" sz="3600" dirty="0"/>
          </a:p>
        </p:txBody>
      </p:sp>
      <p:sp>
        <p:nvSpPr>
          <p:cNvPr id="4" name="Analyse de l'existant"/>
          <p:cNvSpPr/>
          <p:nvPr/>
        </p:nvSpPr>
        <p:spPr>
          <a:xfrm>
            <a:off x="548640" y="1920240"/>
            <a:ext cx="2651760" cy="3017520"/>
          </a:xfrm>
          <a:prstGeom prst="roundRect">
            <a:avLst>
              <a:gd name="adj" fmla="val 3448"/>
            </a:avLst>
          </a:prstGeom>
          <a:solidFill>
            <a:schemeClr val="bg2"/>
          </a:solidFill>
          <a:ln/>
        </p:spPr>
      </p:sp>
      <p:sp>
        <p:nvSpPr>
          <p:cNvPr id="5" name="Analyse pastille"/>
          <p:cNvSpPr/>
          <p:nvPr/>
        </p:nvSpPr>
        <p:spPr>
          <a:xfrm>
            <a:off x="822960" y="2240280"/>
            <a:ext cx="731520" cy="73152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6" name="Analyse icô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4231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32004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</a:rPr>
              <a:t>Analyse de l'existant</a:t>
            </a:r>
            <a:endParaRPr lang="en-US" sz="2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992" y="3291840"/>
            <a:ext cx="274320" cy="274320"/>
          </a:xfrm>
          <a:prstGeom prst="rect">
            <a:avLst/>
          </a:prstGeom>
        </p:spPr>
      </p:pic>
      <p:sp>
        <p:nvSpPr>
          <p:cNvPr id="9" name="MERISE"/>
          <p:cNvSpPr/>
          <p:nvPr/>
        </p:nvSpPr>
        <p:spPr>
          <a:xfrm>
            <a:off x="3794760" y="1920240"/>
            <a:ext cx="4617720" cy="3017520"/>
          </a:xfrm>
          <a:prstGeom prst="roundRect">
            <a:avLst>
              <a:gd name="adj" fmla="val 3030"/>
            </a:avLst>
          </a:prstGeom>
          <a:solidFill>
            <a:schemeClr val="tx2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4114800" y="21945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MERISE</a:t>
            </a:r>
            <a:endParaRPr lang="en-US" sz="2600" dirty="0"/>
          </a:p>
        </p:txBody>
      </p:sp>
      <p:sp>
        <p:nvSpPr>
          <p:cNvPr id="11" name="Shape 7"/>
          <p:cNvSpPr/>
          <p:nvPr/>
        </p:nvSpPr>
        <p:spPr>
          <a:xfrm>
            <a:off x="4114800" y="2971800"/>
            <a:ext cx="914400" cy="146304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4114800" y="31546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MCD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4023360" y="37033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données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135880" y="2971800"/>
            <a:ext cx="914400" cy="146304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5135880" y="31546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MCT</a:t>
            </a:r>
            <a:endParaRPr lang="en-US" sz="2200" dirty="0"/>
          </a:p>
        </p:txBody>
      </p:sp>
      <p:sp>
        <p:nvSpPr>
          <p:cNvPr id="16" name="Text 12"/>
          <p:cNvSpPr txBox="1"/>
          <p:nvPr/>
        </p:nvSpPr>
        <p:spPr>
          <a:xfrm>
            <a:off x="5044440" y="37033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traitements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156960" y="2971800"/>
            <a:ext cx="914400" cy="146304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6156960" y="31546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MLD</a:t>
            </a:r>
            <a:endParaRPr lang="en-US" sz="2200" dirty="0"/>
          </a:p>
        </p:txBody>
      </p:sp>
      <p:sp>
        <p:nvSpPr>
          <p:cNvPr id="19" name="Text 15"/>
          <p:cNvSpPr txBox="1"/>
          <p:nvPr/>
        </p:nvSpPr>
        <p:spPr>
          <a:xfrm>
            <a:off x="6065520" y="37033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tables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7178040" y="2971800"/>
            <a:ext cx="914400" cy="146304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178040" y="31546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MOT</a:t>
            </a:r>
            <a:endParaRPr lang="en-US" sz="2200" dirty="0"/>
          </a:p>
        </p:txBody>
      </p:sp>
      <p:sp>
        <p:nvSpPr>
          <p:cNvPr id="22" name="Text 18"/>
          <p:cNvSpPr txBox="1"/>
          <p:nvPr/>
        </p:nvSpPr>
        <p:spPr>
          <a:xfrm>
            <a:off x="7086600" y="37033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organisation</a:t>
            </a:r>
            <a:endParaRPr lang="en-US" sz="12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7928" y="3291840"/>
            <a:ext cx="274320" cy="274320"/>
          </a:xfrm>
          <a:prstGeom prst="rect">
            <a:avLst/>
          </a:prstGeom>
        </p:spPr>
      </p:pic>
      <p:sp>
        <p:nvSpPr>
          <p:cNvPr id="24" name="Base de données et application"/>
          <p:cNvSpPr/>
          <p:nvPr/>
        </p:nvSpPr>
        <p:spPr>
          <a:xfrm>
            <a:off x="8988552" y="1920240"/>
            <a:ext cx="2654503" cy="3017520"/>
          </a:xfrm>
          <a:prstGeom prst="roundRect">
            <a:avLst>
              <a:gd name="adj" fmla="val 3445"/>
            </a:avLst>
          </a:prstGeom>
          <a:solidFill>
            <a:schemeClr val="bg2"/>
          </a:solidFill>
          <a:ln/>
        </p:spPr>
      </p:sp>
      <p:sp>
        <p:nvSpPr>
          <p:cNvPr id="25" name="Base pastille"/>
          <p:cNvSpPr/>
          <p:nvPr/>
        </p:nvSpPr>
        <p:spPr>
          <a:xfrm>
            <a:off x="9262872" y="22402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Base icô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5752" y="2423160"/>
            <a:ext cx="365760" cy="36576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9262872" y="3200400"/>
            <a:ext cx="219730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</a:rPr>
              <a:t>Base de données + application</a:t>
            </a:r>
            <a:endParaRPr lang="en-US" sz="2100" dirty="0"/>
          </a:p>
        </p:txBody>
      </p:sp>
      <p:sp>
        <p:nvSpPr>
          <p:cNvPr id="28" name="Text 22"/>
          <p:cNvSpPr txBox="1"/>
          <p:nvPr/>
        </p:nvSpPr>
        <p:spPr>
          <a:xfrm>
            <a:off x="548640" y="53949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13 règles de gestion  ·  18 flux d'informations  ·  11 tables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1"/>
                </a:solidFill>
              </a:rPr>
              <a:t>ARCHITECTURE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architecture web adaptée au projet</a:t>
            </a:r>
            <a:endParaRPr lang="en-US" sz="3600" dirty="0"/>
          </a:p>
        </p:txBody>
      </p:sp>
      <p:sp>
        <p:nvSpPr>
          <p:cNvPr id="4" name="FRONT-END"/>
          <p:cNvSpPr/>
          <p:nvPr/>
        </p:nvSpPr>
        <p:spPr>
          <a:xfrm>
            <a:off x="548640" y="1783080"/>
            <a:ext cx="11094415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7830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chemeClr val="accent1"/>
                </a:solidFill>
              </a:rPr>
              <a:t>FRONT-END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063240" y="1920240"/>
            <a:ext cx="1051560" cy="4572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063240" y="192024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HTML5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97680" y="1920240"/>
            <a:ext cx="941832" cy="4572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297680" y="1920240"/>
            <a:ext cx="941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CSS3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22392" y="1920240"/>
            <a:ext cx="1600200" cy="4572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22392" y="19202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JavaScript</a:t>
            </a:r>
            <a:endParaRPr lang="en-US" sz="1600" dirty="0"/>
          </a:p>
        </p:txBody>
      </p:sp>
      <p:sp>
        <p:nvSpPr>
          <p:cNvPr id="12" name="BACK-END"/>
          <p:cNvSpPr/>
          <p:nvPr/>
        </p:nvSpPr>
        <p:spPr>
          <a:xfrm>
            <a:off x="548640" y="2670048"/>
            <a:ext cx="11094415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8680" y="267004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chemeClr val="accent2"/>
                </a:solidFill>
              </a:rPr>
              <a:t>BACK-END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063240" y="2807208"/>
            <a:ext cx="1271016" cy="4572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063240" y="2807208"/>
            <a:ext cx="1271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PHP 8.3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17136" y="2807208"/>
            <a:ext cx="832104" cy="4572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17136" y="2807208"/>
            <a:ext cx="832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PDO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532120" y="2807208"/>
            <a:ext cx="1161288" cy="4572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532120" y="2807208"/>
            <a:ext cx="1161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Apache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876288" y="2807208"/>
            <a:ext cx="3575304" cy="4572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76288" y="2807208"/>
            <a:ext cx="3575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Contrôleurs · Modèles · Vues</a:t>
            </a:r>
            <a:endParaRPr lang="en-US" sz="1600" dirty="0"/>
          </a:p>
        </p:txBody>
      </p:sp>
      <p:sp>
        <p:nvSpPr>
          <p:cNvPr id="22" name="DONNÉES"/>
          <p:cNvSpPr/>
          <p:nvPr/>
        </p:nvSpPr>
        <p:spPr>
          <a:xfrm>
            <a:off x="548640" y="3557016"/>
            <a:ext cx="11094415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68680" y="3557016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chemeClr val="accent1"/>
                </a:solidFill>
              </a:rPr>
              <a:t>DONNÉES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063240" y="3694176"/>
            <a:ext cx="1490472" cy="4572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063240" y="3694176"/>
            <a:ext cx="149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MySQL 8.0</a:t>
            </a:r>
            <a:endParaRPr lang="en-US" sz="1600" dirty="0"/>
          </a:p>
        </p:txBody>
      </p:sp>
      <p:sp>
        <p:nvSpPr>
          <p:cNvPr id="26" name="INFRASTRUCTURE"/>
          <p:cNvSpPr/>
          <p:nvPr/>
        </p:nvSpPr>
        <p:spPr>
          <a:xfrm>
            <a:off x="548640" y="4443984"/>
            <a:ext cx="11094415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68680" y="4443984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chemeClr val="accent1"/>
                </a:solidFill>
              </a:rPr>
              <a:t>INFRASTRUCTURE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063240" y="4581144"/>
            <a:ext cx="2039112" cy="4572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3063240" y="4581144"/>
            <a:ext cx="2039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Docker Compose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285232" y="4581144"/>
            <a:ext cx="1600200" cy="4572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285232" y="4581144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phpMyAdmin</a:t>
            </a:r>
            <a:endParaRPr lang="en-US" sz="1600" dirty="0"/>
          </a:p>
        </p:txBody>
      </p:sp>
      <p:sp>
        <p:nvSpPr>
          <p:cNvPr id="32" name="SERVICES"/>
          <p:cNvSpPr/>
          <p:nvPr/>
        </p:nvSpPr>
        <p:spPr>
          <a:xfrm>
            <a:off x="548640" y="5330952"/>
            <a:ext cx="11094415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68680" y="5330952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chemeClr val="accent1"/>
                </a:solidFill>
              </a:rPr>
              <a:t>SERVICES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3063240" y="5468112"/>
            <a:ext cx="1490472" cy="4572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3063240" y="5468112"/>
            <a:ext cx="149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PHPMailer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736592" y="5468112"/>
            <a:ext cx="1490472" cy="4572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4736592" y="5468112"/>
            <a:ext cx="149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phpdotenv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409944" y="5468112"/>
            <a:ext cx="3026664" cy="4572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409944" y="5468112"/>
            <a:ext cx="3026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Leaflet / OpenStreetMap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1"/>
                </a:solidFill>
              </a:rPr>
              <a:t>DÉMONSTRATION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FactuPro en fonctionnement</a:t>
            </a:r>
            <a:endParaRPr lang="en-US" sz="3600" dirty="0"/>
          </a:p>
        </p:txBody>
      </p:sp>
      <p:sp>
        <p:nvSpPr>
          <p:cNvPr id="4" name="Tableau de bord cadre"/>
          <p:cNvSpPr/>
          <p:nvPr/>
        </p:nvSpPr>
        <p:spPr>
          <a:xfrm>
            <a:off x="548640" y="1691640"/>
            <a:ext cx="6888175" cy="4279101"/>
          </a:xfrm>
          <a:prstGeom prst="roundRect">
            <a:avLst>
              <a:gd name="adj" fmla="val 1710"/>
            </a:avLst>
          </a:prstGeom>
          <a:solidFill>
            <a:schemeClr val="bg1"/>
          </a:solidFill>
          <a:ln w="9525">
            <a:solidFill>
              <a:srgbClr val="D5DCE8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76656" y="1773936"/>
            <a:ext cx="91440" cy="9144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Shape 4"/>
          <p:cNvSpPr/>
          <p:nvPr/>
        </p:nvSpPr>
        <p:spPr>
          <a:xfrm>
            <a:off x="832104" y="1773936"/>
            <a:ext cx="91440" cy="914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Shape 5"/>
          <p:cNvSpPr/>
          <p:nvPr/>
        </p:nvSpPr>
        <p:spPr>
          <a:xfrm>
            <a:off x="987552" y="1773936"/>
            <a:ext cx="91440" cy="914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8" name="Tableau de bord" descr="Tableau de bo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947672"/>
            <a:ext cx="6796735" cy="3977349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88720" y="1700784"/>
            <a:ext cx="61109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Tableau de bord</a:t>
            </a:r>
            <a:endParaRPr lang="en-US" sz="1300" dirty="0"/>
          </a:p>
        </p:txBody>
      </p:sp>
      <p:sp>
        <p:nvSpPr>
          <p:cNvPr id="10" name="Produits et stocks cadre"/>
          <p:cNvSpPr/>
          <p:nvPr/>
        </p:nvSpPr>
        <p:spPr>
          <a:xfrm>
            <a:off x="7711135" y="1691640"/>
            <a:ext cx="3931920" cy="2239449"/>
          </a:xfrm>
          <a:prstGeom prst="roundRect">
            <a:avLst>
              <a:gd name="adj" fmla="val 3267"/>
            </a:avLst>
          </a:prstGeom>
          <a:solidFill>
            <a:schemeClr val="bg1"/>
          </a:solidFill>
          <a:ln w="9525">
            <a:solidFill>
              <a:srgbClr val="D5DCE8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839151" y="1773936"/>
            <a:ext cx="91440" cy="9144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2" name="Shape 9"/>
          <p:cNvSpPr/>
          <p:nvPr/>
        </p:nvSpPr>
        <p:spPr>
          <a:xfrm>
            <a:off x="7994599" y="1773936"/>
            <a:ext cx="91440" cy="914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3" name="Shape 10"/>
          <p:cNvSpPr/>
          <p:nvPr/>
        </p:nvSpPr>
        <p:spPr>
          <a:xfrm>
            <a:off x="8150047" y="1773936"/>
            <a:ext cx="91440" cy="914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4" name="Produits et stocks" descr="Produits et stock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6855" y="1947672"/>
            <a:ext cx="3840480" cy="1937697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8351215" y="170078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Produits et stocks</a:t>
            </a:r>
            <a:endParaRPr lang="en-US" sz="1300" dirty="0"/>
          </a:p>
        </p:txBody>
      </p:sp>
      <p:sp>
        <p:nvSpPr>
          <p:cNvPr id="16" name="Annonces B2B cadre"/>
          <p:cNvSpPr/>
          <p:nvPr/>
        </p:nvSpPr>
        <p:spPr>
          <a:xfrm>
            <a:off x="7711135" y="4113969"/>
            <a:ext cx="3931920" cy="2037859"/>
          </a:xfrm>
          <a:prstGeom prst="roundRect">
            <a:avLst>
              <a:gd name="adj" fmla="val 3590"/>
            </a:avLst>
          </a:prstGeom>
          <a:solidFill>
            <a:schemeClr val="bg1"/>
          </a:solidFill>
          <a:ln w="9525">
            <a:solidFill>
              <a:srgbClr val="D5DCE8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839151" y="4196265"/>
            <a:ext cx="91440" cy="9144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Shape 14"/>
          <p:cNvSpPr/>
          <p:nvPr/>
        </p:nvSpPr>
        <p:spPr>
          <a:xfrm>
            <a:off x="7994599" y="4196265"/>
            <a:ext cx="91440" cy="914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9" name="Shape 15"/>
          <p:cNvSpPr/>
          <p:nvPr/>
        </p:nvSpPr>
        <p:spPr>
          <a:xfrm>
            <a:off x="8150047" y="4196265"/>
            <a:ext cx="91440" cy="914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0" name="Annonces B2B" descr="Annonces B2B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6855" y="4370001"/>
            <a:ext cx="3840480" cy="1736107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351215" y="4123113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Annonces B2B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1"/>
                </a:solidFill>
              </a:rPr>
              <a:t>VALEUR APPORTÉE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→ Avec FactuPro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chemeClr val="accent6"/>
                </a:solidFill>
              </a:rPr>
              <a:t>AVANT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943600" y="1691640"/>
            <a:ext cx="5699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chemeClr val="accent1"/>
                </a:solidFill>
              </a:rPr>
              <a:t>AVEC FACTUPRO</a:t>
            </a:r>
            <a:endParaRPr lang="en-US" sz="1400" dirty="0"/>
          </a:p>
        </p:txBody>
      </p:sp>
      <p:sp>
        <p:nvSpPr>
          <p:cNvPr id="6" name="Avant 1"/>
          <p:cNvSpPr/>
          <p:nvPr/>
        </p:nvSpPr>
        <p:spPr>
          <a:xfrm>
            <a:off x="548640" y="2103120"/>
            <a:ext cx="4480560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10312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accent6"/>
                </a:solidFill>
              </a:rPr>
              <a:t>Informations dispersées</a:t>
            </a:r>
            <a:endParaRPr lang="en-US" sz="19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21808" y="2331720"/>
            <a:ext cx="329184" cy="329184"/>
          </a:xfrm>
          <a:prstGeom prst="rect">
            <a:avLst/>
          </a:prstGeom>
        </p:spPr>
      </p:pic>
      <p:sp>
        <p:nvSpPr>
          <p:cNvPr id="9" name="Avec 1"/>
          <p:cNvSpPr/>
          <p:nvPr/>
        </p:nvSpPr>
        <p:spPr>
          <a:xfrm>
            <a:off x="5943600" y="2103120"/>
            <a:ext cx="5699455" cy="777240"/>
          </a:xfrm>
          <a:prstGeom prst="roundRect">
            <a:avLst>
              <a:gd name="adj" fmla="val 11765"/>
            </a:avLst>
          </a:prstGeom>
          <a:solidFill>
            <a:schemeClr val="accent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263640" y="2103120"/>
            <a:ext cx="52422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Plateforme centralisée</a:t>
            </a:r>
            <a:endParaRPr lang="en-US" sz="2100" dirty="0"/>
          </a:p>
        </p:txBody>
      </p:sp>
      <p:sp>
        <p:nvSpPr>
          <p:cNvPr id="11" name="Avant 2"/>
          <p:cNvSpPr/>
          <p:nvPr/>
        </p:nvSpPr>
        <p:spPr>
          <a:xfrm>
            <a:off x="548640" y="3108960"/>
            <a:ext cx="4480560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68680" y="310896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accent6"/>
                </a:solidFill>
              </a:rPr>
              <a:t>Suivi difficile</a:t>
            </a:r>
            <a:endParaRPr lang="en-US" sz="19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1808" y="3337560"/>
            <a:ext cx="329184" cy="329184"/>
          </a:xfrm>
          <a:prstGeom prst="rect">
            <a:avLst/>
          </a:prstGeom>
        </p:spPr>
      </p:pic>
      <p:sp>
        <p:nvSpPr>
          <p:cNvPr id="14" name="Avec 2"/>
          <p:cNvSpPr/>
          <p:nvPr/>
        </p:nvSpPr>
        <p:spPr>
          <a:xfrm>
            <a:off x="5943600" y="3108960"/>
            <a:ext cx="5699455" cy="777240"/>
          </a:xfrm>
          <a:prstGeom prst="roundRect">
            <a:avLst>
              <a:gd name="adj" fmla="val 11765"/>
            </a:avLst>
          </a:prstGeom>
          <a:solidFill>
            <a:schemeClr val="accent1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6263640" y="3108960"/>
            <a:ext cx="52422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Suivi des opérations</a:t>
            </a:r>
            <a:endParaRPr lang="en-US" sz="2100" dirty="0"/>
          </a:p>
        </p:txBody>
      </p:sp>
      <p:sp>
        <p:nvSpPr>
          <p:cNvPr id="16" name="Avant 3"/>
          <p:cNvSpPr/>
          <p:nvPr/>
        </p:nvSpPr>
        <p:spPr>
          <a:xfrm>
            <a:off x="548640" y="4114800"/>
            <a:ext cx="4480560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868680" y="411480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accent6"/>
                </a:solidFill>
              </a:rPr>
              <a:t>Échanges B2B peu structurés</a:t>
            </a:r>
            <a:endParaRPr lang="en-US" sz="19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1808" y="4343400"/>
            <a:ext cx="329184" cy="329184"/>
          </a:xfrm>
          <a:prstGeom prst="rect">
            <a:avLst/>
          </a:prstGeom>
        </p:spPr>
      </p:pic>
      <p:sp>
        <p:nvSpPr>
          <p:cNvPr id="19" name="Avec 3"/>
          <p:cNvSpPr/>
          <p:nvPr/>
        </p:nvSpPr>
        <p:spPr>
          <a:xfrm>
            <a:off x="5943600" y="4114800"/>
            <a:ext cx="5699455" cy="777240"/>
          </a:xfrm>
          <a:prstGeom prst="roundRect">
            <a:avLst>
              <a:gd name="adj" fmla="val 11765"/>
            </a:avLst>
          </a:prstGeom>
          <a:solidFill>
            <a:schemeClr val="accent1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6263640" y="4114800"/>
            <a:ext cx="52422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Échanges B2B structurés</a:t>
            </a:r>
            <a:endParaRPr lang="en-US" sz="2100" dirty="0"/>
          </a:p>
        </p:txBody>
      </p:sp>
      <p:sp>
        <p:nvSpPr>
          <p:cNvPr id="21" name="Avant 4"/>
          <p:cNvSpPr/>
          <p:nvPr/>
        </p:nvSpPr>
        <p:spPr>
          <a:xfrm>
            <a:off x="548640" y="5120640"/>
            <a:ext cx="4480560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868680" y="512064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accent6"/>
                </a:solidFill>
              </a:rPr>
              <a:t>Visibilité limitée</a:t>
            </a:r>
            <a:endParaRPr lang="en-US" sz="19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1808" y="5349240"/>
            <a:ext cx="329184" cy="329184"/>
          </a:xfrm>
          <a:prstGeom prst="rect">
            <a:avLst/>
          </a:prstGeom>
        </p:spPr>
      </p:pic>
      <p:sp>
        <p:nvSpPr>
          <p:cNvPr id="24" name="Avec 4"/>
          <p:cNvSpPr/>
          <p:nvPr/>
        </p:nvSpPr>
        <p:spPr>
          <a:xfrm>
            <a:off x="5943600" y="5120640"/>
            <a:ext cx="5699455" cy="777240"/>
          </a:xfrm>
          <a:prstGeom prst="roundRect">
            <a:avLst>
              <a:gd name="adj" fmla="val 11765"/>
            </a:avLst>
          </a:prstGeom>
          <a:solidFill>
            <a:schemeClr val="accent1"/>
          </a:solidFill>
          <a:ln/>
        </p:spPr>
      </p:sp>
      <p:sp>
        <p:nvSpPr>
          <p:cNvPr id="25" name="Text 19"/>
          <p:cNvSpPr txBox="1"/>
          <p:nvPr/>
        </p:nvSpPr>
        <p:spPr>
          <a:xfrm>
            <a:off x="6263640" y="5120640"/>
            <a:ext cx="52422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Tableau de bord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1"/>
                </a:solidFill>
              </a:rPr>
              <a:t>RÉSULTATS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FactuPro apporte</a:t>
            </a:r>
            <a:endParaRPr lang="en-US" sz="3600" dirty="0"/>
          </a:p>
        </p:txBody>
      </p:sp>
      <p:sp>
        <p:nvSpPr>
          <p:cNvPr id="4" name="Centraliser pastille"/>
          <p:cNvSpPr/>
          <p:nvPr/>
        </p:nvSpPr>
        <p:spPr>
          <a:xfrm>
            <a:off x="1303020" y="2606040"/>
            <a:ext cx="1005840" cy="10058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Centraliser icô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2857500"/>
            <a:ext cx="502920" cy="502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38862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Centraliser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44805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accent6"/>
                </a:solidFill>
              </a:rPr>
              <a:t>les informations commerciales</a:t>
            </a:r>
            <a:endParaRPr lang="en-US" sz="1700" dirty="0"/>
          </a:p>
        </p:txBody>
      </p:sp>
      <p:sp>
        <p:nvSpPr>
          <p:cNvPr id="8" name="Suivre pastille"/>
          <p:cNvSpPr/>
          <p:nvPr/>
        </p:nvSpPr>
        <p:spPr>
          <a:xfrm>
            <a:off x="4162958" y="2606040"/>
            <a:ext cx="1005840" cy="10058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Suivre icô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4418" y="285750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408578" y="38862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Suivre</a:t>
            </a:r>
            <a:endParaRPr lang="en-US" sz="2800" dirty="0"/>
          </a:p>
        </p:txBody>
      </p:sp>
      <p:sp>
        <p:nvSpPr>
          <p:cNvPr id="11" name="Text 7"/>
          <p:cNvSpPr txBox="1"/>
          <p:nvPr/>
        </p:nvSpPr>
        <p:spPr>
          <a:xfrm>
            <a:off x="3545738" y="44805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accent6"/>
                </a:solidFill>
              </a:rPr>
              <a:t>produits, ventes, stocks et commandes</a:t>
            </a:r>
            <a:endParaRPr lang="en-US" sz="1700" dirty="0"/>
          </a:p>
        </p:txBody>
      </p:sp>
      <p:sp>
        <p:nvSpPr>
          <p:cNvPr id="12" name="Connecter pastille"/>
          <p:cNvSpPr/>
          <p:nvPr/>
        </p:nvSpPr>
        <p:spPr>
          <a:xfrm>
            <a:off x="7022897" y="2606040"/>
            <a:ext cx="1005840" cy="10058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Connecter icô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4357" y="285750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268517" y="38862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Connecter</a:t>
            </a:r>
            <a:endParaRPr lang="en-US" sz="2800" dirty="0"/>
          </a:p>
        </p:txBody>
      </p:sp>
      <p:sp>
        <p:nvSpPr>
          <p:cNvPr id="15" name="Text 10"/>
          <p:cNvSpPr txBox="1"/>
          <p:nvPr/>
        </p:nvSpPr>
        <p:spPr>
          <a:xfrm>
            <a:off x="6405677" y="44805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accent6"/>
                </a:solidFill>
              </a:rPr>
              <a:t>les entreprises en B2B</a:t>
            </a:r>
            <a:endParaRPr lang="en-US" sz="1700" dirty="0"/>
          </a:p>
        </p:txBody>
      </p:sp>
      <p:sp>
        <p:nvSpPr>
          <p:cNvPr id="16" name="Structurer pastille"/>
          <p:cNvSpPr/>
          <p:nvPr/>
        </p:nvSpPr>
        <p:spPr>
          <a:xfrm>
            <a:off x="9882835" y="2606040"/>
            <a:ext cx="1005840" cy="10058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Structurer icô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4295" y="2857500"/>
            <a:ext cx="502920" cy="50292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128455" y="38862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Structurer</a:t>
            </a:r>
            <a:endParaRPr lang="en-US" sz="2800" dirty="0"/>
          </a:p>
        </p:txBody>
      </p:sp>
      <p:sp>
        <p:nvSpPr>
          <p:cNvPr id="19" name="Text 13"/>
          <p:cNvSpPr txBox="1"/>
          <p:nvPr/>
        </p:nvSpPr>
        <p:spPr>
          <a:xfrm>
            <a:off x="9265615" y="44805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accent6"/>
                </a:solidFill>
              </a:rPr>
              <a:t>les opérations commerciales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1"/>
                </a:solidFill>
              </a:rPr>
              <a:t>PERSPECTIVES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Aujourd'hui → Demain</a:t>
            </a:r>
            <a:endParaRPr lang="en-US" sz="3600" dirty="0"/>
          </a:p>
        </p:txBody>
      </p:sp>
      <p:sp>
        <p:nvSpPr>
          <p:cNvPr id="4" name="Aujourd'hui"/>
          <p:cNvSpPr/>
          <p:nvPr/>
        </p:nvSpPr>
        <p:spPr>
          <a:xfrm>
            <a:off x="548640" y="1737360"/>
            <a:ext cx="5120640" cy="4434840"/>
          </a:xfrm>
          <a:prstGeom prst="roundRect">
            <a:avLst>
              <a:gd name="adj" fmla="val 2062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chemeClr val="accent1"/>
                </a:solidFill>
              </a:rPr>
              <a:t>AUJOURD'HUI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514600"/>
            <a:ext cx="237744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2423160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Opérations commerciales</a:t>
            </a:r>
            <a:endParaRPr lang="en-US" sz="18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3026664"/>
            <a:ext cx="237744" cy="23774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17320" y="2935224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Stocks</a:t>
            </a:r>
            <a:endParaRPr lang="en-US" sz="18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538728"/>
            <a:ext cx="237744" cy="23774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417320" y="3447288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Ventes</a:t>
            </a:r>
            <a:endParaRPr lang="en-US" sz="18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050792"/>
            <a:ext cx="237744" cy="237744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417320" y="3959352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Réseau B2B</a:t>
            </a:r>
            <a:endParaRPr lang="en-US" sz="18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4562856"/>
            <a:ext cx="237744" cy="237744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417320" y="4471416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Commandes B2B</a:t>
            </a:r>
            <a:endParaRPr lang="en-US" sz="18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5074920"/>
            <a:ext cx="237744" cy="237744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1417320" y="4983480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Facturation</a:t>
            </a:r>
            <a:endParaRPr lang="en-US" sz="180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5586984"/>
            <a:ext cx="237744" cy="237744"/>
          </a:xfrm>
          <a:prstGeom prst="rect">
            <a:avLst/>
          </a:prstGeom>
        </p:spPr>
      </p:pic>
      <p:sp>
        <p:nvSpPr>
          <p:cNvPr id="19" name="Text 10"/>
          <p:cNvSpPr txBox="1"/>
          <p:nvPr/>
        </p:nvSpPr>
        <p:spPr>
          <a:xfrm>
            <a:off x="1417320" y="5495544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Notifications</a:t>
            </a:r>
            <a:endParaRPr lang="en-US" sz="1800" dirty="0"/>
          </a:p>
        </p:txBody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33872" y="3749040"/>
            <a:ext cx="329184" cy="329184"/>
          </a:xfrm>
          <a:prstGeom prst="rect">
            <a:avLst/>
          </a:prstGeom>
        </p:spPr>
      </p:pic>
      <p:sp>
        <p:nvSpPr>
          <p:cNvPr id="21" name="Text 11"/>
          <p:cNvSpPr txBox="1"/>
          <p:nvPr/>
        </p:nvSpPr>
        <p:spPr>
          <a:xfrm>
            <a:off x="6327648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chemeClr val="accent2"/>
                </a:solidFill>
              </a:rPr>
              <a:t>DEMAIN</a:t>
            </a:r>
            <a:endParaRPr lang="en-US" sz="1400" dirty="0"/>
          </a:p>
        </p:txBody>
      </p:sp>
      <p:sp>
        <p:nvSpPr>
          <p:cNvPr id="22" name="Paiement Flooz et T‑Money pastille"/>
          <p:cNvSpPr/>
          <p:nvPr/>
        </p:nvSpPr>
        <p:spPr>
          <a:xfrm>
            <a:off x="6327648" y="2514600"/>
            <a:ext cx="658368" cy="65836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3" name="Paiement Flooz et T‑Money icône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92240" y="2679192"/>
            <a:ext cx="329184" cy="329184"/>
          </a:xfrm>
          <a:prstGeom prst="rect">
            <a:avLst/>
          </a:prstGeom>
        </p:spPr>
      </p:pic>
      <p:sp>
        <p:nvSpPr>
          <p:cNvPr id="24" name="Text 13"/>
          <p:cNvSpPr txBox="1"/>
          <p:nvPr/>
        </p:nvSpPr>
        <p:spPr>
          <a:xfrm>
            <a:off x="7242048" y="2514600"/>
            <a:ext cx="440100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</a:rPr>
              <a:t>Paiement Flooz et T‑Money</a:t>
            </a:r>
            <a:endParaRPr lang="en-US" sz="2100" dirty="0"/>
          </a:p>
        </p:txBody>
      </p:sp>
      <p:sp>
        <p:nvSpPr>
          <p:cNvPr id="25" name="Application mobile pastille"/>
          <p:cNvSpPr/>
          <p:nvPr/>
        </p:nvSpPr>
        <p:spPr>
          <a:xfrm>
            <a:off x="6327648" y="3429000"/>
            <a:ext cx="658368" cy="65836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6" name="Application mobile icône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92240" y="3593592"/>
            <a:ext cx="329184" cy="329184"/>
          </a:xfrm>
          <a:prstGeom prst="rect">
            <a:avLst/>
          </a:prstGeom>
        </p:spPr>
      </p:pic>
      <p:sp>
        <p:nvSpPr>
          <p:cNvPr id="27" name="Text 15"/>
          <p:cNvSpPr txBox="1"/>
          <p:nvPr/>
        </p:nvSpPr>
        <p:spPr>
          <a:xfrm>
            <a:off x="7242048" y="3429000"/>
            <a:ext cx="440100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</a:rPr>
              <a:t>Application mobile</a:t>
            </a:r>
            <a:endParaRPr lang="en-US" sz="2100" dirty="0"/>
          </a:p>
        </p:txBody>
      </p:sp>
      <p:sp>
        <p:nvSpPr>
          <p:cNvPr id="28" name="Statistiques avancées pastille"/>
          <p:cNvSpPr/>
          <p:nvPr/>
        </p:nvSpPr>
        <p:spPr>
          <a:xfrm>
            <a:off x="6327648" y="4343400"/>
            <a:ext cx="658368" cy="65836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9" name="Statistiques avancées icône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92240" y="4507992"/>
            <a:ext cx="329184" cy="329184"/>
          </a:xfrm>
          <a:prstGeom prst="rect">
            <a:avLst/>
          </a:prstGeom>
        </p:spPr>
      </p:pic>
      <p:sp>
        <p:nvSpPr>
          <p:cNvPr id="30" name="Text 17"/>
          <p:cNvSpPr txBox="1"/>
          <p:nvPr/>
        </p:nvSpPr>
        <p:spPr>
          <a:xfrm>
            <a:off x="7242048" y="4343400"/>
            <a:ext cx="440100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</a:rPr>
              <a:t>Statistiques avancées</a:t>
            </a:r>
            <a:endParaRPr lang="en-US" sz="2100" dirty="0"/>
          </a:p>
        </p:txBody>
      </p:sp>
      <p:sp>
        <p:nvSpPr>
          <p:cNvPr id="31" name="Notation des partenaires pastille"/>
          <p:cNvSpPr/>
          <p:nvPr/>
        </p:nvSpPr>
        <p:spPr>
          <a:xfrm>
            <a:off x="6327648" y="5257800"/>
            <a:ext cx="658368" cy="65836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2" name="Notation des partenaires icône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92240" y="5422392"/>
            <a:ext cx="329184" cy="329184"/>
          </a:xfrm>
          <a:prstGeom prst="rect">
            <a:avLst/>
          </a:prstGeom>
        </p:spPr>
      </p:pic>
      <p:sp>
        <p:nvSpPr>
          <p:cNvPr id="33" name="Text 19"/>
          <p:cNvSpPr txBox="1"/>
          <p:nvPr/>
        </p:nvSpPr>
        <p:spPr>
          <a:xfrm>
            <a:off x="7242048" y="5257800"/>
            <a:ext cx="440100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</a:rPr>
              <a:t>Notation des partenaires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chemeClr val="accent2"/>
                </a:solidFill>
              </a:rPr>
              <a:t>FACTUPRO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1920240"/>
            <a:ext cx="99943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Centraliser pour mieux vendre, connecter pour mieux s'approvisionner. »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931920"/>
            <a:ext cx="9994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Une information mieux maîtrisée pour des opérations commerciales mieux suivies.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4864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Merci pour votre attention.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tuPro">
  <a:themeElements>
    <a:clrScheme name="FactuPro">
      <a:dk1>
        <a:srgbClr val="1F2937"/>
      </a:dk1>
      <a:lt1>
        <a:srgbClr val="FFFFFF"/>
      </a:lt1>
      <a:dk2>
        <a:srgbClr val="14213D"/>
      </a:dk2>
      <a:lt2>
        <a:srgbClr val="EEF2FA"/>
      </a:lt2>
      <a:accent1>
        <a:srgbClr val="2F5BEA"/>
      </a:accent1>
      <a:accent2>
        <a:srgbClr val="F59E0B"/>
      </a:accent2>
      <a:accent3>
        <a:srgbClr val="10B981"/>
      </a:accent3>
      <a:accent4>
        <a:srgbClr val="E5484D"/>
      </a:accent4>
      <a:accent5>
        <a:srgbClr val="7C5CE0"/>
      </a:accent5>
      <a:accent6>
        <a:srgbClr val="64748B"/>
      </a:accent6>
      <a:hlink>
        <a:srgbClr val="2F5BEA"/>
      </a:hlink>
      <a:folHlink>
        <a:srgbClr val="7C5CE0"/>
      </a:folHlink>
    </a:clrScheme>
    <a:fontScheme name="FactuPro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FactuPro — Soutenance BTS</dc:title>
  <dc:subject>Système de gestion de boutiques et d'intégration B2B</dc:subject>
  <dc:creator>AYANOU Tété Yao Alexandre</dc:creator>
  <cp:lastModifiedBy>AYANOU Tété Yao Alexandre</cp:lastModifiedBy>
  <cp:revision>1</cp:revision>
  <dcterms:created xsi:type="dcterms:W3CDTF">2026-10-04T20:32:40Z</dcterms:created>
  <dcterms:modified xsi:type="dcterms:W3CDTF">2026-10-04T20:32:40Z</dcterms:modified>
</cp:coreProperties>
</file>